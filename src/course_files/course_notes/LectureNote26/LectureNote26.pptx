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83" r:id="rId2"/>
    <p:sldId id="896" r:id="rId3"/>
    <p:sldId id="264" r:id="rId4"/>
    <p:sldId id="835" r:id="rId5"/>
    <p:sldId id="836" r:id="rId6"/>
    <p:sldId id="837" r:id="rId7"/>
    <p:sldId id="838" r:id="rId8"/>
    <p:sldId id="839" r:id="rId9"/>
    <p:sldId id="840" r:id="rId10"/>
    <p:sldId id="841" r:id="rId11"/>
    <p:sldId id="842" r:id="rId12"/>
    <p:sldId id="843" r:id="rId13"/>
    <p:sldId id="844" r:id="rId14"/>
    <p:sldId id="845" r:id="rId15"/>
    <p:sldId id="846" r:id="rId16"/>
    <p:sldId id="847" r:id="rId17"/>
    <p:sldId id="849" r:id="rId18"/>
    <p:sldId id="850" r:id="rId19"/>
    <p:sldId id="851" r:id="rId20"/>
    <p:sldId id="852" r:id="rId21"/>
    <p:sldId id="853" r:id="rId22"/>
    <p:sldId id="854" r:id="rId23"/>
    <p:sldId id="855" r:id="rId24"/>
    <p:sldId id="856" r:id="rId25"/>
    <p:sldId id="857" r:id="rId26"/>
    <p:sldId id="858" r:id="rId27"/>
    <p:sldId id="859" r:id="rId28"/>
    <p:sldId id="860" r:id="rId29"/>
    <p:sldId id="861" r:id="rId30"/>
    <p:sldId id="862" r:id="rId31"/>
    <p:sldId id="863" r:id="rId32"/>
    <p:sldId id="864" r:id="rId33"/>
    <p:sldId id="865" r:id="rId34"/>
    <p:sldId id="866" r:id="rId35"/>
    <p:sldId id="867" r:id="rId36"/>
    <p:sldId id="868" r:id="rId37"/>
    <p:sldId id="869" r:id="rId38"/>
    <p:sldId id="870" r:id="rId39"/>
    <p:sldId id="871" r:id="rId40"/>
    <p:sldId id="872" r:id="rId41"/>
    <p:sldId id="873" r:id="rId42"/>
    <p:sldId id="874" r:id="rId43"/>
    <p:sldId id="875" r:id="rId44"/>
    <p:sldId id="876" r:id="rId45"/>
    <p:sldId id="877" r:id="rId46"/>
    <p:sldId id="878" r:id="rId47"/>
    <p:sldId id="879" r:id="rId48"/>
    <p:sldId id="880" r:id="rId49"/>
    <p:sldId id="881" r:id="rId50"/>
    <p:sldId id="882" r:id="rId51"/>
    <p:sldId id="883" r:id="rId52"/>
    <p:sldId id="884" r:id="rId53"/>
    <p:sldId id="885" r:id="rId54"/>
    <p:sldId id="886" r:id="rId55"/>
    <p:sldId id="887" r:id="rId56"/>
    <p:sldId id="888" r:id="rId57"/>
    <p:sldId id="889" r:id="rId58"/>
    <p:sldId id="890" r:id="rId59"/>
    <p:sldId id="891" r:id="rId60"/>
    <p:sldId id="892" r:id="rId61"/>
    <p:sldId id="893" r:id="rId62"/>
    <p:sldId id="894" r:id="rId63"/>
    <p:sldId id="895" r:id="rId6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 showGuides="1">
      <p:cViewPr varScale="1">
        <p:scale>
          <a:sx n="176" d="100"/>
          <a:sy n="176" d="100"/>
        </p:scale>
        <p:origin x="12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CB6D5-09E4-4610-88CA-DFB2CE3AAC59}" type="datetimeFigureOut">
              <a:rPr lang="en-US" smtClean="0"/>
              <a:t>4/26/2017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A0FF-337F-4458-917A-769BA419E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9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FA322-6F3F-4DC0-87DD-C2243BD40E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2500B-4EAB-4352-950A-83638A46CB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D067-94AF-4CC4-A3F4-94BC229338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75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F1812-1DE0-4021-BADA-FFAFA5A10F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3109A-EB99-4320-890D-5E88143228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15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F314-25DC-4377-AD01-A920945A2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99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0ED3A-E24C-4B6A-90A2-C196FD3C6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2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25BB-6760-4477-80E2-E9464DB153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9013F-5B2C-4E9D-9745-5981D3CFC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59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9005-ABF8-4206-A7D8-6B64D35F1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49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E539-E3A0-4ACA-8410-6BBB64C731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405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EA70-0706-42DF-B69B-B92068D80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0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E37565C6-0CEA-42B8-A9C2-60D46C6627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521"/>
            <a:ext cx="7772400" cy="1470025"/>
          </a:xfrm>
        </p:spPr>
        <p:txBody>
          <a:bodyPr/>
          <a:lstStyle/>
          <a:p>
            <a:r>
              <a:rPr lang="en-US" dirty="0" smtClean="0"/>
              <a:t>24-783 Lecture 26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591" y="2797630"/>
            <a:ext cx="4058818" cy="284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4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Announcement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Final Presentation Next Wednesday</a:t>
            </a:r>
          </a:p>
          <a:p>
            <a:r>
              <a:rPr lang="en-US" dirty="0" smtClean="0"/>
              <a:t>12 minutes per team.</a:t>
            </a:r>
          </a:p>
          <a:p>
            <a:r>
              <a:rPr lang="en-US" dirty="0" smtClean="0"/>
              <a:t>Order of the presentations will be decided at the beginning of the class by a C</a:t>
            </a:r>
            <a:r>
              <a:rPr lang="en-US" smtClean="0"/>
              <a:t>++ program.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Sorry, we couldn't set up a web site for opening your program to public.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025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OpenGL </a:t>
            </a:r>
            <a:r>
              <a:rPr lang="en-US" dirty="0" err="1" smtClean="0"/>
              <a:t>Shader</a:t>
            </a:r>
            <a:r>
              <a:rPr lang="en-US" dirty="0" smtClean="0"/>
              <a:t> Language (GLSL)</a:t>
            </a:r>
          </a:p>
          <a:p>
            <a:r>
              <a:rPr lang="en-US" dirty="0" smtClean="0"/>
              <a:t>Point Sprite</a:t>
            </a:r>
          </a:p>
          <a:p>
            <a:r>
              <a:rPr lang="en-US" dirty="0" smtClean="0"/>
              <a:t>Particle Method</a:t>
            </a:r>
          </a:p>
          <a:p>
            <a:pPr lvl="1"/>
            <a:r>
              <a:rPr lang="en-US" dirty="0" smtClean="0"/>
              <a:t>Cloud</a:t>
            </a:r>
          </a:p>
          <a:p>
            <a:pPr lvl="1"/>
            <a:r>
              <a:rPr lang="en-US" dirty="0" smtClean="0"/>
              <a:t>Burning Fire</a:t>
            </a:r>
          </a:p>
          <a:p>
            <a:r>
              <a:rPr lang="en-US" dirty="0" smtClean="0"/>
              <a:t>Shadow-Map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3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also </a:t>
            </a:r>
            <a:r>
              <a:rPr lang="en-US" dirty="0" err="1" smtClean="0"/>
              <a:t>looooong</a:t>
            </a:r>
            <a:r>
              <a:rPr lang="en-US" dirty="0" smtClean="0"/>
              <a:t> wanted feature that was missing in OpenGL 1.1.</a:t>
            </a:r>
          </a:p>
          <a:p>
            <a:r>
              <a:rPr lang="en-US" dirty="0" smtClean="0"/>
              <a:t>With point sprite, you can paste textures on GL_POINTS.</a:t>
            </a:r>
          </a:p>
          <a:p>
            <a:r>
              <a:rPr lang="en-US" dirty="0" smtClean="0"/>
              <a:t>Even you can paste a part of a texture.</a:t>
            </a:r>
          </a:p>
          <a:p>
            <a:r>
              <a:rPr lang="en-US" dirty="0" smtClean="0"/>
              <a:t>By making a texture atlas, you can draw different patterns for different points in one </a:t>
            </a:r>
            <a:r>
              <a:rPr lang="en-US" dirty="0" err="1" smtClean="0"/>
              <a:t>glDrawArrays</a:t>
            </a:r>
            <a:r>
              <a:rPr lang="en-US" dirty="0" smtClean="0"/>
              <a:t> call.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87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fragment </a:t>
            </a:r>
            <a:r>
              <a:rPr lang="en-US" dirty="0" err="1" smtClean="0"/>
              <a:t>shader</a:t>
            </a:r>
            <a:r>
              <a:rPr lang="en-US" dirty="0" smtClean="0"/>
              <a:t>, coordinate within a point is given as </a:t>
            </a:r>
            <a:r>
              <a:rPr lang="en-US" dirty="0" err="1" smtClean="0"/>
              <a:t>gl_PointCoord</a:t>
            </a:r>
            <a:r>
              <a:rPr lang="en-US" dirty="0" smtClean="0"/>
              <a:t>.  </a:t>
            </a:r>
          </a:p>
          <a:p>
            <a:r>
              <a:rPr lang="en-US" dirty="0" smtClean="0"/>
              <a:t>Need GLSL version 120.</a:t>
            </a:r>
          </a:p>
          <a:p>
            <a:r>
              <a:rPr lang="en-US" dirty="0" smtClean="0"/>
              <a:t>Let’s first use coordinate as R and G values to see what we get.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0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 is same as the one from program_point_size_in_3d example.</a:t>
            </a:r>
          </a:p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</a:t>
            </a:r>
            <a:r>
              <a:rPr lang="en-US" dirty="0" err="1" smtClean="0"/>
              <a:t>renderer.h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99858" y="2396152"/>
            <a:ext cx="42755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#version 120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=vec4(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gl_PointCoord.xy</a:t>
            </a:r>
            <a:r>
              <a:rPr lang="en-US" sz="1200" dirty="0" smtClean="0">
                <a:latin typeface="Lucida Console" panose="020B0609040504020204" pitchFamily="49" charset="0"/>
              </a:rPr>
              <a:t>,0,1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858" y="4121724"/>
            <a:ext cx="5112297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PointSprite3dRenderer : public </a:t>
            </a:r>
            <a:r>
              <a:rPr lang="en-US" sz="1200" dirty="0" err="1">
                <a:latin typeface="Lucida Console" panose="020B0609040504020204" pitchFamily="49" charset="0"/>
              </a:rPr>
              <a:t>RendererBase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uniformSizeInPixelPos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uniformSizeIn3dPos;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virtual </a:t>
            </a: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};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95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renderer.cpp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0393" y="1580972"/>
            <a:ext cx="771557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PointSprite3dRenderer::</a:t>
            </a:r>
            <a:r>
              <a:rPr lang="en-US" sz="1200" dirty="0" err="1">
                <a:latin typeface="Lucida Console" panose="020B0609040504020204" pitchFamily="49" charset="0"/>
              </a:rPr>
              <a:t>CacheAttributeAndUniformIdent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attribVertexPos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,"vertex");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attribColorPos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,"color");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attribPointSizePos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glGetAttribLocation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pointSize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attribPointSizePos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uniformProjectionPos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,"projection");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uniformProjectionPos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uniformModelViewPos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uniformModelViewPos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uniformSizeInPixelPos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sizeInPixel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uniformSizeInPixelPos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uniformSizeInPixelPos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uniformSizeIn3dPos=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(programIdent</a:t>
            </a:r>
            <a:r>
              <a:rPr lang="en-US" sz="1200" dirty="0">
                <a:latin typeface="Lucida Console" panose="020B0609040504020204" pitchFamily="49" charset="0"/>
              </a:rPr>
              <a:t>,"sizeIn3d");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("uniformSizeIn3dPos=%d\n",uniformSizeIn3dPos);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uniformViewportHeightPos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glGetUniformLocation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programIdent</a:t>
            </a:r>
            <a:r>
              <a:rPr lang="en-US" sz="1200" dirty="0">
                <a:latin typeface="Lucida Console" panose="020B0609040504020204" pitchFamily="49" charset="0"/>
              </a:rPr>
              <a:t>,"</a:t>
            </a:r>
            <a:r>
              <a:rPr lang="en-US" sz="1200" dirty="0" err="1">
                <a:latin typeface="Lucida Console" panose="020B0609040504020204" pitchFamily="49" charset="0"/>
              </a:rPr>
              <a:t>viewportHeight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</a:t>
            </a:r>
            <a:r>
              <a:rPr lang="en-US" sz="1200" dirty="0" err="1"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latin typeface="Lucida Console" panose="020B0609040504020204" pitchFamily="49" charset="0"/>
              </a:rPr>
              <a:t>=%d\n",</a:t>
            </a:r>
            <a:r>
              <a:rPr lang="en-US" sz="1200" dirty="0" err="1">
                <a:latin typeface="Lucida Console" panose="020B0609040504020204" pitchFamily="49" charset="0"/>
              </a:rPr>
              <a:t>uniformViewportHeightPos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78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member variable:</a:t>
            </a:r>
          </a:p>
          <a:p>
            <a:pPr marL="914400" lvl="2" indent="0">
              <a:buNone/>
            </a:pPr>
            <a:r>
              <a:rPr lang="en-US" dirty="0" smtClean="0">
                <a:latin typeface="Lucida Console" panose="020B0609040504020204" pitchFamily="49" charset="0"/>
              </a:rPr>
              <a:t>    PointSprite3dRenderer </a:t>
            </a:r>
            <a:r>
              <a:rPr lang="en-US" dirty="0" err="1">
                <a:latin typeface="Lucida Console" panose="020B0609040504020204" pitchFamily="49" charset="0"/>
              </a:rPr>
              <a:t>pointSprite</a:t>
            </a:r>
            <a:r>
              <a:rPr lang="en-US" dirty="0">
                <a:latin typeface="Lucida Console" panose="020B0609040504020204" pitchFamily="49" charset="0"/>
              </a:rPr>
              <a:t>;</a:t>
            </a:r>
          </a:p>
          <a:p>
            <a:r>
              <a:rPr lang="en-US" dirty="0" smtClean="0"/>
              <a:t>In Initialize():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6031" y="2465083"/>
            <a:ext cx="4275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pointSprite.CompileFile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pointsprite_vertex_shader.glsl</a:t>
            </a:r>
            <a:r>
              <a:rPr lang="en-US" sz="1200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"</a:t>
            </a:r>
            <a:r>
              <a:rPr lang="en-US" sz="1200" dirty="0" err="1">
                <a:latin typeface="Lucida Console" panose="020B0609040504020204" pitchFamily="49" charset="0"/>
              </a:rPr>
              <a:t>pointsprite_fragment_shader.glsl</a:t>
            </a:r>
            <a:r>
              <a:rPr lang="en-US" sz="1200" dirty="0">
                <a:latin typeface="Lucida Console" panose="020B0609040504020204" pitchFamily="49" charset="0"/>
              </a:rPr>
              <a:t>");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22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Draw(), replace </a:t>
            </a:r>
            <a:r>
              <a:rPr lang="en-US" dirty="0" err="1" smtClean="0"/>
              <a:t>programPointSize</a:t>
            </a:r>
            <a:r>
              <a:rPr lang="en-US" dirty="0" smtClean="0"/>
              <a:t> with </a:t>
            </a:r>
            <a:r>
              <a:rPr lang="en-US" dirty="0" err="1" smtClean="0"/>
              <a:t>pointSprite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540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 Atlas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Goal: Want to draw multiple patterns within one </a:t>
            </a:r>
            <a:r>
              <a:rPr lang="en-US" dirty="0" err="1" smtClean="0"/>
              <a:t>glDrawArrays</a:t>
            </a:r>
            <a:r>
              <a:rPr lang="en-US" dirty="0" smtClean="0"/>
              <a:t> call.</a:t>
            </a:r>
          </a:p>
          <a:p>
            <a:r>
              <a:rPr lang="en-US" dirty="0" smtClean="0"/>
              <a:t>Problem: Typical OpenGL can use up to two or three textures at a time.</a:t>
            </a:r>
          </a:p>
          <a:p>
            <a:r>
              <a:rPr lang="en-US" dirty="0" smtClean="0"/>
              <a:t>Solution: </a:t>
            </a:r>
            <a:r>
              <a:rPr lang="en-US" dirty="0" err="1" smtClean="0"/>
              <a:t>TextureAtlas</a:t>
            </a:r>
            <a:r>
              <a:rPr lang="en-US" dirty="0" smtClean="0"/>
              <a:t> put multiple patterns in one texture image.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606" y="3741568"/>
            <a:ext cx="2438740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6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Additional uniform:  sampler2D texture;</a:t>
            </a:r>
          </a:p>
          <a:p>
            <a:r>
              <a:rPr lang="en-US" dirty="0" smtClean="0"/>
              <a:t>Additional vertex attribute: vec4 </a:t>
            </a:r>
            <a:r>
              <a:rPr lang="en-US" dirty="0" err="1" smtClean="0"/>
              <a:t>texCoordRange</a:t>
            </a:r>
            <a:r>
              <a:rPr lang="en-US" dirty="0" smtClean="0"/>
              <a:t>;</a:t>
            </a:r>
          </a:p>
          <a:p>
            <a:r>
              <a:rPr lang="en-US" dirty="0" smtClean="0"/>
              <a:t>Additional varying: vec4 </a:t>
            </a:r>
            <a:r>
              <a:rPr lang="en-US" dirty="0" err="1" smtClean="0"/>
              <a:t>texCoordRangeOut</a:t>
            </a:r>
            <a:r>
              <a:rPr lang="en-US" dirty="0" smtClean="0"/>
              <a:t>;</a:t>
            </a:r>
          </a:p>
          <a:p>
            <a:endParaRPr lang="en-US" dirty="0"/>
          </a:p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r>
              <a:rPr lang="en-US" dirty="0" smtClean="0"/>
              <a:t> pass </a:t>
            </a:r>
            <a:r>
              <a:rPr lang="en-US" dirty="0" err="1" smtClean="0"/>
              <a:t>texCoordRange</a:t>
            </a:r>
            <a:r>
              <a:rPr lang="en-US" dirty="0" smtClean="0"/>
              <a:t> to </a:t>
            </a:r>
            <a:r>
              <a:rPr lang="en-US" dirty="0" err="1" smtClean="0"/>
              <a:t>texCoordRangeOut</a:t>
            </a:r>
            <a:r>
              <a:rPr lang="en-US" dirty="0" smtClean="0"/>
              <a:t>.</a:t>
            </a:r>
          </a:p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r>
              <a:rPr lang="en-US" dirty="0" smtClean="0"/>
              <a:t> interpolates between </a:t>
            </a:r>
            <a:r>
              <a:rPr lang="en-US" dirty="0" err="1" smtClean="0"/>
              <a:t>texCoordRange.xy</a:t>
            </a:r>
            <a:r>
              <a:rPr lang="en-US" dirty="0" smtClean="0"/>
              <a:t> and texCoordRange.zw.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78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410355"/>
            <a:ext cx="763994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#version 120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float </a:t>
            </a:r>
            <a:r>
              <a:rPr lang="en-US" sz="1200" dirty="0" err="1">
                <a:latin typeface="Lucida Console" panose="020B0609040504020204" pitchFamily="49" charset="0"/>
              </a:rPr>
              <a:t>pointSize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attribute vec4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uniform </a:t>
            </a:r>
            <a:r>
              <a:rPr lang="en-US" sz="1200" dirty="0">
                <a:latin typeface="Lucida Console" panose="020B0609040504020204" pitchFamily="49" charset="0"/>
              </a:rPr>
              <a:t>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sizeInPixel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sizeIn3d;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viewportHeight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sampler2D texture;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varying </a:t>
            </a:r>
            <a:r>
              <a:rPr lang="en-US" sz="1200" dirty="0">
                <a:latin typeface="Lucida Console" panose="020B0609040504020204" pitchFamily="49" charset="0"/>
              </a:rPr>
              <a:t>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=color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texCoordRange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vec4 </a:t>
            </a:r>
            <a:r>
              <a:rPr lang="en-US" sz="1200" dirty="0">
                <a:latin typeface="Lucida Console" panose="020B0609040504020204" pitchFamily="49" charset="0"/>
              </a:rPr>
              <a:t>shift;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shift=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shift.y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shift.y+pointSize</a:t>
            </a:r>
            <a:r>
              <a:rPr lang="en-US" sz="1200" dirty="0" smtClean="0">
                <a:latin typeface="Lucida Console" panose="020B0609040504020204" pitchFamily="49" charset="0"/>
              </a:rPr>
              <a:t>/2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shift=projection*shift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 err="1">
                <a:latin typeface="Lucida Console" panose="020B0609040504020204" pitchFamily="49" charset="0"/>
              </a:rPr>
              <a:t>heightInScreen,heightInPixel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heightInScreen</a:t>
            </a:r>
            <a:r>
              <a:rPr lang="en-US" sz="1200" dirty="0" smtClean="0">
                <a:latin typeface="Lucida Console" panose="020B0609040504020204" pitchFamily="49" charset="0"/>
              </a:rPr>
              <a:t>=abs(</a:t>
            </a:r>
            <a:r>
              <a:rPr lang="en-US" sz="1200" dirty="0" err="1" smtClean="0">
                <a:latin typeface="Lucida Console" panose="020B0609040504020204" pitchFamily="49" charset="0"/>
              </a:rPr>
              <a:t>shift.y</a:t>
            </a:r>
            <a:r>
              <a:rPr lang="en-US" sz="1200" dirty="0" smtClean="0">
                <a:latin typeface="Lucida Console" panose="020B0609040504020204" pitchFamily="49" charset="0"/>
              </a:rPr>
              <a:t>/</a:t>
            </a:r>
            <a:r>
              <a:rPr lang="en-US" sz="1200" dirty="0" err="1" smtClean="0">
                <a:latin typeface="Lucida Console" panose="020B0609040504020204" pitchFamily="49" charset="0"/>
              </a:rPr>
              <a:t>shift.w-gl_Position.y</a:t>
            </a:r>
            <a:r>
              <a:rPr lang="en-US" sz="1200" dirty="0" smtClean="0">
                <a:latin typeface="Lucida Console" panose="020B0609040504020204" pitchFamily="49" charset="0"/>
              </a:rPr>
              <a:t>/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gl_Position.w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heightInPixel</a:t>
            </a:r>
            <a:r>
              <a:rPr lang="en-US" sz="1200" dirty="0" smtClean="0">
                <a:latin typeface="Lucida Console" panose="020B0609040504020204" pitchFamily="49" charset="0"/>
              </a:rPr>
              <a:t>=sizeIn3d*</a:t>
            </a:r>
            <a:r>
              <a:rPr lang="en-US" sz="1200" dirty="0" err="1" smtClean="0">
                <a:latin typeface="Lucida Console" panose="020B0609040504020204" pitchFamily="49" charset="0"/>
              </a:rPr>
              <a:t>viewportHeight</a:t>
            </a:r>
            <a:r>
              <a:rPr lang="en-US" sz="1200" dirty="0" smtClean="0">
                <a:latin typeface="Lucida Console" panose="020B0609040504020204" pitchFamily="49" charset="0"/>
              </a:rPr>
              <a:t>*</a:t>
            </a:r>
            <a:r>
              <a:rPr lang="en-US" sz="1200" dirty="0" err="1" smtClean="0">
                <a:latin typeface="Lucida Console" panose="020B0609040504020204" pitchFamily="49" charset="0"/>
              </a:rPr>
              <a:t>heightInScreen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gl_PointSize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pointSize</a:t>
            </a:r>
            <a:r>
              <a:rPr lang="en-US" sz="1200" dirty="0" smtClean="0">
                <a:latin typeface="Lucida Console" panose="020B0609040504020204" pitchFamily="49" charset="0"/>
              </a:rPr>
              <a:t>*</a:t>
            </a:r>
            <a:r>
              <a:rPr lang="en-US" sz="1200" dirty="0" err="1" smtClean="0">
                <a:latin typeface="Lucida Console" panose="020B0609040504020204" pitchFamily="49" charset="0"/>
              </a:rPr>
              <a:t>sizeInPixel+heightInPixel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23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729284"/>
            <a:ext cx="5391219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#version 120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sampler2D texture;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vec2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texCoord.x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[0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]*(1.0-gl_PointCoord.x)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+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[2]*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gl_PointCoord.x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texCoord.y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[1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]*(1.0-gl_PointCoord.y)</a:t>
            </a: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  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+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texCoordRangeOut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[3]*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gl_PointCoord.y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*texture2D(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texture,texCoord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639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Initialize() function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7469" y="1674976"/>
            <a:ext cx="743665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glGenTextures</a:t>
            </a:r>
            <a:r>
              <a:rPr lang="en-US" sz="1200" dirty="0" smtClean="0">
                <a:latin typeface="Lucida Console" panose="020B0609040504020204" pitchFamily="49" charset="0"/>
              </a:rPr>
              <a:t>(1</a:t>
            </a:r>
            <a:r>
              <a:rPr lang="en-US" sz="1200" dirty="0">
                <a:latin typeface="Lucida Console" panose="020B0609040504020204" pitchFamily="49" charset="0"/>
              </a:rPr>
              <a:t>,&amp;textureIdent);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YsBitmap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bmp;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if(YSOK</a:t>
            </a:r>
            <a:r>
              <a:rPr lang="en-US" sz="1200" dirty="0">
                <a:latin typeface="Lucida Console" panose="020B0609040504020204" pitchFamily="49" charset="0"/>
              </a:rPr>
              <a:t>==</a:t>
            </a:r>
            <a:r>
              <a:rPr lang="en-US" sz="1200" dirty="0" err="1">
                <a:latin typeface="Lucida Console" panose="020B0609040504020204" pitchFamily="49" charset="0"/>
              </a:rPr>
              <a:t>bmp.LoadPng</a:t>
            </a:r>
            <a:r>
              <a:rPr lang="en-US" sz="1200" dirty="0">
                <a:latin typeface="Lucida Console" panose="020B0609040504020204" pitchFamily="49" charset="0"/>
              </a:rPr>
              <a:t>("Hummingbird.png"))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("Texture Loaded.\n");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glActiveTexture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(GL_TEXTURE_2D,textureIdent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(GL_TEXTURE_2D,GL_TEXTURE_WRAP_S,GL_CLAMP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(GL_TEXTURE_2D,GL_TEXTURE_WRAP_T,GL_CLAMP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(GL_TEXTURE_2D,GL_TEXTURE_MIN_FILTER,GL_NEAREST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(GL_TEXTURE_2D,GL_TEXTURE_MAG_FILTER,GL_NEAREST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glTexImage2D(GL_TEXTURE_2D,0,GL_RGBA,bmp.GetWidth</a:t>
            </a:r>
            <a:r>
              <a:rPr lang="en-US" sz="1200" dirty="0">
                <a:latin typeface="Lucida Console" panose="020B0609040504020204" pitchFamily="49" charset="0"/>
              </a:rPr>
              <a:t>(),</a:t>
            </a:r>
            <a:r>
              <a:rPr lang="en-US" sz="1200" dirty="0" err="1">
                <a:latin typeface="Lucida Console" panose="020B0609040504020204" pitchFamily="49" charset="0"/>
              </a:rPr>
              <a:t>bmp.GetHeight</a:t>
            </a:r>
            <a:r>
              <a:rPr lang="en-US" sz="1200" dirty="0">
                <a:latin typeface="Lucida Console" panose="020B0609040504020204" pitchFamily="49" charset="0"/>
              </a:rPr>
              <a:t>(),0</a:t>
            </a:r>
            <a:r>
              <a:rPr lang="en-US" sz="1200" dirty="0" smtClean="0"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GL_RGBA,GL_UNSIGNED_BYTE,bmp.GetRGBABitmapPointer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226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Draw() function: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8923" y="1615155"/>
            <a:ext cx="689644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100" dirty="0" smtClean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quadVtx</a:t>
            </a:r>
            <a:r>
              <a:rPr lang="en-US" sz="1100" dirty="0">
                <a:latin typeface="Lucida Console" panose="020B0609040504020204" pitchFamily="49" charset="0"/>
              </a:rPr>
              <a:t>[12</a:t>
            </a:r>
            <a:r>
              <a:rPr lang="en-US" sz="1100" dirty="0" smtClean="0">
                <a:latin typeface="Lucida Console" panose="020B0609040504020204" pitchFamily="49" charset="0"/>
              </a:rPr>
              <a:t>]=    {-</a:t>
            </a:r>
            <a:r>
              <a:rPr lang="en-US" sz="1100" dirty="0">
                <a:latin typeface="Lucida Console" panose="020B0609040504020204" pitchFamily="49" charset="0"/>
              </a:rPr>
              <a:t>10,-10,-10</a:t>
            </a:r>
            <a:r>
              <a:rPr lang="en-US" sz="1100" dirty="0" smtClean="0">
                <a:latin typeface="Lucida Console" panose="020B0609040504020204" pitchFamily="49" charset="0"/>
              </a:rPr>
              <a:t>, </a:t>
            </a:r>
            <a:r>
              <a:rPr lang="en-US" sz="1100" dirty="0">
                <a:latin typeface="Lucida Console" panose="020B0609040504020204" pitchFamily="49" charset="0"/>
              </a:rPr>
              <a:t>10,-10,-10</a:t>
            </a:r>
            <a:r>
              <a:rPr lang="en-US" sz="1100" dirty="0" smtClean="0">
                <a:latin typeface="Lucida Console" panose="020B0609040504020204" pitchFamily="49" charset="0"/>
              </a:rPr>
              <a:t>, </a:t>
            </a:r>
            <a:r>
              <a:rPr lang="en-US" sz="1100" dirty="0">
                <a:latin typeface="Lucida Console" panose="020B0609040504020204" pitchFamily="49" charset="0"/>
              </a:rPr>
              <a:t>10, 10,-10</a:t>
            </a:r>
            <a:r>
              <a:rPr lang="en-US" sz="1100" dirty="0" smtClean="0">
                <a:latin typeface="Lucida Console" panose="020B0609040504020204" pitchFamily="49" charset="0"/>
              </a:rPr>
              <a:t>,-</a:t>
            </a:r>
            <a:r>
              <a:rPr lang="en-US" sz="1100" dirty="0">
                <a:latin typeface="Lucida Console" panose="020B0609040504020204" pitchFamily="49" charset="0"/>
              </a:rPr>
              <a:t>10, 10,-10</a:t>
            </a:r>
            <a:r>
              <a:rPr lang="en-US" sz="1100" dirty="0" smtClean="0">
                <a:latin typeface="Lucida Console" panose="020B0609040504020204" pitchFamily="49" charset="0"/>
              </a:rPr>
              <a:t>,};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100" dirty="0" smtClean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quadCol</a:t>
            </a:r>
            <a:r>
              <a:rPr lang="en-US" sz="1100" dirty="0">
                <a:latin typeface="Lucida Console" panose="020B0609040504020204" pitchFamily="49" charset="0"/>
              </a:rPr>
              <a:t>[16</a:t>
            </a:r>
            <a:r>
              <a:rPr lang="en-US" sz="1100" dirty="0" smtClean="0">
                <a:latin typeface="Lucida Console" panose="020B0609040504020204" pitchFamily="49" charset="0"/>
              </a:rPr>
              <a:t>]=    {1,1,1,1,1,1,1,1,1,1,1,1,1,1,1,1    };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100" dirty="0" smtClean="0"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</a:rPr>
              <a:t>quadPointSize</a:t>
            </a:r>
            <a:r>
              <a:rPr lang="en-US" sz="1100" dirty="0">
                <a:latin typeface="Lucida Console" panose="020B0609040504020204" pitchFamily="49" charset="0"/>
              </a:rPr>
              <a:t>[4</a:t>
            </a:r>
            <a:r>
              <a:rPr lang="en-US" sz="1100" dirty="0" smtClean="0">
                <a:latin typeface="Lucida Console" panose="020B0609040504020204" pitchFamily="49" charset="0"/>
              </a:rPr>
              <a:t>]={1,1,2,2};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GLfloat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cubeTexCoordRange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[]={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0.0f,0.5f,  0.5f,0.0f,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0.5f,0.5f,  1.0f,0.0f,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0.0f,1.0f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,  0.5f,0.5f,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0.5f,1.0f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,  1.0f,0.5f,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};</a:t>
            </a:r>
            <a:endParaRPr lang="en-US" sz="11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pointSprite.programIdent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glUniformMatrix4fv(pointSprite.uniformProjectionPos,1,GL_FALSE,projMat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glUniformMatrix4fv(pointSprite.uniformModelViewPos,1,GL_FALSE,viewMat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glUniform1f(pointSprite.uniformSizeInPixelPos,0.0f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glUniform1f(pointSprite.uniformSizeIn3dPos,1.0f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glUniform1f(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pointSprite.uniformViewportHeightPos</a:t>
            </a:r>
            <a:r>
              <a:rPr lang="en-US" sz="1100" dirty="0">
                <a:latin typeface="Lucida Console" panose="020B0609040504020204" pitchFamily="49" charset="0"/>
              </a:rPr>
              <a:t>,(float)</a:t>
            </a:r>
            <a:r>
              <a:rPr lang="en-US" sz="1100" dirty="0" err="1">
                <a:latin typeface="Lucida Console" panose="020B0609040504020204" pitchFamily="49" charset="0"/>
              </a:rPr>
              <a:t>hei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endParaRPr lang="en-US" sz="11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495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Sprite with Texture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Draw() function (continued):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9282" y="1598063"/>
            <a:ext cx="8850500" cy="4324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glActiveTexture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(GL_TEXTURE0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glBindTexture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(GL_TEXTURE_2D,textureIdent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glUniform1f(pointSprite.uniformTexture2dPos,0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pointSprite.attribVertexPos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pointSprite.attribColorPos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pointSprite.attribPointSizePos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glEnableVertexAttribArray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pointSprite.attribTexCoordRangePos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latin typeface="Lucida Console" panose="020B0609040504020204" pitchFamily="49" charset="0"/>
              </a:rPr>
              <a:t>(pointSprite.attribVertexPos,3,GL_FLOAT,GL_FALSE,0,quadVtx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latin typeface="Lucida Console" panose="020B0609040504020204" pitchFamily="49" charset="0"/>
              </a:rPr>
              <a:t>(pointSprite.attribColorPos,4,GL_FLOAT,GL_FALSE,0,quadCol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latin typeface="Lucida Console" panose="020B0609040504020204" pitchFamily="49" charset="0"/>
              </a:rPr>
              <a:t>(pointSprite.attribPointSizePos,1,GL_FLOAT,GL_FALSE,0,quadPointSize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glVertexAttribPointer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(pointSprite.attribTexCoordRangePos,4,GL_FLOAT,GL_FALSE,0,cubeTexCoordRange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</a:t>
            </a:r>
            <a:r>
              <a:rPr lang="en-US" sz="1100" dirty="0" smtClean="0">
                <a:latin typeface="Lucida Console" panose="020B0609040504020204" pitchFamily="49" charset="0"/>
              </a:rPr>
              <a:t>(GL_POINT_SPRITE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glEnable</a:t>
            </a:r>
            <a:r>
              <a:rPr lang="en-US" sz="1100" dirty="0" smtClean="0">
                <a:latin typeface="Lucida Console" panose="020B0609040504020204" pitchFamily="49" charset="0"/>
              </a:rPr>
              <a:t>(GL_PROGRAM_POINT_SIZE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100" dirty="0" smtClean="0">
                <a:latin typeface="Lucida Console" panose="020B0609040504020204" pitchFamily="49" charset="0"/>
              </a:rPr>
              <a:t>(GL_POINTS,0,4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</a:t>
            </a:r>
            <a:r>
              <a:rPr lang="en-US" sz="1100" dirty="0" smtClean="0">
                <a:latin typeface="Lucida Console" panose="020B0609040504020204" pitchFamily="49" charset="0"/>
              </a:rPr>
              <a:t>(GL_PROGRAM_POINT_SIZE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</a:t>
            </a:r>
            <a:r>
              <a:rPr lang="en-US" sz="1100" dirty="0" smtClean="0">
                <a:latin typeface="Lucida Console" panose="020B0609040504020204" pitchFamily="49" charset="0"/>
              </a:rPr>
              <a:t>(GL_POINT_SPRITE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pointSprite.attribVertexPos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100" dirty="0" smtClean="0"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latin typeface="Lucida Console" panose="020B0609040504020204" pitchFamily="49" charset="0"/>
              </a:rPr>
              <a:t>pointSprite.attribColorPos</a:t>
            </a:r>
            <a:r>
              <a:rPr lang="en-US" sz="11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glDisableVertexAttribArray</a:t>
            </a:r>
            <a:r>
              <a:rPr lang="en-US" sz="11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1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pointSprite.attribTexCoordRangePos</a:t>
            </a:r>
            <a:r>
              <a:rPr lang="en-US" sz="11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151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Transparency in 3D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Look at transparency_1 example.</a:t>
            </a:r>
          </a:p>
          <a:p>
            <a:r>
              <a:rPr lang="en-US" dirty="0" smtClean="0"/>
              <a:t>It draws a solid cube inside a semi-transparent cube using the </a:t>
            </a:r>
            <a:r>
              <a:rPr lang="en-US" dirty="0" err="1" smtClean="0"/>
              <a:t>Phong</a:t>
            </a:r>
            <a:r>
              <a:rPr lang="en-US" dirty="0" smtClean="0"/>
              <a:t>-Shading renderer.</a:t>
            </a:r>
          </a:p>
          <a:p>
            <a:r>
              <a:rPr lang="en-US" dirty="0" smtClean="0"/>
              <a:t>In Draw() function: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DrawCube</a:t>
            </a:r>
            <a:r>
              <a:rPr lang="en-US" dirty="0" smtClean="0"/>
              <a:t> takes four parameters, dimension, red, green, blue, and alpha.</a:t>
            </a:r>
          </a:p>
          <a:p>
            <a:r>
              <a:rPr lang="en-US" dirty="0" smtClean="0"/>
              <a:t>The program draws solid cube (alpha=1.0) first, and then semi-transparent cube (alpha=0.5).</a:t>
            </a:r>
          </a:p>
          <a:p>
            <a:r>
              <a:rPr lang="en-US" dirty="0" smtClean="0"/>
              <a:t>What if I draw the semi-transparent cube first?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1444" y="2866031"/>
            <a:ext cx="3031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   </a:t>
            </a:r>
            <a:r>
              <a:rPr lang="en-US" dirty="0" err="1" smtClean="0"/>
              <a:t>DrawCube</a:t>
            </a:r>
            <a:r>
              <a:rPr lang="en-US" dirty="0" smtClean="0"/>
              <a:t>(5.0,0,0,1,1</a:t>
            </a:r>
            <a:r>
              <a:rPr lang="en-US" dirty="0"/>
              <a:t>);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DrawCube</a:t>
            </a:r>
            <a:r>
              <a:rPr lang="en-US" dirty="0" smtClean="0"/>
              <a:t>(8.0,1,0,0,0.5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593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Transparency in 3D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a transparent object is in front of a solid object, the solid object may not be drawn.</a:t>
            </a:r>
          </a:p>
          <a:p>
            <a:r>
              <a:rPr lang="en-US" dirty="0" smtClean="0"/>
              <a:t>Even worse, it may create a peep-hole effect.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072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Transparency in 3D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requires a ray-tracing to draw a perfect image without artifacts.</a:t>
            </a:r>
          </a:p>
          <a:p>
            <a:endParaRPr lang="en-US" dirty="0"/>
          </a:p>
          <a:p>
            <a:r>
              <a:rPr lang="en-US" dirty="0" smtClean="0"/>
              <a:t>Possible Practical Solutions:</a:t>
            </a:r>
          </a:p>
          <a:p>
            <a:pPr lvl="1"/>
            <a:r>
              <a:rPr lang="en-US" dirty="0" smtClean="0"/>
              <a:t>Sort elements based on the depth before drawing.</a:t>
            </a:r>
          </a:p>
          <a:p>
            <a:pPr lvl="1"/>
            <a:r>
              <a:rPr lang="en-US" dirty="0" smtClean="0"/>
              <a:t>Drawing solid elements first.  (Most practical)</a:t>
            </a:r>
            <a:endParaRPr lang="en-US" dirty="0"/>
          </a:p>
        </p:txBody>
      </p:sp>
      <p:pic>
        <p:nvPicPr>
          <p:cNvPr id="1026" name="Picture 2" descr="E:\development\trunk\src\ysflight\runtime\document\peephole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581400"/>
            <a:ext cx="3725863" cy="255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E:\development\trunk\src\ysflight\runtime\document\peephole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060" y="3581400"/>
            <a:ext cx="3725863" cy="255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" y="6142774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Horizon beyond the hangar is visible due to the peep-hole effect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583556" y="6145619"/>
            <a:ext cx="396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smtClean="0"/>
              <a:t>Solid elements are drawn first.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8743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a cloud with particle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Idea: Use point sprites to draw cloud, steam, and burning fire.</a:t>
            </a:r>
          </a:p>
          <a:p>
            <a:r>
              <a:rPr lang="en-US" dirty="0" smtClean="0"/>
              <a:t>Sprite patterns: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56" y="2392264"/>
            <a:ext cx="1434633" cy="14346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589" y="2392263"/>
            <a:ext cx="1434633" cy="14346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392262"/>
            <a:ext cx="1434633" cy="143463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411" y="2392261"/>
            <a:ext cx="1434633" cy="143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4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a class that:</a:t>
            </a:r>
          </a:p>
          <a:p>
            <a:pPr lvl="1"/>
            <a:r>
              <a:rPr lang="en-US" dirty="0" smtClean="0"/>
              <a:t>Generates a group of particles,</a:t>
            </a:r>
          </a:p>
          <a:p>
            <a:pPr lvl="1"/>
            <a:r>
              <a:rPr lang="en-US" dirty="0" smtClean="0"/>
              <a:t>retains a group of particles, and</a:t>
            </a:r>
          </a:p>
          <a:p>
            <a:pPr lvl="1"/>
            <a:r>
              <a:rPr lang="en-US" dirty="0" smtClean="0"/>
              <a:t>makes vertex attributes.</a:t>
            </a:r>
          </a:p>
          <a:p>
            <a:r>
              <a:rPr lang="en-US" dirty="0" smtClean="0"/>
              <a:t>Add </a:t>
            </a:r>
            <a:r>
              <a:rPr lang="en-US" dirty="0" err="1" smtClean="0"/>
              <a:t>particle.h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1" y="3108960"/>
            <a:ext cx="669285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class </a:t>
            </a:r>
            <a:r>
              <a:rPr lang="en-US" sz="1200" dirty="0" err="1">
                <a:latin typeface="Lucida Console" panose="020B0609040504020204" pitchFamily="49" charset="0"/>
              </a:rPr>
              <a:t>ParticleGroup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class </a:t>
            </a:r>
            <a:r>
              <a:rPr lang="en-US" sz="1200" dirty="0">
                <a:latin typeface="Lucida Console" panose="020B0609040504020204" pitchFamily="49" charset="0"/>
              </a:rPr>
              <a:t>Particle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public</a:t>
            </a:r>
            <a:r>
              <a:rPr lang="en-US" sz="12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YsVec3 </a:t>
            </a:r>
            <a:r>
              <a:rPr lang="en-US" sz="1200" dirty="0" err="1">
                <a:latin typeface="Lucida Console" panose="020B0609040504020204" pitchFamily="49" charset="0"/>
              </a:rPr>
              <a:t>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float </a:t>
            </a:r>
            <a:r>
              <a:rPr lang="en-US" sz="1200" dirty="0" err="1">
                <a:latin typeface="Lucida Console" panose="020B0609040504020204" pitchFamily="49" charset="0"/>
              </a:rPr>
              <a:t>texCoordRange</a:t>
            </a:r>
            <a:r>
              <a:rPr lang="en-US" sz="1200" dirty="0">
                <a:latin typeface="Lucida Console" panose="020B0609040504020204" pitchFamily="49" charset="0"/>
              </a:rPr>
              <a:t>[4];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};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std</a:t>
            </a:r>
            <a:r>
              <a:rPr lang="en-US" sz="1200" dirty="0">
                <a:latin typeface="Lucida Console" panose="020B0609040504020204" pitchFamily="49" charset="0"/>
              </a:rPr>
              <a:t>::vector &lt;Particle&gt; particle;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std</a:t>
            </a:r>
            <a:r>
              <a:rPr lang="en-US" sz="1200" dirty="0">
                <a:latin typeface="Lucida Console" panose="020B0609040504020204" pitchFamily="49" charset="0"/>
              </a:rPr>
              <a:t>::vector &lt;float&gt; </a:t>
            </a:r>
            <a:r>
              <a:rPr lang="en-US" sz="1200" dirty="0" err="1">
                <a:latin typeface="Lucida Console" panose="020B0609040504020204" pitchFamily="49" charset="0"/>
              </a:rPr>
              <a:t>vtx,pointSize,col,texCoordRange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void </a:t>
            </a:r>
            <a:r>
              <a:rPr lang="en-US" sz="1200" dirty="0" err="1">
                <a:latin typeface="Lucida Console" panose="020B0609040504020204" pitchFamily="49" charset="0"/>
              </a:rPr>
              <a:t>CleanUp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void </a:t>
            </a:r>
            <a:r>
              <a:rPr lang="en-US" sz="1200" dirty="0" err="1">
                <a:latin typeface="Lucida Console" panose="020B0609040504020204" pitchFamily="49" charset="0"/>
              </a:rPr>
              <a:t>MakeCloud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nParticle,const</a:t>
            </a:r>
            <a:r>
              <a:rPr lang="en-US" sz="1200" dirty="0">
                <a:latin typeface="Lucida Console" panose="020B0609040504020204" pitchFamily="49" charset="0"/>
              </a:rPr>
              <a:t> YsVec3 &amp;</a:t>
            </a:r>
            <a:r>
              <a:rPr lang="en-US" sz="1200" dirty="0" err="1">
                <a:latin typeface="Lucida Console" panose="020B0609040504020204" pitchFamily="49" charset="0"/>
              </a:rPr>
              <a:t>min,const</a:t>
            </a:r>
            <a:r>
              <a:rPr lang="en-US" sz="1200" dirty="0">
                <a:latin typeface="Lucida Console" panose="020B0609040504020204" pitchFamily="49" charset="0"/>
              </a:rPr>
              <a:t> YsVec3 &amp;max);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void </a:t>
            </a:r>
            <a:r>
              <a:rPr lang="en-US" sz="1200" dirty="0" err="1">
                <a:latin typeface="Lucida Console" panose="020B0609040504020204" pitchFamily="49" charset="0"/>
              </a:rPr>
              <a:t>MakeVertexBuffer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832167" y="3699164"/>
            <a:ext cx="199506" cy="1117956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1753" y="2663427"/>
            <a:ext cx="4472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Information that a particle needs to carry.  To use a texture-atlas, it needs a position and texture-coordinate range. 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3973484" y="3125092"/>
            <a:ext cx="698269" cy="1172588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Brace 8"/>
          <p:cNvSpPr/>
          <p:nvPr/>
        </p:nvSpPr>
        <p:spPr>
          <a:xfrm>
            <a:off x="4438996" y="4960938"/>
            <a:ext cx="133004" cy="201266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195455" y="3699164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An array of particles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>
            <a:stCxn id="10" idx="1"/>
            <a:endCxn id="9" idx="1"/>
          </p:cNvCxnSpPr>
          <p:nvPr/>
        </p:nvCxnSpPr>
        <p:spPr>
          <a:xfrm flipH="1">
            <a:off x="4572000" y="3883830"/>
            <a:ext cx="623455" cy="1177741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62862" y="4229449"/>
            <a:ext cx="2467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Vertex Attribute Arrays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ight Brace 13"/>
          <p:cNvSpPr/>
          <p:nvPr/>
        </p:nvSpPr>
        <p:spPr>
          <a:xfrm>
            <a:off x="6093229" y="5162204"/>
            <a:ext cx="149629" cy="173580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endCxn id="14" idx="1"/>
          </p:cNvCxnSpPr>
          <p:nvPr/>
        </p:nvCxnSpPr>
        <p:spPr>
          <a:xfrm flipH="1">
            <a:off x="6242858" y="4598781"/>
            <a:ext cx="1053771" cy="650213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340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a cloud with particle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884" y="714894"/>
            <a:ext cx="7622600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#include </a:t>
            </a:r>
            <a:r>
              <a:rPr lang="en-US" sz="1200" dirty="0">
                <a:latin typeface="Lucida Console" panose="020B0609040504020204" pitchFamily="49" charset="0"/>
              </a:rPr>
              <a:t>"</a:t>
            </a:r>
            <a:r>
              <a:rPr lang="en-US" sz="1200" dirty="0" err="1">
                <a:latin typeface="Lucida Console" panose="020B0609040504020204" pitchFamily="49" charset="0"/>
              </a:rPr>
              <a:t>particle.h</a:t>
            </a:r>
            <a:r>
              <a:rPr lang="en-US" sz="1200" dirty="0">
                <a:latin typeface="Lucida Console" panose="020B0609040504020204" pitchFamily="49" charset="0"/>
              </a:rPr>
              <a:t>"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#include </a:t>
            </a:r>
            <a:r>
              <a:rPr lang="en-US" sz="1200" dirty="0">
                <a:latin typeface="Lucida Console" panose="020B0609040504020204" pitchFamily="49" charset="0"/>
              </a:rPr>
              <a:t>&lt;</a:t>
            </a:r>
            <a:r>
              <a:rPr lang="en-US" sz="1200" dirty="0" err="1">
                <a:latin typeface="Lucida Console" panose="020B0609040504020204" pitchFamily="49" charset="0"/>
              </a:rPr>
              <a:t>stdlib.h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ParticleGroup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CleanUp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particle.clear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vtx.clear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col.clear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texCoordRange.clear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ParticleGroup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MakeCloud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nParticle,const</a:t>
            </a:r>
            <a:r>
              <a:rPr lang="en-US" sz="1200" dirty="0">
                <a:latin typeface="Lucida Console" panose="020B0609040504020204" pitchFamily="49" charset="0"/>
              </a:rPr>
              <a:t> YsVec3 &amp;</a:t>
            </a:r>
            <a:r>
              <a:rPr lang="en-US" sz="1200" dirty="0" err="1">
                <a:latin typeface="Lucida Console" panose="020B0609040504020204" pitchFamily="49" charset="0"/>
              </a:rPr>
              <a:t>min,const</a:t>
            </a:r>
            <a:r>
              <a:rPr lang="en-US" sz="1200" dirty="0">
                <a:latin typeface="Lucida Console" panose="020B0609040504020204" pitchFamily="49" charset="0"/>
              </a:rPr>
              <a:t> YsVec3 &amp;max)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nParticle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&amp;p : particle)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s=(double)rand()/(double)RAND_MAX;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t=(double)rand()/(double)RAND_MAX;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u=(double)rand()/(double)RAND_MAX;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x=</a:t>
            </a:r>
            <a:r>
              <a:rPr lang="en-US" sz="1200" dirty="0" err="1">
                <a:latin typeface="Lucida Console" panose="020B0609040504020204" pitchFamily="49" charset="0"/>
              </a:rPr>
              <a:t>min.x</a:t>
            </a:r>
            <a:r>
              <a:rPr lang="en-US" sz="1200" dirty="0">
                <a:latin typeface="Lucida Console" panose="020B0609040504020204" pitchFamily="49" charset="0"/>
              </a:rPr>
              <a:t>()*(1.0-s)+</a:t>
            </a:r>
            <a:r>
              <a:rPr lang="en-US" sz="1200" dirty="0" err="1">
                <a:latin typeface="Lucida Console" panose="020B0609040504020204" pitchFamily="49" charset="0"/>
              </a:rPr>
              <a:t>max.x</a:t>
            </a:r>
            <a:r>
              <a:rPr lang="en-US" sz="1200" dirty="0">
                <a:latin typeface="Lucida Console" panose="020B0609040504020204" pitchFamily="49" charset="0"/>
              </a:rPr>
              <a:t>()*s;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y=</a:t>
            </a:r>
            <a:r>
              <a:rPr lang="en-US" sz="1200" dirty="0" err="1">
                <a:latin typeface="Lucida Console" panose="020B0609040504020204" pitchFamily="49" charset="0"/>
              </a:rPr>
              <a:t>min.y</a:t>
            </a:r>
            <a:r>
              <a:rPr lang="en-US" sz="1200" dirty="0">
                <a:latin typeface="Lucida Console" panose="020B0609040504020204" pitchFamily="49" charset="0"/>
              </a:rPr>
              <a:t>()*(1.0-t)+</a:t>
            </a:r>
            <a:r>
              <a:rPr lang="en-US" sz="1200" dirty="0" err="1">
                <a:latin typeface="Lucida Console" panose="020B0609040504020204" pitchFamily="49" charset="0"/>
              </a:rPr>
              <a:t>max.y</a:t>
            </a:r>
            <a:r>
              <a:rPr lang="en-US" sz="1200" dirty="0">
                <a:latin typeface="Lucida Console" panose="020B0609040504020204" pitchFamily="49" charset="0"/>
              </a:rPr>
              <a:t>()*t;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z=</a:t>
            </a:r>
            <a:r>
              <a:rPr lang="en-US" sz="1200" dirty="0" err="1">
                <a:latin typeface="Lucida Console" panose="020B0609040504020204" pitchFamily="49" charset="0"/>
              </a:rPr>
              <a:t>min.z</a:t>
            </a:r>
            <a:r>
              <a:rPr lang="en-US" sz="1200" dirty="0">
                <a:latin typeface="Lucida Console" panose="020B0609040504020204" pitchFamily="49" charset="0"/>
              </a:rPr>
              <a:t>()*(1.0-u)+</a:t>
            </a:r>
            <a:r>
              <a:rPr lang="en-US" sz="1200" dirty="0" err="1">
                <a:latin typeface="Lucida Console" panose="020B0609040504020204" pitchFamily="49" charset="0"/>
              </a:rPr>
              <a:t>max.z</a:t>
            </a:r>
            <a:r>
              <a:rPr lang="en-US" sz="1200" dirty="0">
                <a:latin typeface="Lucida Console" panose="020B0609040504020204" pitchFamily="49" charset="0"/>
              </a:rPr>
              <a:t>()*u;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p.pos.Set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x,y,z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// </a:t>
            </a:r>
            <a:r>
              <a:rPr lang="en-US" sz="1200" dirty="0">
                <a:latin typeface="Lucida Console" panose="020B0609040504020204" pitchFamily="49" charset="0"/>
              </a:rPr>
              <a:t>Assume 4x4 texture atlas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s=0.25</a:t>
            </a:r>
            <a:r>
              <a:rPr lang="en-US" sz="1200" dirty="0">
                <a:latin typeface="Lucida Console" panose="020B0609040504020204" pitchFamily="49" charset="0"/>
              </a:rPr>
              <a:t>*(double)(rand()%4);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t=0.75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p.texCoordRange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[0</a:t>
            </a:r>
            <a:r>
              <a:rPr lang="en-US" sz="1200" dirty="0">
                <a:latin typeface="Lucida Console" panose="020B0609040504020204" pitchFamily="49" charset="0"/>
              </a:rPr>
              <a:t>]=(float)s;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p.texCoordRange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[1</a:t>
            </a:r>
            <a:r>
              <a:rPr lang="en-US" sz="1200" dirty="0">
                <a:latin typeface="Lucida Console" panose="020B0609040504020204" pitchFamily="49" charset="0"/>
              </a:rPr>
              <a:t>]=(float)t;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p.texCoordRange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[2</a:t>
            </a:r>
            <a:r>
              <a:rPr lang="en-US" sz="1200" dirty="0">
                <a:latin typeface="Lucida Console" panose="020B0609040504020204" pitchFamily="49" charset="0"/>
              </a:rPr>
              <a:t>]=(float)s+0.25;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p.texCoordRange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[3</a:t>
            </a:r>
            <a:r>
              <a:rPr lang="en-US" sz="1200" dirty="0">
                <a:latin typeface="Lucida Console" panose="020B0609040504020204" pitchFamily="49" charset="0"/>
              </a:rPr>
              <a:t>]=(float)t+0.25;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 rot="-5400000">
            <a:off x="6296892" y="901930"/>
            <a:ext cx="199506" cy="2784765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062451" y="1579418"/>
            <a:ext cx="2801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box where the particles are scattered.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4222865" y="4960938"/>
            <a:ext cx="157942" cy="1340109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0" y="5519651"/>
            <a:ext cx="4386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Assign one of the four patterns randomly.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ight Brace 8"/>
          <p:cNvSpPr/>
          <p:nvPr/>
        </p:nvSpPr>
        <p:spPr>
          <a:xfrm>
            <a:off x="4871258" y="3275215"/>
            <a:ext cx="191193" cy="1197032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162204" y="3815542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Random location within the box.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707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a cloud with particle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643" y="1039091"/>
            <a:ext cx="501291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ParticleGroup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MakeVertexBuffer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()*3);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()*4);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pointSize.resize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()*4);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&amp;p : particle)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*3  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p.pos.xf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*3+1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p.pos.yf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*3+2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p.pos.zf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  </a:t>
            </a:r>
            <a:r>
              <a:rPr lang="en-US" sz="1200" dirty="0">
                <a:latin typeface="Lucida Console" panose="020B0609040504020204" pitchFamily="49" charset="0"/>
              </a:rPr>
              <a:t>]=1;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*4+1</a:t>
            </a:r>
            <a:r>
              <a:rPr lang="en-US" sz="1200" dirty="0">
                <a:latin typeface="Lucida Console" panose="020B0609040504020204" pitchFamily="49" charset="0"/>
              </a:rPr>
              <a:t>]=1;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*4+2</a:t>
            </a:r>
            <a:r>
              <a:rPr lang="en-US" sz="1200" dirty="0">
                <a:latin typeface="Lucida Console" panose="020B0609040504020204" pitchFamily="49" charset="0"/>
              </a:rPr>
              <a:t>]=1;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*4+3]=0.3;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pointSize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]=1.0f;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  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[0];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*4+1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[1];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*4+2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[2];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*4+3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[3];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++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563685" y="972589"/>
            <a:ext cx="149629" cy="332509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13314" y="955964"/>
            <a:ext cx="441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Make vertex attribute arrays for rendering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661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a cloud with particle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Starting from </a:t>
            </a:r>
            <a:r>
              <a:rPr lang="en-US" dirty="0" err="1"/>
              <a:t>point_sprite_texture</a:t>
            </a:r>
            <a:endParaRPr lang="en-US" dirty="0"/>
          </a:p>
          <a:p>
            <a:r>
              <a:rPr lang="en-US" dirty="0" smtClean="0"/>
              <a:t>In Initialize(), load sprite4x4.png and create a texture from it.  (The file must be in the data sub-directory.)</a:t>
            </a:r>
          </a:p>
          <a:p>
            <a:r>
              <a:rPr lang="en-US" dirty="0" smtClean="0"/>
              <a:t>Also add in Initialize(),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Draw(),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1397" y="2765484"/>
            <a:ext cx="66928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nParticle</a:t>
            </a:r>
            <a:r>
              <a:rPr lang="en-US" sz="1200" dirty="0" smtClean="0">
                <a:latin typeface="Lucida Console" panose="020B0609040504020204" pitchFamily="49" charset="0"/>
              </a:rPr>
              <a:t>=2000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particleGroup.MakeCloud</a:t>
            </a:r>
            <a:r>
              <a:rPr lang="en-US" sz="1200" dirty="0" smtClean="0">
                <a:latin typeface="Lucida Console" panose="020B0609040504020204" pitchFamily="49" charset="0"/>
              </a:rPr>
              <a:t>(nParticle,YsVec3</a:t>
            </a:r>
            <a:r>
              <a:rPr lang="en-US" sz="1200" dirty="0">
                <a:latin typeface="Lucida Console" panose="020B0609040504020204" pitchFamily="49" charset="0"/>
              </a:rPr>
              <a:t>(-8,-4,-8),YsVec3(8,4,8));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particleGroup.MakeVertexBuffer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1397" y="4168824"/>
            <a:ext cx="5763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200" dirty="0" smtClean="0">
                <a:latin typeface="Lucida Console" panose="020B0609040504020204" pitchFamily="49" charset="0"/>
              </a:rPr>
              <a:t>(GL_POINTS,0,particleGroup.particle.size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81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a cloud with particle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Renders somewhat gaseous thing.</a:t>
            </a:r>
          </a:p>
          <a:p>
            <a:r>
              <a:rPr lang="en-US" dirty="0" smtClean="0"/>
              <a:t>But, we don’t want to see squares.</a:t>
            </a:r>
          </a:p>
          <a:p>
            <a:r>
              <a:rPr lang="en-US" dirty="0" smtClean="0"/>
              <a:t>Use alpha-cut-off in the fragment </a:t>
            </a:r>
            <a:r>
              <a:rPr lang="en-US" dirty="0" err="1" smtClean="0"/>
              <a:t>shader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Some improvement, but still not very gas-like.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37854" y="2580818"/>
            <a:ext cx="27751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if(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gl_FragColor.a</a:t>
            </a:r>
            <a:r>
              <a:rPr lang="en-US" sz="1200" dirty="0" smtClean="0">
                <a:latin typeface="Lucida Console" panose="020B0609040504020204" pitchFamily="49" charset="0"/>
              </a:rPr>
              <a:t>&lt;0.01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discard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59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a cloud with particle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the pattern has only two colors, this problem can be solved by:</a:t>
            </a:r>
          </a:p>
          <a:p>
            <a:pPr lvl="1"/>
            <a:r>
              <a:rPr lang="en-US" dirty="0" smtClean="0"/>
              <a:t>Disabling writing to Z-buffer (</a:t>
            </a:r>
            <a:r>
              <a:rPr lang="en-US" dirty="0" err="1" smtClean="0"/>
              <a:t>glDepthMask</a:t>
            </a:r>
            <a:r>
              <a:rPr lang="en-US" dirty="0" smtClean="0"/>
              <a:t>(0)), and</a:t>
            </a:r>
          </a:p>
          <a:p>
            <a:pPr lvl="1"/>
            <a:r>
              <a:rPr lang="en-US" dirty="0" smtClean="0"/>
              <a:t>Using additive transparency (more overlapping particles make the object brighter), or</a:t>
            </a:r>
          </a:p>
          <a:p>
            <a:pPr lvl="1"/>
            <a:r>
              <a:rPr lang="en-US" dirty="0" smtClean="0"/>
              <a:t>Using multiplicative transparency (more overlapping particles make the object darker).</a:t>
            </a:r>
          </a:p>
          <a:p>
            <a:r>
              <a:rPr lang="en-US" dirty="0" smtClean="0"/>
              <a:t>But, it makes the object somewhat monotonic.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777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a cloud with particle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Solution: Sorting the particles based on the distance from the view point.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2509" y="1779687"/>
            <a:ext cx="743665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ParticleGroup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MakeVertexBuffer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YsVec3 &amp;</a:t>
            </a:r>
            <a:r>
              <a:rPr lang="en-US" sz="1200" dirty="0" err="1">
                <a:latin typeface="Lucida Console" panose="020B0609040504020204" pitchFamily="49" charset="0"/>
              </a:rPr>
              <a:t>viewDir,float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particleSize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()*3);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()*4);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pointSize.resize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()*4);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auto </a:t>
            </a:r>
            <a:r>
              <a:rPr lang="en-US" sz="1200" dirty="0" err="1">
                <a:latin typeface="Lucida Console" panose="020B0609040504020204" pitchFamily="49" charset="0"/>
              </a:rPr>
              <a:t>idxBuf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SortIndex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viewDir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</a:t>
            </a:r>
            <a:r>
              <a:rPr lang="en-US" sz="1200" dirty="0" err="1">
                <a:latin typeface="Lucida Console" panose="020B0609040504020204" pitchFamily="49" charset="0"/>
              </a:rPr>
              <a:t>sortedIdx</a:t>
            </a:r>
            <a:r>
              <a:rPr lang="en-US" sz="1200" dirty="0">
                <a:latin typeface="Lucida Console" panose="020B0609040504020204" pitchFamily="49" charset="0"/>
              </a:rPr>
              <a:t> : </a:t>
            </a:r>
            <a:r>
              <a:rPr lang="en-US" sz="1200" dirty="0" err="1">
                <a:latin typeface="Lucida Console" panose="020B0609040504020204" pitchFamily="49" charset="0"/>
              </a:rPr>
              <a:t>idxBuf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auto </a:t>
            </a:r>
            <a:r>
              <a:rPr lang="en-US" sz="1200" dirty="0">
                <a:latin typeface="Lucida Console" panose="020B0609040504020204" pitchFamily="49" charset="0"/>
              </a:rPr>
              <a:t>&amp;p=particle[</a:t>
            </a:r>
            <a:r>
              <a:rPr lang="en-US" sz="1200" dirty="0" err="1">
                <a:latin typeface="Lucida Console" panose="020B0609040504020204" pitchFamily="49" charset="0"/>
              </a:rPr>
              <a:t>sortedIdx</a:t>
            </a:r>
            <a:r>
              <a:rPr lang="en-US" sz="1200" dirty="0"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*3  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p.pos.xf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*3+1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p.pos.yf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*3+2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p.pos.zf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  </a:t>
            </a:r>
            <a:r>
              <a:rPr lang="en-US" sz="1200" dirty="0">
                <a:latin typeface="Lucida Console" panose="020B0609040504020204" pitchFamily="49" charset="0"/>
              </a:rPr>
              <a:t>]=1;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*4+1</a:t>
            </a:r>
            <a:r>
              <a:rPr lang="en-US" sz="1200" dirty="0">
                <a:latin typeface="Lucida Console" panose="020B0609040504020204" pitchFamily="49" charset="0"/>
              </a:rPr>
              <a:t>]=1;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*4+2</a:t>
            </a:r>
            <a:r>
              <a:rPr lang="en-US" sz="1200" dirty="0">
                <a:latin typeface="Lucida Console" panose="020B0609040504020204" pitchFamily="49" charset="0"/>
              </a:rPr>
              <a:t>]=1;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*4+3</a:t>
            </a:r>
            <a:r>
              <a:rPr lang="en-US" sz="1200" dirty="0">
                <a:latin typeface="Lucida Console" panose="020B0609040504020204" pitchFamily="49" charset="0"/>
              </a:rPr>
              <a:t>]=0.3;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pointSize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particleSize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  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[0];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*4+1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[1];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*4+2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[2];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*4+3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[3];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++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690851" y="2934393"/>
            <a:ext cx="124691" cy="224443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40233" y="2974170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Sort particles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333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a cloud with particle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4895" y="1130531"/>
            <a:ext cx="790152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Lucida Console" panose="020B0609040504020204" pitchFamily="49" charset="0"/>
              </a:rPr>
              <a:t>std</a:t>
            </a:r>
            <a:r>
              <a:rPr lang="en-US" sz="1200" dirty="0">
                <a:latin typeface="Lucida Console" panose="020B0609040504020204" pitchFamily="49" charset="0"/>
              </a:rPr>
              <a:t>::vector &lt;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&gt; </a:t>
            </a:r>
            <a:r>
              <a:rPr lang="en-US" sz="1200" dirty="0" err="1">
                <a:latin typeface="Lucida Console" panose="020B0609040504020204" pitchFamily="49" charset="0"/>
              </a:rPr>
              <a:t>ParticleGroup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SortIndex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YsVec3 &amp;</a:t>
            </a:r>
            <a:r>
              <a:rPr lang="en-US" sz="1200" dirty="0" err="1">
                <a:latin typeface="Lucida Console" panose="020B0609040504020204" pitchFamily="49" charset="0"/>
              </a:rPr>
              <a:t>viewDir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std</a:t>
            </a:r>
            <a:r>
              <a:rPr lang="en-US" sz="1200" dirty="0">
                <a:latin typeface="Lucida Console" panose="020B0609040504020204" pitchFamily="49" charset="0"/>
              </a:rPr>
              <a:t>::vector &lt;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&gt; </a:t>
            </a:r>
            <a:r>
              <a:rPr lang="en-US" sz="1200" dirty="0" err="1">
                <a:latin typeface="Lucida Console" panose="020B0609040504020204" pitchFamily="49" charset="0"/>
              </a:rPr>
              <a:t>idxBuf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idxBuf.resize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std</a:t>
            </a:r>
            <a:r>
              <a:rPr lang="en-US" sz="1200" dirty="0">
                <a:latin typeface="Lucida Console" panose="020B0609040504020204" pitchFamily="49" charset="0"/>
              </a:rPr>
              <a:t>::vector &lt;double&gt; </a:t>
            </a:r>
            <a:r>
              <a:rPr lang="en-US" sz="1200" dirty="0" err="1">
                <a:latin typeface="Lucida Console" panose="020B0609040504020204" pitchFamily="49" charset="0"/>
              </a:rPr>
              <a:t>viewDist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viewDist.resize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&amp;p : particle)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idxBuf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viewDist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]=-</a:t>
            </a:r>
            <a:r>
              <a:rPr lang="en-US" sz="1200" dirty="0" err="1">
                <a:latin typeface="Lucida Console" panose="020B0609040504020204" pitchFamily="49" charset="0"/>
              </a:rPr>
              <a:t>viewDir</a:t>
            </a:r>
            <a:r>
              <a:rPr lang="en-US" sz="1200" dirty="0"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latin typeface="Lucida Console" panose="020B0609040504020204" pitchFamily="49" charset="0"/>
              </a:rPr>
              <a:t>p.pos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++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YsSimpleMergeSort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&lt;</a:t>
            </a:r>
            <a:r>
              <a:rPr lang="en-US" sz="1200" dirty="0" err="1">
                <a:latin typeface="Lucida Console" panose="020B0609040504020204" pitchFamily="49" charset="0"/>
              </a:rPr>
              <a:t>double,int</a:t>
            </a:r>
            <a:r>
              <a:rPr lang="en-US" sz="1200" dirty="0">
                <a:latin typeface="Lucida Console" panose="020B0609040504020204" pitchFamily="49" charset="0"/>
              </a:rPr>
              <a:t>&gt; (</a:t>
            </a:r>
            <a:r>
              <a:rPr lang="en-US" sz="1200" dirty="0" err="1">
                <a:latin typeface="Lucida Console" panose="020B0609040504020204" pitchFamily="49" charset="0"/>
              </a:rPr>
              <a:t>viewDist.size</a:t>
            </a:r>
            <a:r>
              <a:rPr lang="en-US" sz="1200" dirty="0">
                <a:latin typeface="Lucida Console" panose="020B0609040504020204" pitchFamily="49" charset="0"/>
              </a:rPr>
              <a:t>(),</a:t>
            </a:r>
            <a:r>
              <a:rPr lang="en-US" sz="1200" dirty="0" err="1">
                <a:latin typeface="Lucida Console" panose="020B0609040504020204" pitchFamily="49" charset="0"/>
              </a:rPr>
              <a:t>viewDist.data</a:t>
            </a:r>
            <a:r>
              <a:rPr lang="en-US" sz="1200" dirty="0">
                <a:latin typeface="Lucida Console" panose="020B0609040504020204" pitchFamily="49" charset="0"/>
              </a:rPr>
              <a:t>(),</a:t>
            </a:r>
            <a:r>
              <a:rPr lang="en-US" sz="1200" dirty="0" err="1">
                <a:latin typeface="Lucida Console" panose="020B0609040504020204" pitchFamily="49" charset="0"/>
              </a:rPr>
              <a:t>idxBuf.data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return </a:t>
            </a:r>
            <a:r>
              <a:rPr lang="en-US" sz="1200" dirty="0" err="1">
                <a:latin typeface="Lucida Console" panose="020B0609040504020204" pitchFamily="49" charset="0"/>
              </a:rPr>
              <a:t>idxBuf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624349" y="4281055"/>
            <a:ext cx="457200" cy="964276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11927" y="5428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11927" y="5320145"/>
            <a:ext cx="5602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Do you remember how merge-sort works?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In this function, the array elements in </a:t>
            </a:r>
            <a:r>
              <a:rPr lang="en-US" dirty="0" err="1" smtClean="0">
                <a:solidFill>
                  <a:srgbClr val="FF0000"/>
                </a:solidFill>
              </a:rPr>
              <a:t>idxBuf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are sorted based on the elements in </a:t>
            </a:r>
            <a:r>
              <a:rPr lang="en-US" dirty="0" err="1" smtClean="0">
                <a:solidFill>
                  <a:srgbClr val="FF0000"/>
                </a:solidFill>
              </a:rPr>
              <a:t>viewDist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438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a cloud with particle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Modifications:</a:t>
            </a:r>
          </a:p>
          <a:p>
            <a:pPr lvl="1"/>
            <a:r>
              <a:rPr lang="en-US" dirty="0" smtClean="0"/>
              <a:t>Increase/decrease number of particles.</a:t>
            </a:r>
          </a:p>
          <a:p>
            <a:pPr lvl="1"/>
            <a:r>
              <a:rPr lang="en-US" dirty="0" smtClean="0"/>
              <a:t>Increase/decrease alpha.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2032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burning fire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time, the particles need to move.</a:t>
            </a:r>
          </a:p>
          <a:p>
            <a:r>
              <a:rPr lang="en-US" dirty="0" smtClean="0"/>
              <a:t>Also must change color.</a:t>
            </a:r>
          </a:p>
          <a:p>
            <a:r>
              <a:rPr lang="en-US" dirty="0" smtClean="0"/>
              <a:t>First, make a program that generates and moves particles, and then change color.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664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burning fire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particle needs additional properties:</a:t>
            </a:r>
          </a:p>
          <a:p>
            <a:pPr lvl="1"/>
            <a:r>
              <a:rPr lang="en-US" dirty="0" smtClean="0"/>
              <a:t>Velocity</a:t>
            </a:r>
          </a:p>
          <a:p>
            <a:pPr lvl="1"/>
            <a:r>
              <a:rPr lang="en-US" dirty="0" smtClean="0"/>
              <a:t>Age (seconds after generated)</a:t>
            </a:r>
          </a:p>
          <a:p>
            <a:pPr lvl="1"/>
            <a:r>
              <a:rPr lang="en-US" dirty="0" smtClean="0"/>
              <a:t>Life</a:t>
            </a:r>
          </a:p>
          <a:p>
            <a:r>
              <a:rPr lang="en-US" dirty="0" smtClean="0"/>
              <a:t>Two new member functions of </a:t>
            </a:r>
            <a:r>
              <a:rPr lang="en-US" dirty="0" err="1" smtClean="0"/>
              <a:t>ParticleGroup</a:t>
            </a:r>
            <a:r>
              <a:rPr lang="en-US" dirty="0" smtClean="0"/>
              <a:t> class:</a:t>
            </a:r>
          </a:p>
          <a:p>
            <a:pPr lvl="1"/>
            <a:r>
              <a:rPr lang="en-US" dirty="0" err="1" smtClean="0"/>
              <a:t>AddFireParticle</a:t>
            </a:r>
            <a:endParaRPr lang="en-US" dirty="0" smtClean="0"/>
          </a:p>
          <a:p>
            <a:pPr lvl="1"/>
            <a:r>
              <a:rPr lang="en-US" dirty="0" smtClean="0"/>
              <a:t>Move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813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burning fire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0699" y="906087"/>
            <a:ext cx="631454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ParticleGroup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AddFireParticle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nParticle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</a:t>
            </a:r>
            <a:r>
              <a:rPr lang="en-US" sz="1200" dirty="0" err="1" smtClean="0">
                <a:latin typeface="Lucida Console" panose="020B0609040504020204" pitchFamily="49" charset="0"/>
              </a:rPr>
              <a:t>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</a:t>
            </a:r>
            <a:r>
              <a:rPr lang="en-US" sz="1200" dirty="0">
                <a:latin typeface="Lucida Console" panose="020B0609040504020204" pitchFamily="49" charset="0"/>
              </a:rPr>
              <a:t>=0; </a:t>
            </a:r>
            <a:r>
              <a:rPr lang="en-US" sz="1200" dirty="0" err="1">
                <a:latin typeface="Lucida Console" panose="020B0609040504020204" pitchFamily="49" charset="0"/>
              </a:rPr>
              <a:t>i</a:t>
            </a:r>
            <a:r>
              <a:rPr lang="en-US" sz="1200" dirty="0">
                <a:latin typeface="Lucida Console" panose="020B0609040504020204" pitchFamily="49" charset="0"/>
              </a:rPr>
              <a:t>&lt;</a:t>
            </a:r>
            <a:r>
              <a:rPr lang="en-US" sz="1200" dirty="0" err="1">
                <a:latin typeface="Lucida Console" panose="020B0609040504020204" pitchFamily="49" charset="0"/>
              </a:rPr>
              <a:t>nParticle</a:t>
            </a:r>
            <a:r>
              <a:rPr lang="en-US" sz="1200" dirty="0">
                <a:latin typeface="Lucida Console" panose="020B0609040504020204" pitchFamily="49" charset="0"/>
              </a:rPr>
              <a:t>; ++</a:t>
            </a:r>
            <a:r>
              <a:rPr lang="en-US" sz="1200" dirty="0" err="1">
                <a:latin typeface="Lucida Console" panose="020B0609040504020204" pitchFamily="49" charset="0"/>
              </a:rPr>
              <a:t>i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x=(double)rand()/(double)RAND_MAX;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y=0.0;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z=(double)rand()/(double)RAND_MAX;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 err="1">
                <a:latin typeface="Lucida Console" panose="020B0609040504020204" pitchFamily="49" charset="0"/>
              </a:rPr>
              <a:t>vx</a:t>
            </a:r>
            <a:r>
              <a:rPr lang="en-US" sz="1200" dirty="0">
                <a:latin typeface="Lucida Console" panose="020B0609040504020204" pitchFamily="49" charset="0"/>
              </a:rPr>
              <a:t>=3.0*((double)rand()/(double)RAND_MAX-0.5);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 err="1" smtClean="0">
                <a:latin typeface="Lucida Console" panose="020B0609040504020204" pitchFamily="49" charset="0"/>
              </a:rPr>
              <a:t>vy</a:t>
            </a:r>
            <a:r>
              <a:rPr lang="en-US" sz="1200" dirty="0" smtClean="0">
                <a:latin typeface="Lucida Console" panose="020B0609040504020204" pitchFamily="49" charset="0"/>
              </a:rPr>
              <a:t>=1.0+3.0</a:t>
            </a:r>
            <a:r>
              <a:rPr lang="en-US" sz="1200" dirty="0">
                <a:latin typeface="Lucida Console" panose="020B0609040504020204" pitchFamily="49" charset="0"/>
              </a:rPr>
              <a:t>*((double)rand()/(double)RAND_MAX);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 err="1">
                <a:latin typeface="Lucida Console" panose="020B0609040504020204" pitchFamily="49" charset="0"/>
              </a:rPr>
              <a:t>vz</a:t>
            </a:r>
            <a:r>
              <a:rPr lang="en-US" sz="1200" dirty="0">
                <a:latin typeface="Lucida Console" panose="020B0609040504020204" pitchFamily="49" charset="0"/>
              </a:rPr>
              <a:t>=3.0*((double)rand()/(double)RAND_MAX-0.5);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Particle </a:t>
            </a:r>
            <a:r>
              <a:rPr lang="en-US" sz="1200" dirty="0" err="1">
                <a:latin typeface="Lucida Console" panose="020B0609040504020204" pitchFamily="49" charset="0"/>
              </a:rPr>
              <a:t>newParticle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newParticle.pos.Set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x,y,z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newParticle.vel.Set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vx,vy,vz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newParticle.t=0.0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newParticle.tRemain</a:t>
            </a:r>
            <a:r>
              <a:rPr lang="en-US" sz="1200" dirty="0" smtClean="0">
                <a:latin typeface="Lucida Console" panose="020B0609040504020204" pitchFamily="49" charset="0"/>
              </a:rPr>
              <a:t>=5.0</a:t>
            </a:r>
            <a:r>
              <a:rPr lang="en-US" sz="1200" dirty="0">
                <a:latin typeface="Lucida Console" panose="020B0609040504020204" pitchFamily="49" charset="0"/>
              </a:rPr>
              <a:t>+(double)rand()/(double)RAND_MAX;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// </a:t>
            </a:r>
            <a:r>
              <a:rPr lang="en-US" sz="1200" dirty="0">
                <a:latin typeface="Lucida Console" panose="020B0609040504020204" pitchFamily="49" charset="0"/>
              </a:rPr>
              <a:t>Assume 4x4 texture atlas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s=0.25*(double)(rand()%4);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double </a:t>
            </a:r>
            <a:r>
              <a:rPr lang="en-US" sz="1200" dirty="0">
                <a:latin typeface="Lucida Console" panose="020B0609040504020204" pitchFamily="49" charset="0"/>
              </a:rPr>
              <a:t>t=0.75;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newParticle.texCoordRange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[0</a:t>
            </a:r>
            <a:r>
              <a:rPr lang="en-US" sz="1200" dirty="0">
                <a:latin typeface="Lucida Console" panose="020B0609040504020204" pitchFamily="49" charset="0"/>
              </a:rPr>
              <a:t>]=(float)s;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newParticle.texCoordRange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[1</a:t>
            </a:r>
            <a:r>
              <a:rPr lang="en-US" sz="1200" dirty="0">
                <a:latin typeface="Lucida Console" panose="020B0609040504020204" pitchFamily="49" charset="0"/>
              </a:rPr>
              <a:t>]=(float)t;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newParticle.texCoordRange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[2</a:t>
            </a:r>
            <a:r>
              <a:rPr lang="en-US" sz="1200" dirty="0">
                <a:latin typeface="Lucida Console" panose="020B0609040504020204" pitchFamily="49" charset="0"/>
              </a:rPr>
              <a:t>]=(float)s+0.25;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newParticle.texCoordRange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[3</a:t>
            </a:r>
            <a:r>
              <a:rPr lang="en-US" sz="1200" dirty="0">
                <a:latin typeface="Lucida Console" panose="020B0609040504020204" pitchFamily="49" charset="0"/>
              </a:rPr>
              <a:t>]=(float)t+0.25;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particle.push_back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newParticle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5020887" y="1546167"/>
            <a:ext cx="99753" cy="706582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120640" y="1429788"/>
            <a:ext cx="3374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Pick a random location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0&lt;=x&lt;=1, 0&lt;=z&lt;=1, y=0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6029498" y="2354277"/>
            <a:ext cx="99753" cy="706582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276109" y="2502131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Pick a random velocity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ight Brace 8"/>
          <p:cNvSpPr/>
          <p:nvPr/>
        </p:nvSpPr>
        <p:spPr>
          <a:xfrm>
            <a:off x="5120640" y="4264429"/>
            <a:ext cx="174567" cy="1313411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411586" y="4656126"/>
            <a:ext cx="353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Pick one of the four patterns in the texture atlas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164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burning fire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21723" y="1221970"/>
            <a:ext cx="474040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ParticleGroup</a:t>
            </a:r>
            <a:r>
              <a:rPr lang="en-US" sz="1200" dirty="0">
                <a:latin typeface="Lucida Console" panose="020B0609040504020204" pitchFamily="49" charset="0"/>
              </a:rPr>
              <a:t>::Move(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double </a:t>
            </a:r>
            <a:r>
              <a:rPr lang="en-US" sz="1200" dirty="0" err="1">
                <a:latin typeface="Lucida Console" panose="020B0609040504020204" pitchFamily="49" charset="0"/>
              </a:rPr>
              <a:t>dt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&amp;p : particle)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p.pos</a:t>
            </a:r>
            <a:r>
              <a:rPr lang="en-US" sz="1200" dirty="0">
                <a:latin typeface="Lucida Console" panose="020B0609040504020204" pitchFamily="49" charset="0"/>
              </a:rPr>
              <a:t>+=</a:t>
            </a:r>
            <a:r>
              <a:rPr lang="en-US" sz="1200" dirty="0" err="1">
                <a:latin typeface="Lucida Console" panose="020B0609040504020204" pitchFamily="49" charset="0"/>
              </a:rPr>
              <a:t>p.vel</a:t>
            </a:r>
            <a:r>
              <a:rPr lang="en-US" sz="1200" dirty="0"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latin typeface="Lucida Console" panose="020B0609040504020204" pitchFamily="49" charset="0"/>
              </a:rPr>
              <a:t>dt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p.vel.AddY</a:t>
            </a:r>
            <a:r>
              <a:rPr lang="en-US" sz="1200" dirty="0" smtClean="0">
                <a:latin typeface="Lucida Console" panose="020B0609040504020204" pitchFamily="49" charset="0"/>
              </a:rPr>
              <a:t>(0.1*</a:t>
            </a:r>
            <a:r>
              <a:rPr lang="en-US" sz="1200" dirty="0" err="1" smtClean="0">
                <a:latin typeface="Lucida Console" panose="020B0609040504020204" pitchFamily="49" charset="0"/>
              </a:rPr>
              <a:t>dt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p.t</a:t>
            </a:r>
            <a:r>
              <a:rPr lang="en-US" sz="1200" dirty="0">
                <a:latin typeface="Lucida Console" panose="020B0609040504020204" pitchFamily="49" charset="0"/>
              </a:rPr>
              <a:t>+=</a:t>
            </a:r>
            <a:r>
              <a:rPr lang="en-US" sz="1200" dirty="0" err="1">
                <a:latin typeface="Lucida Console" panose="020B0609040504020204" pitchFamily="49" charset="0"/>
              </a:rPr>
              <a:t>dt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auto </a:t>
            </a:r>
            <a:r>
              <a:rPr lang="en-US" sz="1200" dirty="0" err="1">
                <a:latin typeface="Lucida Console" panose="020B0609040504020204" pitchFamily="49" charset="0"/>
              </a:rPr>
              <a:t>newSize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</a:t>
            </a:r>
            <a:r>
              <a:rPr lang="en-US" sz="1200" dirty="0" err="1" smtClean="0">
                <a:latin typeface="Lucida Console" panose="020B0609040504020204" pitchFamily="49" charset="0"/>
              </a:rPr>
              <a:t>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()-1; 0&lt;=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; --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if(particle[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].</a:t>
            </a:r>
            <a:r>
              <a:rPr lang="en-US" sz="1200" dirty="0" err="1">
                <a:latin typeface="Lucida Console" panose="020B0609040504020204" pitchFamily="49" charset="0"/>
              </a:rPr>
              <a:t>tRemain</a:t>
            </a:r>
            <a:r>
              <a:rPr lang="en-US" sz="1200" dirty="0">
                <a:latin typeface="Lucida Console" panose="020B0609040504020204" pitchFamily="49" charset="0"/>
              </a:rPr>
              <a:t>&lt;particle[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].t)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particle[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]=particle[newSize-1];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--</a:t>
            </a:r>
            <a:r>
              <a:rPr lang="en-US" sz="1200" dirty="0" err="1">
                <a:latin typeface="Lucida Console" panose="020B0609040504020204" pitchFamily="49" charset="0"/>
              </a:rPr>
              <a:t>newSize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newSize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948545" y="1645920"/>
            <a:ext cx="282633" cy="955964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364182" y="1837113"/>
            <a:ext cx="444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Move and give some upward acceleration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5868785" y="2842953"/>
            <a:ext cx="307571" cy="2019992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309361" y="3366654"/>
            <a:ext cx="2497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Delete particles that come to its life.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892829" y="2502131"/>
            <a:ext cx="1679171" cy="99753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0" y="2367341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Update the age of the particle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219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burning fire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main .</a:t>
            </a:r>
            <a:r>
              <a:rPr lang="en-US" dirty="0" err="1" smtClean="0"/>
              <a:t>cpp</a:t>
            </a:r>
            <a:r>
              <a:rPr lang="en-US" dirty="0" smtClean="0"/>
              <a:t>, </a:t>
            </a:r>
          </a:p>
          <a:p>
            <a:pPr lvl="1"/>
            <a:r>
              <a:rPr lang="en-US" dirty="0" smtClean="0"/>
              <a:t>Delete </a:t>
            </a:r>
            <a:r>
              <a:rPr lang="en-US" dirty="0" err="1" smtClean="0"/>
              <a:t>MakeCloud</a:t>
            </a:r>
            <a:endParaRPr lang="en-US" dirty="0" smtClean="0"/>
          </a:p>
          <a:p>
            <a:pPr lvl="1"/>
            <a:r>
              <a:rPr lang="en-US" dirty="0" smtClean="0"/>
              <a:t>In Interval, add </a:t>
            </a:r>
            <a:r>
              <a:rPr lang="en-US" dirty="0" err="1" smtClean="0"/>
              <a:t>AddFireParticle</a:t>
            </a:r>
            <a:endParaRPr lang="en-US" dirty="0" smtClean="0"/>
          </a:p>
          <a:p>
            <a:pPr lvl="1"/>
            <a:r>
              <a:rPr lang="en-US" dirty="0" smtClean="0"/>
              <a:t>To calculate </a:t>
            </a:r>
            <a:r>
              <a:rPr lang="en-US" dirty="0" err="1" smtClean="0"/>
              <a:t>dt</a:t>
            </a:r>
            <a:r>
              <a:rPr lang="en-US" dirty="0" smtClean="0"/>
              <a:t>, add a member variable:</a:t>
            </a:r>
          </a:p>
          <a:p>
            <a:pPr marL="914400" lvl="2" indent="0">
              <a:buNone/>
            </a:pPr>
            <a:r>
              <a:rPr lang="en-US" dirty="0" smtClean="0"/>
              <a:t>Unsigned long </a:t>
            </a:r>
            <a:r>
              <a:rPr lang="en-US" dirty="0" err="1" smtClean="0"/>
              <a:t>long</a:t>
            </a:r>
            <a:r>
              <a:rPr lang="en-US" dirty="0" smtClean="0"/>
              <a:t> </a:t>
            </a:r>
            <a:r>
              <a:rPr lang="en-US" dirty="0" err="1" smtClean="0"/>
              <a:t>lastTimer</a:t>
            </a:r>
            <a:r>
              <a:rPr lang="en-US" dirty="0" smtClean="0"/>
              <a:t>;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3299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burning fire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Interval()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4647" y="1778923"/>
            <a:ext cx="50193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particleGroup.AddFireParticle</a:t>
            </a:r>
            <a:r>
              <a:rPr lang="en-US" sz="1200" dirty="0" smtClean="0">
                <a:latin typeface="Lucida Console" panose="020B0609040504020204" pitchFamily="49" charset="0"/>
              </a:rPr>
              <a:t>(10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long </a:t>
            </a:r>
            <a:r>
              <a:rPr lang="en-US" sz="1200" dirty="0" err="1">
                <a:latin typeface="Lucida Console" panose="020B0609040504020204" pitchFamily="49" charset="0"/>
              </a:rPr>
              <a:t>long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dt</a:t>
            </a:r>
            <a:r>
              <a:rPr lang="en-US" sz="1200" dirty="0">
                <a:latin typeface="Lucida Console" panose="020B0609040504020204" pitchFamily="49" charset="0"/>
              </a:rPr>
              <a:t>=(</a:t>
            </a:r>
            <a:r>
              <a:rPr lang="en-US" sz="1200" dirty="0" err="1">
                <a:latin typeface="Lucida Console" panose="020B0609040504020204" pitchFamily="49" charset="0"/>
              </a:rPr>
              <a:t>FsSubSecondTimer</a:t>
            </a:r>
            <a:r>
              <a:rPr lang="en-US" sz="1200" dirty="0">
                <a:latin typeface="Lucida Console" panose="020B0609040504020204" pitchFamily="49" charset="0"/>
              </a:rPr>
              <a:t>()-</a:t>
            </a:r>
            <a:r>
              <a:rPr lang="en-US" sz="1200" dirty="0" err="1">
                <a:latin typeface="Lucida Console" panose="020B0609040504020204" pitchFamily="49" charset="0"/>
              </a:rPr>
              <a:t>lastTimer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lastTimer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FsSubSecondTimer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particleGroup.Move</a:t>
            </a:r>
            <a:r>
              <a:rPr lang="en-US" sz="1200" dirty="0">
                <a:latin typeface="Lucida Console" panose="020B0609040504020204" pitchFamily="49" charset="0"/>
              </a:rPr>
              <a:t>((double)</a:t>
            </a:r>
            <a:r>
              <a:rPr lang="en-US" sz="1200" dirty="0" err="1">
                <a:latin typeface="Lucida Console" panose="020B0609040504020204" pitchFamily="49" charset="0"/>
              </a:rPr>
              <a:t>dt</a:t>
            </a:r>
            <a:r>
              <a:rPr lang="en-US" sz="1200" dirty="0">
                <a:latin typeface="Lucida Console" panose="020B0609040504020204" pitchFamily="49" charset="0"/>
              </a:rPr>
              <a:t>/1000.0);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659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Drawing burning fire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this point, white smoke billows from near the origin.</a:t>
            </a:r>
          </a:p>
          <a:p>
            <a:r>
              <a:rPr lang="en-US" dirty="0" smtClean="0"/>
              <a:t>The color and alpha needs to be changed based on the time.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906087" y="3108960"/>
            <a:ext cx="8313" cy="2685011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40080" y="5486400"/>
            <a:ext cx="7498080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7856" y="5793971"/>
            <a:ext cx="1369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White</a:t>
            </a:r>
            <a:br>
              <a:rPr lang="en-US" sz="1200" dirty="0" smtClean="0"/>
            </a:br>
            <a:r>
              <a:rPr lang="en-US" sz="1200" dirty="0" smtClean="0"/>
              <a:t>High temperature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660619" y="5793971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Yellow</a:t>
            </a:r>
          </a:p>
          <a:p>
            <a:r>
              <a:rPr lang="en-US" sz="1200" dirty="0" smtClean="0"/>
              <a:t>Mid temp.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2707819" y="5793971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Red</a:t>
            </a:r>
            <a:br>
              <a:rPr lang="en-US" sz="1200" dirty="0" smtClean="0"/>
            </a:br>
            <a:r>
              <a:rPr lang="en-US" sz="1200" dirty="0" smtClean="0"/>
              <a:t>Low temp.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3692748" y="5793971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Black</a:t>
            </a:r>
            <a:br>
              <a:rPr lang="en-US" sz="1200" dirty="0" smtClean="0"/>
            </a:br>
            <a:r>
              <a:rPr lang="en-US" sz="1200" dirty="0" smtClean="0"/>
              <a:t>Smoke</a:t>
            </a:r>
            <a:endParaRPr lang="en-US" sz="12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906086" y="4779818"/>
            <a:ext cx="939339" cy="706582"/>
          </a:xfrm>
          <a:prstGeom prst="line">
            <a:avLst/>
          </a:prstGeom>
          <a:ln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829748" y="4798388"/>
            <a:ext cx="939339" cy="706582"/>
          </a:xfrm>
          <a:prstGeom prst="line">
            <a:avLst/>
          </a:prstGeom>
          <a:ln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14400" y="4779818"/>
            <a:ext cx="910242" cy="18570"/>
          </a:xfrm>
          <a:prstGeom prst="line">
            <a:avLst/>
          </a:prstGeom>
          <a:ln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760773" y="4798388"/>
            <a:ext cx="939339" cy="706582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914400" y="4763192"/>
            <a:ext cx="1854687" cy="1857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902404" y="4064923"/>
            <a:ext cx="939339" cy="706582"/>
          </a:xfrm>
          <a:prstGeom prst="line">
            <a:avLst/>
          </a:prstGeom>
          <a:ln>
            <a:solidFill>
              <a:srgbClr val="92D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814070" y="4069479"/>
            <a:ext cx="939339" cy="706582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02404" y="3383410"/>
            <a:ext cx="939339" cy="706582"/>
          </a:xfrm>
          <a:prstGeom prst="line">
            <a:avLst/>
          </a:prstGeom>
          <a:ln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85802" y="5444837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t=1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503799" y="5446076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t=2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419147" y="544320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t=3</a:t>
            </a:r>
            <a:endParaRPr lang="en-US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902404" y="4722447"/>
            <a:ext cx="3844163" cy="25911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746567" y="4748358"/>
            <a:ext cx="856211" cy="738042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96957" y="5443208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t=life-1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495615" y="544320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t=life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746567" y="454706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Alpha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08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 burning fire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90204" y="847898"/>
            <a:ext cx="7436651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ParticleGroup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MakeVertexBuffer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r>
              <a:rPr lang="en-US" sz="1200" dirty="0">
                <a:latin typeface="Lucida Console" panose="020B0609040504020204" pitchFamily="49" charset="0"/>
              </a:rPr>
              <a:t> YsVec3 &amp;</a:t>
            </a:r>
            <a:r>
              <a:rPr lang="en-US" sz="1200" dirty="0" err="1">
                <a:latin typeface="Lucida Console" panose="020B0609040504020204" pitchFamily="49" charset="0"/>
              </a:rPr>
              <a:t>viewDir,float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particleSize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()*3);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()*4);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pointSize.resize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particle.size</a:t>
            </a:r>
            <a:r>
              <a:rPr lang="en-US" sz="1200" dirty="0">
                <a:latin typeface="Lucida Console" panose="020B0609040504020204" pitchFamily="49" charset="0"/>
              </a:rPr>
              <a:t>()*4);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auto </a:t>
            </a:r>
            <a:r>
              <a:rPr lang="en-US" sz="1200" dirty="0" err="1">
                <a:latin typeface="Lucida Console" panose="020B0609040504020204" pitchFamily="49" charset="0"/>
              </a:rPr>
              <a:t>idxBuf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SortIndex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viewDir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</a:t>
            </a:r>
            <a:r>
              <a:rPr lang="en-US" sz="1200" dirty="0" err="1">
                <a:latin typeface="Lucida Console" panose="020B0609040504020204" pitchFamily="49" charset="0"/>
              </a:rPr>
              <a:t>sortedIdx</a:t>
            </a:r>
            <a:r>
              <a:rPr lang="en-US" sz="1200" dirty="0">
                <a:latin typeface="Lucida Console" panose="020B0609040504020204" pitchFamily="49" charset="0"/>
              </a:rPr>
              <a:t> : </a:t>
            </a:r>
            <a:r>
              <a:rPr lang="en-US" sz="1200" dirty="0" err="1">
                <a:latin typeface="Lucida Console" panose="020B0609040504020204" pitchFamily="49" charset="0"/>
              </a:rPr>
              <a:t>idxBuf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auto </a:t>
            </a:r>
            <a:r>
              <a:rPr lang="en-US" sz="1200" dirty="0">
                <a:latin typeface="Lucida Console" panose="020B0609040504020204" pitchFamily="49" charset="0"/>
              </a:rPr>
              <a:t>&amp;p=particle[</a:t>
            </a:r>
            <a:r>
              <a:rPr lang="en-US" sz="1200" dirty="0" err="1">
                <a:latin typeface="Lucida Console" panose="020B0609040504020204" pitchFamily="49" charset="0"/>
              </a:rPr>
              <a:t>sortedIdx</a:t>
            </a:r>
            <a:r>
              <a:rPr lang="en-US" sz="1200" dirty="0"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*3  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p.pos.xf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*3+1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p.pos.yf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vtx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*3+2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p.pos.zf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float </a:t>
            </a:r>
            <a:r>
              <a:rPr lang="en-US" sz="1200" dirty="0">
                <a:latin typeface="Lucida Console" panose="020B0609040504020204" pitchFamily="49" charset="0"/>
              </a:rPr>
              <a:t>alpha=0.3*</a:t>
            </a:r>
            <a:r>
              <a:rPr lang="en-US" sz="1200" dirty="0" err="1">
                <a:latin typeface="Lucida Console" panose="020B0609040504020204" pitchFamily="49" charset="0"/>
              </a:rPr>
              <a:t>YsSmaller</a:t>
            </a:r>
            <a:r>
              <a:rPr lang="en-US" sz="1200" dirty="0">
                <a:latin typeface="Lucida Console" panose="020B0609040504020204" pitchFamily="49" charset="0"/>
              </a:rPr>
              <a:t>&lt;float&gt;(p.tRemain-p.t,1.0f);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float </a:t>
            </a:r>
            <a:r>
              <a:rPr lang="en-US" sz="1200" dirty="0">
                <a:latin typeface="Lucida Console" panose="020B0609040504020204" pitchFamily="49" charset="0"/>
              </a:rPr>
              <a:t>blue=</a:t>
            </a:r>
            <a:r>
              <a:rPr lang="en-US" sz="1200" dirty="0" err="1">
                <a:latin typeface="Lucida Console" panose="020B0609040504020204" pitchFamily="49" charset="0"/>
              </a:rPr>
              <a:t>YsGreater</a:t>
            </a:r>
            <a:r>
              <a:rPr lang="en-US" sz="1200" dirty="0">
                <a:latin typeface="Lucida Console" panose="020B0609040504020204" pitchFamily="49" charset="0"/>
              </a:rPr>
              <a:t> &lt;float&gt; (0.0f,1.0f-p.t);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float </a:t>
            </a:r>
            <a:r>
              <a:rPr lang="en-US" sz="1200" dirty="0">
                <a:latin typeface="Lucida Console" panose="020B0609040504020204" pitchFamily="49" charset="0"/>
              </a:rPr>
              <a:t>green=</a:t>
            </a:r>
            <a:r>
              <a:rPr lang="en-US" sz="1200" dirty="0" err="1">
                <a:latin typeface="Lucida Console" panose="020B0609040504020204" pitchFamily="49" charset="0"/>
              </a:rPr>
              <a:t>YsBound</a:t>
            </a:r>
            <a:r>
              <a:rPr lang="en-US" sz="1200" dirty="0">
                <a:latin typeface="Lucida Console" panose="020B0609040504020204" pitchFamily="49" charset="0"/>
              </a:rPr>
              <a:t> &lt;float&gt; (2.0-p.t,0.0f,1.0f);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float </a:t>
            </a:r>
            <a:r>
              <a:rPr lang="en-US" sz="1200" dirty="0">
                <a:latin typeface="Lucida Console" panose="020B0609040504020204" pitchFamily="49" charset="0"/>
              </a:rPr>
              <a:t>red=</a:t>
            </a:r>
            <a:r>
              <a:rPr lang="en-US" sz="1200" dirty="0" err="1">
                <a:latin typeface="Lucida Console" panose="020B0609040504020204" pitchFamily="49" charset="0"/>
              </a:rPr>
              <a:t>YsBound</a:t>
            </a:r>
            <a:r>
              <a:rPr lang="en-US" sz="1200" dirty="0">
                <a:latin typeface="Lucida Console" panose="020B0609040504020204" pitchFamily="49" charset="0"/>
              </a:rPr>
              <a:t> &lt;float&gt; (3.0-p.t,0.0f,1.0f);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  </a:t>
            </a:r>
            <a:r>
              <a:rPr lang="en-US" sz="1200" dirty="0">
                <a:latin typeface="Lucida Console" panose="020B0609040504020204" pitchFamily="49" charset="0"/>
              </a:rPr>
              <a:t>]=red;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*4+1</a:t>
            </a:r>
            <a:r>
              <a:rPr lang="en-US" sz="1200" dirty="0">
                <a:latin typeface="Lucida Console" panose="020B0609040504020204" pitchFamily="49" charset="0"/>
              </a:rPr>
              <a:t>]=green;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*4+2</a:t>
            </a:r>
            <a:r>
              <a:rPr lang="en-US" sz="1200" dirty="0">
                <a:latin typeface="Lucida Console" panose="020B0609040504020204" pitchFamily="49" charset="0"/>
              </a:rPr>
              <a:t>]=blue;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col[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*4+3</a:t>
            </a:r>
            <a:r>
              <a:rPr lang="en-US" sz="1200" dirty="0">
                <a:latin typeface="Lucida Console" panose="020B0609040504020204" pitchFamily="49" charset="0"/>
              </a:rPr>
              <a:t>]=alpha;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pointSize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particleSize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  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[0];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*4+1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[1];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*4+2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[2];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texCoordRange</a:t>
            </a:r>
            <a:r>
              <a:rPr lang="en-US" sz="1200" dirty="0" smtClean="0">
                <a:latin typeface="Lucida Console" panose="020B0609040504020204" pitchFamily="49" charset="0"/>
              </a:rPr>
              <a:t>[</a:t>
            </a:r>
            <a:r>
              <a:rPr lang="en-US" sz="1200" dirty="0" err="1" smtClean="0">
                <a:latin typeface="Lucida Console" panose="020B0609040504020204" pitchFamily="49" charset="0"/>
              </a:rPr>
              <a:t>idx</a:t>
            </a:r>
            <a:r>
              <a:rPr lang="en-US" sz="1200" dirty="0" smtClean="0">
                <a:latin typeface="Lucida Console" panose="020B0609040504020204" pitchFamily="49" charset="0"/>
              </a:rPr>
              <a:t>*4+3</a:t>
            </a:r>
            <a:r>
              <a:rPr lang="en-US" sz="1200" dirty="0">
                <a:latin typeface="Lucida Console" panose="020B0609040504020204" pitchFamily="49" charset="0"/>
              </a:rPr>
              <a:t>]=</a:t>
            </a:r>
            <a:r>
              <a:rPr lang="en-US" sz="1200" dirty="0" err="1">
                <a:latin typeface="Lucida Console" panose="020B0609040504020204" pitchFamily="49" charset="0"/>
              </a:rPr>
              <a:t>p.texCoordRange</a:t>
            </a:r>
            <a:r>
              <a:rPr lang="en-US" sz="1200" dirty="0">
                <a:latin typeface="Lucida Console" panose="020B0609040504020204" pitchFamily="49" charset="0"/>
              </a:rPr>
              <a:t>[3];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++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6251171" y="3391593"/>
            <a:ext cx="290945" cy="1687483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683433" y="3840479"/>
            <a:ext cx="2319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Calculate color based on the age.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886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Want to draw shadow more accurately, but cannot afford running ray-tracing for interactive applications.</a:t>
            </a:r>
          </a:p>
          <a:p>
            <a:r>
              <a:rPr lang="en-US" dirty="0" smtClean="0"/>
              <a:t>How?</a:t>
            </a:r>
          </a:p>
          <a:p>
            <a:pPr lvl="1"/>
            <a:r>
              <a:rPr lang="en-US" dirty="0" smtClean="0"/>
              <a:t>Assume planar light source.</a:t>
            </a:r>
          </a:p>
          <a:p>
            <a:pPr lvl="1"/>
            <a:r>
              <a:rPr lang="en-US" dirty="0" smtClean="0"/>
              <a:t>Create a distance map from the light source to the first intersection with an object (obstacle).</a:t>
            </a:r>
          </a:p>
          <a:p>
            <a:pPr lvl="1"/>
            <a:r>
              <a:rPr lang="en-US" dirty="0" smtClean="0"/>
              <a:t>For each pixel, check if the distance from the light source is farther than the distance on the map, use zero diffuse &amp; specular.</a:t>
            </a:r>
          </a:p>
        </p:txBody>
      </p:sp>
      <p:sp>
        <p:nvSpPr>
          <p:cNvPr id="4" name="Freeform 3"/>
          <p:cNvSpPr/>
          <p:nvPr/>
        </p:nvSpPr>
        <p:spPr>
          <a:xfrm>
            <a:off x="6526221" y="5254131"/>
            <a:ext cx="1496291" cy="1130531"/>
          </a:xfrm>
          <a:custGeom>
            <a:avLst/>
            <a:gdLst>
              <a:gd name="connsiteX0" fmla="*/ 83127 w 1496291"/>
              <a:gd name="connsiteY0" fmla="*/ 997527 h 1130531"/>
              <a:gd name="connsiteX1" fmla="*/ 0 w 1496291"/>
              <a:gd name="connsiteY1" fmla="*/ 390698 h 1130531"/>
              <a:gd name="connsiteX2" fmla="*/ 922713 w 1496291"/>
              <a:gd name="connsiteY2" fmla="*/ 0 h 1130531"/>
              <a:gd name="connsiteX3" fmla="*/ 1496291 w 1496291"/>
              <a:gd name="connsiteY3" fmla="*/ 698269 h 1130531"/>
              <a:gd name="connsiteX4" fmla="*/ 1072342 w 1496291"/>
              <a:gd name="connsiteY4" fmla="*/ 1130531 h 1130531"/>
              <a:gd name="connsiteX5" fmla="*/ 83127 w 1496291"/>
              <a:gd name="connsiteY5" fmla="*/ 997527 h 1130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6291" h="1130531">
                <a:moveTo>
                  <a:pt x="83127" y="997527"/>
                </a:moveTo>
                <a:lnTo>
                  <a:pt x="0" y="390698"/>
                </a:lnTo>
                <a:lnTo>
                  <a:pt x="922713" y="0"/>
                </a:lnTo>
                <a:lnTo>
                  <a:pt x="1496291" y="698269"/>
                </a:lnTo>
                <a:lnTo>
                  <a:pt x="1072342" y="1130531"/>
                </a:lnTo>
                <a:lnTo>
                  <a:pt x="83127" y="99752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 rot="18916127">
            <a:off x="5319125" y="4565410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Light source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5354126" y="3930780"/>
            <a:ext cx="1828800" cy="1824994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396930" y="5699167"/>
            <a:ext cx="1114669" cy="115019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506526" y="5612626"/>
            <a:ext cx="1225598" cy="1247089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602396" y="5517583"/>
            <a:ext cx="1306866" cy="1335121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698266" y="5422539"/>
            <a:ext cx="1426785" cy="1442388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788257" y="5302145"/>
            <a:ext cx="804739" cy="789658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897853" y="5215604"/>
            <a:ext cx="673458" cy="669264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4" idx="1"/>
          </p:cNvCxnSpPr>
          <p:nvPr/>
        </p:nvCxnSpPr>
        <p:spPr>
          <a:xfrm>
            <a:off x="5993723" y="5120561"/>
            <a:ext cx="532498" cy="524268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089593" y="5025517"/>
            <a:ext cx="559933" cy="563088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193366" y="4904493"/>
            <a:ext cx="605096" cy="641246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302962" y="4817952"/>
            <a:ext cx="634174" cy="67561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398832" y="4722909"/>
            <a:ext cx="669812" cy="704906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494702" y="4627865"/>
            <a:ext cx="720541" cy="745303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585933" y="4524777"/>
            <a:ext cx="749097" cy="792666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4" idx="2"/>
          </p:cNvCxnSpPr>
          <p:nvPr/>
        </p:nvCxnSpPr>
        <p:spPr>
          <a:xfrm>
            <a:off x="6695529" y="4438236"/>
            <a:ext cx="753405" cy="815895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791399" y="4343193"/>
            <a:ext cx="1921168" cy="1996223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6887269" y="4248149"/>
            <a:ext cx="1939436" cy="1989533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990325" y="4138827"/>
            <a:ext cx="1945162" cy="2016893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082370" y="4032514"/>
            <a:ext cx="1931436" cy="1993276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7178240" y="3937471"/>
            <a:ext cx="1939436" cy="1993276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017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Creating a light-source to obstacle distance map</a:t>
            </a:r>
          </a:p>
          <a:p>
            <a:r>
              <a:rPr lang="en-US" dirty="0" smtClean="0"/>
              <a:t>Rendering to a texture.</a:t>
            </a:r>
          </a:p>
          <a:p>
            <a:r>
              <a:rPr lang="en-US" dirty="0" smtClean="0"/>
              <a:t>Draw the scene from the light point of view, then the depth buffer will be nothing but the distance map, that gives the distance from the light-source to the first intersection of an object.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4952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you need to prepare</a:t>
            </a:r>
          </a:p>
          <a:p>
            <a:r>
              <a:rPr lang="en-US" dirty="0" smtClean="0"/>
              <a:t>An additional frame buffer.</a:t>
            </a:r>
          </a:p>
          <a:p>
            <a:r>
              <a:rPr lang="en-US" dirty="0" smtClean="0"/>
              <a:t>A texture, which serves as a depth buffer for the frame buffer.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829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First step is to create a frame buffer.  Let’s write a class called </a:t>
            </a:r>
            <a:r>
              <a:rPr lang="en-US" dirty="0" err="1" smtClean="0"/>
              <a:t>OpenGLShadowMapBuffer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47800" y="2303104"/>
            <a:ext cx="390363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ifndef</a:t>
            </a:r>
            <a:r>
              <a:rPr lang="en-US" sz="1200" dirty="0">
                <a:latin typeface="Lucida Console" panose="020B0609040504020204" pitchFamily="49" charset="0"/>
              </a:rPr>
              <a:t> SHADOW_MAP_BUFFER_IS_INCLUDED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#define SHADOW_MAP_BUFFER_IS_INCLUDED</a:t>
            </a:r>
          </a:p>
          <a:p>
            <a:endParaRPr lang="en-US" sz="1200" dirty="0" smtClean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#</a:t>
            </a:r>
            <a:r>
              <a:rPr lang="en-US" sz="1200" dirty="0">
                <a:latin typeface="Lucida Console" panose="020B0609040504020204" pitchFamily="49" charset="0"/>
              </a:rPr>
              <a:t>include "</a:t>
            </a:r>
            <a:r>
              <a:rPr lang="en-US" sz="1200" dirty="0" err="1">
                <a:latin typeface="Lucida Console" panose="020B0609040504020204" pitchFamily="49" charset="0"/>
              </a:rPr>
              <a:t>opengl_header.h</a:t>
            </a:r>
            <a:r>
              <a:rPr lang="en-US" sz="1200" dirty="0">
                <a:latin typeface="Lucida Console" panose="020B0609040504020204" pitchFamily="49" charset="0"/>
              </a:rPr>
              <a:t>"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class </a:t>
            </a:r>
            <a:r>
              <a:rPr lang="en-US" sz="1200" dirty="0" err="1">
                <a:latin typeface="Lucida Console" panose="020B0609040504020204" pitchFamily="49" charset="0"/>
              </a:rPr>
              <a:t>OpenGLShadowMapBuffer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frameBufferIdent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shadowTexIdent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OpenGLShadowMapBuffer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~</a:t>
            </a:r>
            <a:r>
              <a:rPr lang="en-US" sz="1200" dirty="0" err="1">
                <a:latin typeface="Lucida Console" panose="020B0609040504020204" pitchFamily="49" charset="0"/>
              </a:rPr>
              <a:t>OpenGLShadowMapBuffer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void </a:t>
            </a:r>
            <a:r>
              <a:rPr lang="en-US" sz="1200" dirty="0" err="1">
                <a:latin typeface="Lucida Console" panose="020B0609040504020204" pitchFamily="49" charset="0"/>
              </a:rPr>
              <a:t>CleanUp</a:t>
            </a:r>
            <a:r>
              <a:rPr lang="en-US" sz="1200" dirty="0">
                <a:latin typeface="Lucida Console" panose="020B0609040504020204" pitchFamily="49" charset="0"/>
              </a:rPr>
              <a:t>(void);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void </a:t>
            </a:r>
            <a:r>
              <a:rPr lang="en-US" sz="1200" dirty="0" err="1">
                <a:latin typeface="Lucida Console" panose="020B0609040504020204" pitchFamily="49" charset="0"/>
              </a:rPr>
              <a:t>PrepareBuffer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wid,int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hei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endif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648200" y="3810000"/>
            <a:ext cx="152400" cy="385930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12266" y="35814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class needs to remember two identifiers, one for frame buffer, one for texture.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806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1295400"/>
            <a:ext cx="483337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Lucida Console" panose="020B0609040504020204" pitchFamily="49" charset="0"/>
              </a:rPr>
              <a:t>OpenGLShadowMapBuffer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OpenGLShadowMapBuffer</a:t>
            </a:r>
            <a:r>
              <a:rPr lang="en-US" sz="12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frameBufferIdent</a:t>
            </a:r>
            <a:r>
              <a:rPr lang="en-US" sz="1200" dirty="0" smtClean="0">
                <a:latin typeface="Lucida Console" panose="020B0609040504020204" pitchFamily="49" charset="0"/>
              </a:rPr>
              <a:t>=0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shadowTexIdent</a:t>
            </a:r>
            <a:r>
              <a:rPr lang="en-US" sz="1200" dirty="0" smtClean="0">
                <a:latin typeface="Lucida Console" panose="020B0609040504020204" pitchFamily="49" charset="0"/>
              </a:rPr>
              <a:t>=0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CleanUp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OpenGLShadowMapBuffer</a:t>
            </a:r>
            <a:r>
              <a:rPr lang="en-US" sz="1200" dirty="0">
                <a:latin typeface="Lucida Console" panose="020B0609040504020204" pitchFamily="49" charset="0"/>
              </a:rPr>
              <a:t>::~</a:t>
            </a:r>
            <a:r>
              <a:rPr lang="en-US" sz="1200" dirty="0" err="1">
                <a:latin typeface="Lucida Console" panose="020B0609040504020204" pitchFamily="49" charset="0"/>
              </a:rPr>
              <a:t>OpenGLShadowMapBuffer</a:t>
            </a:r>
            <a:r>
              <a:rPr lang="en-US" sz="12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CleanUp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OpenGLShadowMapBuffer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CleanUp</a:t>
            </a:r>
            <a:r>
              <a:rPr lang="en-US" sz="12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if(0&lt;</a:t>
            </a:r>
            <a:r>
              <a:rPr lang="en-US" sz="1200" dirty="0" err="1" smtClean="0">
                <a:latin typeface="Lucida Console" panose="020B0609040504020204" pitchFamily="49" charset="0"/>
              </a:rPr>
              <a:t>frameBufferIdent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glDeleteFramebuffers</a:t>
            </a:r>
            <a:r>
              <a:rPr lang="en-US" sz="1200" dirty="0" smtClean="0">
                <a:latin typeface="Lucida Console" panose="020B0609040504020204" pitchFamily="49" charset="0"/>
              </a:rPr>
              <a:t>(1</a:t>
            </a:r>
            <a:r>
              <a:rPr lang="en-US" sz="1200" dirty="0">
                <a:latin typeface="Lucida Console" panose="020B0609040504020204" pitchFamily="49" charset="0"/>
              </a:rPr>
              <a:t>,&amp;frameBufferIdent);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if(0&lt;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shadowTexIdent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glDeleteTextures</a:t>
            </a:r>
            <a:r>
              <a:rPr lang="en-US" sz="1200" dirty="0" smtClean="0">
                <a:latin typeface="Lucida Console" panose="020B0609040504020204" pitchFamily="49" charset="0"/>
              </a:rPr>
              <a:t>(1</a:t>
            </a:r>
            <a:r>
              <a:rPr lang="en-US" sz="1200" dirty="0">
                <a:latin typeface="Lucida Console" panose="020B0609040504020204" pitchFamily="49" charset="0"/>
              </a:rPr>
              <a:t>,&amp;shadowTexIdent);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19650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2507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OpenGLShadowMapBuffer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PrepareBuffer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shadowTexWid,int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shadowTexHei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glGenTextures</a:t>
            </a:r>
            <a:r>
              <a:rPr lang="en-US" sz="1200" dirty="0">
                <a:latin typeface="Lucida Console" panose="020B0609040504020204" pitchFamily="49" charset="0"/>
              </a:rPr>
              <a:t>(1,&amp;shadowTexIdent);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(GL_TEXTURE_2D,shadowTexIdent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#if (!defined(GL_ES) || GL_ES==0) &amp;&amp; !defined(GL_ES_VERSION_2_0)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glTexImage2D(GL_TEXTURE_2D,0</a:t>
            </a:r>
            <a:r>
              <a:rPr lang="en-US" sz="1200" dirty="0" smtClean="0"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GL_DEPTH_COMPONENT32,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shadowTexWid,shadowTexHei,0,GL_DEPTH_COMPONENT,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GL_FLOAT,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nullptr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#else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glTexImage2D(GL_TEXTURE_2D,0</a:t>
            </a:r>
            <a:r>
              <a:rPr lang="en-US" sz="1200" dirty="0" smtClean="0"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GL_DEPTH_COMPONENT,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shadowTexWid,shadowTexHei,0,GL_DEPTH_COMPONENT,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GL_UNSIGNED_INT,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nullptr</a:t>
            </a:r>
            <a:r>
              <a:rPr lang="en-US" sz="1200" dirty="0" smtClean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#</a:t>
            </a:r>
            <a:r>
              <a:rPr lang="en-US" sz="1200" dirty="0" err="1" smtClean="0">
                <a:latin typeface="Lucida Console" panose="020B0609040504020204" pitchFamily="49" charset="0"/>
              </a:rPr>
              <a:t>endif</a:t>
            </a:r>
            <a:endParaRPr lang="en-US" sz="1200" dirty="0" smtClean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(GL_TEXTURE_2D,GL_TEXTURE_MAG_FILTER,GL_NEAREST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(GL_TEXTURE_2D,GL_TEXTURE_MIN_FILTER,GL_NEAREST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(GL_TEXTURE_2D,GL_TEXTURE_WRAP_S,GL_CLAMP_TO_EDGE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(GL_TEXTURE_2D,GL_TEXTURE_WRAP_T,GL_CLAMP_TO_EDGE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2768600" y="3615267"/>
            <a:ext cx="2489200" cy="8626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1667" y="3516868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ES needs to use UNSIGNED_INT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048000" y="3048000"/>
            <a:ext cx="1600200" cy="22860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88933" y="2883469"/>
            <a:ext cx="424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ES does not have depth-component 32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94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914400"/>
            <a:ext cx="892423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glGenFramebuffers</a:t>
            </a:r>
            <a:r>
              <a:rPr lang="en-US" sz="1200" dirty="0" smtClean="0">
                <a:latin typeface="Lucida Console" panose="020B0609040504020204" pitchFamily="49" charset="0"/>
              </a:rPr>
              <a:t>(1</a:t>
            </a:r>
            <a:r>
              <a:rPr lang="en-US" sz="1200" dirty="0">
                <a:latin typeface="Lucida Console" panose="020B0609040504020204" pitchFamily="49" charset="0"/>
              </a:rPr>
              <a:t>,&amp;frameBufferIdent);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glBindFramebuffer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GL_FRAMEBUFFER,frameBufferIdent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glFramebufferTexture2D(GL_FRAMEBUFFER,GL_DEPTH_ATTACHMENT,GL_TEXTURE_2D,shadowTexIdent,0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#if (!defined(GL_ES) || GL_ES==0) &amp;&amp; !defined(GL_ES_VERSION_2_0)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glDrawBuffer</a:t>
            </a:r>
            <a:r>
              <a:rPr lang="en-US" sz="1200" dirty="0" smtClean="0">
                <a:latin typeface="Lucida Console" panose="020B0609040504020204" pitchFamily="49" charset="0"/>
              </a:rPr>
              <a:t>(GL_NONE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glReadBuffer</a:t>
            </a:r>
            <a:r>
              <a:rPr lang="en-US" sz="1200" dirty="0" smtClean="0">
                <a:latin typeface="Lucida Console" panose="020B0609040504020204" pitchFamily="49" charset="0"/>
              </a:rPr>
              <a:t>(GL_NONE);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#</a:t>
            </a:r>
            <a:r>
              <a:rPr lang="en-US" sz="1200" dirty="0">
                <a:latin typeface="Lucida Console" panose="020B0609040504020204" pitchFamily="49" charset="0"/>
              </a:rPr>
              <a:t>else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colorTexIdent</a:t>
            </a:r>
            <a:r>
              <a:rPr lang="en-US" sz="1200" dirty="0" smtClean="0">
                <a:latin typeface="Lucida Console" panose="020B0609040504020204" pitchFamily="49" charset="0"/>
              </a:rPr>
              <a:t>;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glGenTextures</a:t>
            </a:r>
            <a:r>
              <a:rPr lang="en-US" sz="1200" dirty="0" smtClean="0">
                <a:latin typeface="Lucida Console" panose="020B0609040504020204" pitchFamily="49" charset="0"/>
              </a:rPr>
              <a:t>(1</a:t>
            </a:r>
            <a:r>
              <a:rPr lang="en-US" sz="1200" dirty="0">
                <a:latin typeface="Lucida Console" panose="020B0609040504020204" pitchFamily="49" charset="0"/>
              </a:rPr>
              <a:t>,&amp;colorTexIdent);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(GL_TEXTURE_2D,colorTexIdent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glTexImage2D(GL_TEXTURE_2D,0,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    GL_RGBA,shadowTexWid,shadowTexHei,0,GL_RGBA,GL_UNSIGNED_BYTE,nullptr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(GL_TEXTURE_2D,GL_TEXTURE_MAG_FILTER,GL_NEAREST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(GL_TEXTURE_2D,GL_TEXTURE_MIN_FILTER,GL_NEAREST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(GL_TEXTURE_2D,GL_TEXTURE_WRAP_S,GL_CLAMP_TO_EDGE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glTexParameteri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(GL_TEXTURE_2D,GL_TEXTURE_WRAP_T,GL_CLAMP_TO_EDGE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glFramebufferTexture2D(GL_FRAMEBUFFER,GL_COLOR_ATTACHMENT0,GL_TEXTURE_2D,colorTexIdent,0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endif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("%d %d\n",</a:t>
            </a:r>
            <a:r>
              <a:rPr lang="en-US" sz="1200" dirty="0" err="1">
                <a:latin typeface="Lucida Console" panose="020B0609040504020204" pitchFamily="49" charset="0"/>
              </a:rPr>
              <a:t>frameBufferIdent,shadowTexIdent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00200" y="533981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Without </a:t>
            </a:r>
            <a:r>
              <a:rPr lang="en-US" dirty="0">
                <a:solidFill>
                  <a:srgbClr val="FF0000"/>
                </a:solidFill>
              </a:rPr>
              <a:t>this, frame buffer status becomes 36060, which seems to be GL_FRAMEBUFFER_INCOMPLETE_READ_BUFFER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859578" y="2105703"/>
            <a:ext cx="6140908" cy="3297570"/>
          </a:xfrm>
          <a:custGeom>
            <a:avLst/>
            <a:gdLst>
              <a:gd name="connsiteX0" fmla="*/ 5120640 w 6140908"/>
              <a:gd name="connsiteY0" fmla="*/ 3297570 h 3297570"/>
              <a:gd name="connsiteX1" fmla="*/ 5760720 w 6140908"/>
              <a:gd name="connsiteY1" fmla="*/ 471242 h 3297570"/>
              <a:gd name="connsiteX2" fmla="*/ 0 w 6140908"/>
              <a:gd name="connsiteY2" fmla="*/ 30668 h 3297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40908" h="3297570">
                <a:moveTo>
                  <a:pt x="5120640" y="3297570"/>
                </a:moveTo>
                <a:cubicBezTo>
                  <a:pt x="5867400" y="2156648"/>
                  <a:pt x="6614160" y="1015726"/>
                  <a:pt x="5760720" y="471242"/>
                </a:cubicBezTo>
                <a:cubicBezTo>
                  <a:pt x="4907280" y="-73242"/>
                  <a:pt x="2453640" y="-21287"/>
                  <a:pt x="0" y="30668"/>
                </a:cubicBezTo>
              </a:path>
            </a:pathLst>
          </a:custGeom>
          <a:noFill/>
          <a:ln w="63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5994411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OpenGL ES does not allow framebuffer with a depth buffer without color buffer.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Left Brace 10"/>
          <p:cNvSpPr/>
          <p:nvPr/>
        </p:nvSpPr>
        <p:spPr>
          <a:xfrm>
            <a:off x="533400" y="2438400"/>
            <a:ext cx="152400" cy="2133600"/>
          </a:xfrm>
          <a:prstGeom prst="lef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199496" y="3507971"/>
            <a:ext cx="315893" cy="2610196"/>
          </a:xfrm>
          <a:custGeom>
            <a:avLst/>
            <a:gdLst>
              <a:gd name="connsiteX0" fmla="*/ 307580 w 315893"/>
              <a:gd name="connsiteY0" fmla="*/ 2610196 h 2610196"/>
              <a:gd name="connsiteX1" fmla="*/ 9 w 315893"/>
              <a:gd name="connsiteY1" fmla="*/ 1330036 h 2610196"/>
              <a:gd name="connsiteX2" fmla="*/ 315893 w 315893"/>
              <a:gd name="connsiteY2" fmla="*/ 0 h 261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5893" h="2610196">
                <a:moveTo>
                  <a:pt x="307580" y="2610196"/>
                </a:moveTo>
                <a:cubicBezTo>
                  <a:pt x="153102" y="2187632"/>
                  <a:pt x="-1376" y="1765069"/>
                  <a:pt x="9" y="1330036"/>
                </a:cubicBezTo>
                <a:cubicBezTo>
                  <a:pt x="1394" y="895003"/>
                  <a:pt x="158643" y="447501"/>
                  <a:pt x="315893" y="0"/>
                </a:cubicBezTo>
              </a:path>
            </a:pathLst>
          </a:custGeom>
          <a:noFill/>
          <a:ln w="63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23461" y="736594"/>
            <a:ext cx="488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Create a frame buffer and link the texture to it.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Left Brace 13"/>
          <p:cNvSpPr/>
          <p:nvPr/>
        </p:nvSpPr>
        <p:spPr>
          <a:xfrm>
            <a:off x="609600" y="1143000"/>
            <a:ext cx="76200" cy="533400"/>
          </a:xfrm>
          <a:prstGeom prst="lef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227882" y="914400"/>
            <a:ext cx="2166183" cy="498764"/>
          </a:xfrm>
          <a:custGeom>
            <a:avLst/>
            <a:gdLst>
              <a:gd name="connsiteX0" fmla="*/ 2166183 w 2166183"/>
              <a:gd name="connsiteY0" fmla="*/ 0 h 498764"/>
              <a:gd name="connsiteX1" fmla="*/ 137878 w 2166183"/>
              <a:gd name="connsiteY1" fmla="*/ 116378 h 498764"/>
              <a:gd name="connsiteX2" fmla="*/ 345696 w 2166183"/>
              <a:gd name="connsiteY2" fmla="*/ 498764 h 4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6183" h="498764">
                <a:moveTo>
                  <a:pt x="2166183" y="0"/>
                </a:moveTo>
                <a:cubicBezTo>
                  <a:pt x="1303737" y="16625"/>
                  <a:pt x="441292" y="33251"/>
                  <a:pt x="137878" y="116378"/>
                </a:cubicBezTo>
                <a:cubicBezTo>
                  <a:pt x="-165536" y="199505"/>
                  <a:pt x="90080" y="349134"/>
                  <a:pt x="345696" y="498764"/>
                </a:cubicBezTo>
              </a:path>
            </a:pathLst>
          </a:custGeom>
          <a:noFill/>
          <a:ln w="63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8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38200"/>
            <a:ext cx="6599884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auto </a:t>
            </a:r>
            <a:r>
              <a:rPr lang="en-US" sz="1200" dirty="0" err="1">
                <a:latin typeface="Lucida Console" panose="020B0609040504020204" pitchFamily="49" charset="0"/>
              </a:rPr>
              <a:t>sta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glCheckFramebufferStatus</a:t>
            </a:r>
            <a:r>
              <a:rPr lang="en-US" sz="1200" dirty="0">
                <a:latin typeface="Lucida Console" panose="020B0609040504020204" pitchFamily="49" charset="0"/>
              </a:rPr>
              <a:t>(GL_FRAMEBUFFER);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</a:t>
            </a:r>
            <a:r>
              <a:rPr lang="en-US" sz="1200" dirty="0" err="1" smtClean="0">
                <a:latin typeface="Lucida Console" panose="020B0609040504020204" pitchFamily="49" charset="0"/>
              </a:rPr>
              <a:t>sta</a:t>
            </a:r>
            <a:r>
              <a:rPr lang="en-US" sz="1200" dirty="0">
                <a:latin typeface="Lucida Console" panose="020B0609040504020204" pitchFamily="49" charset="0"/>
              </a:rPr>
              <a:t>!=GL_FRAMEBUFFER_COMPLETE)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switch(</a:t>
            </a:r>
            <a:r>
              <a:rPr lang="en-US" sz="1200" dirty="0" err="1" smtClean="0">
                <a:latin typeface="Lucida Console" panose="020B0609040504020204" pitchFamily="49" charset="0"/>
              </a:rPr>
              <a:t>sta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case </a:t>
            </a:r>
            <a:r>
              <a:rPr lang="en-US" sz="1200" dirty="0">
                <a:latin typeface="Lucida Console" panose="020B0609040504020204" pitchFamily="49" charset="0"/>
              </a:rPr>
              <a:t>GL_FRAMEBUFFER_INCOMPLETE_ATTACHMENT: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("GL_FRAMEBUFFER_INCOMPLETE_ATTACHMENT\n");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break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//</a:t>
            </a:r>
            <a:r>
              <a:rPr lang="en-US" sz="1200" dirty="0">
                <a:latin typeface="Lucida Console" panose="020B0609040504020204" pitchFamily="49" charset="0"/>
              </a:rPr>
              <a:t>case GL_FRAMEBUFFER_INCOMPLETE_DIMENSIONS: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//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("GL_FRAMEBUFFER_INCOMPLETE_DIMENSIONS\n");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//    break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#if (!defined(GL_ES) || GL_ES==0) &amp;&amp; !defined(GL_ES_VERSION_2_0)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</a:t>
            </a:r>
            <a:r>
              <a:rPr lang="en-US" sz="1200" dirty="0" smtClean="0">
                <a:latin typeface="Lucida Console" panose="020B0609040504020204" pitchFamily="49" charset="0"/>
              </a:rPr>
              <a:t>case </a:t>
            </a:r>
            <a:r>
              <a:rPr lang="en-US" sz="1200" dirty="0">
                <a:latin typeface="Lucida Console" panose="020B0609040504020204" pitchFamily="49" charset="0"/>
              </a:rPr>
              <a:t>GL_FRAMEBUFFER_INCOMPLETE_READ_BUFFER: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("GL_FRAMEBUFFER_INCOMPLETE_READ_BUFFER\n");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break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endif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    </a:t>
            </a:r>
            <a:r>
              <a:rPr lang="en-US" sz="1200" dirty="0" smtClean="0">
                <a:latin typeface="Lucida Console" panose="020B0609040504020204" pitchFamily="49" charset="0"/>
              </a:rPr>
              <a:t>case </a:t>
            </a:r>
            <a:r>
              <a:rPr lang="en-US" sz="1200" dirty="0">
                <a:latin typeface="Lucida Console" panose="020B0609040504020204" pitchFamily="49" charset="0"/>
              </a:rPr>
              <a:t>GL_FRAMEBUFFER_INCOMPLETE_MISSING_ATTACHMENT: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("GL_FRAMEBUFFER_INCOMPLETE_MISSING_ATTACHMENT\n");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break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case </a:t>
            </a:r>
            <a:r>
              <a:rPr lang="en-US" sz="1200" dirty="0">
                <a:latin typeface="Lucida Console" panose="020B0609040504020204" pitchFamily="49" charset="0"/>
              </a:rPr>
              <a:t>GL_FRAMEBUFFER_UNSUPPORTED: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("GL_FRAMEBUFFER_UNSUPPORTED\n");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break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default</a:t>
            </a:r>
            <a:r>
              <a:rPr lang="en-US" sz="12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("Unknown error %d\n",</a:t>
            </a:r>
            <a:r>
              <a:rPr lang="en-US" sz="1200" dirty="0" err="1">
                <a:latin typeface="Lucida Console" panose="020B0609040504020204" pitchFamily="49" charset="0"/>
              </a:rPr>
              <a:t>sta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break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("Cannot generate a frame buffer.\n");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exit(1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glBindFramebuffer</a:t>
            </a:r>
            <a:r>
              <a:rPr lang="en-US" sz="1200" dirty="0" smtClean="0">
                <a:latin typeface="Lucida Console" panose="020B0609040504020204" pitchFamily="49" charset="0"/>
              </a:rPr>
              <a:t>(GL_FRAMEBUFFER,0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6324600" y="2362200"/>
            <a:ext cx="152400" cy="533400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477000" y="2240190"/>
            <a:ext cx="266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This macro is supposed to exist according to the OpenGL specification…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5855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Starting from the </a:t>
            </a:r>
            <a:r>
              <a:rPr lang="en-US" dirty="0" err="1" smtClean="0"/>
              <a:t>Phong</a:t>
            </a:r>
            <a:r>
              <a:rPr lang="en-US" dirty="0" smtClean="0"/>
              <a:t>-shading example, add shadow-map buffer.</a:t>
            </a:r>
          </a:p>
          <a:p>
            <a:r>
              <a:rPr lang="en-US" dirty="0" smtClean="0"/>
              <a:t>Add member variable:</a:t>
            </a:r>
          </a:p>
          <a:p>
            <a:pPr marL="457200" lvl="1" indent="0">
              <a:buNone/>
            </a:pPr>
            <a:r>
              <a:rPr lang="en-US" dirty="0" err="1" smtClean="0">
                <a:latin typeface="Lucida Console" panose="020B0609040504020204" pitchFamily="49" charset="0"/>
              </a:rPr>
              <a:t>OpenGLShadowMapBuffer</a:t>
            </a:r>
            <a:r>
              <a:rPr lang="en-US" dirty="0" smtClean="0">
                <a:latin typeface="Lucida Console" panose="020B0609040504020204" pitchFamily="49" charset="0"/>
              </a:rPr>
              <a:t> </a:t>
            </a:r>
            <a:r>
              <a:rPr lang="en-US" dirty="0" err="1" smtClean="0">
                <a:latin typeface="Lucida Console" panose="020B0609040504020204" pitchFamily="49" charset="0"/>
              </a:rPr>
              <a:t>shadowMapBuf</a:t>
            </a:r>
            <a:r>
              <a:rPr lang="en-US" dirty="0" smtClean="0">
                <a:latin typeface="Lucida Console" panose="020B0609040504020204" pitchFamily="49" charset="0"/>
              </a:rPr>
              <a:t>;</a:t>
            </a:r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 smtClean="0"/>
              <a:t>In Initialize() add:</a:t>
            </a:r>
          </a:p>
          <a:p>
            <a:pPr marL="457200" lvl="1" indent="0">
              <a:buNone/>
            </a:pPr>
            <a:r>
              <a:rPr lang="en-US" dirty="0" err="1" smtClean="0"/>
              <a:t>shadowMapBuf.PrepareBuffer</a:t>
            </a:r>
            <a:r>
              <a:rPr lang="en-US" dirty="0" smtClean="0"/>
              <a:t>(1024,1024);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smtClean="0"/>
              <a:t>Run and verify not getting an error message from the frame-buffer creation.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6308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new renderer.</a:t>
            </a:r>
          </a:p>
          <a:p>
            <a:pPr lvl="1"/>
            <a:r>
              <a:rPr lang="en-US" dirty="0" err="1" smtClean="0"/>
              <a:t>depth_verify_fragment_shader.glsl</a:t>
            </a:r>
            <a:endParaRPr lang="en-US" dirty="0" smtClean="0"/>
          </a:p>
          <a:p>
            <a:pPr lvl="1"/>
            <a:r>
              <a:rPr lang="en-US" dirty="0" err="1" smtClean="0"/>
              <a:t>depth_verify_vertex_shader.glsl</a:t>
            </a:r>
            <a:endParaRPr lang="en-US" dirty="0" smtClean="0"/>
          </a:p>
          <a:p>
            <a:r>
              <a:rPr lang="en-US" dirty="0" smtClean="0"/>
              <a:t>Purpose: To verify that the depth buffer is calculated correctly.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5918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609600"/>
          </a:xfrm>
        </p:spPr>
        <p:txBody>
          <a:bodyPr/>
          <a:lstStyle/>
          <a:p>
            <a:r>
              <a:rPr lang="en-US" dirty="0" smtClean="0"/>
              <a:t>Vertex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828800"/>
            <a:ext cx="362471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ifdef</a:t>
            </a:r>
            <a:r>
              <a:rPr lang="en-US" sz="1200" dirty="0">
                <a:latin typeface="Lucida Console" panose="020B0609040504020204" pitchFamily="49" charset="0"/>
              </a:rPr>
              <a:t> GL_ES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LOWP </a:t>
            </a:r>
            <a:r>
              <a:rPr lang="en-US" sz="1200" dirty="0" err="1">
                <a:latin typeface="Lucida Console" panose="020B0609040504020204" pitchFamily="49" charset="0"/>
              </a:rPr>
              <a:t>lowp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MIDP </a:t>
            </a:r>
            <a:r>
              <a:rPr lang="en-US" sz="1200" dirty="0" err="1">
                <a:latin typeface="Lucida Console" panose="020B0609040504020204" pitchFamily="49" charset="0"/>
              </a:rPr>
              <a:t>mediump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HIGHP </a:t>
            </a:r>
            <a:r>
              <a:rPr lang="en-US" sz="1200" dirty="0" err="1">
                <a:latin typeface="Lucida Console" panose="020B0609040504020204" pitchFamily="49" charset="0"/>
              </a:rPr>
              <a:t>highp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#else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LOWP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MIDP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HIGHP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endif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attribute HIGHP vec2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HIGHP vec2 </a:t>
            </a:r>
            <a:r>
              <a:rPr lang="en-US" sz="1200" dirty="0" err="1"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HIGHP vec2 </a:t>
            </a:r>
            <a:r>
              <a:rPr lang="en-US" sz="1200" dirty="0" err="1">
                <a:latin typeface="Lucida Console" panose="020B0609040504020204" pitchFamily="49" charset="0"/>
              </a:rPr>
              <a:t>texCoordOut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texCoordOut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texCoord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=vec4(vertex,0.5,1.0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124200" y="1828800"/>
            <a:ext cx="228600" cy="1676400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05201" y="1905000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GLSL program for OpenGL ES requires precision qualifier, which gives an error in the full-scale OpenGL.  Can avoid by adding these macros.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9660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Fragment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1600200"/>
            <a:ext cx="362471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ifdef</a:t>
            </a:r>
            <a:r>
              <a:rPr lang="en-US" sz="1200" dirty="0">
                <a:latin typeface="Lucida Console" panose="020B0609040504020204" pitchFamily="49" charset="0"/>
              </a:rPr>
              <a:t> GL_ES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LOWP </a:t>
            </a:r>
            <a:r>
              <a:rPr lang="en-US" sz="1200" dirty="0" err="1">
                <a:latin typeface="Lucida Console" panose="020B0609040504020204" pitchFamily="49" charset="0"/>
              </a:rPr>
              <a:t>lowp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MIDP </a:t>
            </a:r>
            <a:r>
              <a:rPr lang="en-US" sz="1200" dirty="0" err="1">
                <a:latin typeface="Lucida Console" panose="020B0609040504020204" pitchFamily="49" charset="0"/>
              </a:rPr>
              <a:t>mediump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HIGHP </a:t>
            </a:r>
            <a:r>
              <a:rPr lang="en-US" sz="1200" dirty="0" err="1">
                <a:latin typeface="Lucida Console" panose="020B0609040504020204" pitchFamily="49" charset="0"/>
              </a:rPr>
              <a:t>highp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#else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LOWP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MIDP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#</a:t>
            </a:r>
            <a:r>
              <a:rPr lang="en-US" sz="1200" dirty="0">
                <a:latin typeface="Lucida Console" panose="020B0609040504020204" pitchFamily="49" charset="0"/>
              </a:rPr>
              <a:t>define HIGHP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#</a:t>
            </a:r>
            <a:r>
              <a:rPr lang="en-US" sz="1200" dirty="0" err="1">
                <a:latin typeface="Lucida Console" panose="020B0609040504020204" pitchFamily="49" charset="0"/>
              </a:rPr>
              <a:t>endif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sampler2D texture;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HIGHP vec2 </a:t>
            </a:r>
            <a:r>
              <a:rPr lang="en-US" sz="1200" dirty="0" err="1">
                <a:latin typeface="Lucida Console" panose="020B0609040504020204" pitchFamily="49" charset="0"/>
              </a:rPr>
              <a:t>texCoordOut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LOWP vec4 </a:t>
            </a:r>
            <a:r>
              <a:rPr lang="en-US" sz="1200" dirty="0" err="1">
                <a:latin typeface="Lucida Console" panose="020B0609040504020204" pitchFamily="49" charset="0"/>
              </a:rPr>
              <a:t>RainbowColor</a:t>
            </a:r>
            <a:r>
              <a:rPr lang="en-US" sz="1200" dirty="0">
                <a:latin typeface="Lucida Console" panose="020B0609040504020204" pitchFamily="49" charset="0"/>
              </a:rPr>
              <a:t>(HIGHP float t)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// </a:t>
            </a:r>
            <a:r>
              <a:rPr lang="en-US" sz="1200" dirty="0">
                <a:latin typeface="Lucida Console" panose="020B0609040504020204" pitchFamily="49" charset="0"/>
              </a:rPr>
              <a:t>0     0.25  0.5    0.75    1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// </a:t>
            </a:r>
            <a:r>
              <a:rPr lang="en-US" sz="1200" dirty="0">
                <a:latin typeface="Lucida Console" panose="020B0609040504020204" pitchFamily="49" charset="0"/>
              </a:rPr>
              <a:t>Blue-&gt;Cyan-&gt;Green-&gt;Yellow-&gt;Red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HIGHP </a:t>
            </a:r>
            <a:r>
              <a:rPr lang="en-US" sz="1200" dirty="0">
                <a:latin typeface="Lucida Console" panose="020B0609040504020204" pitchFamily="49" charset="0"/>
              </a:rPr>
              <a:t>float </a:t>
            </a:r>
            <a:r>
              <a:rPr lang="en-US" sz="1200" dirty="0" err="1">
                <a:latin typeface="Lucida Console" panose="020B0609040504020204" pitchFamily="49" charset="0"/>
              </a:rPr>
              <a:t>tt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if(t&lt;0.0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return </a:t>
            </a:r>
            <a:r>
              <a:rPr lang="en-US" sz="1200" dirty="0">
                <a:latin typeface="Lucida Console" panose="020B0609040504020204" pitchFamily="49" charset="0"/>
              </a:rPr>
              <a:t>vec4(0,0,1,1);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else </a:t>
            </a:r>
            <a:r>
              <a:rPr lang="en-US" sz="1200" dirty="0">
                <a:latin typeface="Lucida Console" panose="020B0609040504020204" pitchFamily="49" charset="0"/>
              </a:rPr>
              <a:t>if(t&lt;0.25)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tt</a:t>
            </a:r>
            <a:r>
              <a:rPr lang="en-US" sz="1200" dirty="0" smtClean="0">
                <a:latin typeface="Lucida Console" panose="020B0609040504020204" pitchFamily="49" charset="0"/>
              </a:rPr>
              <a:t>=t/0.25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return </a:t>
            </a:r>
            <a:r>
              <a:rPr lang="en-US" sz="1200" dirty="0">
                <a:latin typeface="Lucida Console" panose="020B0609040504020204" pitchFamily="49" charset="0"/>
              </a:rPr>
              <a:t>vec4(0,tt,1,1);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95800" y="1231692"/>
            <a:ext cx="455445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else </a:t>
            </a:r>
            <a:r>
              <a:rPr lang="en-US" sz="1200" dirty="0">
                <a:latin typeface="Lucida Console" panose="020B0609040504020204" pitchFamily="49" charset="0"/>
              </a:rPr>
              <a:t>if(t&lt;0.5)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tt</a:t>
            </a:r>
            <a:r>
              <a:rPr lang="en-US" sz="1200" dirty="0">
                <a:latin typeface="Lucida Console" panose="020B0609040504020204" pitchFamily="49" charset="0"/>
              </a:rPr>
              <a:t>=(t-0.25)/0.25;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return </a:t>
            </a:r>
            <a:r>
              <a:rPr lang="en-US" sz="1200" dirty="0">
                <a:latin typeface="Lucida Console" panose="020B0609040504020204" pitchFamily="49" charset="0"/>
              </a:rPr>
              <a:t>vec4(0,1,1.0-tt,1);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else </a:t>
            </a:r>
            <a:r>
              <a:rPr lang="en-US" sz="1200" dirty="0">
                <a:latin typeface="Lucida Console" panose="020B0609040504020204" pitchFamily="49" charset="0"/>
              </a:rPr>
              <a:t>if(t&lt;0.75)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tt</a:t>
            </a:r>
            <a:r>
              <a:rPr lang="en-US" sz="1200" dirty="0">
                <a:latin typeface="Lucida Console" panose="020B0609040504020204" pitchFamily="49" charset="0"/>
              </a:rPr>
              <a:t>=(t-0.5)/0.25;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return </a:t>
            </a:r>
            <a:r>
              <a:rPr lang="en-US" sz="1200" dirty="0">
                <a:latin typeface="Lucida Console" panose="020B0609040504020204" pitchFamily="49" charset="0"/>
              </a:rPr>
              <a:t>vec4(tt,1,0,1);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else </a:t>
            </a:r>
            <a:r>
              <a:rPr lang="en-US" sz="1200" dirty="0">
                <a:latin typeface="Lucida Console" panose="020B0609040504020204" pitchFamily="49" charset="0"/>
              </a:rPr>
              <a:t>if(t&lt;1.0)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tt</a:t>
            </a:r>
            <a:r>
              <a:rPr lang="en-US" sz="1200" dirty="0">
                <a:latin typeface="Lucida Console" panose="020B0609040504020204" pitchFamily="49" charset="0"/>
              </a:rPr>
              <a:t>=(t-0.75)/0.25;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return </a:t>
            </a:r>
            <a:r>
              <a:rPr lang="en-US" sz="1200" dirty="0">
                <a:latin typeface="Lucida Console" panose="020B0609040504020204" pitchFamily="49" charset="0"/>
              </a:rPr>
              <a:t>vec4(1,1.0-tt,0,1);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else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return </a:t>
            </a:r>
            <a:r>
              <a:rPr lang="en-US" sz="1200" dirty="0">
                <a:latin typeface="Lucida Console" panose="020B0609040504020204" pitchFamily="49" charset="0"/>
              </a:rPr>
              <a:t>vec4(1,0,0,1);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HIGHP </a:t>
            </a:r>
            <a:r>
              <a:rPr lang="en-US" sz="1200" dirty="0">
                <a:latin typeface="Lucida Console" panose="020B0609040504020204" pitchFamily="49" charset="0"/>
              </a:rPr>
              <a:t>float intensity;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intensity=texture2D(</a:t>
            </a:r>
            <a:r>
              <a:rPr lang="en-US" sz="1200" dirty="0" err="1" smtClean="0">
                <a:latin typeface="Lucida Console" panose="020B0609040504020204" pitchFamily="49" charset="0"/>
              </a:rPr>
              <a:t>texture,texCoordOut</a:t>
            </a:r>
            <a:r>
              <a:rPr lang="en-US" sz="1200" dirty="0">
                <a:latin typeface="Lucida Console" panose="020B0609040504020204" pitchFamily="49" charset="0"/>
              </a:rPr>
              <a:t>).r</a:t>
            </a:r>
            <a:r>
              <a:rPr lang="en-US" sz="1200" dirty="0" smtClean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latin typeface="Lucida Console" panose="020B0609040504020204" pitchFamily="49" charset="0"/>
              </a:rPr>
              <a:t>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RainbowColor</a:t>
            </a:r>
            <a:r>
              <a:rPr lang="en-US" sz="1200" dirty="0" smtClean="0">
                <a:latin typeface="Lucida Console" panose="020B0609040504020204" pitchFamily="49" charset="0"/>
              </a:rPr>
              <a:t>(intensity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cxnSp>
        <p:nvCxnSpPr>
          <p:cNvPr id="7" name="Straight Arrow Connector 6"/>
          <p:cNvCxnSpPr>
            <a:stCxn id="8" idx="2"/>
          </p:cNvCxnSpPr>
          <p:nvPr/>
        </p:nvCxnSpPr>
        <p:spPr>
          <a:xfrm>
            <a:off x="7171574" y="5167115"/>
            <a:ext cx="600826" cy="471685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99148" y="4520784"/>
            <a:ext cx="3944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If the texture is a depth texture, any component will return the depth.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4046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a new renderer in </a:t>
            </a:r>
            <a:r>
              <a:rPr lang="en-US" dirty="0" err="1" smtClean="0"/>
              <a:t>renderer.h</a:t>
            </a:r>
            <a:r>
              <a:rPr lang="en-US" dirty="0" smtClean="0"/>
              <a:t> and renderere.cpp</a:t>
            </a:r>
          </a:p>
          <a:p>
            <a:r>
              <a:rPr lang="en-US" dirty="0" smtClean="0"/>
              <a:t>Add two member variables:</a:t>
            </a:r>
          </a:p>
          <a:p>
            <a:pPr marL="457200" lvl="1" indent="0">
              <a:buNone/>
            </a:pPr>
            <a:r>
              <a:rPr lang="en-US" dirty="0" smtClean="0"/>
              <a:t>YsMatrix4x4 </a:t>
            </a:r>
            <a:r>
              <a:rPr lang="en-US" dirty="0" err="1" smtClean="0"/>
              <a:t>lightViewTfm,lightProjTfm</a:t>
            </a:r>
            <a:endParaRPr lang="en-US" dirty="0" smtClean="0"/>
          </a:p>
          <a:p>
            <a:r>
              <a:rPr lang="en-US" dirty="0" smtClean="0"/>
              <a:t>These two matrices are needed for later rendering of the actual scene.</a:t>
            </a:r>
          </a:p>
          <a:p>
            <a:r>
              <a:rPr lang="en-US" dirty="0" smtClean="0"/>
              <a:t>Then add two new functions</a:t>
            </a:r>
          </a:p>
          <a:p>
            <a:pPr lvl="1"/>
            <a:r>
              <a:rPr lang="en-US" dirty="0" err="1" smtClean="0"/>
              <a:t>RenderDepthBuffer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Render to the depth buffer, and create the distance map.</a:t>
            </a:r>
          </a:p>
          <a:p>
            <a:pPr lvl="1"/>
            <a:r>
              <a:rPr lang="en-US" dirty="0" err="1" smtClean="0"/>
              <a:t>VerifyDepthBuffer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Directly show the distance map contents.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109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599884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FsLazyWindowApplication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RenderShadowBuffer</a:t>
            </a:r>
            <a:r>
              <a:rPr lang="en-US" sz="1200" dirty="0">
                <a:latin typeface="Lucida Console" panose="020B0609040504020204" pitchFamily="49" charset="0"/>
              </a:rPr>
              <a:t>(void)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(GL_TEXTURE_2D,0);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curFrameBuffer</a:t>
            </a:r>
            <a:r>
              <a:rPr lang="en-US" sz="12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glGetIntegerv</a:t>
            </a:r>
            <a:r>
              <a:rPr lang="en-US" sz="1200" dirty="0">
                <a:latin typeface="Lucida Console" panose="020B0609040504020204" pitchFamily="49" charset="0"/>
              </a:rPr>
              <a:t>(GL_FRAMEBUFFER_BINDING,&amp;</a:t>
            </a:r>
            <a:r>
              <a:rPr lang="en-US" sz="1200" dirty="0" err="1">
                <a:latin typeface="Lucida Console" panose="020B0609040504020204" pitchFamily="49" charset="0"/>
              </a:rPr>
              <a:t>curFrameBuffer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glBindFramebuffer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GL_FRAMEBUFFER,shadowMapBuf.frameBufferIdent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YsAtt3 </a:t>
            </a:r>
            <a:r>
              <a:rPr lang="en-US" sz="1200" dirty="0" err="1">
                <a:latin typeface="Lucida Console" panose="020B0609040504020204" pitchFamily="49" charset="0"/>
              </a:rPr>
              <a:t>viewAtt</a:t>
            </a:r>
            <a:r>
              <a:rPr lang="en-US" sz="1200" dirty="0">
                <a:latin typeface="Lucida Console" panose="020B0609040504020204" pitchFamily="49" charset="0"/>
              </a:rPr>
              <a:t>(0,0,0);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viewAtt.SetForwardVector</a:t>
            </a:r>
            <a:r>
              <a:rPr lang="en-US" sz="1200" dirty="0" smtClean="0">
                <a:latin typeface="Lucida Console" panose="020B0609040504020204" pitchFamily="49" charset="0"/>
              </a:rPr>
              <a:t>(-</a:t>
            </a:r>
            <a:r>
              <a:rPr lang="en-US" sz="1200" dirty="0" err="1" smtClean="0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Ys3DDrawingEnvironment </a:t>
            </a:r>
            <a:r>
              <a:rPr lang="en-US" sz="1200" dirty="0" err="1">
                <a:latin typeface="Lucida Console" panose="020B0609040504020204" pitchFamily="49" charset="0"/>
              </a:rPr>
              <a:t>drawEnv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wid,hei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FsGetWindowSize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wid,hei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drawEnv.SetProjectionMode</a:t>
            </a:r>
            <a:r>
              <a:rPr lang="en-US" sz="1200" dirty="0" smtClean="0">
                <a:latin typeface="Lucida Console" panose="020B0609040504020204" pitchFamily="49" charset="0"/>
              </a:rPr>
              <a:t>(Ys3DDrawingEnvironment</a:t>
            </a:r>
            <a:r>
              <a:rPr lang="en-US" sz="1200" dirty="0">
                <a:latin typeface="Lucida Console" panose="020B0609040504020204" pitchFamily="49" charset="0"/>
              </a:rPr>
              <a:t>::ORTHOGONAL);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drawEnv.SetAspectRatio</a:t>
            </a:r>
            <a:r>
              <a:rPr lang="en-US" sz="1200" dirty="0" smtClean="0">
                <a:latin typeface="Lucida Console" panose="020B0609040504020204" pitchFamily="49" charset="0"/>
              </a:rPr>
              <a:t>(1.0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drawEnv.SetOrthogonalProjectionHeight</a:t>
            </a:r>
            <a:r>
              <a:rPr lang="en-US" sz="1200" dirty="0" smtClean="0">
                <a:latin typeface="Lucida Console" panose="020B0609040504020204" pitchFamily="49" charset="0"/>
              </a:rPr>
              <a:t>(10.0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drawEnv.SetNearFar</a:t>
            </a:r>
            <a:r>
              <a:rPr lang="en-US" sz="1200" dirty="0" smtClean="0">
                <a:latin typeface="Lucida Console" panose="020B0609040504020204" pitchFamily="49" charset="0"/>
              </a:rPr>
              <a:t>(8.0,100.0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drawEnv.SetViewTarget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YsOrigin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drawEnv.SetViewDistance</a:t>
            </a:r>
            <a:r>
              <a:rPr lang="en-US" sz="1200" dirty="0" smtClean="0">
                <a:latin typeface="Lucida Console" panose="020B0609040504020204" pitchFamily="49" charset="0"/>
              </a:rPr>
              <a:t>(40.0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drawEnv.SetViewAttitude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viewAtt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glViewport</a:t>
            </a:r>
            <a:r>
              <a:rPr lang="en-US" sz="1200" dirty="0" smtClean="0">
                <a:latin typeface="Lucida Console" panose="020B0609040504020204" pitchFamily="49" charset="0"/>
              </a:rPr>
              <a:t>(0,0,1024,1024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 err="1">
                <a:latin typeface="Lucida Console" panose="020B0609040504020204" pitchFamily="49" charset="0"/>
              </a:rPr>
              <a:t>viewTfm</a:t>
            </a:r>
            <a:r>
              <a:rPr lang="en-US" sz="1200" dirty="0">
                <a:latin typeface="Lucida Console" panose="020B0609040504020204" pitchFamily="49" charset="0"/>
              </a:rPr>
              <a:t>[16],</a:t>
            </a:r>
            <a:r>
              <a:rPr lang="en-US" sz="1200" dirty="0" err="1">
                <a:latin typeface="Lucida Console" panose="020B0609040504020204" pitchFamily="49" charset="0"/>
              </a:rPr>
              <a:t>projTfm</a:t>
            </a:r>
            <a:r>
              <a:rPr lang="en-US" sz="1200" dirty="0">
                <a:latin typeface="Lucida Console" panose="020B0609040504020204" pitchFamily="49" charset="0"/>
              </a:rPr>
              <a:t>[16];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drawEnv.GetViewMatrix</a:t>
            </a:r>
            <a:r>
              <a:rPr lang="en-US" sz="1200" dirty="0">
                <a:latin typeface="Lucida Console" panose="020B0609040504020204" pitchFamily="49" charset="0"/>
              </a:rPr>
              <a:t>().</a:t>
            </a:r>
            <a:r>
              <a:rPr lang="en-US" sz="1200" dirty="0" err="1">
                <a:latin typeface="Lucida Console" panose="020B0609040504020204" pitchFamily="49" charset="0"/>
              </a:rPr>
              <a:t>GetOpenGlCompatibleMatrix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viewTfm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drawEnv.GetProjectionMatrix</a:t>
            </a:r>
            <a:r>
              <a:rPr lang="en-US" sz="1200" dirty="0">
                <a:latin typeface="Lucida Console" panose="020B0609040504020204" pitchFamily="49" charset="0"/>
              </a:rPr>
              <a:t>().</a:t>
            </a:r>
            <a:r>
              <a:rPr lang="en-US" sz="1200" dirty="0" err="1">
                <a:latin typeface="Lucida Console" panose="020B0609040504020204" pitchFamily="49" charset="0"/>
              </a:rPr>
              <a:t>GetOpenGlCompatibleMatrix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projTfm</a:t>
            </a:r>
            <a:r>
              <a:rPr lang="en-US" sz="1200" dirty="0" smtClean="0">
                <a:latin typeface="Lucida Console" panose="020B0609040504020204" pitchFamily="49" charset="0"/>
              </a:rPr>
              <a:t>);</a:t>
            </a:r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4191000" y="2590800"/>
            <a:ext cx="228600" cy="457200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19600" y="2454826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lightDir</a:t>
            </a:r>
            <a:r>
              <a:rPr lang="en-US" dirty="0" smtClean="0">
                <a:solidFill>
                  <a:srgbClr val="FF0000"/>
                </a:solidFill>
              </a:rPr>
              <a:t> is TO the light.  To draw from the light point of view, the forward vector should be opposite of </a:t>
            </a:r>
            <a:r>
              <a:rPr lang="en-US" dirty="0" err="1" smtClean="0">
                <a:solidFill>
                  <a:srgbClr val="FF0000"/>
                </a:solidFill>
              </a:rPr>
              <a:t>lightDir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4038600" y="4648200"/>
            <a:ext cx="152400" cy="609600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224867" y="4454391"/>
            <a:ext cx="4610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Distance should be far enough, but not too far away from the subject.  The subject stays between </a:t>
            </a:r>
            <a:r>
              <a:rPr lang="en-US" dirty="0" err="1" smtClean="0">
                <a:solidFill>
                  <a:srgbClr val="FF0000"/>
                </a:solidFill>
              </a:rPr>
              <a:t>nearz</a:t>
            </a:r>
            <a:r>
              <a:rPr lang="en-US" dirty="0" smtClean="0">
                <a:solidFill>
                  <a:srgbClr val="FF0000"/>
                </a:solidFill>
              </a:rPr>
              <a:t> and </a:t>
            </a:r>
            <a:r>
              <a:rPr lang="en-US" dirty="0" err="1" smtClean="0">
                <a:solidFill>
                  <a:srgbClr val="FF0000"/>
                </a:solidFill>
              </a:rPr>
              <a:t>farz</a:t>
            </a:r>
            <a:r>
              <a:rPr lang="en-US" dirty="0" smtClean="0">
                <a:solidFill>
                  <a:srgbClr val="FF0000"/>
                </a:solidFill>
              </a:rPr>
              <a:t> in the light’s coordinate system.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3505200" y="4191000"/>
            <a:ext cx="1905000" cy="76200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0" y="4114800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Because 1024x1024 texture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3077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994496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lightViewTfm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drawEnv.GetViewMatrix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lightProjTfm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drawEnv.GetProjectionMatrix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glClear</a:t>
            </a:r>
            <a:r>
              <a:rPr lang="en-US" sz="1200" dirty="0" smtClean="0">
                <a:latin typeface="Lucida Console" panose="020B0609040504020204" pitchFamily="49" charset="0"/>
              </a:rPr>
              <a:t>(GL_DEPTH_BUFFER_BIT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</a:t>
            </a:r>
            <a:r>
              <a:rPr lang="en-US" sz="1200" dirty="0" smtClean="0">
                <a:latin typeface="Lucida Console" panose="020B0609040504020204" pitchFamily="49" charset="0"/>
              </a:rPr>
              <a:t>(GL_DEPTH_TEST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projMat</a:t>
            </a:r>
            <a:r>
              <a:rPr lang="en-US" sz="1200" dirty="0">
                <a:latin typeface="Lucida Console" panose="020B0609040504020204" pitchFamily="49" charset="0"/>
              </a:rPr>
              <a:t>[16];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drawEnv.GetProjectionMatrix</a:t>
            </a:r>
            <a:r>
              <a:rPr lang="en-US" sz="1200" dirty="0">
                <a:latin typeface="Lucida Console" panose="020B0609040504020204" pitchFamily="49" charset="0"/>
              </a:rPr>
              <a:t>().</a:t>
            </a:r>
            <a:r>
              <a:rPr lang="en-US" sz="1200" dirty="0" err="1">
                <a:latin typeface="Lucida Console" panose="020B0609040504020204" pitchFamily="49" charset="0"/>
              </a:rPr>
              <a:t>GetOpenGlCompatibleMatrix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projMat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viewMat</a:t>
            </a:r>
            <a:r>
              <a:rPr lang="en-US" sz="1200" dirty="0">
                <a:latin typeface="Lucida Console" panose="020B0609040504020204" pitchFamily="49" charset="0"/>
              </a:rPr>
              <a:t>[16];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drawEnv.GetViewMatrix</a:t>
            </a:r>
            <a:r>
              <a:rPr lang="en-US" sz="1200" dirty="0">
                <a:latin typeface="Lucida Console" panose="020B0609040504020204" pitchFamily="49" charset="0"/>
              </a:rPr>
              <a:t>().</a:t>
            </a:r>
            <a:r>
              <a:rPr lang="en-US" sz="1200" dirty="0" err="1">
                <a:latin typeface="Lucida Console" panose="020B0609040504020204" pitchFamily="49" charset="0"/>
              </a:rPr>
              <a:t>GetOpenGlCompatibleMatrix</a:t>
            </a:r>
            <a:r>
              <a:rPr lang="en-US" sz="1200" dirty="0"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latin typeface="Lucida Console" panose="020B0609040504020204" pitchFamily="49" charset="0"/>
              </a:rPr>
              <a:t>viewMat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200" dirty="0" smtClean="0">
                <a:latin typeface="Lucida Console" panose="020B0609040504020204" pitchFamily="49" charset="0"/>
              </a:rPr>
              <a:t>(plain3d.programIdent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glUniformMatrix4fv(plain3d.uniformProjectionPos,1,GL_FALSE,projMat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glUniformMatrix4fv(plain3d.uniformModelViewPos,1,GL_FALSE,viewMat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(plain3d.attribVertexPos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(plain3d.attribColorPos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(plain3d.attribVertexPos,3,GL_FLOAT,GL_FALSE,0,vtx.data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(plain3d.attribColorPos,4,GL_FLOAT,GL_FALSE,0,col.data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200" dirty="0" smtClean="0">
                <a:latin typeface="Lucida Console" panose="020B0609040504020204" pitchFamily="49" charset="0"/>
              </a:rPr>
              <a:t>(GL_TRIANGLES,0,vtx.size</a:t>
            </a:r>
            <a:r>
              <a:rPr lang="en-US" sz="1200" dirty="0">
                <a:latin typeface="Lucida Console" panose="020B0609040504020204" pitchFamily="49" charset="0"/>
              </a:rPr>
              <a:t>()/3);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(plain3d.attribVertexPos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(plain3d.attribColorPos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glBindFramebuffer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GL_FRAMEBUFFER,curFrameBuffer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4800600" y="1066800"/>
            <a:ext cx="228600" cy="457200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029200" y="924098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Cache transformations for the later process.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ight Brace 7"/>
          <p:cNvSpPr/>
          <p:nvPr/>
        </p:nvSpPr>
        <p:spPr>
          <a:xfrm>
            <a:off x="3581400" y="1676400"/>
            <a:ext cx="76200" cy="228600"/>
          </a:xfrm>
          <a:prstGeom prst="righ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657600" y="1643858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You don’t have to clear the color buffer.  Only depth matters.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6269712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rest is same as the rendering of the actual scene.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Left Brace 10"/>
          <p:cNvSpPr/>
          <p:nvPr/>
        </p:nvSpPr>
        <p:spPr>
          <a:xfrm>
            <a:off x="609600" y="3352800"/>
            <a:ext cx="121919" cy="2837765"/>
          </a:xfrm>
          <a:prstGeom prst="leftBrace">
            <a:avLst/>
          </a:prstGeom>
          <a:ln>
            <a:solidFill>
              <a:srgbClr val="FF33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310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5710" y="762000"/>
            <a:ext cx="8738290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FsLazyWindowApplication</a:t>
            </a:r>
            <a:r>
              <a:rPr lang="en-US" sz="1200" dirty="0">
                <a:latin typeface="Lucida Console" panose="020B0609040504020204" pitchFamily="49" charset="0"/>
              </a:rPr>
              <a:t>::</a:t>
            </a:r>
            <a:r>
              <a:rPr lang="en-US" sz="1200" dirty="0" err="1">
                <a:latin typeface="Lucida Console" panose="020B0609040504020204" pitchFamily="49" charset="0"/>
              </a:rPr>
              <a:t>VerifyShadowMap</a:t>
            </a:r>
            <a:r>
              <a:rPr lang="en-US" sz="1200" dirty="0">
                <a:latin typeface="Lucida Console" panose="020B0609040504020204" pitchFamily="49" charset="0"/>
              </a:rPr>
              <a:t>(void)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</a:t>
            </a:r>
            <a:r>
              <a:rPr lang="en-US" sz="1200" dirty="0" smtClean="0">
                <a:latin typeface="Lucida Console" panose="020B0609040504020204" pitchFamily="49" charset="0"/>
              </a:rPr>
              <a:t>(GL_DEPTH_TEST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const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float </a:t>
            </a:r>
            <a:r>
              <a:rPr lang="en-US" sz="1200" dirty="0" err="1">
                <a:latin typeface="Lucida Console" panose="020B0609040504020204" pitchFamily="49" charset="0"/>
              </a:rPr>
              <a:t>rectVtx</a:t>
            </a:r>
            <a:r>
              <a:rPr lang="en-US" sz="1200" dirty="0">
                <a:latin typeface="Lucida Console" panose="020B0609040504020204" pitchFamily="49" charset="0"/>
              </a:rPr>
              <a:t>[]=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-</a:t>
            </a:r>
            <a:r>
              <a:rPr lang="en-US" sz="1200" dirty="0">
                <a:latin typeface="Lucida Console" panose="020B0609040504020204" pitchFamily="49" charset="0"/>
              </a:rPr>
              <a:t>1   ,-1</a:t>
            </a:r>
            <a:r>
              <a:rPr lang="en-US" sz="1200" dirty="0" smtClean="0">
                <a:latin typeface="Lucida Console" panose="020B0609040504020204" pitchFamily="49" charset="0"/>
              </a:rPr>
              <a:t>,       -0.3f,-1,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-0.3f,-0.3f,    -1   ,-0.3f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};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const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float </a:t>
            </a:r>
            <a:r>
              <a:rPr lang="en-US" sz="1200" dirty="0" err="1">
                <a:latin typeface="Lucida Console" panose="020B0609040504020204" pitchFamily="49" charset="0"/>
              </a:rPr>
              <a:t>rectTexCoord</a:t>
            </a:r>
            <a:r>
              <a:rPr lang="en-US" sz="1200" dirty="0">
                <a:latin typeface="Lucida Console" panose="020B0609040504020204" pitchFamily="49" charset="0"/>
              </a:rPr>
              <a:t>[]=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0,0,        1,0</a:t>
            </a:r>
            <a:r>
              <a:rPr lang="en-US" sz="120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1,1,        0,1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};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glActiveTexture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(GL_TEXTURE_2D,shadowMapBuf.shadowTexIdent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glUseProgram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depthVerify.programIdent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depthVerify.attribVertexPos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glEnableVertexAttribArray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depthVerify.attribTexCoordPos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glUniform1i(depthVerify.uniformTexturePos,0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(depthVerify.attribVertexPos,2,GL_FLOAT,GL_FALSE,0,rectVtx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glVertexAttribPointer</a:t>
            </a:r>
            <a:r>
              <a:rPr lang="en-US" sz="1200" dirty="0" smtClean="0">
                <a:latin typeface="Lucida Console" panose="020B0609040504020204" pitchFamily="49" charset="0"/>
              </a:rPr>
              <a:t>(depthVerify.attribTexCoordPos,2,GL_FLOAT,GL_FALSE,0,rectTexCoord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glDrawArrays</a:t>
            </a:r>
            <a:r>
              <a:rPr lang="en-US" sz="1200" dirty="0" smtClean="0">
                <a:latin typeface="Lucida Console" panose="020B0609040504020204" pitchFamily="49" charset="0"/>
              </a:rPr>
              <a:t>(GL_TRIANGLE_FAN,0,4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depthVerify.attribVertexPos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glDisableVertexAttribArray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depthVerify.attribTexCoordPos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6565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the beginning of Draw() function, call </a:t>
            </a:r>
            <a:r>
              <a:rPr lang="en-US" dirty="0" err="1" smtClean="0"/>
              <a:t>RenderShadowBuffer</a:t>
            </a:r>
            <a:r>
              <a:rPr lang="en-US" dirty="0" smtClean="0"/>
              <a:t>().</a:t>
            </a:r>
          </a:p>
          <a:p>
            <a:r>
              <a:rPr lang="en-US" dirty="0" smtClean="0"/>
              <a:t>Before </a:t>
            </a:r>
            <a:r>
              <a:rPr lang="en-US" dirty="0" err="1" smtClean="0"/>
              <a:t>FsSwapBuffers</a:t>
            </a:r>
            <a:r>
              <a:rPr lang="en-US" dirty="0" smtClean="0"/>
              <a:t>(), call </a:t>
            </a:r>
            <a:r>
              <a:rPr lang="en-US" dirty="0" err="1" smtClean="0"/>
              <a:t>VerifyShaowMap</a:t>
            </a:r>
            <a:r>
              <a:rPr lang="en-US" dirty="0" smtClean="0"/>
              <a:t>()</a:t>
            </a:r>
          </a:p>
          <a:p>
            <a:endParaRPr lang="en-US" dirty="0"/>
          </a:p>
          <a:p>
            <a:r>
              <a:rPr lang="en-US" dirty="0" smtClean="0"/>
              <a:t>Make sure the distance map makes sense.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802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Finding the light-source to obstacle distance.</a:t>
            </a:r>
          </a:p>
          <a:p>
            <a:r>
              <a:rPr lang="en-US" dirty="0" smtClean="0"/>
              <a:t>For each pixel, need to find the screen coordinate (which is same as the texture coordinate) in the light’s point of view.</a:t>
            </a:r>
          </a:p>
          <a:p>
            <a:r>
              <a:rPr lang="en-US" dirty="0" smtClean="0"/>
              <a:t>The transformation for the light’s point of view:</a:t>
            </a:r>
          </a:p>
          <a:p>
            <a:pPr marL="457200" lvl="1" indent="0">
              <a:buNone/>
            </a:pPr>
            <a:r>
              <a:rPr lang="en-US" dirty="0" smtClean="0"/>
              <a:t>q=P</a:t>
            </a:r>
            <a:r>
              <a:rPr lang="en-US" baseline="-25000" dirty="0" smtClean="0"/>
              <a:t>L</a:t>
            </a:r>
            <a:r>
              <a:rPr lang="en-US" dirty="0" smtClean="0"/>
              <a:t>*V</a:t>
            </a:r>
            <a:r>
              <a:rPr lang="en-US" baseline="-25000" dirty="0" smtClean="0"/>
              <a:t>L</a:t>
            </a:r>
            <a:r>
              <a:rPr lang="en-US" dirty="0" smtClean="0"/>
              <a:t>*M*p</a:t>
            </a:r>
          </a:p>
          <a:p>
            <a:pPr marL="457200" lvl="1" indent="0">
              <a:buNone/>
            </a:pPr>
            <a:r>
              <a:rPr lang="en-US" dirty="0" smtClean="0"/>
              <a:t>where </a:t>
            </a:r>
            <a:r>
              <a:rPr lang="en-US" dirty="0"/>
              <a:t>P</a:t>
            </a:r>
            <a:r>
              <a:rPr lang="en-US" baseline="-25000" dirty="0"/>
              <a:t>L</a:t>
            </a:r>
            <a:r>
              <a:rPr lang="en-US" dirty="0" smtClean="0"/>
              <a:t>, </a:t>
            </a:r>
            <a:r>
              <a:rPr lang="en-US" dirty="0"/>
              <a:t>V</a:t>
            </a:r>
            <a:r>
              <a:rPr lang="en-US" baseline="-25000" dirty="0"/>
              <a:t>L</a:t>
            </a:r>
            <a:r>
              <a:rPr lang="en-US" dirty="0" smtClean="0"/>
              <a:t>, and M are the projection matrix, view matrix, and modeling matrix (optional) used for rendering the distance map, respectively.</a:t>
            </a:r>
            <a:endParaRPr lang="en-US" dirty="0"/>
          </a:p>
          <a:p>
            <a:r>
              <a:rPr lang="en-US" dirty="0" smtClean="0"/>
              <a:t>The transformation for rendering the actual scene:</a:t>
            </a:r>
          </a:p>
          <a:p>
            <a:pPr marL="457200" lvl="1" indent="0">
              <a:buNone/>
            </a:pPr>
            <a:r>
              <a:rPr lang="en-US" dirty="0" smtClean="0"/>
              <a:t>p'=P*V*M*p</a:t>
            </a:r>
          </a:p>
          <a:p>
            <a:pPr marL="457200" lvl="1" indent="0">
              <a:buNone/>
            </a:pPr>
            <a:r>
              <a:rPr lang="en-US" dirty="0" smtClean="0"/>
              <a:t>where P, V, and M are the projection matrix, view matrix, and modeling matrix (optional).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0446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3D renderer (like </a:t>
            </a:r>
            <a:r>
              <a:rPr lang="en-US" dirty="0" err="1" smtClean="0"/>
              <a:t>Phong</a:t>
            </a:r>
            <a:r>
              <a:rPr lang="en-US" dirty="0" smtClean="0"/>
              <a:t>-shading renderer) knows P (projection matrix), and V*M (model-view matrix).</a:t>
            </a:r>
          </a:p>
          <a:p>
            <a:r>
              <a:rPr lang="en-US" dirty="0" smtClean="0"/>
              <a:t>To find q in the 3D renderer,</a:t>
            </a:r>
          </a:p>
          <a:p>
            <a:pPr marL="457200" lvl="1" indent="0">
              <a:buNone/>
            </a:pPr>
            <a:r>
              <a:rPr lang="en-US" dirty="0" smtClean="0"/>
              <a:t>q=P</a:t>
            </a:r>
            <a:r>
              <a:rPr lang="en-US" baseline="-25000" dirty="0" smtClean="0"/>
              <a:t>L</a:t>
            </a:r>
            <a:r>
              <a:rPr lang="en-US" dirty="0" smtClean="0"/>
              <a:t>*V</a:t>
            </a:r>
            <a:r>
              <a:rPr lang="en-US" baseline="-25000" dirty="0" smtClean="0"/>
              <a:t>L</a:t>
            </a:r>
            <a:r>
              <a:rPr lang="en-US" dirty="0" smtClean="0"/>
              <a:t>*V</a:t>
            </a:r>
            <a:r>
              <a:rPr lang="en-US" baseline="30000" dirty="0" smtClean="0"/>
              <a:t>-1</a:t>
            </a:r>
            <a:r>
              <a:rPr lang="en-US" dirty="0" smtClean="0"/>
              <a:t>*V*M*p</a:t>
            </a:r>
            <a:endParaRPr lang="en-US" dirty="0"/>
          </a:p>
          <a:p>
            <a:r>
              <a:rPr lang="en-US" dirty="0" smtClean="0"/>
              <a:t>Therefore, T</a:t>
            </a:r>
            <a:r>
              <a:rPr lang="en-US" baseline="-25000" dirty="0" smtClean="0"/>
              <a:t>L</a:t>
            </a:r>
            <a:r>
              <a:rPr lang="en-US" dirty="0" smtClean="0"/>
              <a:t>=P</a:t>
            </a:r>
            <a:r>
              <a:rPr lang="en-US" baseline="-25000" dirty="0" smtClean="0"/>
              <a:t>L</a:t>
            </a:r>
            <a:r>
              <a:rPr lang="en-US" dirty="0" smtClean="0"/>
              <a:t>*V</a:t>
            </a:r>
            <a:r>
              <a:rPr lang="en-US" baseline="-25000" dirty="0" smtClean="0"/>
              <a:t>L</a:t>
            </a:r>
            <a:r>
              <a:rPr lang="en-US" dirty="0" smtClean="0"/>
              <a:t>*V</a:t>
            </a:r>
            <a:r>
              <a:rPr lang="en-US" baseline="30000" dirty="0" smtClean="0"/>
              <a:t>-1 </a:t>
            </a:r>
            <a:r>
              <a:rPr lang="en-US" dirty="0" smtClean="0"/>
              <a:t>must be given as an additional uniform.  (Shadow-map transformation)</a:t>
            </a:r>
          </a:p>
          <a:p>
            <a:r>
              <a:rPr lang="en-US" dirty="0" smtClean="0"/>
              <a:t>Also additional varying q (position in the light-coordinate) is needed.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730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609600"/>
          </a:xfrm>
        </p:spPr>
        <p:txBody>
          <a:bodyPr/>
          <a:lstStyle/>
          <a:p>
            <a:r>
              <a:rPr lang="en-US" dirty="0" smtClean="0"/>
              <a:t>Changes in the </a:t>
            </a:r>
            <a:r>
              <a:rPr lang="en-US" dirty="0" err="1" smtClean="0"/>
              <a:t>Phong</a:t>
            </a:r>
            <a:r>
              <a:rPr lang="en-US" dirty="0" smtClean="0"/>
              <a:t>-shading vertex </a:t>
            </a:r>
            <a:r>
              <a:rPr lang="en-US" dirty="0" err="1" smtClean="0"/>
              <a:t>shader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643152"/>
            <a:ext cx="567014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attribute vec3 vertex;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vec3 normal;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attribute vec4 color;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latin typeface="Lucida Console" panose="020B0609040504020204" pitchFamily="49" charset="0"/>
              </a:rPr>
              <a:t>projection,modelView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vec3 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ambient;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uniform mat4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shadowMapTfm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normalOut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viewDirOut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shadowMapCoord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void 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vec4 </a:t>
            </a:r>
            <a:r>
              <a:rPr lang="en-US" sz="1200" dirty="0" err="1">
                <a:latin typeface="Lucida Console" panose="020B0609040504020204" pitchFamily="49" charset="0"/>
              </a:rPr>
              <a:t>posInView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*vec4(vertex,1.0);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viewDirOut</a:t>
            </a:r>
            <a:r>
              <a:rPr lang="en-US" sz="1200" dirty="0">
                <a:latin typeface="Lucida Console" panose="020B0609040504020204" pitchFamily="49" charset="0"/>
              </a:rPr>
              <a:t>=-normalize(</a:t>
            </a:r>
            <a:r>
              <a:rPr lang="en-US" sz="1200" dirty="0" err="1">
                <a:latin typeface="Lucida Console" panose="020B0609040504020204" pitchFamily="49" charset="0"/>
              </a:rPr>
              <a:t>posInView.xyz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normalOut</a:t>
            </a:r>
            <a:r>
              <a:rPr lang="en-US" sz="1200" dirty="0" smtClean="0">
                <a:latin typeface="Lucida Console" panose="020B0609040504020204" pitchFamily="49" charset="0"/>
              </a:rPr>
              <a:t>=normalize</a:t>
            </a:r>
            <a:r>
              <a:rPr lang="en-US" sz="1200" dirty="0">
                <a:latin typeface="Lucida Console" panose="020B0609040504020204" pitchFamily="49" charset="0"/>
              </a:rPr>
              <a:t>((</a:t>
            </a:r>
            <a:r>
              <a:rPr lang="en-US" sz="1200" dirty="0" err="1">
                <a:latin typeface="Lucida Console" panose="020B0609040504020204" pitchFamily="49" charset="0"/>
              </a:rPr>
              <a:t>modelView</a:t>
            </a:r>
            <a:r>
              <a:rPr lang="en-US" sz="1200" dirty="0">
                <a:latin typeface="Lucida Console" panose="020B0609040504020204" pitchFamily="49" charset="0"/>
              </a:rPr>
              <a:t>*vec4(normal,0.0)).xyz);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colorOut</a:t>
            </a:r>
            <a:r>
              <a:rPr lang="en-US" sz="1200" dirty="0" smtClean="0">
                <a:latin typeface="Lucida Console" panose="020B0609040504020204" pitchFamily="49" charset="0"/>
              </a:rPr>
              <a:t>=color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gl_Position</a:t>
            </a:r>
            <a:r>
              <a:rPr lang="en-US" sz="1200" dirty="0" smtClean="0">
                <a:latin typeface="Lucida Console" panose="020B0609040504020204" pitchFamily="49" charset="0"/>
              </a:rPr>
              <a:t>=projection*</a:t>
            </a:r>
            <a:r>
              <a:rPr lang="en-US" sz="1200" dirty="0" err="1" smtClean="0"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 smtClean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shadowMapCoord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shadowMapTfm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modelView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*vec4(vertex,1.0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657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33400"/>
          </a:xfrm>
        </p:spPr>
        <p:txBody>
          <a:bodyPr/>
          <a:lstStyle/>
          <a:p>
            <a:r>
              <a:rPr lang="en-US" dirty="0" smtClean="0"/>
              <a:t>Changes in the Fragment </a:t>
            </a:r>
            <a:r>
              <a:rPr lang="en-US" dirty="0" err="1" smtClean="0"/>
              <a:t>shader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828800"/>
            <a:ext cx="52982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latin typeface="Lucida Console" panose="020B0609040504020204" pitchFamily="49" charset="0"/>
              </a:rPr>
              <a:t>colorOut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normalOut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varying vec3 </a:t>
            </a:r>
            <a:r>
              <a:rPr lang="en-US" sz="1200" dirty="0" err="1">
                <a:latin typeface="Lucida Console" panose="020B0609040504020204" pitchFamily="49" charset="0"/>
              </a:rPr>
              <a:t>viewDirOut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vec3 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ambient;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uniform float 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uniform sampler2D </a:t>
            </a:r>
            <a:r>
              <a:rPr lang="en-US" sz="1200" dirty="0" err="1">
                <a:latin typeface="Lucida Console" panose="020B0609040504020204" pitchFamily="49" charset="0"/>
              </a:rPr>
              <a:t>shadowMapTexture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varying vec4 </a:t>
            </a:r>
            <a:r>
              <a:rPr lang="en-US" sz="1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shadowMapCoord</a:t>
            </a:r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vec4 </a:t>
            </a:r>
            <a:r>
              <a:rPr lang="en-US" sz="1200" dirty="0" err="1">
                <a:latin typeface="Lucida Console" panose="020B0609040504020204" pitchFamily="49" charset="0"/>
              </a:rPr>
              <a:t>RainbowColor</a:t>
            </a:r>
            <a:r>
              <a:rPr lang="en-US" sz="1200" dirty="0">
                <a:latin typeface="Lucida Console" panose="020B0609040504020204" pitchFamily="49" charset="0"/>
              </a:rPr>
              <a:t>(float t)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(Copied from the </a:t>
            </a:r>
            <a:r>
              <a:rPr lang="en-US" sz="1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depth_verify_fragment_shader.glsl</a:t>
            </a:r>
            <a:r>
              <a:rPr lang="en-US" sz="1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endParaRPr lang="en-US" sz="12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}</a:t>
            </a:r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3520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3222" y="914400"/>
            <a:ext cx="7715574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void </a:t>
            </a:r>
            <a:r>
              <a:rPr lang="en-US" sz="1200" dirty="0">
                <a:latin typeface="Lucida Console" panose="020B0609040504020204" pitchFamily="49" charset="0"/>
              </a:rPr>
              <a:t>main()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>
                <a:latin typeface="Lucida Console" panose="020B0609040504020204" pitchFamily="49" charset="0"/>
              </a:rPr>
              <a:t>lit=normalize(</a:t>
            </a:r>
            <a:r>
              <a:rPr lang="en-US" sz="1200" dirty="0" err="1">
                <a:latin typeface="Lucida Console" panose="020B0609040504020204" pitchFamily="49" charset="0"/>
              </a:rPr>
              <a:t>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>
                <a:latin typeface="Lucida Console" panose="020B0609040504020204" pitchFamily="49" charset="0"/>
              </a:rPr>
              <a:t>diffuse=max(0.0,dot(</a:t>
            </a:r>
            <a:r>
              <a:rPr lang="en-US" sz="1200" dirty="0" err="1">
                <a:latin typeface="Lucida Console" panose="020B0609040504020204" pitchFamily="49" charset="0"/>
              </a:rPr>
              <a:t>normalOut,lit</a:t>
            </a:r>
            <a:r>
              <a:rPr lang="en-US" sz="1200" dirty="0">
                <a:latin typeface="Lucida Console" panose="020B0609040504020204" pitchFamily="49" charset="0"/>
              </a:rPr>
              <a:t>));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 err="1">
                <a:latin typeface="Lucida Console" panose="020B0609040504020204" pitchFamily="49" charset="0"/>
              </a:rPr>
              <a:t>midDir</a:t>
            </a:r>
            <a:r>
              <a:rPr lang="en-US" sz="1200" dirty="0">
                <a:latin typeface="Lucida Console" panose="020B0609040504020204" pitchFamily="49" charset="0"/>
              </a:rPr>
              <a:t>=normalize(</a:t>
            </a:r>
            <a:r>
              <a:rPr lang="en-US" sz="1200" dirty="0" err="1">
                <a:latin typeface="Lucida Console" panose="020B0609040504020204" pitchFamily="49" charset="0"/>
              </a:rPr>
              <a:t>viewDirOut+lightDir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float </a:t>
            </a:r>
            <a:r>
              <a:rPr lang="en-US" sz="1200" dirty="0">
                <a:latin typeface="Lucida Console" panose="020B0609040504020204" pitchFamily="49" charset="0"/>
              </a:rPr>
              <a:t>specular=</a:t>
            </a:r>
            <a:r>
              <a:rPr lang="en-US" sz="1200" dirty="0" err="1">
                <a:latin typeface="Lucida Console" panose="020B0609040504020204" pitchFamily="49" charset="0"/>
              </a:rPr>
              <a:t>specularIntensity</a:t>
            </a:r>
            <a:r>
              <a:rPr lang="en-US" sz="1200" dirty="0">
                <a:latin typeface="Lucida Console" panose="020B0609040504020204" pitchFamily="49" charset="0"/>
              </a:rPr>
              <a:t>*pow(dot(</a:t>
            </a:r>
            <a:r>
              <a:rPr lang="en-US" sz="1200" dirty="0" err="1">
                <a:latin typeface="Lucida Console" panose="020B0609040504020204" pitchFamily="49" charset="0"/>
              </a:rPr>
              <a:t>midDir,normalOut</a:t>
            </a:r>
            <a:r>
              <a:rPr lang="en-US" sz="1200" dirty="0">
                <a:latin typeface="Lucida Console" panose="020B0609040504020204" pitchFamily="49" charset="0"/>
              </a:rPr>
              <a:t>),</a:t>
            </a:r>
            <a:r>
              <a:rPr lang="en-US" sz="1200" dirty="0" err="1">
                <a:latin typeface="Lucida Console" panose="020B0609040504020204" pitchFamily="49" charset="0"/>
              </a:rPr>
              <a:t>specularExponent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 err="1">
                <a:latin typeface="Lucida Console" panose="020B0609040504020204" pitchFamily="49" charset="0"/>
              </a:rPr>
              <a:t>shadowCoordTfm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shadowMapCoord.xyz</a:t>
            </a:r>
            <a:r>
              <a:rPr lang="en-US" sz="1200" dirty="0">
                <a:latin typeface="Lucida Console" panose="020B0609040504020204" pitchFamily="49" charset="0"/>
              </a:rPr>
              <a:t>/</a:t>
            </a:r>
            <a:r>
              <a:rPr lang="en-US" sz="1200" dirty="0" err="1">
                <a:latin typeface="Lucida Console" panose="020B0609040504020204" pitchFamily="49" charset="0"/>
              </a:rPr>
              <a:t>shadowMapCoord.w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shadowCoordTfm</a:t>
            </a:r>
            <a:r>
              <a:rPr lang="en-US" sz="1200" dirty="0">
                <a:latin typeface="Lucida Console" panose="020B0609040504020204" pitchFamily="49" charset="0"/>
              </a:rPr>
              <a:t>=(shadowCoordTfm+vec3(1,1,1))/2.0;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if(0.0&lt;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shadowCoordTfm.x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&amp;&amp; </a:t>
            </a:r>
            <a:r>
              <a:rPr lang="en-US" sz="1200" dirty="0" err="1">
                <a:latin typeface="Lucida Console" panose="020B0609040504020204" pitchFamily="49" charset="0"/>
              </a:rPr>
              <a:t>shadowCoordTfm.x</a:t>
            </a:r>
            <a:r>
              <a:rPr lang="en-US" sz="1200" dirty="0">
                <a:latin typeface="Lucida Console" panose="020B0609040504020204" pitchFamily="49" charset="0"/>
              </a:rPr>
              <a:t>&lt;1.0 &amp;&amp;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</a:t>
            </a:r>
            <a:r>
              <a:rPr lang="en-US" sz="1200" dirty="0">
                <a:latin typeface="Lucida Console" panose="020B0609040504020204" pitchFamily="49" charset="0"/>
              </a:rPr>
              <a:t>0.0&lt;</a:t>
            </a:r>
            <a:r>
              <a:rPr lang="en-US" sz="1200" dirty="0" err="1">
                <a:latin typeface="Lucida Console" panose="020B0609040504020204" pitchFamily="49" charset="0"/>
              </a:rPr>
              <a:t>shadowCoordTfm.y</a:t>
            </a:r>
            <a:r>
              <a:rPr lang="en-US" sz="1200" dirty="0">
                <a:latin typeface="Lucida Console" panose="020B0609040504020204" pitchFamily="49" charset="0"/>
              </a:rPr>
              <a:t> &amp;&amp; </a:t>
            </a:r>
            <a:r>
              <a:rPr lang="en-US" sz="1200" dirty="0" err="1">
                <a:latin typeface="Lucida Console" panose="020B0609040504020204" pitchFamily="49" charset="0"/>
              </a:rPr>
              <a:t>shadowCoordTfm.y</a:t>
            </a:r>
            <a:r>
              <a:rPr lang="en-US" sz="1200" dirty="0">
                <a:latin typeface="Lucida Console" panose="020B0609040504020204" pitchFamily="49" charset="0"/>
              </a:rPr>
              <a:t>&lt;1.0)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float </a:t>
            </a:r>
            <a:r>
              <a:rPr lang="en-US" sz="1200" dirty="0">
                <a:latin typeface="Lucida Console" panose="020B0609040504020204" pitchFamily="49" charset="0"/>
              </a:rPr>
              <a:t>depth;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depth=texture2D(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shadowMapTexture,shadowCoordTfm.xy</a:t>
            </a:r>
            <a:r>
              <a:rPr lang="en-US" sz="1200" dirty="0">
                <a:latin typeface="Lucida Console" panose="020B0609040504020204" pitchFamily="49" charset="0"/>
              </a:rPr>
              <a:t>).r;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</a:t>
            </a:r>
            <a:r>
              <a:rPr lang="en-US" sz="1200" dirty="0" err="1" smtClean="0">
                <a:latin typeface="Lucida Console" panose="020B0609040504020204" pitchFamily="49" charset="0"/>
              </a:rPr>
              <a:t>RainbowColor</a:t>
            </a:r>
            <a:r>
              <a:rPr lang="en-US" sz="1200" dirty="0" smtClean="0">
                <a:latin typeface="Lucida Console" panose="020B0609040504020204" pitchFamily="49" charset="0"/>
              </a:rPr>
              <a:t>(depth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else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gl_FragColor</a:t>
            </a:r>
            <a:r>
              <a:rPr lang="en-US" sz="1200" dirty="0" smtClean="0">
                <a:latin typeface="Lucida Console" panose="020B0609040504020204" pitchFamily="49" charset="0"/>
              </a:rPr>
              <a:t>=vec4(1,0,1,1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//</a:t>
            </a:r>
            <a:r>
              <a:rPr lang="en-US" sz="1200" dirty="0" err="1">
                <a:latin typeface="Lucida Console" panose="020B0609040504020204" pitchFamily="49" charset="0"/>
              </a:rPr>
              <a:t>gl_FragColor</a:t>
            </a:r>
            <a:r>
              <a:rPr lang="en-US" sz="1200" dirty="0">
                <a:latin typeface="Lucida Console" panose="020B0609040504020204" pitchFamily="49" charset="0"/>
              </a:rPr>
              <a:t>=vec4(</a:t>
            </a:r>
            <a:r>
              <a:rPr lang="en-US" sz="1200" dirty="0" err="1">
                <a:latin typeface="Lucida Console" panose="020B0609040504020204" pitchFamily="49" charset="0"/>
              </a:rPr>
              <a:t>colorOut.rgb</a:t>
            </a:r>
            <a:r>
              <a:rPr lang="en-US" sz="1200" dirty="0">
                <a:latin typeface="Lucida Console" panose="020B0609040504020204" pitchFamily="49" charset="0"/>
              </a:rPr>
              <a:t>*(</a:t>
            </a:r>
            <a:r>
              <a:rPr lang="en-US" sz="1200" dirty="0" err="1">
                <a:latin typeface="Lucida Console" panose="020B0609040504020204" pitchFamily="49" charset="0"/>
              </a:rPr>
              <a:t>ambient+diffuse</a:t>
            </a:r>
            <a:r>
              <a:rPr lang="en-US" sz="1200" dirty="0">
                <a:latin typeface="Lucida Console" panose="020B0609040504020204" pitchFamily="49" charset="0"/>
              </a:rPr>
              <a:t>),</a:t>
            </a:r>
            <a:r>
              <a:rPr lang="en-US" sz="1200" dirty="0" err="1">
                <a:latin typeface="Lucida Console" panose="020B0609040504020204" pitchFamily="49" charset="0"/>
              </a:rPr>
              <a:t>colorOut.a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//        +vec4(specular,specular,specular,0.0);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6248400" y="2819400"/>
            <a:ext cx="228600" cy="2209800"/>
          </a:xfrm>
          <a:prstGeom prst="righ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468533" y="3200400"/>
            <a:ext cx="281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Assigns a color depending on the distance from the light-source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5450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685800"/>
          </a:xfrm>
        </p:spPr>
        <p:txBody>
          <a:bodyPr/>
          <a:lstStyle/>
          <a:p>
            <a:r>
              <a:rPr lang="en-US" dirty="0" smtClean="0"/>
              <a:t>In Draw() function,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2133600"/>
            <a:ext cx="734367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glActiveTexture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glBindTexture</a:t>
            </a:r>
            <a:r>
              <a:rPr lang="en-US" sz="1200" dirty="0" smtClean="0">
                <a:latin typeface="Lucida Console" panose="020B0609040504020204" pitchFamily="49" charset="0"/>
              </a:rPr>
              <a:t>(GL_TEXTURE_2D,shadowMapBuf.shadowTexIdent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glUniform1f(phong3d.uniformShadowMapTexturePos,0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YsMatrix4x4 </a:t>
            </a:r>
            <a:r>
              <a:rPr lang="en-US" sz="1200" dirty="0" err="1">
                <a:latin typeface="Lucida Console" panose="020B0609040504020204" pitchFamily="49" charset="0"/>
              </a:rPr>
              <a:t>viewInv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drawEnv.GetViewMatrix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viewInv.Invert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YsMatrix4x4 </a:t>
            </a:r>
            <a:r>
              <a:rPr lang="en-US" sz="1200" dirty="0" err="1">
                <a:latin typeface="Lucida Console" panose="020B0609040504020204" pitchFamily="49" charset="0"/>
              </a:rPr>
              <a:t>shadowTfm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lightProjTfm</a:t>
            </a:r>
            <a:r>
              <a:rPr lang="en-US" sz="1200" dirty="0"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latin typeface="Lucida Console" panose="020B0609040504020204" pitchFamily="49" charset="0"/>
              </a:rPr>
              <a:t>lightViewTfm</a:t>
            </a:r>
            <a:r>
              <a:rPr lang="en-US" sz="1200" dirty="0"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latin typeface="Lucida Console" panose="020B0609040504020204" pitchFamily="49" charset="0"/>
              </a:rPr>
              <a:t>viewInv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GLfloat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shadowTfmf</a:t>
            </a:r>
            <a:r>
              <a:rPr lang="en-US" sz="1200" dirty="0">
                <a:latin typeface="Lucida Console" panose="020B0609040504020204" pitchFamily="49" charset="0"/>
              </a:rPr>
              <a:t>[16];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shadowTfm.GetOpenGlCompatibleMatrix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shadowTfmf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glUniformMatrix4fv(phong3d.uniformShadowMapTfmPos,1,GL_FALSE,shadowTfmf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0618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verify light-source to obstacle distances are correctly mapped.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9914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Shadow-mapping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Finally, the fragment </a:t>
            </a:r>
            <a:r>
              <a:rPr lang="en-US" dirty="0" err="1" smtClean="0"/>
              <a:t>shader</a:t>
            </a:r>
            <a:r>
              <a:rPr lang="en-US" dirty="0" smtClean="0"/>
              <a:t> is modified so that diffuse and specular are set to zero if the vertex to light-source distance is greater than light-source to first obstacle distance.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2895600"/>
            <a:ext cx="612860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Lucida Console" panose="020B0609040504020204" pitchFamily="49" charset="0"/>
              </a:rPr>
              <a:t>    vec3 </a:t>
            </a:r>
            <a:r>
              <a:rPr lang="en-US" sz="1200" dirty="0" err="1">
                <a:latin typeface="Lucida Console" panose="020B0609040504020204" pitchFamily="49" charset="0"/>
              </a:rPr>
              <a:t>shadowCoordTfm</a:t>
            </a:r>
            <a:r>
              <a:rPr lang="en-US" sz="1200" dirty="0">
                <a:latin typeface="Lucida Console" panose="020B0609040504020204" pitchFamily="49" charset="0"/>
              </a:rPr>
              <a:t>=</a:t>
            </a:r>
            <a:r>
              <a:rPr lang="en-US" sz="1200" dirty="0" err="1">
                <a:latin typeface="Lucida Console" panose="020B0609040504020204" pitchFamily="49" charset="0"/>
              </a:rPr>
              <a:t>shadowMapCoord.xyz</a:t>
            </a:r>
            <a:r>
              <a:rPr lang="en-US" sz="1200" dirty="0">
                <a:latin typeface="Lucida Console" panose="020B0609040504020204" pitchFamily="49" charset="0"/>
              </a:rPr>
              <a:t>/</a:t>
            </a:r>
            <a:r>
              <a:rPr lang="en-US" sz="1200" dirty="0" err="1">
                <a:latin typeface="Lucida Console" panose="020B0609040504020204" pitchFamily="49" charset="0"/>
              </a:rPr>
              <a:t>shadowMapCoord.w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shadowCoordTfm</a:t>
            </a:r>
            <a:r>
              <a:rPr lang="en-US" sz="1200" dirty="0">
                <a:latin typeface="Lucida Console" panose="020B0609040504020204" pitchFamily="49" charset="0"/>
              </a:rPr>
              <a:t>=(shadowCoordTfm+vec3(1,1,1))/2.0;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if(0.0&lt;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shadowCoordTfm.x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>
                <a:latin typeface="Lucida Console" panose="020B0609040504020204" pitchFamily="49" charset="0"/>
              </a:rPr>
              <a:t>&amp;&amp; </a:t>
            </a:r>
            <a:r>
              <a:rPr lang="en-US" sz="1200" dirty="0" err="1">
                <a:latin typeface="Lucida Console" panose="020B0609040504020204" pitchFamily="49" charset="0"/>
              </a:rPr>
              <a:t>shadowCoordTfm.x</a:t>
            </a:r>
            <a:r>
              <a:rPr lang="en-US" sz="1200" dirty="0">
                <a:latin typeface="Lucida Console" panose="020B0609040504020204" pitchFamily="49" charset="0"/>
              </a:rPr>
              <a:t>&lt;1.0 &amp;&amp;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</a:t>
            </a:r>
            <a:r>
              <a:rPr lang="en-US" sz="1200" dirty="0">
                <a:latin typeface="Lucida Console" panose="020B0609040504020204" pitchFamily="49" charset="0"/>
              </a:rPr>
              <a:t>0.0&lt;</a:t>
            </a:r>
            <a:r>
              <a:rPr lang="en-US" sz="1200" dirty="0" err="1">
                <a:latin typeface="Lucida Console" panose="020B0609040504020204" pitchFamily="49" charset="0"/>
              </a:rPr>
              <a:t>shadowCoordTfm.y</a:t>
            </a:r>
            <a:r>
              <a:rPr lang="en-US" sz="1200" dirty="0">
                <a:latin typeface="Lucida Console" panose="020B0609040504020204" pitchFamily="49" charset="0"/>
              </a:rPr>
              <a:t> &amp;&amp; </a:t>
            </a:r>
            <a:r>
              <a:rPr lang="en-US" sz="1200" dirty="0" err="1">
                <a:latin typeface="Lucida Console" panose="020B0609040504020204" pitchFamily="49" charset="0"/>
              </a:rPr>
              <a:t>shadowCoordTfm.y</a:t>
            </a:r>
            <a:r>
              <a:rPr lang="en-US" sz="1200" dirty="0">
                <a:latin typeface="Lucida Console" panose="020B0609040504020204" pitchFamily="49" charset="0"/>
              </a:rPr>
              <a:t>&lt;1.0)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float </a:t>
            </a:r>
            <a:r>
              <a:rPr lang="en-US" sz="1200" dirty="0">
                <a:latin typeface="Lucida Console" panose="020B0609040504020204" pitchFamily="49" charset="0"/>
              </a:rPr>
              <a:t>depth;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depth=texture2D(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shadowMapTexture,shadowCoordTfm.xy</a:t>
            </a:r>
            <a:r>
              <a:rPr lang="en-US" sz="1200" dirty="0">
                <a:latin typeface="Lucida Console" panose="020B0609040504020204" pitchFamily="49" charset="0"/>
              </a:rPr>
              <a:t>).r;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if(</a:t>
            </a:r>
            <a:r>
              <a:rPr lang="en-US" sz="1200" dirty="0" err="1" smtClean="0">
                <a:latin typeface="Lucida Console" panose="020B0609040504020204" pitchFamily="49" charset="0"/>
              </a:rPr>
              <a:t>shadowCoordTfm.z</a:t>
            </a:r>
            <a:r>
              <a:rPr lang="en-US" sz="1200" dirty="0" smtClean="0">
                <a:latin typeface="Lucida Console" panose="020B0609040504020204" pitchFamily="49" charset="0"/>
              </a:rPr>
              <a:t>&gt;depth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diffuse=0.0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specular=0.0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7571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Shadow-map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to do with the </a:t>
            </a:r>
            <a:r>
              <a:rPr lang="en-US" dirty="0" err="1" smtClean="0"/>
              <a:t>moire</a:t>
            </a:r>
            <a:r>
              <a:rPr lang="en-US" dirty="0" smtClean="0"/>
              <a:t> pattern?</a:t>
            </a:r>
          </a:p>
          <a:p>
            <a:r>
              <a:rPr lang="en-US" dirty="0" smtClean="0"/>
              <a:t>Coming from the numerical error.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27214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4694</TotalTime>
  <Words>4428</Words>
  <Application>Microsoft Office PowerPoint</Application>
  <PresentationFormat>On-screen Show (4:3)</PresentationFormat>
  <Paragraphs>1021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굴림</vt:lpstr>
      <vt:lpstr>Arial</vt:lpstr>
      <vt:lpstr>Calibri</vt:lpstr>
      <vt:lpstr>Lucida Console</vt:lpstr>
      <vt:lpstr>Default Design</vt:lpstr>
      <vt:lpstr>24-783 Lecture 26</vt:lpstr>
      <vt:lpstr>Announcement</vt:lpstr>
      <vt:lpstr>PowerPoint Presentation</vt:lpstr>
      <vt:lpstr>Point Sprite</vt:lpstr>
      <vt:lpstr>Point Sprite</vt:lpstr>
      <vt:lpstr>Point Sprite</vt:lpstr>
      <vt:lpstr>Point Sprite</vt:lpstr>
      <vt:lpstr>Point Sprite</vt:lpstr>
      <vt:lpstr>Point Sprite</vt:lpstr>
      <vt:lpstr>Point Sprite with Texture Atlas</vt:lpstr>
      <vt:lpstr>Point Sprite with Texture</vt:lpstr>
      <vt:lpstr>Point Sprite with Texture</vt:lpstr>
      <vt:lpstr>Point Sprite with Texture</vt:lpstr>
      <vt:lpstr>Point Sprite with Texture</vt:lpstr>
      <vt:lpstr>Point Sprite with Texture</vt:lpstr>
      <vt:lpstr>Point Sprite with Texture</vt:lpstr>
      <vt:lpstr>Transparency in 3D</vt:lpstr>
      <vt:lpstr>Transparency in 3D</vt:lpstr>
      <vt:lpstr>Transparency in 3D</vt:lpstr>
      <vt:lpstr>Drawing a cloud with particle method</vt:lpstr>
      <vt:lpstr>PowerPoint Presentation</vt:lpstr>
      <vt:lpstr>Drawing a cloud with particle method</vt:lpstr>
      <vt:lpstr>Drawing a cloud with particle method</vt:lpstr>
      <vt:lpstr>Drawing a cloud with particle method</vt:lpstr>
      <vt:lpstr>Drawing a cloud with particle method</vt:lpstr>
      <vt:lpstr>Drawing a cloud with particle method</vt:lpstr>
      <vt:lpstr>Drawing a cloud with particle method</vt:lpstr>
      <vt:lpstr>Drawing a cloud with particle method</vt:lpstr>
      <vt:lpstr>Drawing a cloud with particle method</vt:lpstr>
      <vt:lpstr>Drawing burning fire</vt:lpstr>
      <vt:lpstr>Drawing burning fire</vt:lpstr>
      <vt:lpstr>Drawing burning fire</vt:lpstr>
      <vt:lpstr>Drawing burning fire</vt:lpstr>
      <vt:lpstr>Drawing burning fire</vt:lpstr>
      <vt:lpstr>Drawing burning fire</vt:lpstr>
      <vt:lpstr>Drawing burning fire</vt:lpstr>
      <vt:lpstr>Draw burning fire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 method</vt:lpstr>
      <vt:lpstr>Shadow-mapping method</vt:lpstr>
      <vt:lpstr>Shadow-map method</vt:lpstr>
    </vt:vector>
  </TitlesOfParts>
  <Company>CMU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soji</dc:creator>
  <cp:lastModifiedBy>Soji Yamakawa</cp:lastModifiedBy>
  <cp:revision>721</cp:revision>
  <dcterms:created xsi:type="dcterms:W3CDTF">2009-08-19T14:18:47Z</dcterms:created>
  <dcterms:modified xsi:type="dcterms:W3CDTF">2017-04-26T19:33:37Z</dcterms:modified>
</cp:coreProperties>
</file>