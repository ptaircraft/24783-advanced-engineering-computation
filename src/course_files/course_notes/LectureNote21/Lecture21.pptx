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1"/>
  </p:notesMasterIdLst>
  <p:sldIdLst>
    <p:sldId id="283" r:id="rId2"/>
    <p:sldId id="721" r:id="rId3"/>
    <p:sldId id="264" r:id="rId4"/>
    <p:sldId id="722" r:id="rId5"/>
    <p:sldId id="672" r:id="rId6"/>
    <p:sldId id="709" r:id="rId7"/>
    <p:sldId id="710" r:id="rId8"/>
    <p:sldId id="711" r:id="rId9"/>
    <p:sldId id="712" r:id="rId10"/>
    <p:sldId id="713" r:id="rId11"/>
    <p:sldId id="714" r:id="rId12"/>
    <p:sldId id="715" r:id="rId13"/>
    <p:sldId id="716" r:id="rId14"/>
    <p:sldId id="717" r:id="rId15"/>
    <p:sldId id="718" r:id="rId16"/>
    <p:sldId id="719" r:id="rId17"/>
    <p:sldId id="720" r:id="rId18"/>
    <p:sldId id="723" r:id="rId19"/>
    <p:sldId id="724" r:id="rId20"/>
    <p:sldId id="725" r:id="rId21"/>
    <p:sldId id="764" r:id="rId22"/>
    <p:sldId id="726" r:id="rId23"/>
    <p:sldId id="727" r:id="rId24"/>
    <p:sldId id="728" r:id="rId25"/>
    <p:sldId id="729" r:id="rId26"/>
    <p:sldId id="730" r:id="rId27"/>
    <p:sldId id="731" r:id="rId28"/>
    <p:sldId id="732" r:id="rId29"/>
    <p:sldId id="733" r:id="rId30"/>
    <p:sldId id="734" r:id="rId31"/>
    <p:sldId id="735" r:id="rId32"/>
    <p:sldId id="736" r:id="rId33"/>
    <p:sldId id="737" r:id="rId34"/>
    <p:sldId id="738" r:id="rId35"/>
    <p:sldId id="739" r:id="rId36"/>
    <p:sldId id="740" r:id="rId37"/>
    <p:sldId id="741" r:id="rId38"/>
    <p:sldId id="742" r:id="rId39"/>
    <p:sldId id="743" r:id="rId40"/>
    <p:sldId id="744" r:id="rId41"/>
    <p:sldId id="745" r:id="rId42"/>
    <p:sldId id="746" r:id="rId43"/>
    <p:sldId id="747" r:id="rId44"/>
    <p:sldId id="748" r:id="rId45"/>
    <p:sldId id="749" r:id="rId46"/>
    <p:sldId id="750" r:id="rId47"/>
    <p:sldId id="751" r:id="rId48"/>
    <p:sldId id="752" r:id="rId49"/>
    <p:sldId id="753" r:id="rId50"/>
    <p:sldId id="754" r:id="rId51"/>
    <p:sldId id="755" r:id="rId52"/>
    <p:sldId id="756" r:id="rId53"/>
    <p:sldId id="757" r:id="rId54"/>
    <p:sldId id="758" r:id="rId55"/>
    <p:sldId id="759" r:id="rId56"/>
    <p:sldId id="760" r:id="rId57"/>
    <p:sldId id="761" r:id="rId58"/>
    <p:sldId id="762" r:id="rId59"/>
    <p:sldId id="763" r:id="rId6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657" autoAdjust="0"/>
    <p:restoredTop sz="94660"/>
  </p:normalViewPr>
  <p:slideViewPr>
    <p:cSldViewPr snapToGrid="0" showGuides="1">
      <p:cViewPr varScale="1">
        <p:scale>
          <a:sx n="84" d="100"/>
          <a:sy n="84" d="100"/>
        </p:scale>
        <p:origin x="1104"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BCB6D5-09E4-4610-88CA-DFB2CE3AAC59}" type="datetimeFigureOut">
              <a:rPr lang="en-US" smtClean="0"/>
              <a:t>4/5/2017</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4EA0FF-337F-4458-917A-769BA419EB7C}" type="slidenum">
              <a:rPr lang="en-US" smtClean="0"/>
              <a:t>‹#›</a:t>
            </a:fld>
            <a:endParaRPr lang="en-US"/>
          </a:p>
        </p:txBody>
      </p:sp>
    </p:spTree>
    <p:extLst>
      <p:ext uri="{BB962C8B-B14F-4D97-AF65-F5344CB8AC3E}">
        <p14:creationId xmlns:p14="http://schemas.microsoft.com/office/powerpoint/2010/main" val="34312923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58CFA322-6F3F-4DC0-87DD-C2243BD40E52}" type="slidenum">
              <a:rPr lang="en-US" altLang="ko-KR"/>
              <a:pPr>
                <a:defRPr/>
              </a:pPr>
              <a:t>‹#›</a:t>
            </a:fld>
            <a:endParaRPr lang="en-US" altLang="ko-KR"/>
          </a:p>
        </p:txBody>
      </p:sp>
    </p:spTree>
    <p:extLst>
      <p:ext uri="{BB962C8B-B14F-4D97-AF65-F5344CB8AC3E}">
        <p14:creationId xmlns:p14="http://schemas.microsoft.com/office/powerpoint/2010/main" val="11935798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5BB2500B-4EAB-4352-950A-83638A46CB1F}" type="slidenum">
              <a:rPr lang="en-US" altLang="ko-KR"/>
              <a:pPr>
                <a:defRPr/>
              </a:pPr>
              <a:t>‹#›</a:t>
            </a:fld>
            <a:endParaRPr lang="en-US" altLang="ko-KR"/>
          </a:p>
        </p:txBody>
      </p:sp>
    </p:spTree>
    <p:extLst>
      <p:ext uri="{BB962C8B-B14F-4D97-AF65-F5344CB8AC3E}">
        <p14:creationId xmlns:p14="http://schemas.microsoft.com/office/powerpoint/2010/main" val="494370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9A4AD067-94AF-4CC4-A3F4-94BC22933865}" type="slidenum">
              <a:rPr lang="en-US" altLang="ko-KR"/>
              <a:pPr>
                <a:defRPr/>
              </a:pPr>
              <a:t>‹#›</a:t>
            </a:fld>
            <a:endParaRPr lang="en-US" altLang="ko-KR"/>
          </a:p>
        </p:txBody>
      </p:sp>
    </p:spTree>
    <p:extLst>
      <p:ext uri="{BB962C8B-B14F-4D97-AF65-F5344CB8AC3E}">
        <p14:creationId xmlns:p14="http://schemas.microsoft.com/office/powerpoint/2010/main" val="3817544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066800"/>
            <a:ext cx="4038600" cy="50593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066800"/>
            <a:ext cx="4038600" cy="50593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p:cNvSpPr>
            <a:spLocks noGrp="1" noChangeArrowheads="1"/>
          </p:cNvSpPr>
          <p:nvPr>
            <p:ph type="sldNum" sz="quarter" idx="12"/>
          </p:nvPr>
        </p:nvSpPr>
        <p:spPr>
          <a:ln/>
        </p:spPr>
        <p:txBody>
          <a:bodyPr/>
          <a:lstStyle>
            <a:lvl1pPr>
              <a:defRPr/>
            </a:lvl1pPr>
          </a:lstStyle>
          <a:p>
            <a:pPr>
              <a:defRPr/>
            </a:pPr>
            <a:fld id="{AC5F1812-1DE0-4021-BADA-FFAFA5A10F0D}" type="slidenum">
              <a:rPr lang="en-US" altLang="ko-KR"/>
              <a:pPr>
                <a:defRPr/>
              </a:pPr>
              <a:t>‹#›</a:t>
            </a:fld>
            <a:endParaRPr lang="en-US" altLang="ko-KR"/>
          </a:p>
        </p:txBody>
      </p:sp>
    </p:spTree>
    <p:extLst>
      <p:ext uri="{BB962C8B-B14F-4D97-AF65-F5344CB8AC3E}">
        <p14:creationId xmlns:p14="http://schemas.microsoft.com/office/powerpoint/2010/main" val="1113088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9" name="Rectangle 6"/>
          <p:cNvSpPr>
            <a:spLocks noGrp="1" noChangeArrowheads="1"/>
          </p:cNvSpPr>
          <p:nvPr>
            <p:ph type="sldNum" sz="quarter" idx="12"/>
          </p:nvPr>
        </p:nvSpPr>
        <p:spPr>
          <a:ln/>
        </p:spPr>
        <p:txBody>
          <a:bodyPr/>
          <a:lstStyle>
            <a:lvl1pPr>
              <a:defRPr/>
            </a:lvl1pPr>
          </a:lstStyle>
          <a:p>
            <a:pPr>
              <a:defRPr/>
            </a:pPr>
            <a:fld id="{8C83109A-EB99-4320-890D-5E8814322824}" type="slidenum">
              <a:rPr lang="en-US" altLang="ko-KR"/>
              <a:pPr>
                <a:defRPr/>
              </a:pPr>
              <a:t>‹#›</a:t>
            </a:fld>
            <a:endParaRPr lang="en-US" altLang="ko-KR"/>
          </a:p>
        </p:txBody>
      </p:sp>
    </p:spTree>
    <p:extLst>
      <p:ext uri="{BB962C8B-B14F-4D97-AF65-F5344CB8AC3E}">
        <p14:creationId xmlns:p14="http://schemas.microsoft.com/office/powerpoint/2010/main" val="1344151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5" name="Rectangle 6"/>
          <p:cNvSpPr>
            <a:spLocks noGrp="1" noChangeArrowheads="1"/>
          </p:cNvSpPr>
          <p:nvPr>
            <p:ph type="sldNum" sz="quarter" idx="12"/>
          </p:nvPr>
        </p:nvSpPr>
        <p:spPr>
          <a:ln/>
        </p:spPr>
        <p:txBody>
          <a:bodyPr/>
          <a:lstStyle>
            <a:lvl1pPr>
              <a:defRPr/>
            </a:lvl1pPr>
          </a:lstStyle>
          <a:p>
            <a:pPr>
              <a:defRPr/>
            </a:pPr>
            <a:fld id="{6DC6F314-25DC-4377-AD01-A920945A2208}" type="slidenum">
              <a:rPr lang="en-US" altLang="ko-KR"/>
              <a:pPr>
                <a:defRPr/>
              </a:pPr>
              <a:t>‹#›</a:t>
            </a:fld>
            <a:endParaRPr lang="en-US" altLang="ko-KR"/>
          </a:p>
        </p:txBody>
      </p:sp>
    </p:spTree>
    <p:extLst>
      <p:ext uri="{BB962C8B-B14F-4D97-AF65-F5344CB8AC3E}">
        <p14:creationId xmlns:p14="http://schemas.microsoft.com/office/powerpoint/2010/main" val="3309913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4" name="Rectangle 6"/>
          <p:cNvSpPr>
            <a:spLocks noGrp="1" noChangeArrowheads="1"/>
          </p:cNvSpPr>
          <p:nvPr>
            <p:ph type="sldNum" sz="quarter" idx="12"/>
          </p:nvPr>
        </p:nvSpPr>
        <p:spPr>
          <a:ln/>
        </p:spPr>
        <p:txBody>
          <a:bodyPr/>
          <a:lstStyle>
            <a:lvl1pPr>
              <a:defRPr/>
            </a:lvl1pPr>
          </a:lstStyle>
          <a:p>
            <a:pPr>
              <a:defRPr/>
            </a:pPr>
            <a:fld id="{2C10ED3A-E24C-4B6A-90A2-C196FD3C6786}" type="slidenum">
              <a:rPr lang="en-US" altLang="ko-KR"/>
              <a:pPr>
                <a:defRPr/>
              </a:pPr>
              <a:t>‹#›</a:t>
            </a:fld>
            <a:endParaRPr lang="en-US" altLang="ko-KR"/>
          </a:p>
        </p:txBody>
      </p:sp>
    </p:spTree>
    <p:extLst>
      <p:ext uri="{BB962C8B-B14F-4D97-AF65-F5344CB8AC3E}">
        <p14:creationId xmlns:p14="http://schemas.microsoft.com/office/powerpoint/2010/main" val="3833296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p:cNvSpPr>
            <a:spLocks noGrp="1" noChangeArrowheads="1"/>
          </p:cNvSpPr>
          <p:nvPr>
            <p:ph type="sldNum" sz="quarter" idx="12"/>
          </p:nvPr>
        </p:nvSpPr>
        <p:spPr>
          <a:ln/>
        </p:spPr>
        <p:txBody>
          <a:bodyPr/>
          <a:lstStyle>
            <a:lvl1pPr>
              <a:defRPr/>
            </a:lvl1pPr>
          </a:lstStyle>
          <a:p>
            <a:pPr>
              <a:defRPr/>
            </a:pPr>
            <a:fld id="{2A6225BB-6760-4477-80E2-E9464DB153A4}" type="slidenum">
              <a:rPr lang="en-US" altLang="ko-KR"/>
              <a:pPr>
                <a:defRPr/>
              </a:pPr>
              <a:t>‹#›</a:t>
            </a:fld>
            <a:endParaRPr lang="en-US" altLang="ko-KR"/>
          </a:p>
        </p:txBody>
      </p:sp>
    </p:spTree>
    <p:extLst>
      <p:ext uri="{BB962C8B-B14F-4D97-AF65-F5344CB8AC3E}">
        <p14:creationId xmlns:p14="http://schemas.microsoft.com/office/powerpoint/2010/main" val="585166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p:cNvSpPr>
            <a:spLocks noGrp="1" noChangeArrowheads="1"/>
          </p:cNvSpPr>
          <p:nvPr>
            <p:ph type="sldNum" sz="quarter" idx="12"/>
          </p:nvPr>
        </p:nvSpPr>
        <p:spPr>
          <a:ln/>
        </p:spPr>
        <p:txBody>
          <a:bodyPr/>
          <a:lstStyle>
            <a:lvl1pPr>
              <a:defRPr/>
            </a:lvl1pPr>
          </a:lstStyle>
          <a:p>
            <a:pPr>
              <a:defRPr/>
            </a:pPr>
            <a:fld id="{2F79013F-5B2C-4E9D-9745-5981D3CFC251}" type="slidenum">
              <a:rPr lang="en-US" altLang="ko-KR"/>
              <a:pPr>
                <a:defRPr/>
              </a:pPr>
              <a:t>‹#›</a:t>
            </a:fld>
            <a:endParaRPr lang="en-US" altLang="ko-KR"/>
          </a:p>
        </p:txBody>
      </p:sp>
    </p:spTree>
    <p:extLst>
      <p:ext uri="{BB962C8B-B14F-4D97-AF65-F5344CB8AC3E}">
        <p14:creationId xmlns:p14="http://schemas.microsoft.com/office/powerpoint/2010/main" val="4230596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75F19005-ABF8-4206-A7D8-6B64D35F117C}" type="slidenum">
              <a:rPr lang="en-US" altLang="ko-KR"/>
              <a:pPr>
                <a:defRPr/>
              </a:pPr>
              <a:t>‹#›</a:t>
            </a:fld>
            <a:endParaRPr lang="en-US" altLang="ko-KR"/>
          </a:p>
        </p:txBody>
      </p:sp>
    </p:spTree>
    <p:extLst>
      <p:ext uri="{BB962C8B-B14F-4D97-AF65-F5344CB8AC3E}">
        <p14:creationId xmlns:p14="http://schemas.microsoft.com/office/powerpoint/2010/main" val="28149977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8911E539-E3A0-4ACA-8410-6BBB64C7316C}" type="slidenum">
              <a:rPr lang="en-US" altLang="ko-KR"/>
              <a:pPr>
                <a:defRPr/>
              </a:pPr>
              <a:t>‹#›</a:t>
            </a:fld>
            <a:endParaRPr lang="en-US" altLang="ko-KR"/>
          </a:p>
        </p:txBody>
      </p:sp>
    </p:spTree>
    <p:extLst>
      <p:ext uri="{BB962C8B-B14F-4D97-AF65-F5344CB8AC3E}">
        <p14:creationId xmlns:p14="http://schemas.microsoft.com/office/powerpoint/2010/main" val="24640559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066800"/>
            <a:ext cx="4038600" cy="50593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066800"/>
            <a:ext cx="4038600" cy="50593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p:cNvSpPr>
            <a:spLocks noGrp="1" noChangeArrowheads="1"/>
          </p:cNvSpPr>
          <p:nvPr>
            <p:ph type="sldNum" sz="quarter" idx="12"/>
          </p:nvPr>
        </p:nvSpPr>
        <p:spPr>
          <a:ln/>
        </p:spPr>
        <p:txBody>
          <a:bodyPr/>
          <a:lstStyle>
            <a:lvl1pPr>
              <a:defRPr/>
            </a:lvl1pPr>
          </a:lstStyle>
          <a:p>
            <a:pPr>
              <a:defRPr/>
            </a:pPr>
            <a:fld id="{FA2BEA70-0706-42DF-B69B-B92068D80B29}" type="slidenum">
              <a:rPr lang="en-US" altLang="ko-KR"/>
              <a:pPr>
                <a:defRPr/>
              </a:pPr>
              <a:t>‹#›</a:t>
            </a:fld>
            <a:endParaRPr lang="en-US" altLang="ko-KR"/>
          </a:p>
        </p:txBody>
      </p:sp>
    </p:spTree>
    <p:extLst>
      <p:ext uri="{BB962C8B-B14F-4D97-AF65-F5344CB8AC3E}">
        <p14:creationId xmlns:p14="http://schemas.microsoft.com/office/powerpoint/2010/main" val="3944805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ko-KR" smtClean="0"/>
              <a:t>Click to edit Master title style</a:t>
            </a:r>
          </a:p>
        </p:txBody>
      </p:sp>
      <p:sp>
        <p:nvSpPr>
          <p:cNvPr id="1027" name="Rectangle 3"/>
          <p:cNvSpPr>
            <a:spLocks noGrp="1" noChangeArrowheads="1"/>
          </p:cNvSpPr>
          <p:nvPr>
            <p:ph type="body" idx="1"/>
          </p:nvPr>
        </p:nvSpPr>
        <p:spPr bwMode="auto">
          <a:xfrm>
            <a:off x="457200" y="1066800"/>
            <a:ext cx="8229600" cy="505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ko-KR" smtClean="0"/>
              <a:t>Click to edit Master text styles</a:t>
            </a:r>
          </a:p>
          <a:p>
            <a:pPr lvl="1"/>
            <a:r>
              <a:rPr lang="en-US" altLang="ko-KR" smtClean="0"/>
              <a:t>Second level</a:t>
            </a:r>
          </a:p>
          <a:p>
            <a:pPr lvl="2"/>
            <a:r>
              <a:rPr lang="en-US" altLang="ko-KR" smtClean="0"/>
              <a:t>Third level</a:t>
            </a:r>
          </a:p>
          <a:p>
            <a:pPr lvl="3"/>
            <a:r>
              <a:rPr lang="en-US" altLang="ko-KR" smtClean="0"/>
              <a:t>Fourth level</a:t>
            </a:r>
          </a:p>
          <a:p>
            <a:pPr lvl="4"/>
            <a:r>
              <a:rPr lang="en-US" altLang="ko-KR" smtClean="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ea typeface="굴림" charset="-127"/>
              </a:defRPr>
            </a:lvl1pPr>
          </a:lstStyle>
          <a:p>
            <a:pPr>
              <a:defRPr/>
            </a:pPr>
            <a:endParaRPr lang="en-US" altLang="ko-K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ea typeface="굴림" charset="-127"/>
              </a:defRPr>
            </a:lvl1pPr>
          </a:lstStyle>
          <a:p>
            <a:pPr>
              <a:defRPr/>
            </a:pPr>
            <a:endParaRPr lang="en-US" altLang="ko-K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ea typeface="굴림" charset="-127"/>
              </a:defRPr>
            </a:lvl1pPr>
          </a:lstStyle>
          <a:p>
            <a:pPr>
              <a:defRPr/>
            </a:pPr>
            <a:fld id="{E37565C6-0CEA-42B8-A9C2-60D46C6627E9}" type="slidenum">
              <a:rPr lang="en-US" altLang="ko-KR"/>
              <a:pPr>
                <a:defRPr/>
              </a:pPr>
              <a:t>‹#›</a:t>
            </a:fld>
            <a:endParaRPr lang="en-US" altLang="ko-K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2000">
          <a:solidFill>
            <a:schemeClr val="tx2"/>
          </a:solidFill>
          <a:latin typeface="+mj-lt"/>
          <a:ea typeface="+mj-ea"/>
          <a:cs typeface="+mj-cs"/>
        </a:defRPr>
      </a:lvl1pPr>
      <a:lvl2pPr algn="ctr" rtl="0" eaLnBrk="0" fontAlgn="base" hangingPunct="0">
        <a:spcBef>
          <a:spcPct val="0"/>
        </a:spcBef>
        <a:spcAft>
          <a:spcPct val="0"/>
        </a:spcAft>
        <a:defRPr sz="2000">
          <a:solidFill>
            <a:schemeClr val="tx2"/>
          </a:solidFill>
          <a:latin typeface="Arial" charset="0"/>
        </a:defRPr>
      </a:lvl2pPr>
      <a:lvl3pPr algn="ctr" rtl="0" eaLnBrk="0" fontAlgn="base" hangingPunct="0">
        <a:spcBef>
          <a:spcPct val="0"/>
        </a:spcBef>
        <a:spcAft>
          <a:spcPct val="0"/>
        </a:spcAft>
        <a:defRPr sz="2000">
          <a:solidFill>
            <a:schemeClr val="tx2"/>
          </a:solidFill>
          <a:latin typeface="Arial" charset="0"/>
        </a:defRPr>
      </a:lvl3pPr>
      <a:lvl4pPr algn="ctr" rtl="0" eaLnBrk="0" fontAlgn="base" hangingPunct="0">
        <a:spcBef>
          <a:spcPct val="0"/>
        </a:spcBef>
        <a:spcAft>
          <a:spcPct val="0"/>
        </a:spcAft>
        <a:defRPr sz="2000">
          <a:solidFill>
            <a:schemeClr val="tx2"/>
          </a:solidFill>
          <a:latin typeface="Arial" charset="0"/>
        </a:defRPr>
      </a:lvl4pPr>
      <a:lvl5pPr algn="ctr" rtl="0" eaLnBrk="0" fontAlgn="base" hangingPunct="0">
        <a:spcBef>
          <a:spcPct val="0"/>
        </a:spcBef>
        <a:spcAft>
          <a:spcPct val="0"/>
        </a:spcAft>
        <a:defRPr sz="2000">
          <a:solidFill>
            <a:schemeClr val="tx2"/>
          </a:solidFill>
          <a:latin typeface="Arial" charset="0"/>
        </a:defRPr>
      </a:lvl5pPr>
      <a:lvl6pPr marL="457200" algn="ctr" rtl="0" fontAlgn="base">
        <a:spcBef>
          <a:spcPct val="0"/>
        </a:spcBef>
        <a:spcAft>
          <a:spcPct val="0"/>
        </a:spcAft>
        <a:defRPr sz="2000">
          <a:solidFill>
            <a:schemeClr val="tx2"/>
          </a:solidFill>
          <a:latin typeface="Arial" charset="0"/>
        </a:defRPr>
      </a:lvl6pPr>
      <a:lvl7pPr marL="914400" algn="ctr" rtl="0" fontAlgn="base">
        <a:spcBef>
          <a:spcPct val="0"/>
        </a:spcBef>
        <a:spcAft>
          <a:spcPct val="0"/>
        </a:spcAft>
        <a:defRPr sz="2000">
          <a:solidFill>
            <a:schemeClr val="tx2"/>
          </a:solidFill>
          <a:latin typeface="Arial" charset="0"/>
        </a:defRPr>
      </a:lvl7pPr>
      <a:lvl8pPr marL="1371600" algn="ctr" rtl="0" fontAlgn="base">
        <a:spcBef>
          <a:spcPct val="0"/>
        </a:spcBef>
        <a:spcAft>
          <a:spcPct val="0"/>
        </a:spcAft>
        <a:defRPr sz="2000">
          <a:solidFill>
            <a:schemeClr val="tx2"/>
          </a:solidFill>
          <a:latin typeface="Arial" charset="0"/>
        </a:defRPr>
      </a:lvl8pPr>
      <a:lvl9pPr marL="1828800" algn="ctr" rtl="0" fontAlgn="base">
        <a:spcBef>
          <a:spcPct val="0"/>
        </a:spcBef>
        <a:spcAft>
          <a:spcPct val="0"/>
        </a:spcAft>
        <a:defRPr sz="2000">
          <a:solidFill>
            <a:schemeClr val="tx2"/>
          </a:solidFill>
          <a:latin typeface="Arial"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defRPr>
      </a:lvl2pPr>
      <a:lvl3pPr marL="1143000" indent="-228600" algn="l" rtl="0" eaLnBrk="0" fontAlgn="base" hangingPunct="0">
        <a:spcBef>
          <a:spcPct val="20000"/>
        </a:spcBef>
        <a:spcAft>
          <a:spcPct val="0"/>
        </a:spcAft>
        <a:buChar char="•"/>
        <a:defRPr>
          <a:solidFill>
            <a:schemeClr val="tx1"/>
          </a:solidFill>
          <a:latin typeface="+mn-lt"/>
        </a:defRPr>
      </a:lvl3pPr>
      <a:lvl4pPr marL="1600200" indent="-228600" algn="l" rtl="0" eaLnBrk="0" fontAlgn="base" hangingPunct="0">
        <a:spcBef>
          <a:spcPct val="20000"/>
        </a:spcBef>
        <a:spcAft>
          <a:spcPct val="0"/>
        </a:spcAft>
        <a:buChar char="–"/>
        <a:defRPr sz="16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68521"/>
            <a:ext cx="7772400" cy="1470025"/>
          </a:xfrm>
        </p:spPr>
        <p:txBody>
          <a:bodyPr/>
          <a:lstStyle/>
          <a:p>
            <a:r>
              <a:rPr lang="en-US" dirty="0" smtClean="0"/>
              <a:t>24-783 Lecture 21</a:t>
            </a:r>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2266" y="2950030"/>
            <a:ext cx="4039468" cy="2688772"/>
          </a:xfrm>
          <a:prstGeom prst="rect">
            <a:avLst/>
          </a:prstGeom>
        </p:spPr>
      </p:pic>
    </p:spTree>
    <p:extLst>
      <p:ext uri="{BB962C8B-B14F-4D97-AF65-F5344CB8AC3E}">
        <p14:creationId xmlns:p14="http://schemas.microsoft.com/office/powerpoint/2010/main" val="360174335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Announcement</a:t>
            </a:r>
            <a:endParaRPr lang="en-US" dirty="0"/>
          </a:p>
        </p:txBody>
      </p:sp>
      <p:sp>
        <p:nvSpPr>
          <p:cNvPr id="3" name="Content Placeholder 2"/>
          <p:cNvSpPr>
            <a:spLocks noGrp="1"/>
          </p:cNvSpPr>
          <p:nvPr>
            <p:ph idx="1"/>
          </p:nvPr>
        </p:nvSpPr>
        <p:spPr/>
        <p:txBody>
          <a:bodyPr/>
          <a:lstStyle/>
          <a:p>
            <a:r>
              <a:rPr lang="en-US" dirty="0" smtClean="0"/>
              <a:t>No class on 4/19 (Wed</a:t>
            </a:r>
            <a:r>
              <a:rPr lang="en-US" dirty="0" smtClean="0"/>
              <a:t>)</a:t>
            </a:r>
          </a:p>
          <a:p>
            <a:endParaRPr lang="en-US" dirty="0"/>
          </a:p>
          <a:p>
            <a:r>
              <a:rPr lang="en-US" dirty="0" smtClean="0"/>
              <a:t>Project:  If your team picked non research paper option, please start user test as soon as possible.  (If the alpha version is not stable enough, please try to make it stable enough for user test as soon </a:t>
            </a:r>
            <a:r>
              <a:rPr lang="en-US" smtClean="0"/>
              <a:t>as possible.)</a:t>
            </a:r>
            <a:endParaRPr lang="en-US" dirty="0"/>
          </a:p>
        </p:txBody>
      </p:sp>
    </p:spTree>
    <p:extLst>
      <p:ext uri="{BB962C8B-B14F-4D97-AF65-F5344CB8AC3E}">
        <p14:creationId xmlns:p14="http://schemas.microsoft.com/office/powerpoint/2010/main" val="13671508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Mesh Simplification with Quadric Error Metric</a:t>
            </a:r>
          </a:p>
          <a:p>
            <a:pPr lvl="1"/>
            <a:r>
              <a:rPr lang="en-US" dirty="0" smtClean="0"/>
              <a:t>Edge-Collapsing</a:t>
            </a:r>
          </a:p>
          <a:p>
            <a:pPr lvl="1"/>
            <a:r>
              <a:rPr lang="en-US" dirty="0" smtClean="0"/>
              <a:t>Priority-Queue with Key Update</a:t>
            </a:r>
          </a:p>
          <a:p>
            <a:pPr lvl="1"/>
            <a:r>
              <a:rPr lang="en-US" dirty="0" smtClean="0"/>
              <a:t>Implementing with AVL-Tree and Hash Table</a:t>
            </a:r>
          </a:p>
          <a:p>
            <a:pPr lvl="1"/>
            <a:r>
              <a:rPr lang="en-US" dirty="0" smtClean="0"/>
              <a:t>Implementing Quadric-Error-Metric method</a:t>
            </a:r>
          </a:p>
          <a:p>
            <a:endParaRPr lang="en-US" dirty="0" smtClean="0"/>
          </a:p>
          <a:p>
            <a:r>
              <a:rPr lang="en-US" dirty="0" smtClean="0"/>
              <a:t>Installing Data Files (Resources) with CMake</a:t>
            </a:r>
          </a:p>
          <a:p>
            <a:endParaRPr lang="en-US" dirty="0"/>
          </a:p>
          <a:p>
            <a:r>
              <a:rPr lang="en-US" dirty="0" smtClean="0"/>
              <a:t>Intro to Programmable </a:t>
            </a:r>
            <a:r>
              <a:rPr lang="en-US" dirty="0" err="1" smtClean="0"/>
              <a:t>Shader</a:t>
            </a:r>
            <a:endParaRPr lang="en-US" dirty="0" smtClean="0"/>
          </a:p>
          <a:p>
            <a:r>
              <a:rPr lang="en-US" dirty="0" smtClean="0"/>
              <a:t>OpenGL </a:t>
            </a:r>
            <a:r>
              <a:rPr lang="en-US" dirty="0" err="1" smtClean="0"/>
              <a:t>Shader</a:t>
            </a:r>
            <a:r>
              <a:rPr lang="en-US" dirty="0" smtClean="0"/>
              <a:t> Language (GLSL)</a:t>
            </a:r>
            <a:endParaRPr lang="en-US" dirty="0"/>
          </a:p>
        </p:txBody>
      </p:sp>
    </p:spTree>
    <p:extLst>
      <p:ext uri="{BB962C8B-B14F-4D97-AF65-F5344CB8AC3E}">
        <p14:creationId xmlns:p14="http://schemas.microsoft.com/office/powerpoint/2010/main" val="170813161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My Homework</a:t>
            </a:r>
            <a:endParaRPr lang="en-US" dirty="0">
              <a:solidFill>
                <a:srgbClr val="FF0000"/>
              </a:solidFill>
            </a:endParaRPr>
          </a:p>
        </p:txBody>
      </p:sp>
      <p:sp>
        <p:nvSpPr>
          <p:cNvPr id="3" name="Content Placeholder 2"/>
          <p:cNvSpPr>
            <a:spLocks noGrp="1"/>
          </p:cNvSpPr>
          <p:nvPr>
            <p:ph idx="1"/>
          </p:nvPr>
        </p:nvSpPr>
        <p:spPr/>
        <p:txBody>
          <a:bodyPr/>
          <a:lstStyle/>
          <a:p>
            <a:r>
              <a:rPr lang="en-US" dirty="0" smtClean="0"/>
              <a:t>The compiler error was because Visual Studio 2015 is apparently not fully C++11 compliant.  C++11 allows you to delete an entry from </a:t>
            </a:r>
            <a:r>
              <a:rPr lang="en-US" dirty="0" err="1" smtClean="0"/>
              <a:t>std</a:t>
            </a:r>
            <a:r>
              <a:rPr lang="en-US" dirty="0" smtClean="0"/>
              <a:t>::</a:t>
            </a:r>
            <a:r>
              <a:rPr lang="en-US" dirty="0" err="1" smtClean="0"/>
              <a:t>unordered_map</a:t>
            </a:r>
            <a:r>
              <a:rPr lang="en-US" dirty="0" smtClean="0"/>
              <a:t> by specifying a key.  Pre-C++11 requires you to first find an iterator, then use the iterator to delete.</a:t>
            </a:r>
          </a:p>
          <a:p>
            <a:r>
              <a:rPr lang="en-US" dirty="0" smtClean="0"/>
              <a:t>Forgot one step.  All edges connected to vertex B must also be deleted before edge collapsing.</a:t>
            </a:r>
            <a:endParaRPr lang="en-US" dirty="0"/>
          </a:p>
        </p:txBody>
      </p:sp>
    </p:spTree>
    <p:extLst>
      <p:ext uri="{BB962C8B-B14F-4D97-AF65-F5344CB8AC3E}">
        <p14:creationId xmlns:p14="http://schemas.microsoft.com/office/powerpoint/2010/main" val="621579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Ready to implement </a:t>
            </a:r>
            <a:r>
              <a:rPr lang="en-US" dirty="0" err="1" smtClean="0"/>
              <a:t>QEMSimplifier</a:t>
            </a:r>
            <a:r>
              <a:rPr lang="en-US" dirty="0"/>
              <a:t> </a:t>
            </a:r>
            <a:r>
              <a:rPr lang="en-US" dirty="0" smtClean="0"/>
              <a:t>class.</a:t>
            </a:r>
            <a:endParaRPr lang="en-US" dirty="0"/>
          </a:p>
        </p:txBody>
      </p:sp>
      <p:sp>
        <p:nvSpPr>
          <p:cNvPr id="3" name="Content Placeholder 2"/>
          <p:cNvSpPr>
            <a:spLocks noGrp="1"/>
          </p:cNvSpPr>
          <p:nvPr>
            <p:ph idx="1"/>
          </p:nvPr>
        </p:nvSpPr>
        <p:spPr/>
        <p:txBody>
          <a:bodyPr/>
          <a:lstStyle/>
          <a:p>
            <a:r>
              <a:rPr lang="en-US" dirty="0" smtClean="0"/>
              <a:t>First set up a tree and a map.</a:t>
            </a:r>
          </a:p>
          <a:p>
            <a:r>
              <a:rPr lang="en-US" dirty="0" smtClean="0"/>
              <a:t>In each iteration:</a:t>
            </a:r>
          </a:p>
          <a:p>
            <a:pPr lvl="1"/>
            <a:r>
              <a:rPr lang="en-US" dirty="0" smtClean="0"/>
              <a:t>Take out edges connected to the vertex to be deleted.</a:t>
            </a:r>
          </a:p>
          <a:p>
            <a:pPr lvl="1"/>
            <a:r>
              <a:rPr lang="en-US" dirty="0" smtClean="0"/>
              <a:t>Collapse an edge</a:t>
            </a:r>
          </a:p>
          <a:p>
            <a:pPr lvl="1"/>
            <a:r>
              <a:rPr lang="en-US" dirty="0" smtClean="0"/>
              <a:t>Update edges connected to the surviving vertex.</a:t>
            </a:r>
          </a:p>
          <a:p>
            <a:pPr lvl="1"/>
            <a:r>
              <a:rPr lang="en-US" dirty="0" smtClean="0"/>
              <a:t>Update edges used by triangles incident to the surviving vertex, but not using the </a:t>
            </a:r>
            <a:r>
              <a:rPr lang="en-US" smtClean="0"/>
              <a:t>surviving vertex.</a:t>
            </a:r>
            <a:endParaRPr lang="en-US"/>
          </a:p>
        </p:txBody>
      </p:sp>
    </p:spTree>
    <p:extLst>
      <p:ext uri="{BB962C8B-B14F-4D97-AF65-F5344CB8AC3E}">
        <p14:creationId xmlns:p14="http://schemas.microsoft.com/office/powerpoint/2010/main" val="62985285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Installing Data Files (Resources) to where the Application Can See</a:t>
            </a:r>
            <a:endParaRPr lang="en-US" dirty="0"/>
          </a:p>
        </p:txBody>
      </p:sp>
      <p:sp>
        <p:nvSpPr>
          <p:cNvPr id="3" name="Content Placeholder 2"/>
          <p:cNvSpPr>
            <a:spLocks noGrp="1"/>
          </p:cNvSpPr>
          <p:nvPr>
            <p:ph idx="1"/>
          </p:nvPr>
        </p:nvSpPr>
        <p:spPr/>
        <p:txBody>
          <a:bodyPr/>
          <a:lstStyle/>
          <a:p>
            <a:r>
              <a:rPr lang="en-US" dirty="0" smtClean="0"/>
              <a:t>A practical application needs some resources.</a:t>
            </a:r>
          </a:p>
          <a:p>
            <a:r>
              <a:rPr lang="en-US" dirty="0" smtClean="0"/>
              <a:t>"Resource" can include CPU power, memory, disk space, and also </a:t>
            </a:r>
            <a:r>
              <a:rPr lang="en-US" u="sng" dirty="0" smtClean="0"/>
              <a:t>data files</a:t>
            </a:r>
            <a:r>
              <a:rPr lang="en-US" dirty="0" smtClean="0"/>
              <a:t>.</a:t>
            </a:r>
          </a:p>
          <a:p>
            <a:r>
              <a:rPr lang="en-US" dirty="0" smtClean="0"/>
              <a:t>Some data files must be copied to the location where the application can see.</a:t>
            </a:r>
            <a:endParaRPr lang="en-US" dirty="0"/>
          </a:p>
        </p:txBody>
      </p:sp>
    </p:spTree>
    <p:extLst>
      <p:ext uri="{BB962C8B-B14F-4D97-AF65-F5344CB8AC3E}">
        <p14:creationId xmlns:p14="http://schemas.microsoft.com/office/powerpoint/2010/main" val="16211271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File Location</a:t>
            </a:r>
            <a:endParaRPr lang="en-US" dirty="0"/>
          </a:p>
        </p:txBody>
      </p:sp>
      <p:sp>
        <p:nvSpPr>
          <p:cNvPr id="3" name="Content Placeholder 2"/>
          <p:cNvSpPr>
            <a:spLocks noGrp="1"/>
          </p:cNvSpPr>
          <p:nvPr>
            <p:ph idx="1"/>
          </p:nvPr>
        </p:nvSpPr>
        <p:spPr/>
        <p:txBody>
          <a:bodyPr/>
          <a:lstStyle/>
          <a:p>
            <a:r>
              <a:rPr lang="en-US" dirty="0" err="1" smtClean="0"/>
              <a:t>macOS</a:t>
            </a:r>
            <a:r>
              <a:rPr lang="en-US" dirty="0" smtClean="0"/>
              <a:t>, iOS:  "Contents/Resources" sub-directory in the bundle directory.</a:t>
            </a:r>
          </a:p>
          <a:p>
            <a:r>
              <a:rPr lang="en-US" dirty="0"/>
              <a:t>Universal Windows:  "Assets" sub-directory in the Appx package.</a:t>
            </a:r>
          </a:p>
          <a:p>
            <a:r>
              <a:rPr lang="en-US" dirty="0" smtClean="0"/>
              <a:t>Linux</a:t>
            </a:r>
            <a:r>
              <a:rPr lang="en-US" dirty="0"/>
              <a:t>:   No specific.  Typically a directory or a sub-directory of the executable</a:t>
            </a:r>
            <a:r>
              <a:rPr lang="en-US" dirty="0" smtClean="0"/>
              <a:t>.</a:t>
            </a:r>
          </a:p>
          <a:p>
            <a:r>
              <a:rPr lang="en-US" dirty="0" smtClean="0"/>
              <a:t>Win32</a:t>
            </a:r>
            <a:r>
              <a:rPr lang="en-US" dirty="0"/>
              <a:t>:  No specific.  Typically a directory or a sub-directory of the executable.</a:t>
            </a:r>
          </a:p>
          <a:p>
            <a:endParaRPr lang="en-US" dirty="0" smtClean="0"/>
          </a:p>
          <a:p>
            <a:r>
              <a:rPr lang="en-US" dirty="0" smtClean="0"/>
              <a:t>Everyone does differently.  One source of the platform-dependency.</a:t>
            </a:r>
            <a:endParaRPr lang="en-US" dirty="0"/>
          </a:p>
        </p:txBody>
      </p:sp>
    </p:spTree>
    <p:extLst>
      <p:ext uri="{BB962C8B-B14F-4D97-AF65-F5344CB8AC3E}">
        <p14:creationId xmlns:p14="http://schemas.microsoft.com/office/powerpoint/2010/main" val="1493236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Change Current Working Directory to the Resources Directory in your Program</a:t>
            </a:r>
            <a:endParaRPr lang="en-US" dirty="0"/>
          </a:p>
        </p:txBody>
      </p:sp>
      <p:sp>
        <p:nvSpPr>
          <p:cNvPr id="3" name="Content Placeholder 2"/>
          <p:cNvSpPr>
            <a:spLocks noGrp="1"/>
          </p:cNvSpPr>
          <p:nvPr>
            <p:ph idx="1"/>
          </p:nvPr>
        </p:nvSpPr>
        <p:spPr/>
        <p:txBody>
          <a:bodyPr/>
          <a:lstStyle/>
          <a:p>
            <a:r>
              <a:rPr lang="en-US" dirty="0" smtClean="0"/>
              <a:t>In </a:t>
            </a:r>
            <a:r>
              <a:rPr lang="en-US" dirty="0" err="1" smtClean="0"/>
              <a:t>MacOS</a:t>
            </a:r>
            <a:r>
              <a:rPr lang="en-US" dirty="0" smtClean="0"/>
              <a:t> and iOS (Do it in Objective-C):</a:t>
            </a:r>
          </a:p>
          <a:p>
            <a:endParaRPr lang="en-US" dirty="0"/>
          </a:p>
          <a:p>
            <a:endParaRPr lang="en-US" dirty="0" smtClean="0"/>
          </a:p>
          <a:p>
            <a:r>
              <a:rPr lang="en-US" dirty="0" smtClean="0"/>
              <a:t>In Universal Windows:</a:t>
            </a:r>
          </a:p>
          <a:p>
            <a:endParaRPr lang="en-US" dirty="0"/>
          </a:p>
          <a:p>
            <a:endParaRPr lang="en-US" dirty="0" smtClean="0"/>
          </a:p>
          <a:p>
            <a:r>
              <a:rPr lang="en-US" dirty="0" smtClean="0"/>
              <a:t>In Windows (to the directory .exe resides.):</a:t>
            </a:r>
            <a:endParaRPr lang="en-US" dirty="0"/>
          </a:p>
        </p:txBody>
      </p:sp>
      <p:sp>
        <p:nvSpPr>
          <p:cNvPr id="4" name="TextBox 3"/>
          <p:cNvSpPr txBox="1"/>
          <p:nvPr/>
        </p:nvSpPr>
        <p:spPr>
          <a:xfrm>
            <a:off x="984250" y="1560299"/>
            <a:ext cx="7632700" cy="938719"/>
          </a:xfrm>
          <a:prstGeom prst="rect">
            <a:avLst/>
          </a:prstGeom>
          <a:noFill/>
        </p:spPr>
        <p:txBody>
          <a:bodyPr wrap="square" rtlCol="0">
            <a:spAutoFit/>
          </a:bodyPr>
          <a:lstStyle/>
          <a:p>
            <a:r>
              <a:rPr lang="en-US" sz="1100" dirty="0" smtClean="0">
                <a:latin typeface="Consolas" panose="020B0609020204030204" pitchFamily="49" charset="0"/>
              </a:rPr>
              <a:t>    </a:t>
            </a:r>
            <a:r>
              <a:rPr lang="en-US" sz="1100" dirty="0" err="1" smtClean="0">
                <a:latin typeface="Consolas" panose="020B0609020204030204" pitchFamily="49" charset="0"/>
              </a:rPr>
              <a:t>NSString</a:t>
            </a:r>
            <a:r>
              <a:rPr lang="en-US" sz="1100" dirty="0" smtClean="0">
                <a:latin typeface="Consolas" panose="020B0609020204030204" pitchFamily="49" charset="0"/>
              </a:rPr>
              <a:t> </a:t>
            </a:r>
            <a:r>
              <a:rPr lang="en-US" sz="1100" dirty="0">
                <a:latin typeface="Consolas" panose="020B0609020204030204" pitchFamily="49" charset="0"/>
              </a:rPr>
              <a:t>*path;</a:t>
            </a:r>
          </a:p>
          <a:p>
            <a:r>
              <a:rPr lang="en-US" sz="1100" dirty="0" smtClean="0">
                <a:latin typeface="Consolas" panose="020B0609020204030204" pitchFamily="49" charset="0"/>
              </a:rPr>
              <a:t>    path</a:t>
            </a:r>
            <a:r>
              <a:rPr lang="en-US" sz="1100" dirty="0">
                <a:latin typeface="Consolas" panose="020B0609020204030204" pitchFamily="49" charset="0"/>
              </a:rPr>
              <a:t>=[[</a:t>
            </a:r>
            <a:r>
              <a:rPr lang="en-US" sz="1100" dirty="0" err="1">
                <a:latin typeface="Consolas" panose="020B0609020204030204" pitchFamily="49" charset="0"/>
              </a:rPr>
              <a:t>NSBundle</a:t>
            </a:r>
            <a:r>
              <a:rPr lang="en-US" sz="1100" dirty="0">
                <a:latin typeface="Consolas" panose="020B0609020204030204" pitchFamily="49" charset="0"/>
              </a:rPr>
              <a:t> </a:t>
            </a:r>
            <a:r>
              <a:rPr lang="en-US" sz="1100" dirty="0" err="1">
                <a:latin typeface="Consolas" panose="020B0609020204030204" pitchFamily="49" charset="0"/>
              </a:rPr>
              <a:t>mainBundle</a:t>
            </a:r>
            <a:r>
              <a:rPr lang="en-US" sz="1100" dirty="0">
                <a:latin typeface="Consolas" panose="020B0609020204030204" pitchFamily="49" charset="0"/>
              </a:rPr>
              <a:t>] </a:t>
            </a:r>
            <a:r>
              <a:rPr lang="en-US" sz="1100" dirty="0" err="1">
                <a:latin typeface="Consolas" panose="020B0609020204030204" pitchFamily="49" charset="0"/>
              </a:rPr>
              <a:t>resourcePath</a:t>
            </a:r>
            <a:r>
              <a:rPr lang="en-US" sz="1100" dirty="0" smtClean="0">
                <a:latin typeface="Consolas" panose="020B0609020204030204" pitchFamily="49" charset="0"/>
              </a:rPr>
              <a:t>];</a:t>
            </a:r>
            <a:endParaRPr lang="en-US" sz="1100" dirty="0">
              <a:latin typeface="Consolas" panose="020B0609020204030204" pitchFamily="49" charset="0"/>
            </a:endParaRPr>
          </a:p>
          <a:p>
            <a:r>
              <a:rPr lang="en-US" sz="1100" dirty="0" smtClean="0">
                <a:latin typeface="Consolas" panose="020B0609020204030204" pitchFamily="49" charset="0"/>
              </a:rPr>
              <a:t>    </a:t>
            </a:r>
            <a:r>
              <a:rPr lang="en-US" sz="1100" dirty="0" err="1" smtClean="0">
                <a:latin typeface="Consolas" panose="020B0609020204030204" pitchFamily="49" charset="0"/>
              </a:rPr>
              <a:t>printf</a:t>
            </a:r>
            <a:r>
              <a:rPr lang="en-US" sz="1100" dirty="0">
                <a:latin typeface="Consolas" panose="020B0609020204030204" pitchFamily="49" charset="0"/>
              </a:rPr>
              <a:t>("</a:t>
            </a:r>
            <a:r>
              <a:rPr lang="en-US" sz="1100" dirty="0" err="1">
                <a:latin typeface="Consolas" panose="020B0609020204030204" pitchFamily="49" charset="0"/>
              </a:rPr>
              <a:t>ResourcePath</a:t>
            </a:r>
            <a:r>
              <a:rPr lang="en-US" sz="1100" dirty="0">
                <a:latin typeface="Consolas" panose="020B0609020204030204" pitchFamily="49" charset="0"/>
              </a:rPr>
              <a:t>:%s\n",[path UTF8String]);</a:t>
            </a:r>
          </a:p>
          <a:p>
            <a:r>
              <a:rPr lang="en-US" sz="1100" dirty="0" smtClean="0">
                <a:latin typeface="Consolas" panose="020B0609020204030204" pitchFamily="49" charset="0"/>
              </a:rPr>
              <a:t>    [[</a:t>
            </a:r>
            <a:r>
              <a:rPr lang="en-US" sz="1100" dirty="0" err="1">
                <a:latin typeface="Consolas" panose="020B0609020204030204" pitchFamily="49" charset="0"/>
              </a:rPr>
              <a:t>NSFileManager</a:t>
            </a:r>
            <a:r>
              <a:rPr lang="en-US" sz="1100" dirty="0">
                <a:latin typeface="Consolas" panose="020B0609020204030204" pitchFamily="49" charset="0"/>
              </a:rPr>
              <a:t> </a:t>
            </a:r>
            <a:r>
              <a:rPr lang="en-US" sz="1100" dirty="0" err="1">
                <a:latin typeface="Consolas" panose="020B0609020204030204" pitchFamily="49" charset="0"/>
              </a:rPr>
              <a:t>defaultManager</a:t>
            </a:r>
            <a:r>
              <a:rPr lang="en-US" sz="1100" dirty="0">
                <a:latin typeface="Consolas" panose="020B0609020204030204" pitchFamily="49" charset="0"/>
              </a:rPr>
              <a:t>] </a:t>
            </a:r>
            <a:r>
              <a:rPr lang="en-US" sz="1100" dirty="0" err="1">
                <a:latin typeface="Consolas" panose="020B0609020204030204" pitchFamily="49" charset="0"/>
              </a:rPr>
              <a:t>changeCurrentDirectoryPath:path</a:t>
            </a:r>
            <a:r>
              <a:rPr lang="en-US" sz="1100" dirty="0">
                <a:latin typeface="Consolas" panose="020B0609020204030204" pitchFamily="49" charset="0"/>
              </a:rPr>
              <a:t>];</a:t>
            </a:r>
          </a:p>
          <a:p>
            <a:endParaRPr lang="en-US" sz="1100" dirty="0">
              <a:latin typeface="Consolas" panose="020B0609020204030204" pitchFamily="49" charset="0"/>
            </a:endParaRPr>
          </a:p>
        </p:txBody>
      </p:sp>
      <p:sp>
        <p:nvSpPr>
          <p:cNvPr id="5" name="TextBox 4"/>
          <p:cNvSpPr txBox="1"/>
          <p:nvPr/>
        </p:nvSpPr>
        <p:spPr>
          <a:xfrm>
            <a:off x="984250" y="2787650"/>
            <a:ext cx="4955203" cy="1107996"/>
          </a:xfrm>
          <a:prstGeom prst="rect">
            <a:avLst/>
          </a:prstGeom>
          <a:noFill/>
        </p:spPr>
        <p:txBody>
          <a:bodyPr wrap="none" rtlCol="0">
            <a:spAutoFit/>
          </a:bodyPr>
          <a:lstStyle/>
          <a:p>
            <a:r>
              <a:rPr lang="en-US" sz="1100" dirty="0" smtClean="0">
                <a:latin typeface="Consolas" panose="020B0609020204030204" pitchFamily="49" charset="0"/>
              </a:rPr>
              <a:t>    auto </a:t>
            </a:r>
            <a:r>
              <a:rPr lang="en-US" sz="1100" dirty="0">
                <a:latin typeface="Consolas" panose="020B0609020204030204" pitchFamily="49" charset="0"/>
              </a:rPr>
              <a:t>package=Windows::</a:t>
            </a:r>
            <a:r>
              <a:rPr lang="en-US" sz="1100" dirty="0" err="1">
                <a:latin typeface="Consolas" panose="020B0609020204030204" pitchFamily="49" charset="0"/>
              </a:rPr>
              <a:t>ApplicationModel</a:t>
            </a:r>
            <a:r>
              <a:rPr lang="en-US" sz="1100" dirty="0">
                <a:latin typeface="Consolas" panose="020B0609020204030204" pitchFamily="49" charset="0"/>
              </a:rPr>
              <a:t>::Package::Current;</a:t>
            </a:r>
          </a:p>
          <a:p>
            <a:r>
              <a:rPr lang="en-US" sz="1100" dirty="0" smtClean="0">
                <a:latin typeface="Consolas" panose="020B0609020204030204" pitchFamily="49" charset="0"/>
              </a:rPr>
              <a:t>    auto </a:t>
            </a:r>
            <a:r>
              <a:rPr lang="en-US" sz="1100" dirty="0" err="1">
                <a:latin typeface="Consolas" panose="020B0609020204030204" pitchFamily="49" charset="0"/>
              </a:rPr>
              <a:t>instDir</a:t>
            </a:r>
            <a:r>
              <a:rPr lang="en-US" sz="1100" dirty="0">
                <a:latin typeface="Consolas" panose="020B0609020204030204" pitchFamily="49" charset="0"/>
              </a:rPr>
              <a:t>=package-&gt;</a:t>
            </a:r>
            <a:r>
              <a:rPr lang="en-US" sz="1100" dirty="0" err="1">
                <a:latin typeface="Consolas" panose="020B0609020204030204" pitchFamily="49" charset="0"/>
              </a:rPr>
              <a:t>InstalledLocation</a:t>
            </a:r>
            <a:r>
              <a:rPr lang="en-US" sz="1100" dirty="0">
                <a:latin typeface="Consolas" panose="020B0609020204030204" pitchFamily="49" charset="0"/>
              </a:rPr>
              <a:t>-&gt;Path-&gt;Data();</a:t>
            </a:r>
          </a:p>
          <a:p>
            <a:r>
              <a:rPr lang="en-US" sz="1100" dirty="0" smtClean="0">
                <a:latin typeface="Consolas" panose="020B0609020204030204" pitchFamily="49" charset="0"/>
              </a:rPr>
              <a:t>    </a:t>
            </a:r>
            <a:r>
              <a:rPr lang="en-US" sz="1100" dirty="0" err="1" smtClean="0">
                <a:latin typeface="Consolas" panose="020B0609020204030204" pitchFamily="49" charset="0"/>
              </a:rPr>
              <a:t>printf</a:t>
            </a:r>
            <a:r>
              <a:rPr lang="en-US" sz="1100" dirty="0">
                <a:latin typeface="Consolas" panose="020B0609020204030204" pitchFamily="49" charset="0"/>
              </a:rPr>
              <a:t>("%s==%ls\</a:t>
            </a:r>
            <a:r>
              <a:rPr lang="en-US" sz="1100" dirty="0" err="1">
                <a:latin typeface="Consolas" panose="020B0609020204030204" pitchFamily="49" charset="0"/>
              </a:rPr>
              <a:t>n",__FUNCTION</a:t>
            </a:r>
            <a:r>
              <a:rPr lang="en-US" sz="1100" dirty="0">
                <a:latin typeface="Consolas" panose="020B0609020204030204" pitchFamily="49" charset="0"/>
              </a:rPr>
              <a:t>__,(</a:t>
            </a:r>
            <a:r>
              <a:rPr lang="en-US" sz="1100" dirty="0" err="1">
                <a:latin typeface="Consolas" panose="020B0609020204030204" pitchFamily="49" charset="0"/>
              </a:rPr>
              <a:t>const</a:t>
            </a:r>
            <a:r>
              <a:rPr lang="en-US" sz="1100" dirty="0">
                <a:latin typeface="Consolas" panose="020B0609020204030204" pitchFamily="49" charset="0"/>
              </a:rPr>
              <a:t> </a:t>
            </a:r>
            <a:r>
              <a:rPr lang="en-US" sz="1100" dirty="0" err="1">
                <a:latin typeface="Consolas" panose="020B0609020204030204" pitchFamily="49" charset="0"/>
              </a:rPr>
              <a:t>wchar_t</a:t>
            </a:r>
            <a:r>
              <a:rPr lang="en-US" sz="1100" dirty="0">
                <a:latin typeface="Consolas" panose="020B0609020204030204" pitchFamily="49" charset="0"/>
              </a:rPr>
              <a:t> *)</a:t>
            </a:r>
            <a:r>
              <a:rPr lang="en-US" sz="1100" dirty="0" err="1">
                <a:latin typeface="Consolas" panose="020B0609020204030204" pitchFamily="49" charset="0"/>
              </a:rPr>
              <a:t>instDir</a:t>
            </a:r>
            <a:r>
              <a:rPr lang="en-US" sz="1100" dirty="0">
                <a:latin typeface="Consolas" panose="020B0609020204030204" pitchFamily="49" charset="0"/>
              </a:rPr>
              <a:t>);</a:t>
            </a:r>
          </a:p>
          <a:p>
            <a:r>
              <a:rPr lang="en-US" sz="1100" dirty="0" smtClean="0">
                <a:latin typeface="Consolas" panose="020B0609020204030204" pitchFamily="49" charset="0"/>
              </a:rPr>
              <a:t>    _</a:t>
            </a:r>
            <a:r>
              <a:rPr lang="en-US" sz="1100" dirty="0" err="1">
                <a:latin typeface="Consolas" panose="020B0609020204030204" pitchFamily="49" charset="0"/>
              </a:rPr>
              <a:t>wchdir</a:t>
            </a:r>
            <a:r>
              <a:rPr lang="en-US" sz="1100" dirty="0">
                <a:latin typeface="Consolas" panose="020B0609020204030204" pitchFamily="49" charset="0"/>
              </a:rPr>
              <a:t>(</a:t>
            </a:r>
            <a:r>
              <a:rPr lang="en-US" sz="1100" dirty="0" err="1">
                <a:latin typeface="Consolas" panose="020B0609020204030204" pitchFamily="49" charset="0"/>
              </a:rPr>
              <a:t>instDir</a:t>
            </a:r>
            <a:r>
              <a:rPr lang="en-US" sz="1100" dirty="0">
                <a:latin typeface="Consolas" panose="020B0609020204030204" pitchFamily="49" charset="0"/>
              </a:rPr>
              <a:t>);</a:t>
            </a:r>
          </a:p>
          <a:p>
            <a:r>
              <a:rPr lang="en-US" sz="1100" dirty="0" smtClean="0">
                <a:latin typeface="Consolas" panose="020B0609020204030204" pitchFamily="49" charset="0"/>
              </a:rPr>
              <a:t>    _</a:t>
            </a:r>
            <a:r>
              <a:rPr lang="en-US" sz="1100" dirty="0" err="1">
                <a:latin typeface="Consolas" panose="020B0609020204030204" pitchFamily="49" charset="0"/>
              </a:rPr>
              <a:t>wchdir</a:t>
            </a:r>
            <a:r>
              <a:rPr lang="en-US" sz="1100" dirty="0">
                <a:latin typeface="Consolas" panose="020B0609020204030204" pitchFamily="49" charset="0"/>
              </a:rPr>
              <a:t>(</a:t>
            </a:r>
            <a:r>
              <a:rPr lang="en-US" sz="1100" dirty="0" err="1">
                <a:latin typeface="Consolas" panose="020B0609020204030204" pitchFamily="49" charset="0"/>
              </a:rPr>
              <a:t>L"Assets</a:t>
            </a:r>
            <a:r>
              <a:rPr lang="en-US" sz="1100" dirty="0">
                <a:latin typeface="Consolas" panose="020B0609020204030204" pitchFamily="49" charset="0"/>
              </a:rPr>
              <a:t>");</a:t>
            </a:r>
          </a:p>
          <a:p>
            <a:endParaRPr lang="en-US" sz="1100" dirty="0">
              <a:latin typeface="Consolas" panose="020B0609020204030204" pitchFamily="49" charset="0"/>
            </a:endParaRPr>
          </a:p>
        </p:txBody>
      </p:sp>
      <p:sp>
        <p:nvSpPr>
          <p:cNvPr id="6" name="TextBox 5"/>
          <p:cNvSpPr txBox="1"/>
          <p:nvPr/>
        </p:nvSpPr>
        <p:spPr>
          <a:xfrm>
            <a:off x="984250" y="4144377"/>
            <a:ext cx="3339376" cy="2292935"/>
          </a:xfrm>
          <a:prstGeom prst="rect">
            <a:avLst/>
          </a:prstGeom>
          <a:noFill/>
        </p:spPr>
        <p:txBody>
          <a:bodyPr wrap="none" rtlCol="0">
            <a:spAutoFit/>
          </a:bodyPr>
          <a:lstStyle/>
          <a:p>
            <a:r>
              <a:rPr lang="en-US" sz="1100" dirty="0" smtClean="0">
                <a:latin typeface="Consolas" panose="020B0609020204030204" pitchFamily="49" charset="0"/>
              </a:rPr>
              <a:t>    char </a:t>
            </a:r>
            <a:r>
              <a:rPr lang="en-US" sz="1100" dirty="0" err="1">
                <a:latin typeface="Consolas" panose="020B0609020204030204" pitchFamily="49" charset="0"/>
              </a:rPr>
              <a:t>fn</a:t>
            </a:r>
            <a:r>
              <a:rPr lang="en-US" sz="1100" dirty="0">
                <a:latin typeface="Consolas" panose="020B0609020204030204" pitchFamily="49" charset="0"/>
              </a:rPr>
              <a:t>[MAX_PATH];</a:t>
            </a:r>
          </a:p>
          <a:p>
            <a:r>
              <a:rPr lang="en-US" sz="1100" dirty="0" smtClean="0">
                <a:latin typeface="Consolas" panose="020B0609020204030204" pitchFamily="49" charset="0"/>
              </a:rPr>
              <a:t>    </a:t>
            </a:r>
            <a:r>
              <a:rPr lang="en-US" sz="1100" dirty="0" err="1" smtClean="0">
                <a:latin typeface="Consolas" panose="020B0609020204030204" pitchFamily="49" charset="0"/>
              </a:rPr>
              <a:t>GetModuleFileNameA</a:t>
            </a:r>
            <a:r>
              <a:rPr lang="en-US" sz="1100" dirty="0" smtClean="0">
                <a:latin typeface="Consolas" panose="020B0609020204030204" pitchFamily="49" charset="0"/>
              </a:rPr>
              <a:t>(</a:t>
            </a:r>
            <a:r>
              <a:rPr lang="en-US" sz="1100" dirty="0" err="1" smtClean="0">
                <a:latin typeface="Consolas" panose="020B0609020204030204" pitchFamily="49" charset="0"/>
              </a:rPr>
              <a:t>NULL,fn,MAX_PATH</a:t>
            </a:r>
            <a:r>
              <a:rPr lang="en-US" sz="1100" dirty="0">
                <a:latin typeface="Consolas" panose="020B0609020204030204" pitchFamily="49" charset="0"/>
              </a:rPr>
              <a:t>);</a:t>
            </a:r>
          </a:p>
          <a:p>
            <a:r>
              <a:rPr lang="en-US" sz="1100" dirty="0" smtClean="0">
                <a:latin typeface="Consolas" panose="020B0609020204030204" pitchFamily="49" charset="0"/>
              </a:rPr>
              <a:t>    </a:t>
            </a:r>
            <a:r>
              <a:rPr lang="en-US" sz="1100" dirty="0" err="1" smtClean="0">
                <a:latin typeface="Consolas" panose="020B0609020204030204" pitchFamily="49" charset="0"/>
              </a:rPr>
              <a:t>const</a:t>
            </a:r>
            <a:r>
              <a:rPr lang="en-US" sz="1100" dirty="0" smtClean="0">
                <a:latin typeface="Consolas" panose="020B0609020204030204" pitchFamily="49" charset="0"/>
              </a:rPr>
              <a:t> </a:t>
            </a:r>
            <a:r>
              <a:rPr lang="en-US" sz="1100" dirty="0" err="1">
                <a:latin typeface="Consolas" panose="020B0609020204030204" pitchFamily="49" charset="0"/>
              </a:rPr>
              <a:t>int</a:t>
            </a:r>
            <a:r>
              <a:rPr lang="en-US" sz="1100" dirty="0">
                <a:latin typeface="Consolas" panose="020B0609020204030204" pitchFamily="49" charset="0"/>
              </a:rPr>
              <a:t> l=(</a:t>
            </a:r>
            <a:r>
              <a:rPr lang="en-US" sz="1100" dirty="0" err="1">
                <a:latin typeface="Consolas" panose="020B0609020204030204" pitchFamily="49" charset="0"/>
              </a:rPr>
              <a:t>int</a:t>
            </a:r>
            <a:r>
              <a:rPr lang="en-US" sz="1100" dirty="0">
                <a:latin typeface="Consolas" panose="020B0609020204030204" pitchFamily="49" charset="0"/>
              </a:rPr>
              <a:t>)</a:t>
            </a:r>
            <a:r>
              <a:rPr lang="en-US" sz="1100" dirty="0" err="1">
                <a:latin typeface="Consolas" panose="020B0609020204030204" pitchFamily="49" charset="0"/>
              </a:rPr>
              <a:t>strlen</a:t>
            </a:r>
            <a:r>
              <a:rPr lang="en-US" sz="1100" dirty="0">
                <a:latin typeface="Consolas" panose="020B0609020204030204" pitchFamily="49" charset="0"/>
              </a:rPr>
              <a:t>(</a:t>
            </a:r>
            <a:r>
              <a:rPr lang="en-US" sz="1100" dirty="0" err="1">
                <a:latin typeface="Consolas" panose="020B0609020204030204" pitchFamily="49" charset="0"/>
              </a:rPr>
              <a:t>fn</a:t>
            </a:r>
            <a:r>
              <a:rPr lang="en-US" sz="1100" dirty="0">
                <a:latin typeface="Consolas" panose="020B0609020204030204" pitchFamily="49" charset="0"/>
              </a:rPr>
              <a:t>);</a:t>
            </a:r>
          </a:p>
          <a:p>
            <a:r>
              <a:rPr lang="en-US" sz="1100" dirty="0" smtClean="0">
                <a:latin typeface="Consolas" panose="020B0609020204030204" pitchFamily="49" charset="0"/>
              </a:rPr>
              <a:t>    for(</a:t>
            </a:r>
            <a:r>
              <a:rPr lang="en-US" sz="1100" dirty="0" err="1" smtClean="0">
                <a:latin typeface="Consolas" panose="020B0609020204030204" pitchFamily="49" charset="0"/>
              </a:rPr>
              <a:t>int</a:t>
            </a:r>
            <a:r>
              <a:rPr lang="en-US" sz="1100" dirty="0" smtClean="0">
                <a:latin typeface="Consolas" panose="020B0609020204030204" pitchFamily="49" charset="0"/>
              </a:rPr>
              <a:t> </a:t>
            </a:r>
            <a:r>
              <a:rPr lang="en-US" sz="1100" dirty="0" err="1" smtClean="0">
                <a:latin typeface="Consolas" panose="020B0609020204030204" pitchFamily="49" charset="0"/>
              </a:rPr>
              <a:t>i</a:t>
            </a:r>
            <a:r>
              <a:rPr lang="en-US" sz="1100" dirty="0" smtClean="0">
                <a:latin typeface="Consolas" panose="020B0609020204030204" pitchFamily="49" charset="0"/>
              </a:rPr>
              <a:t>=l-1</a:t>
            </a:r>
            <a:r>
              <a:rPr lang="en-US" sz="1100" dirty="0">
                <a:latin typeface="Consolas" panose="020B0609020204030204" pitchFamily="49" charset="0"/>
              </a:rPr>
              <a:t>; </a:t>
            </a:r>
            <a:r>
              <a:rPr lang="en-US" sz="1100" dirty="0" err="1">
                <a:latin typeface="Consolas" panose="020B0609020204030204" pitchFamily="49" charset="0"/>
              </a:rPr>
              <a:t>i</a:t>
            </a:r>
            <a:r>
              <a:rPr lang="en-US" sz="1100" dirty="0">
                <a:latin typeface="Consolas" panose="020B0609020204030204" pitchFamily="49" charset="0"/>
              </a:rPr>
              <a:t>&gt;=0; </a:t>
            </a:r>
            <a:r>
              <a:rPr lang="en-US" sz="1100" dirty="0" err="1">
                <a:latin typeface="Consolas" panose="020B0609020204030204" pitchFamily="49" charset="0"/>
              </a:rPr>
              <a:t>i</a:t>
            </a:r>
            <a:r>
              <a:rPr lang="en-US" sz="1100" dirty="0">
                <a:latin typeface="Consolas" panose="020B0609020204030204" pitchFamily="49" charset="0"/>
              </a:rPr>
              <a:t>--)</a:t>
            </a:r>
          </a:p>
          <a:p>
            <a:r>
              <a:rPr lang="en-US" sz="1100" dirty="0" smtClean="0">
                <a:latin typeface="Consolas" panose="020B0609020204030204" pitchFamily="49" charset="0"/>
              </a:rPr>
              <a:t>    {</a:t>
            </a:r>
            <a:endParaRPr lang="en-US" sz="1100" dirty="0">
              <a:latin typeface="Consolas" panose="020B0609020204030204" pitchFamily="49" charset="0"/>
            </a:endParaRPr>
          </a:p>
          <a:p>
            <a:r>
              <a:rPr lang="en-US" sz="1100" dirty="0" smtClean="0">
                <a:latin typeface="Consolas" panose="020B0609020204030204" pitchFamily="49" charset="0"/>
              </a:rPr>
              <a:t>        if(</a:t>
            </a:r>
            <a:r>
              <a:rPr lang="en-US" sz="1100" dirty="0" err="1" smtClean="0">
                <a:latin typeface="Consolas" panose="020B0609020204030204" pitchFamily="49" charset="0"/>
              </a:rPr>
              <a:t>fn</a:t>
            </a:r>
            <a:r>
              <a:rPr lang="en-US" sz="1100" dirty="0" smtClean="0">
                <a:latin typeface="Consolas" panose="020B0609020204030204" pitchFamily="49" charset="0"/>
              </a:rPr>
              <a:t>[</a:t>
            </a:r>
            <a:r>
              <a:rPr lang="en-US" sz="1100" dirty="0" err="1" smtClean="0">
                <a:latin typeface="Consolas" panose="020B0609020204030204" pitchFamily="49" charset="0"/>
              </a:rPr>
              <a:t>i</a:t>
            </a:r>
            <a:r>
              <a:rPr lang="en-US" sz="1100" dirty="0">
                <a:latin typeface="Consolas" panose="020B0609020204030204" pitchFamily="49" charset="0"/>
              </a:rPr>
              <a:t>]=='\\' || </a:t>
            </a:r>
            <a:r>
              <a:rPr lang="en-US" sz="1100" dirty="0" err="1">
                <a:latin typeface="Consolas" panose="020B0609020204030204" pitchFamily="49" charset="0"/>
              </a:rPr>
              <a:t>fn</a:t>
            </a:r>
            <a:r>
              <a:rPr lang="en-US" sz="1100" dirty="0">
                <a:latin typeface="Consolas" panose="020B0609020204030204" pitchFamily="49" charset="0"/>
              </a:rPr>
              <a:t>[</a:t>
            </a:r>
            <a:r>
              <a:rPr lang="en-US" sz="1100" dirty="0" err="1">
                <a:latin typeface="Consolas" panose="020B0609020204030204" pitchFamily="49" charset="0"/>
              </a:rPr>
              <a:t>i</a:t>
            </a:r>
            <a:r>
              <a:rPr lang="en-US" sz="1100" dirty="0">
                <a:latin typeface="Consolas" panose="020B0609020204030204" pitchFamily="49" charset="0"/>
              </a:rPr>
              <a:t>]=='/')</a:t>
            </a:r>
          </a:p>
          <a:p>
            <a:r>
              <a:rPr lang="en-US" sz="1100" dirty="0" smtClean="0">
                <a:latin typeface="Consolas" panose="020B0609020204030204" pitchFamily="49" charset="0"/>
              </a:rPr>
              <a:t>        {</a:t>
            </a:r>
            <a:endParaRPr lang="en-US" sz="1100" dirty="0">
              <a:latin typeface="Consolas" panose="020B0609020204030204" pitchFamily="49" charset="0"/>
            </a:endParaRPr>
          </a:p>
          <a:p>
            <a:r>
              <a:rPr lang="en-US" sz="1100" dirty="0" smtClean="0">
                <a:latin typeface="Consolas" panose="020B0609020204030204" pitchFamily="49" charset="0"/>
              </a:rPr>
              <a:t>            </a:t>
            </a:r>
            <a:r>
              <a:rPr lang="en-US" sz="1100" dirty="0" err="1" smtClean="0">
                <a:latin typeface="Consolas" panose="020B0609020204030204" pitchFamily="49" charset="0"/>
              </a:rPr>
              <a:t>fn</a:t>
            </a:r>
            <a:r>
              <a:rPr lang="en-US" sz="1100" dirty="0" smtClean="0">
                <a:latin typeface="Consolas" panose="020B0609020204030204" pitchFamily="49" charset="0"/>
              </a:rPr>
              <a:t>[</a:t>
            </a:r>
            <a:r>
              <a:rPr lang="en-US" sz="1100" dirty="0" err="1" smtClean="0">
                <a:latin typeface="Consolas" panose="020B0609020204030204" pitchFamily="49" charset="0"/>
              </a:rPr>
              <a:t>i</a:t>
            </a:r>
            <a:r>
              <a:rPr lang="en-US" sz="1100" dirty="0">
                <a:latin typeface="Consolas" panose="020B0609020204030204" pitchFamily="49" charset="0"/>
              </a:rPr>
              <a:t>]=0;</a:t>
            </a:r>
          </a:p>
          <a:p>
            <a:r>
              <a:rPr lang="en-US" sz="1100" dirty="0" smtClean="0">
                <a:latin typeface="Consolas" panose="020B0609020204030204" pitchFamily="49" charset="0"/>
              </a:rPr>
              <a:t>            break</a:t>
            </a:r>
            <a:r>
              <a:rPr lang="en-US" sz="1100" dirty="0">
                <a:latin typeface="Consolas" panose="020B0609020204030204" pitchFamily="49" charset="0"/>
              </a:rPr>
              <a:t>;</a:t>
            </a:r>
          </a:p>
          <a:p>
            <a:r>
              <a:rPr lang="en-US" sz="1100" dirty="0" smtClean="0">
                <a:latin typeface="Consolas" panose="020B0609020204030204" pitchFamily="49" charset="0"/>
              </a:rPr>
              <a:t>        }</a:t>
            </a:r>
            <a:endParaRPr lang="en-US" sz="1100" dirty="0">
              <a:latin typeface="Consolas" panose="020B0609020204030204" pitchFamily="49" charset="0"/>
            </a:endParaRPr>
          </a:p>
          <a:p>
            <a:r>
              <a:rPr lang="en-US" sz="1100" dirty="0" smtClean="0">
                <a:latin typeface="Consolas" panose="020B0609020204030204" pitchFamily="49" charset="0"/>
              </a:rPr>
              <a:t>    }</a:t>
            </a:r>
            <a:endParaRPr lang="en-US" sz="1100" dirty="0">
              <a:latin typeface="Consolas" panose="020B0609020204030204" pitchFamily="49" charset="0"/>
            </a:endParaRPr>
          </a:p>
          <a:p>
            <a:r>
              <a:rPr lang="en-US" sz="1100" dirty="0" smtClean="0">
                <a:latin typeface="Consolas" panose="020B0609020204030204" pitchFamily="49" charset="0"/>
              </a:rPr>
              <a:t>    _</a:t>
            </a:r>
            <a:r>
              <a:rPr lang="en-US" sz="1100" dirty="0" err="1">
                <a:latin typeface="Consolas" panose="020B0609020204030204" pitchFamily="49" charset="0"/>
              </a:rPr>
              <a:t>chdir</a:t>
            </a:r>
            <a:r>
              <a:rPr lang="en-US" sz="1100" dirty="0">
                <a:latin typeface="Consolas" panose="020B0609020204030204" pitchFamily="49" charset="0"/>
              </a:rPr>
              <a:t>(</a:t>
            </a:r>
            <a:r>
              <a:rPr lang="en-US" sz="1100" dirty="0" err="1">
                <a:latin typeface="Consolas" panose="020B0609020204030204" pitchFamily="49" charset="0"/>
              </a:rPr>
              <a:t>fn</a:t>
            </a:r>
            <a:r>
              <a:rPr lang="en-US" sz="1100" dirty="0">
                <a:latin typeface="Consolas" panose="020B0609020204030204" pitchFamily="49" charset="0"/>
              </a:rPr>
              <a:t>);</a:t>
            </a:r>
          </a:p>
          <a:p>
            <a:endParaRPr lang="en-US" sz="1100" dirty="0">
              <a:latin typeface="Consolas" panose="020B0609020204030204" pitchFamily="49" charset="0"/>
            </a:endParaRPr>
          </a:p>
        </p:txBody>
      </p:sp>
    </p:spTree>
    <p:extLst>
      <p:ext uri="{BB962C8B-B14F-4D97-AF65-F5344CB8AC3E}">
        <p14:creationId xmlns:p14="http://schemas.microsoft.com/office/powerpoint/2010/main" val="18691300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Change Current Working Directory to the Resources Directory in your Program</a:t>
            </a:r>
          </a:p>
        </p:txBody>
      </p:sp>
      <p:sp>
        <p:nvSpPr>
          <p:cNvPr id="3" name="Content Placeholder 2"/>
          <p:cNvSpPr>
            <a:spLocks noGrp="1"/>
          </p:cNvSpPr>
          <p:nvPr>
            <p:ph idx="1"/>
          </p:nvPr>
        </p:nvSpPr>
        <p:spPr/>
        <p:txBody>
          <a:bodyPr/>
          <a:lstStyle/>
          <a:p>
            <a:r>
              <a:rPr lang="en-US" dirty="0" smtClean="0"/>
              <a:t>In Linux (to the directory that the executable resides):</a:t>
            </a:r>
            <a:endParaRPr lang="en-US" dirty="0"/>
          </a:p>
        </p:txBody>
      </p:sp>
      <p:sp>
        <p:nvSpPr>
          <p:cNvPr id="4" name="TextBox 3"/>
          <p:cNvSpPr txBox="1"/>
          <p:nvPr/>
        </p:nvSpPr>
        <p:spPr>
          <a:xfrm>
            <a:off x="517044" y="1625600"/>
            <a:ext cx="8109912" cy="3816429"/>
          </a:xfrm>
          <a:prstGeom prst="rect">
            <a:avLst/>
          </a:prstGeom>
          <a:noFill/>
        </p:spPr>
        <p:txBody>
          <a:bodyPr wrap="none" rtlCol="0">
            <a:spAutoFit/>
          </a:bodyPr>
          <a:lstStyle/>
          <a:p>
            <a:r>
              <a:rPr lang="en-US" sz="1100" dirty="0" smtClean="0">
                <a:latin typeface="Consolas" panose="020B0609020204030204" pitchFamily="49" charset="0"/>
              </a:rPr>
              <a:t>    char </a:t>
            </a:r>
            <a:r>
              <a:rPr lang="en-US" sz="1100" dirty="0" err="1">
                <a:latin typeface="Consolas" panose="020B0609020204030204" pitchFamily="49" charset="0"/>
              </a:rPr>
              <a:t>buf</a:t>
            </a:r>
            <a:r>
              <a:rPr lang="en-US" sz="1100" dirty="0">
                <a:latin typeface="Consolas" panose="020B0609020204030204" pitchFamily="49" charset="0"/>
              </a:rPr>
              <a:t>[4096];</a:t>
            </a:r>
          </a:p>
          <a:p>
            <a:r>
              <a:rPr lang="en-US" sz="1100" dirty="0" smtClean="0">
                <a:latin typeface="Consolas" panose="020B0609020204030204" pitchFamily="49" charset="0"/>
              </a:rPr>
              <a:t>    auto </a:t>
            </a:r>
            <a:r>
              <a:rPr lang="en-US" sz="1100" dirty="0" err="1">
                <a:latin typeface="Consolas" panose="020B0609020204030204" pitchFamily="49" charset="0"/>
              </a:rPr>
              <a:t>len</a:t>
            </a:r>
            <a:r>
              <a:rPr lang="en-US" sz="1100" dirty="0">
                <a:latin typeface="Consolas" panose="020B0609020204030204" pitchFamily="49" charset="0"/>
              </a:rPr>
              <a:t>=</a:t>
            </a:r>
            <a:r>
              <a:rPr lang="en-US" sz="1100" dirty="0" err="1">
                <a:latin typeface="Consolas" panose="020B0609020204030204" pitchFamily="49" charset="0"/>
              </a:rPr>
              <a:t>readlink</a:t>
            </a:r>
            <a:r>
              <a:rPr lang="en-US" sz="1100" dirty="0">
                <a:latin typeface="Consolas" panose="020B0609020204030204" pitchFamily="49" charset="0"/>
              </a:rPr>
              <a:t>("/proc/self/exe",buf,4095);</a:t>
            </a:r>
          </a:p>
          <a:p>
            <a:r>
              <a:rPr lang="en-US" sz="1100" dirty="0" smtClean="0">
                <a:latin typeface="Consolas" panose="020B0609020204030204" pitchFamily="49" charset="0"/>
              </a:rPr>
              <a:t>    if(</a:t>
            </a:r>
            <a:r>
              <a:rPr lang="en-US" sz="1100" dirty="0" err="1" smtClean="0">
                <a:latin typeface="Consolas" panose="020B0609020204030204" pitchFamily="49" charset="0"/>
              </a:rPr>
              <a:t>len</a:t>
            </a:r>
            <a:r>
              <a:rPr lang="en-US" sz="1100" dirty="0" smtClean="0">
                <a:latin typeface="Consolas" panose="020B0609020204030204" pitchFamily="49" charset="0"/>
              </a:rPr>
              <a:t>&lt;4095</a:t>
            </a:r>
            <a:r>
              <a:rPr lang="en-US" sz="1100" dirty="0">
                <a:latin typeface="Consolas" panose="020B0609020204030204" pitchFamily="49" charset="0"/>
              </a:rPr>
              <a:t>)</a:t>
            </a:r>
          </a:p>
          <a:p>
            <a:r>
              <a:rPr lang="en-US" sz="1100" dirty="0" smtClean="0">
                <a:latin typeface="Consolas" panose="020B0609020204030204" pitchFamily="49" charset="0"/>
              </a:rPr>
              <a:t>    {</a:t>
            </a:r>
            <a:endParaRPr lang="en-US" sz="1100" dirty="0">
              <a:latin typeface="Consolas" panose="020B0609020204030204" pitchFamily="49" charset="0"/>
            </a:endParaRPr>
          </a:p>
          <a:p>
            <a:r>
              <a:rPr lang="en-US" sz="1100" dirty="0" smtClean="0">
                <a:latin typeface="Consolas" panose="020B0609020204030204" pitchFamily="49" charset="0"/>
              </a:rPr>
              <a:t>        </a:t>
            </a:r>
            <a:r>
              <a:rPr lang="en-US" sz="1100" dirty="0" err="1" smtClean="0">
                <a:latin typeface="Consolas" panose="020B0609020204030204" pitchFamily="49" charset="0"/>
              </a:rPr>
              <a:t>buf</a:t>
            </a:r>
            <a:r>
              <a:rPr lang="en-US" sz="1100" dirty="0" smtClean="0">
                <a:latin typeface="Consolas" panose="020B0609020204030204" pitchFamily="49" charset="0"/>
              </a:rPr>
              <a:t>[</a:t>
            </a:r>
            <a:r>
              <a:rPr lang="en-US" sz="1100" dirty="0" err="1" smtClean="0">
                <a:latin typeface="Consolas" panose="020B0609020204030204" pitchFamily="49" charset="0"/>
              </a:rPr>
              <a:t>len</a:t>
            </a:r>
            <a:r>
              <a:rPr lang="en-US" sz="1100" dirty="0">
                <a:latin typeface="Consolas" panose="020B0609020204030204" pitchFamily="49" charset="0"/>
              </a:rPr>
              <a:t>]=0;</a:t>
            </a:r>
          </a:p>
          <a:p>
            <a:r>
              <a:rPr lang="en-US" sz="1100" dirty="0" smtClean="0">
                <a:latin typeface="Consolas" panose="020B0609020204030204" pitchFamily="49" charset="0"/>
              </a:rPr>
              <a:t>        for(</a:t>
            </a:r>
            <a:r>
              <a:rPr lang="en-US" sz="1100" dirty="0" err="1" smtClean="0">
                <a:latin typeface="Consolas" panose="020B0609020204030204" pitchFamily="49" charset="0"/>
              </a:rPr>
              <a:t>len</a:t>
            </a:r>
            <a:r>
              <a:rPr lang="en-US" sz="1100" dirty="0" smtClean="0">
                <a:latin typeface="Consolas" panose="020B0609020204030204" pitchFamily="49" charset="0"/>
              </a:rPr>
              <a:t>=</a:t>
            </a:r>
            <a:r>
              <a:rPr lang="en-US" sz="1100" dirty="0" err="1" smtClean="0">
                <a:latin typeface="Consolas" panose="020B0609020204030204" pitchFamily="49" charset="0"/>
              </a:rPr>
              <a:t>strlen</a:t>
            </a:r>
            <a:r>
              <a:rPr lang="en-US" sz="1100" dirty="0" smtClean="0">
                <a:latin typeface="Consolas" panose="020B0609020204030204" pitchFamily="49" charset="0"/>
              </a:rPr>
              <a:t>(</a:t>
            </a:r>
            <a:r>
              <a:rPr lang="en-US" sz="1100" dirty="0" err="1" smtClean="0">
                <a:latin typeface="Consolas" panose="020B0609020204030204" pitchFamily="49" charset="0"/>
              </a:rPr>
              <a:t>buf</a:t>
            </a:r>
            <a:r>
              <a:rPr lang="en-US" sz="1100" dirty="0">
                <a:latin typeface="Consolas" panose="020B0609020204030204" pitchFamily="49" charset="0"/>
              </a:rPr>
              <a:t>); 0&lt;</a:t>
            </a:r>
            <a:r>
              <a:rPr lang="en-US" sz="1100" dirty="0" err="1">
                <a:latin typeface="Consolas" panose="020B0609020204030204" pitchFamily="49" charset="0"/>
              </a:rPr>
              <a:t>len</a:t>
            </a:r>
            <a:r>
              <a:rPr lang="en-US" sz="1100" dirty="0">
                <a:latin typeface="Consolas" panose="020B0609020204030204" pitchFamily="49" charset="0"/>
              </a:rPr>
              <a:t>; --</a:t>
            </a:r>
            <a:r>
              <a:rPr lang="en-US" sz="1100" dirty="0" err="1">
                <a:latin typeface="Consolas" panose="020B0609020204030204" pitchFamily="49" charset="0"/>
              </a:rPr>
              <a:t>len</a:t>
            </a:r>
            <a:r>
              <a:rPr lang="en-US" sz="1100" dirty="0">
                <a:latin typeface="Consolas" panose="020B0609020204030204" pitchFamily="49" charset="0"/>
              </a:rPr>
              <a:t>) // Probably it is safe to say for(</a:t>
            </a:r>
            <a:r>
              <a:rPr lang="en-US" sz="1100" dirty="0" err="1">
                <a:latin typeface="Consolas" panose="020B0609020204030204" pitchFamily="49" charset="0"/>
              </a:rPr>
              <a:t>len</a:t>
            </a:r>
            <a:r>
              <a:rPr lang="en-US" sz="1100" dirty="0">
                <a:latin typeface="Consolas" panose="020B0609020204030204" pitchFamily="49" charset="0"/>
              </a:rPr>
              <a:t>=</a:t>
            </a:r>
            <a:r>
              <a:rPr lang="en-US" sz="1100" dirty="0" err="1">
                <a:latin typeface="Consolas" panose="020B0609020204030204" pitchFamily="49" charset="0"/>
              </a:rPr>
              <a:t>len</a:t>
            </a:r>
            <a:r>
              <a:rPr lang="en-US" sz="1100" dirty="0">
                <a:latin typeface="Consolas" panose="020B0609020204030204" pitchFamily="49" charset="0"/>
              </a:rPr>
              <a:t>; 0&lt;</a:t>
            </a:r>
            <a:r>
              <a:rPr lang="en-US" sz="1100" dirty="0" err="1">
                <a:latin typeface="Consolas" panose="020B0609020204030204" pitchFamily="49" charset="0"/>
              </a:rPr>
              <a:t>len</a:t>
            </a:r>
            <a:r>
              <a:rPr lang="en-US" sz="1100" dirty="0">
                <a:latin typeface="Consolas" panose="020B0609020204030204" pitchFamily="49" charset="0"/>
              </a:rPr>
              <a:t>; --</a:t>
            </a:r>
            <a:r>
              <a:rPr lang="en-US" sz="1100" dirty="0" err="1">
                <a:latin typeface="Consolas" panose="020B0609020204030204" pitchFamily="49" charset="0"/>
              </a:rPr>
              <a:t>len</a:t>
            </a:r>
            <a:r>
              <a:rPr lang="en-US" sz="1100" dirty="0">
                <a:latin typeface="Consolas" panose="020B0609020204030204" pitchFamily="49" charset="0"/>
              </a:rPr>
              <a:t>)</a:t>
            </a:r>
          </a:p>
          <a:p>
            <a:r>
              <a:rPr lang="en-US" sz="1100" dirty="0" smtClean="0">
                <a:latin typeface="Consolas" panose="020B0609020204030204" pitchFamily="49" charset="0"/>
              </a:rPr>
              <a:t>        {</a:t>
            </a:r>
            <a:endParaRPr lang="en-US" sz="1100" dirty="0">
              <a:latin typeface="Consolas" panose="020B0609020204030204" pitchFamily="49" charset="0"/>
            </a:endParaRPr>
          </a:p>
          <a:p>
            <a:r>
              <a:rPr lang="en-US" sz="1100" dirty="0" smtClean="0">
                <a:latin typeface="Consolas" panose="020B0609020204030204" pitchFamily="49" charset="0"/>
              </a:rPr>
              <a:t>            if(</a:t>
            </a:r>
            <a:r>
              <a:rPr lang="en-US" sz="1100" dirty="0" err="1" smtClean="0">
                <a:latin typeface="Consolas" panose="020B0609020204030204" pitchFamily="49" charset="0"/>
              </a:rPr>
              <a:t>buf</a:t>
            </a:r>
            <a:r>
              <a:rPr lang="en-US" sz="1100" dirty="0" smtClean="0">
                <a:latin typeface="Consolas" panose="020B0609020204030204" pitchFamily="49" charset="0"/>
              </a:rPr>
              <a:t>[</a:t>
            </a:r>
            <a:r>
              <a:rPr lang="en-US" sz="1100" dirty="0" err="1" smtClean="0">
                <a:latin typeface="Consolas" panose="020B0609020204030204" pitchFamily="49" charset="0"/>
              </a:rPr>
              <a:t>len</a:t>
            </a:r>
            <a:r>
              <a:rPr lang="en-US" sz="1100" dirty="0">
                <a:latin typeface="Consolas" panose="020B0609020204030204" pitchFamily="49" charset="0"/>
              </a:rPr>
              <a:t>]=='/')</a:t>
            </a:r>
          </a:p>
          <a:p>
            <a:r>
              <a:rPr lang="en-US" sz="1100" dirty="0" smtClean="0">
                <a:latin typeface="Consolas" panose="020B0609020204030204" pitchFamily="49" charset="0"/>
              </a:rPr>
              <a:t>            {</a:t>
            </a:r>
            <a:endParaRPr lang="en-US" sz="1100" dirty="0">
              <a:latin typeface="Consolas" panose="020B0609020204030204" pitchFamily="49" charset="0"/>
            </a:endParaRPr>
          </a:p>
          <a:p>
            <a:r>
              <a:rPr lang="en-US" sz="1100" dirty="0" smtClean="0">
                <a:latin typeface="Consolas" panose="020B0609020204030204" pitchFamily="49" charset="0"/>
              </a:rPr>
              <a:t>                </a:t>
            </a:r>
            <a:r>
              <a:rPr lang="en-US" sz="1100" dirty="0" err="1" smtClean="0">
                <a:latin typeface="Consolas" panose="020B0609020204030204" pitchFamily="49" charset="0"/>
              </a:rPr>
              <a:t>buf</a:t>
            </a:r>
            <a:r>
              <a:rPr lang="en-US" sz="1100" dirty="0" smtClean="0">
                <a:latin typeface="Consolas" panose="020B0609020204030204" pitchFamily="49" charset="0"/>
              </a:rPr>
              <a:t>[</a:t>
            </a:r>
            <a:r>
              <a:rPr lang="en-US" sz="1100" dirty="0" err="1" smtClean="0">
                <a:latin typeface="Consolas" panose="020B0609020204030204" pitchFamily="49" charset="0"/>
              </a:rPr>
              <a:t>len</a:t>
            </a:r>
            <a:r>
              <a:rPr lang="en-US" sz="1100" dirty="0">
                <a:latin typeface="Consolas" panose="020B0609020204030204" pitchFamily="49" charset="0"/>
              </a:rPr>
              <a:t>]=0;</a:t>
            </a:r>
          </a:p>
          <a:p>
            <a:r>
              <a:rPr lang="en-US" sz="1100" dirty="0" smtClean="0">
                <a:latin typeface="Consolas" panose="020B0609020204030204" pitchFamily="49" charset="0"/>
              </a:rPr>
              <a:t>                break</a:t>
            </a:r>
            <a:r>
              <a:rPr lang="en-US" sz="1100" dirty="0">
                <a:latin typeface="Consolas" panose="020B0609020204030204" pitchFamily="49" charset="0"/>
              </a:rPr>
              <a:t>;</a:t>
            </a:r>
          </a:p>
          <a:p>
            <a:r>
              <a:rPr lang="en-US" sz="1100" dirty="0" smtClean="0">
                <a:latin typeface="Consolas" panose="020B0609020204030204" pitchFamily="49" charset="0"/>
              </a:rPr>
              <a:t>            }</a:t>
            </a:r>
            <a:endParaRPr lang="en-US" sz="1100" dirty="0">
              <a:latin typeface="Consolas" panose="020B0609020204030204" pitchFamily="49" charset="0"/>
            </a:endParaRPr>
          </a:p>
          <a:p>
            <a:r>
              <a:rPr lang="en-US" sz="1100" dirty="0" smtClean="0">
                <a:latin typeface="Consolas" panose="020B0609020204030204" pitchFamily="49" charset="0"/>
              </a:rPr>
              <a:t>        }</a:t>
            </a:r>
            <a:endParaRPr lang="en-US" sz="1100" dirty="0">
              <a:latin typeface="Consolas" panose="020B0609020204030204" pitchFamily="49" charset="0"/>
            </a:endParaRPr>
          </a:p>
          <a:p>
            <a:r>
              <a:rPr lang="en-US" sz="1100" dirty="0" smtClean="0">
                <a:latin typeface="Consolas" panose="020B0609020204030204" pitchFamily="49" charset="0"/>
              </a:rPr>
              <a:t>        </a:t>
            </a:r>
            <a:r>
              <a:rPr lang="en-US" sz="1100" dirty="0" err="1" smtClean="0">
                <a:latin typeface="Consolas" panose="020B0609020204030204" pitchFamily="49" charset="0"/>
              </a:rPr>
              <a:t>chdir</a:t>
            </a:r>
            <a:r>
              <a:rPr lang="en-US" sz="1100" dirty="0" smtClean="0">
                <a:latin typeface="Consolas" panose="020B0609020204030204" pitchFamily="49" charset="0"/>
              </a:rPr>
              <a:t>(</a:t>
            </a:r>
            <a:r>
              <a:rPr lang="en-US" sz="1100" dirty="0" err="1" smtClean="0">
                <a:latin typeface="Consolas" panose="020B0609020204030204" pitchFamily="49" charset="0"/>
              </a:rPr>
              <a:t>buf</a:t>
            </a:r>
            <a:r>
              <a:rPr lang="en-US" sz="1100" dirty="0" smtClean="0">
                <a:latin typeface="Consolas" panose="020B0609020204030204" pitchFamily="49" charset="0"/>
              </a:rPr>
              <a:t>);</a:t>
            </a:r>
            <a:endParaRPr lang="en-US" sz="1100" dirty="0">
              <a:latin typeface="Consolas" panose="020B0609020204030204" pitchFamily="49" charset="0"/>
            </a:endParaRPr>
          </a:p>
          <a:p>
            <a:r>
              <a:rPr lang="en-US" sz="1100" dirty="0" smtClean="0">
                <a:latin typeface="Consolas" panose="020B0609020204030204" pitchFamily="49" charset="0"/>
              </a:rPr>
              <a:t>        </a:t>
            </a:r>
            <a:r>
              <a:rPr lang="en-US" sz="1100" dirty="0" err="1" smtClean="0">
                <a:latin typeface="Consolas" panose="020B0609020204030204" pitchFamily="49" charset="0"/>
              </a:rPr>
              <a:t>getcwd</a:t>
            </a:r>
            <a:r>
              <a:rPr lang="en-US" sz="1100" dirty="0" smtClean="0">
                <a:latin typeface="Consolas" panose="020B0609020204030204" pitchFamily="49" charset="0"/>
              </a:rPr>
              <a:t>(buf,4095</a:t>
            </a:r>
            <a:r>
              <a:rPr lang="en-US" sz="1100" dirty="0">
                <a:latin typeface="Consolas" panose="020B0609020204030204" pitchFamily="49" charset="0"/>
              </a:rPr>
              <a:t>);</a:t>
            </a:r>
          </a:p>
          <a:p>
            <a:r>
              <a:rPr lang="en-US" sz="1100" dirty="0" smtClean="0">
                <a:latin typeface="Consolas" panose="020B0609020204030204" pitchFamily="49" charset="0"/>
              </a:rPr>
              <a:t>        </a:t>
            </a:r>
            <a:r>
              <a:rPr lang="en-US" sz="1100" dirty="0" err="1" smtClean="0">
                <a:latin typeface="Consolas" panose="020B0609020204030204" pitchFamily="49" charset="0"/>
              </a:rPr>
              <a:t>printf</a:t>
            </a:r>
            <a:r>
              <a:rPr lang="en-US" sz="1100" dirty="0">
                <a:latin typeface="Consolas" panose="020B0609020204030204" pitchFamily="49" charset="0"/>
              </a:rPr>
              <a:t>("Changed to %s\n",</a:t>
            </a:r>
            <a:r>
              <a:rPr lang="en-US" sz="1100" dirty="0" err="1">
                <a:latin typeface="Consolas" panose="020B0609020204030204" pitchFamily="49" charset="0"/>
              </a:rPr>
              <a:t>buf</a:t>
            </a:r>
            <a:r>
              <a:rPr lang="en-US" sz="1100" dirty="0">
                <a:latin typeface="Consolas" panose="020B0609020204030204" pitchFamily="49" charset="0"/>
              </a:rPr>
              <a:t>);</a:t>
            </a:r>
          </a:p>
          <a:p>
            <a:r>
              <a:rPr lang="en-US" sz="1100" dirty="0" smtClean="0">
                <a:latin typeface="Consolas" panose="020B0609020204030204" pitchFamily="49" charset="0"/>
              </a:rPr>
              <a:t>    }</a:t>
            </a:r>
            <a:endParaRPr lang="en-US" sz="1100" dirty="0">
              <a:latin typeface="Consolas" panose="020B0609020204030204" pitchFamily="49" charset="0"/>
            </a:endParaRPr>
          </a:p>
          <a:p>
            <a:r>
              <a:rPr lang="en-US" sz="1100" dirty="0" smtClean="0">
                <a:latin typeface="Consolas" panose="020B0609020204030204" pitchFamily="49" charset="0"/>
              </a:rPr>
              <a:t>    else</a:t>
            </a:r>
            <a:endParaRPr lang="en-US" sz="1100" dirty="0">
              <a:latin typeface="Consolas" panose="020B0609020204030204" pitchFamily="49" charset="0"/>
            </a:endParaRPr>
          </a:p>
          <a:p>
            <a:r>
              <a:rPr lang="en-US" sz="1100" dirty="0" smtClean="0">
                <a:latin typeface="Consolas" panose="020B0609020204030204" pitchFamily="49" charset="0"/>
              </a:rPr>
              <a:t>    {</a:t>
            </a:r>
            <a:endParaRPr lang="en-US" sz="1100" dirty="0">
              <a:latin typeface="Consolas" panose="020B0609020204030204" pitchFamily="49" charset="0"/>
            </a:endParaRPr>
          </a:p>
          <a:p>
            <a:r>
              <a:rPr lang="en-US" sz="1100" dirty="0" smtClean="0">
                <a:latin typeface="Consolas" panose="020B0609020204030204" pitchFamily="49" charset="0"/>
              </a:rPr>
              <a:t>        </a:t>
            </a:r>
            <a:r>
              <a:rPr lang="en-US" sz="1100" dirty="0" err="1" smtClean="0">
                <a:latin typeface="Consolas" panose="020B0609020204030204" pitchFamily="49" charset="0"/>
              </a:rPr>
              <a:t>printf</a:t>
            </a:r>
            <a:r>
              <a:rPr lang="en-US" sz="1100" dirty="0">
                <a:latin typeface="Consolas" panose="020B0609020204030204" pitchFamily="49" charset="0"/>
              </a:rPr>
              <a:t>("Current process file name </a:t>
            </a:r>
            <a:r>
              <a:rPr lang="en-US" sz="1100" dirty="0" smtClean="0">
                <a:latin typeface="Consolas" panose="020B0609020204030204" pitchFamily="49" charset="0"/>
              </a:rPr>
              <a:t>is too </a:t>
            </a:r>
            <a:r>
              <a:rPr lang="en-US" sz="1100" dirty="0">
                <a:latin typeface="Consolas" panose="020B0609020204030204" pitchFamily="49" charset="0"/>
              </a:rPr>
              <a:t>long.\n");</a:t>
            </a:r>
          </a:p>
          <a:p>
            <a:r>
              <a:rPr lang="en-US" sz="1100" dirty="0" smtClean="0">
                <a:latin typeface="Consolas" panose="020B0609020204030204" pitchFamily="49" charset="0"/>
              </a:rPr>
              <a:t>    }</a:t>
            </a:r>
            <a:endParaRPr lang="en-US" sz="1100" dirty="0">
              <a:latin typeface="Consolas" panose="020B0609020204030204" pitchFamily="49" charset="0"/>
            </a:endParaRPr>
          </a:p>
          <a:p>
            <a:endParaRPr lang="en-US" sz="1100" dirty="0">
              <a:latin typeface="Consolas" panose="020B0609020204030204" pitchFamily="49" charset="0"/>
            </a:endParaRPr>
          </a:p>
        </p:txBody>
      </p:sp>
    </p:spTree>
    <p:extLst>
      <p:ext uri="{BB962C8B-B14F-4D97-AF65-F5344CB8AC3E}">
        <p14:creationId xmlns:p14="http://schemas.microsoft.com/office/powerpoint/2010/main" val="33648774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 </a:t>
            </a:r>
            <a:r>
              <a:rPr lang="en-US" dirty="0" err="1" smtClean="0"/>
              <a:t>FsSimpleWindow</a:t>
            </a:r>
            <a:r>
              <a:rPr lang="en-US" dirty="0" smtClean="0"/>
              <a:t> / </a:t>
            </a:r>
            <a:r>
              <a:rPr lang="en-US" dirty="0" err="1" smtClean="0"/>
              <a:t>FsLazyWindow</a:t>
            </a:r>
            <a:r>
              <a:rPr lang="en-US" dirty="0" smtClean="0"/>
              <a:t> frameworks</a:t>
            </a:r>
            <a:endParaRPr lang="en-US" dirty="0"/>
          </a:p>
        </p:txBody>
      </p:sp>
      <p:sp>
        <p:nvSpPr>
          <p:cNvPr id="3" name="Content Placeholder 2"/>
          <p:cNvSpPr>
            <a:spLocks noGrp="1"/>
          </p:cNvSpPr>
          <p:nvPr>
            <p:ph idx="1"/>
          </p:nvPr>
        </p:nvSpPr>
        <p:spPr/>
        <p:txBody>
          <a:bodyPr/>
          <a:lstStyle/>
          <a:p>
            <a:r>
              <a:rPr lang="en-US" dirty="0" smtClean="0"/>
              <a:t>These lines of code is wrapped in a function:</a:t>
            </a:r>
          </a:p>
          <a:p>
            <a:pPr marL="0" indent="0">
              <a:buNone/>
            </a:pPr>
            <a:r>
              <a:rPr lang="en-US" sz="2000" dirty="0" smtClean="0">
                <a:latin typeface="Consolas" panose="020B0609020204030204" pitchFamily="49" charset="0"/>
              </a:rPr>
              <a:t>    void </a:t>
            </a:r>
            <a:r>
              <a:rPr lang="en-US" sz="2000" dirty="0" err="1">
                <a:latin typeface="Consolas" panose="020B0609020204030204" pitchFamily="49" charset="0"/>
              </a:rPr>
              <a:t>FsChangeToProgramDir</a:t>
            </a:r>
            <a:r>
              <a:rPr lang="en-US" sz="2000" dirty="0">
                <a:latin typeface="Consolas" panose="020B0609020204030204" pitchFamily="49" charset="0"/>
              </a:rPr>
              <a:t>(void</a:t>
            </a:r>
            <a:r>
              <a:rPr lang="en-US" sz="2000" dirty="0" smtClean="0">
                <a:latin typeface="Consolas" panose="020B0609020204030204" pitchFamily="49" charset="0"/>
              </a:rPr>
              <a:t>);</a:t>
            </a:r>
            <a:endParaRPr lang="en-US" sz="2000" dirty="0">
              <a:latin typeface="Consolas" panose="020B0609020204030204" pitchFamily="49" charset="0"/>
            </a:endParaRPr>
          </a:p>
          <a:p>
            <a:pPr marL="0" indent="0">
              <a:buNone/>
            </a:pPr>
            <a:endParaRPr lang="en-US" dirty="0" smtClean="0"/>
          </a:p>
          <a:p>
            <a:r>
              <a:rPr lang="en-US" dirty="0" smtClean="0"/>
              <a:t>Call this function once in your program before reading your resources.</a:t>
            </a:r>
          </a:p>
          <a:p>
            <a:endParaRPr lang="en-US" dirty="0" smtClean="0"/>
          </a:p>
          <a:p>
            <a:r>
              <a:rPr lang="en-US" dirty="0" smtClean="0"/>
              <a:t>HOWEVER, If you need to read a data file that is specified as a relative path from the command-line arguments, read the data file specified by the user BEFORE </a:t>
            </a:r>
            <a:r>
              <a:rPr lang="en-US" dirty="0" err="1" smtClean="0"/>
              <a:t>FsChangeToProgramDir</a:t>
            </a:r>
            <a:r>
              <a:rPr lang="en-US" dirty="0" smtClean="0"/>
              <a:t>.</a:t>
            </a:r>
            <a:endParaRPr lang="en-US" dirty="0"/>
          </a:p>
        </p:txBody>
      </p:sp>
    </p:spTree>
    <p:extLst>
      <p:ext uri="{BB962C8B-B14F-4D97-AF65-F5344CB8AC3E}">
        <p14:creationId xmlns:p14="http://schemas.microsoft.com/office/powerpoint/2010/main" val="1581739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Next question: How to deliver files to that directory?</a:t>
            </a:r>
            <a:endParaRPr lang="en-US" dirty="0"/>
          </a:p>
        </p:txBody>
      </p:sp>
      <p:sp>
        <p:nvSpPr>
          <p:cNvPr id="3" name="Content Placeholder 2"/>
          <p:cNvSpPr>
            <a:spLocks noGrp="1"/>
          </p:cNvSpPr>
          <p:nvPr>
            <p:ph idx="1"/>
          </p:nvPr>
        </p:nvSpPr>
        <p:spPr/>
        <p:txBody>
          <a:bodyPr/>
          <a:lstStyle/>
          <a:p>
            <a:r>
              <a:rPr lang="en-US" dirty="0" smtClean="0"/>
              <a:t>Manually?  No way.  If you are dealing with only one project, maybe.  Soon it becomes unmanageable.</a:t>
            </a:r>
          </a:p>
          <a:p>
            <a:r>
              <a:rPr lang="en-US" dirty="0" smtClean="0"/>
              <a:t>Better use post-build command that can be specified in CMakeLists.txt</a:t>
            </a:r>
            <a:endParaRPr lang="en-US" dirty="0"/>
          </a:p>
        </p:txBody>
      </p:sp>
    </p:spTree>
    <p:extLst>
      <p:ext uri="{BB962C8B-B14F-4D97-AF65-F5344CB8AC3E}">
        <p14:creationId xmlns:p14="http://schemas.microsoft.com/office/powerpoint/2010/main" val="1027526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CMakeLists.txt example</a:t>
            </a:r>
            <a:endParaRPr lang="en-US" dirty="0"/>
          </a:p>
        </p:txBody>
      </p:sp>
      <p:sp>
        <p:nvSpPr>
          <p:cNvPr id="4" name="TextBox 3"/>
          <p:cNvSpPr txBox="1"/>
          <p:nvPr/>
        </p:nvSpPr>
        <p:spPr>
          <a:xfrm>
            <a:off x="457200" y="1162050"/>
            <a:ext cx="8186857" cy="5170646"/>
          </a:xfrm>
          <a:prstGeom prst="rect">
            <a:avLst/>
          </a:prstGeom>
          <a:noFill/>
        </p:spPr>
        <p:txBody>
          <a:bodyPr wrap="none" rtlCol="0">
            <a:spAutoFit/>
          </a:bodyPr>
          <a:lstStyle/>
          <a:p>
            <a:r>
              <a:rPr lang="en-US" sz="1100" dirty="0">
                <a:latin typeface="Consolas" panose="020B0609020204030204" pitchFamily="49" charset="0"/>
              </a:rPr>
              <a:t>set(TARGET_NAME </a:t>
            </a:r>
            <a:r>
              <a:rPr lang="en-US" sz="1100" dirty="0" err="1">
                <a:latin typeface="Consolas" panose="020B0609020204030204" pitchFamily="49" charset="0"/>
              </a:rPr>
              <a:t>pngViewer</a:t>
            </a:r>
            <a:r>
              <a:rPr lang="en-US" sz="1100" dirty="0">
                <a:latin typeface="Consolas" panose="020B0609020204030204" pitchFamily="49" charset="0"/>
              </a:rPr>
              <a:t>)</a:t>
            </a:r>
          </a:p>
          <a:p>
            <a:r>
              <a:rPr lang="en-US" sz="1100" dirty="0" err="1">
                <a:latin typeface="Consolas" panose="020B0609020204030204" pitchFamily="49" charset="0"/>
              </a:rPr>
              <a:t>add_executable</a:t>
            </a:r>
            <a:r>
              <a:rPr lang="en-US" sz="1100" dirty="0">
                <a:latin typeface="Consolas" panose="020B0609020204030204" pitchFamily="49" charset="0"/>
              </a:rPr>
              <a:t>(${TARGET_NAME} MACOSX_BUNDLE main.cpp)</a:t>
            </a:r>
          </a:p>
          <a:p>
            <a:r>
              <a:rPr lang="en-US" sz="1100" dirty="0" err="1">
                <a:latin typeface="Consolas" panose="020B0609020204030204" pitchFamily="49" charset="0"/>
              </a:rPr>
              <a:t>target_link_libraries</a:t>
            </a:r>
            <a:r>
              <a:rPr lang="en-US" sz="1100" dirty="0">
                <a:latin typeface="Consolas" panose="020B0609020204030204" pitchFamily="49" charset="0"/>
              </a:rPr>
              <a:t>(${TARGET_NAME} </a:t>
            </a:r>
            <a:r>
              <a:rPr lang="en-US" sz="1100" dirty="0" err="1">
                <a:latin typeface="Consolas" panose="020B0609020204030204" pitchFamily="49" charset="0"/>
              </a:rPr>
              <a:t>fslazywindow</a:t>
            </a:r>
            <a:r>
              <a:rPr lang="en-US" sz="1100" dirty="0">
                <a:latin typeface="Consolas" panose="020B0609020204030204" pitchFamily="49" charset="0"/>
              </a:rPr>
              <a:t> </a:t>
            </a:r>
            <a:r>
              <a:rPr lang="en-US" sz="1100" dirty="0" err="1">
                <a:latin typeface="Consolas" panose="020B0609020204030204" pitchFamily="49" charset="0"/>
              </a:rPr>
              <a:t>ysbitmap</a:t>
            </a:r>
            <a:r>
              <a:rPr lang="en-US" sz="1100" dirty="0">
                <a:latin typeface="Consolas" panose="020B0609020204030204" pitchFamily="49" charset="0"/>
              </a:rPr>
              <a:t>)</a:t>
            </a:r>
          </a:p>
          <a:p>
            <a:endParaRPr lang="en-US" sz="1100" dirty="0">
              <a:latin typeface="Consolas" panose="020B0609020204030204" pitchFamily="49" charset="0"/>
            </a:endParaRPr>
          </a:p>
          <a:p>
            <a:endParaRPr lang="en-US" sz="1100" dirty="0">
              <a:latin typeface="Consolas" panose="020B0609020204030204" pitchFamily="49" charset="0"/>
            </a:endParaRPr>
          </a:p>
          <a:p>
            <a:r>
              <a:rPr lang="en-US" sz="1100" dirty="0">
                <a:latin typeface="Consolas" panose="020B0609020204030204" pitchFamily="49" charset="0"/>
              </a:rPr>
              <a:t>set(DATA_SOURCE ${CMAKE_CURRENT_SOURCE_DIR}/data)</a:t>
            </a:r>
          </a:p>
          <a:p>
            <a:endParaRPr lang="en-US" sz="1100" dirty="0">
              <a:latin typeface="Consolas" panose="020B0609020204030204" pitchFamily="49" charset="0"/>
            </a:endParaRPr>
          </a:p>
          <a:p>
            <a:endParaRPr lang="en-US" sz="1100" dirty="0">
              <a:latin typeface="Consolas" panose="020B0609020204030204" pitchFamily="49" charset="0"/>
            </a:endParaRPr>
          </a:p>
          <a:p>
            <a:r>
              <a:rPr lang="en-US" sz="1100" dirty="0" err="1">
                <a:latin typeface="Consolas" panose="020B0609020204030204" pitchFamily="49" charset="0"/>
              </a:rPr>
              <a:t>get_property</a:t>
            </a:r>
            <a:r>
              <a:rPr lang="en-US" sz="1100" dirty="0">
                <a:latin typeface="Consolas" panose="020B0609020204030204" pitchFamily="49" charset="0"/>
              </a:rPr>
              <a:t>(IS_MACOSX_BUNDLE TARGET ${TARGET_NAME} PROPERTY MACOSX_BUNDLE)</a:t>
            </a:r>
          </a:p>
          <a:p>
            <a:r>
              <a:rPr lang="en-US" sz="1100" dirty="0">
                <a:latin typeface="Consolas" panose="020B0609020204030204" pitchFamily="49" charset="0"/>
              </a:rPr>
              <a:t>if(MACOSX AND ${IS_MACOSX_BUNDLE})</a:t>
            </a:r>
          </a:p>
          <a:p>
            <a:r>
              <a:rPr lang="en-US" sz="1100" dirty="0" smtClean="0">
                <a:latin typeface="Consolas" panose="020B0609020204030204" pitchFamily="49" charset="0"/>
              </a:rPr>
              <a:t>    set(DATA_DESTINATION </a:t>
            </a:r>
            <a:r>
              <a:rPr lang="en-US" sz="1100" dirty="0">
                <a:latin typeface="Consolas" panose="020B0609020204030204" pitchFamily="49" charset="0"/>
              </a:rPr>
              <a:t>"$&lt;TARGET_FILE_DIR:${TARGET_NAME}&gt;/../Resources")</a:t>
            </a:r>
          </a:p>
          <a:p>
            <a:r>
              <a:rPr lang="en-US" sz="1100" dirty="0" err="1">
                <a:latin typeface="Consolas" panose="020B0609020204030204" pitchFamily="49" charset="0"/>
              </a:rPr>
              <a:t>elseif</a:t>
            </a:r>
            <a:r>
              <a:rPr lang="en-US" sz="1100" dirty="0">
                <a:latin typeface="Consolas" panose="020B0609020204030204" pitchFamily="49" charset="0"/>
              </a:rPr>
              <a:t>("${CMAKE_SYSTEM_NAME}" STREQUAL "</a:t>
            </a:r>
            <a:r>
              <a:rPr lang="en-US" sz="1100" dirty="0" err="1">
                <a:latin typeface="Consolas" panose="020B0609020204030204" pitchFamily="49" charset="0"/>
              </a:rPr>
              <a:t>WindowsStore</a:t>
            </a:r>
            <a:r>
              <a:rPr lang="en-US" sz="1100" dirty="0">
                <a:latin typeface="Consolas" panose="020B0609020204030204" pitchFamily="49" charset="0"/>
              </a:rPr>
              <a:t>")</a:t>
            </a:r>
          </a:p>
          <a:p>
            <a:r>
              <a:rPr lang="en-US" sz="1100" dirty="0" smtClean="0">
                <a:latin typeface="Consolas" panose="020B0609020204030204" pitchFamily="49" charset="0"/>
              </a:rPr>
              <a:t>    # </a:t>
            </a:r>
            <a:r>
              <a:rPr lang="en-US" sz="1100" dirty="0">
                <a:latin typeface="Consolas" panose="020B0609020204030204" pitchFamily="49" charset="0"/>
              </a:rPr>
              <a:t>YS_IS_UNIVERSAL_WINDOWS_APP is needed for </a:t>
            </a:r>
            <a:r>
              <a:rPr lang="en-US" sz="1100" dirty="0" err="1">
                <a:latin typeface="Consolas" panose="020B0609020204030204" pitchFamily="49" charset="0"/>
              </a:rPr>
              <a:t>ysgl</a:t>
            </a:r>
            <a:r>
              <a:rPr lang="en-US" sz="1100" dirty="0">
                <a:latin typeface="Consolas" panose="020B0609020204030204" pitchFamily="49" charset="0"/>
              </a:rPr>
              <a:t> to distinguish Win32 and UWP in VC</a:t>
            </a:r>
          </a:p>
          <a:p>
            <a:r>
              <a:rPr lang="en-US" sz="1100" dirty="0" smtClean="0">
                <a:latin typeface="Consolas" panose="020B0609020204030204" pitchFamily="49" charset="0"/>
              </a:rPr>
              <a:t>    </a:t>
            </a:r>
            <a:r>
              <a:rPr lang="en-US" sz="1100" dirty="0" err="1" smtClean="0">
                <a:latin typeface="Consolas" panose="020B0609020204030204" pitchFamily="49" charset="0"/>
              </a:rPr>
              <a:t>add_definitions</a:t>
            </a:r>
            <a:r>
              <a:rPr lang="en-US" sz="1100" dirty="0">
                <a:latin typeface="Consolas" panose="020B0609020204030204" pitchFamily="49" charset="0"/>
              </a:rPr>
              <a:t>(-DYS_IS_UNIVERSAL_WINDOWS_APP)</a:t>
            </a:r>
          </a:p>
          <a:p>
            <a:r>
              <a:rPr lang="en-US" sz="1100" dirty="0" smtClean="0">
                <a:latin typeface="Consolas" panose="020B0609020204030204" pitchFamily="49" charset="0"/>
              </a:rPr>
              <a:t>    set(CMAKE_CXX_FLAGS </a:t>
            </a:r>
            <a:r>
              <a:rPr lang="en-US" sz="1100" dirty="0">
                <a:latin typeface="Consolas" panose="020B0609020204030204" pitchFamily="49" charset="0"/>
              </a:rPr>
              <a:t>"${CMAKE_CXX_FLAGS} /ZW")</a:t>
            </a:r>
          </a:p>
          <a:p>
            <a:r>
              <a:rPr lang="en-US" sz="1100" dirty="0" smtClean="0">
                <a:latin typeface="Consolas" panose="020B0609020204030204" pitchFamily="49" charset="0"/>
              </a:rPr>
              <a:t>    set(CMAKE_C_FLAGS </a:t>
            </a:r>
            <a:r>
              <a:rPr lang="en-US" sz="1100" dirty="0">
                <a:latin typeface="Consolas" panose="020B0609020204030204" pitchFamily="49" charset="0"/>
              </a:rPr>
              <a:t>"${CMAKE_C_FLAGS} /ZW")</a:t>
            </a:r>
          </a:p>
          <a:p>
            <a:r>
              <a:rPr lang="en-US" sz="1100" dirty="0" smtClean="0">
                <a:latin typeface="Consolas" panose="020B0609020204030204" pitchFamily="49" charset="0"/>
              </a:rPr>
              <a:t>    set(DATA_DESTINATION </a:t>
            </a:r>
            <a:r>
              <a:rPr lang="en-US" sz="1100" dirty="0">
                <a:latin typeface="Consolas" panose="020B0609020204030204" pitchFamily="49" charset="0"/>
              </a:rPr>
              <a:t>"$&lt;TARGET_FILE_DIR:${TARGET_NAME}&gt;/Assets")</a:t>
            </a:r>
          </a:p>
          <a:p>
            <a:r>
              <a:rPr lang="en-US" sz="1100" dirty="0" err="1">
                <a:latin typeface="Consolas" panose="020B0609020204030204" pitchFamily="49" charset="0"/>
              </a:rPr>
              <a:t>elseif</a:t>
            </a:r>
            <a:r>
              <a:rPr lang="en-US" sz="1100" dirty="0">
                <a:latin typeface="Consolas" panose="020B0609020204030204" pitchFamily="49" charset="0"/>
              </a:rPr>
              <a:t>(MSVC)</a:t>
            </a:r>
          </a:p>
          <a:p>
            <a:r>
              <a:rPr lang="en-US" sz="1100" dirty="0" smtClean="0">
                <a:latin typeface="Consolas" panose="020B0609020204030204" pitchFamily="49" charset="0"/>
              </a:rPr>
              <a:t>    set(DATA_DESTINATION </a:t>
            </a:r>
            <a:r>
              <a:rPr lang="en-US" sz="1100" dirty="0">
                <a:latin typeface="Consolas" panose="020B0609020204030204" pitchFamily="49" charset="0"/>
              </a:rPr>
              <a:t>"$&lt;TARGET_FILE_DIR:${TARGET_NAME}&gt;")</a:t>
            </a:r>
          </a:p>
          <a:p>
            <a:r>
              <a:rPr lang="en-US" sz="1100" dirty="0">
                <a:latin typeface="Consolas" panose="020B0609020204030204" pitchFamily="49" charset="0"/>
              </a:rPr>
              <a:t>else()</a:t>
            </a:r>
          </a:p>
          <a:p>
            <a:r>
              <a:rPr lang="en-US" sz="1100" dirty="0" smtClean="0">
                <a:latin typeface="Consolas" panose="020B0609020204030204" pitchFamily="49" charset="0"/>
              </a:rPr>
              <a:t>    set(DATA_DESTINATION </a:t>
            </a:r>
            <a:r>
              <a:rPr lang="en-US" sz="1100" dirty="0">
                <a:latin typeface="Consolas" panose="020B0609020204030204" pitchFamily="49" charset="0"/>
              </a:rPr>
              <a:t>"$&lt;TARGET_FILE_DIR:${TARGET_NAME}&gt;")</a:t>
            </a:r>
          </a:p>
          <a:p>
            <a:r>
              <a:rPr lang="en-US" sz="1100" dirty="0" err="1">
                <a:latin typeface="Consolas" panose="020B0609020204030204" pitchFamily="49" charset="0"/>
              </a:rPr>
              <a:t>endif</a:t>
            </a:r>
            <a:r>
              <a:rPr lang="en-US" sz="1100" dirty="0">
                <a:latin typeface="Consolas" panose="020B0609020204030204" pitchFamily="49" charset="0"/>
              </a:rPr>
              <a:t>()</a:t>
            </a:r>
          </a:p>
          <a:p>
            <a:endParaRPr lang="en-US" sz="1100" dirty="0">
              <a:latin typeface="Consolas" panose="020B0609020204030204" pitchFamily="49" charset="0"/>
            </a:endParaRPr>
          </a:p>
          <a:p>
            <a:endParaRPr lang="en-US" sz="1100" dirty="0">
              <a:latin typeface="Consolas" panose="020B0609020204030204" pitchFamily="49" charset="0"/>
            </a:endParaRPr>
          </a:p>
          <a:p>
            <a:r>
              <a:rPr lang="en-US" sz="1100" dirty="0" err="1">
                <a:latin typeface="Consolas" panose="020B0609020204030204" pitchFamily="49" charset="0"/>
              </a:rPr>
              <a:t>foreach</a:t>
            </a:r>
            <a:r>
              <a:rPr lang="en-US" sz="1100" dirty="0">
                <a:latin typeface="Consolas" panose="020B0609020204030204" pitchFamily="49" charset="0"/>
              </a:rPr>
              <a:t>(ONE_DATA_SOURCE ${DATA_SOURCE})</a:t>
            </a:r>
          </a:p>
          <a:p>
            <a:r>
              <a:rPr lang="en-US" sz="1100" dirty="0" smtClean="0">
                <a:latin typeface="Consolas" panose="020B0609020204030204" pitchFamily="49" charset="0"/>
              </a:rPr>
              <a:t>    </a:t>
            </a:r>
            <a:r>
              <a:rPr lang="en-US" sz="1100" dirty="0" err="1" smtClean="0">
                <a:latin typeface="Consolas" panose="020B0609020204030204" pitchFamily="49" charset="0"/>
              </a:rPr>
              <a:t>add_custom_command</a:t>
            </a:r>
            <a:r>
              <a:rPr lang="en-US" sz="1100" dirty="0" smtClean="0">
                <a:latin typeface="Consolas" panose="020B0609020204030204" pitchFamily="49" charset="0"/>
              </a:rPr>
              <a:t>(TARGET </a:t>
            </a:r>
            <a:r>
              <a:rPr lang="en-US" sz="1100" dirty="0">
                <a:latin typeface="Consolas" panose="020B0609020204030204" pitchFamily="49" charset="0"/>
              </a:rPr>
              <a:t>${TARGET_NAME} POST_BUILD </a:t>
            </a:r>
          </a:p>
          <a:p>
            <a:r>
              <a:rPr lang="en-US" sz="1100" dirty="0" smtClean="0">
                <a:latin typeface="Consolas" panose="020B0609020204030204" pitchFamily="49" charset="0"/>
              </a:rPr>
              <a:t>        COMMAND </a:t>
            </a:r>
            <a:r>
              <a:rPr lang="en-US" sz="1100" dirty="0">
                <a:latin typeface="Consolas" panose="020B0609020204030204" pitchFamily="49" charset="0"/>
              </a:rPr>
              <a:t>"${CMAKE_COMMAND}" -E </a:t>
            </a:r>
            <a:r>
              <a:rPr lang="en-US" sz="1100" dirty="0" err="1">
                <a:latin typeface="Consolas" panose="020B0609020204030204" pitchFamily="49" charset="0"/>
              </a:rPr>
              <a:t>make_directory</a:t>
            </a:r>
            <a:r>
              <a:rPr lang="en-US" sz="1100" dirty="0">
                <a:latin typeface="Consolas" panose="020B0609020204030204" pitchFamily="49" charset="0"/>
              </a:rPr>
              <a:t> \"${DATA_DESTINATION}\"</a:t>
            </a:r>
          </a:p>
          <a:p>
            <a:r>
              <a:rPr lang="en-US" sz="1100" dirty="0" smtClean="0">
                <a:latin typeface="Consolas" panose="020B0609020204030204" pitchFamily="49" charset="0"/>
              </a:rPr>
              <a:t>        COMMAND </a:t>
            </a:r>
            <a:r>
              <a:rPr lang="en-US" sz="1100" dirty="0">
                <a:latin typeface="Consolas" panose="020B0609020204030204" pitchFamily="49" charset="0"/>
              </a:rPr>
              <a:t>"${CMAKE_COMMAND}" -E </a:t>
            </a:r>
            <a:r>
              <a:rPr lang="en-US" sz="1100" dirty="0" err="1">
                <a:latin typeface="Consolas" panose="020B0609020204030204" pitchFamily="49" charset="0"/>
              </a:rPr>
              <a:t>copy_directory</a:t>
            </a:r>
            <a:r>
              <a:rPr lang="en-US" sz="1100" dirty="0">
                <a:latin typeface="Consolas" panose="020B0609020204030204" pitchFamily="49" charset="0"/>
              </a:rPr>
              <a:t> \"${ONE_DATA_SOURCE}\" \"${DATA_DESTINATION}\")</a:t>
            </a:r>
          </a:p>
          <a:p>
            <a:r>
              <a:rPr lang="en-US" sz="1100" dirty="0" err="1">
                <a:latin typeface="Consolas" panose="020B0609020204030204" pitchFamily="49" charset="0"/>
              </a:rPr>
              <a:t>endforeach</a:t>
            </a:r>
            <a:r>
              <a:rPr lang="en-US" sz="1100" dirty="0">
                <a:latin typeface="Consolas" panose="020B0609020204030204" pitchFamily="49" charset="0"/>
              </a:rPr>
              <a:t>(ONE_DATA_SOURCE)</a:t>
            </a:r>
          </a:p>
          <a:p>
            <a:endParaRPr lang="en-US" sz="1100" dirty="0">
              <a:latin typeface="Consolas" panose="020B0609020204030204" pitchFamily="49" charset="0"/>
            </a:endParaRPr>
          </a:p>
        </p:txBody>
      </p:sp>
      <p:sp>
        <p:nvSpPr>
          <p:cNvPr id="6" name="Right Brace 5"/>
          <p:cNvSpPr/>
          <p:nvPr/>
        </p:nvSpPr>
        <p:spPr>
          <a:xfrm>
            <a:off x="7404100" y="2482850"/>
            <a:ext cx="228600" cy="271145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p:cNvSpPr txBox="1"/>
          <p:nvPr/>
        </p:nvSpPr>
        <p:spPr>
          <a:xfrm>
            <a:off x="7670800" y="3327400"/>
            <a:ext cx="1390650" cy="923330"/>
          </a:xfrm>
          <a:prstGeom prst="rect">
            <a:avLst/>
          </a:prstGeom>
          <a:noFill/>
        </p:spPr>
        <p:txBody>
          <a:bodyPr wrap="square" rtlCol="0">
            <a:spAutoFit/>
          </a:bodyPr>
          <a:lstStyle/>
          <a:p>
            <a:r>
              <a:rPr lang="en-US" dirty="0" smtClean="0">
                <a:solidFill>
                  <a:srgbClr val="FF0000"/>
                </a:solidFill>
              </a:rPr>
              <a:t>Setting up copy destination</a:t>
            </a:r>
            <a:endParaRPr lang="en-US" dirty="0">
              <a:solidFill>
                <a:srgbClr val="FF0000"/>
              </a:solidFill>
            </a:endParaRPr>
          </a:p>
        </p:txBody>
      </p:sp>
      <p:cxnSp>
        <p:nvCxnSpPr>
          <p:cNvPr id="9" name="Straight Arrow Connector 8"/>
          <p:cNvCxnSpPr>
            <a:stCxn id="10" idx="1"/>
          </p:cNvCxnSpPr>
          <p:nvPr/>
        </p:nvCxnSpPr>
        <p:spPr>
          <a:xfrm flipH="1">
            <a:off x="3467100" y="1358960"/>
            <a:ext cx="1758950" cy="71749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226050" y="1097350"/>
            <a:ext cx="3835400" cy="523220"/>
          </a:xfrm>
          <a:prstGeom prst="rect">
            <a:avLst/>
          </a:prstGeom>
          <a:noFill/>
        </p:spPr>
        <p:txBody>
          <a:bodyPr wrap="square" rtlCol="0">
            <a:spAutoFit/>
          </a:bodyPr>
          <a:lstStyle/>
          <a:p>
            <a:r>
              <a:rPr lang="en-US" sz="1400" dirty="0" smtClean="0">
                <a:solidFill>
                  <a:srgbClr val="FF0000"/>
                </a:solidFill>
              </a:rPr>
              <a:t>${CMAKE_CURRENT_SOURCE_DIR} is the directory where this CMakeLists.txt resides.</a:t>
            </a:r>
            <a:endParaRPr lang="en-US" sz="1400" dirty="0">
              <a:solidFill>
                <a:srgbClr val="FF0000"/>
              </a:solidFill>
            </a:endParaRPr>
          </a:p>
        </p:txBody>
      </p:sp>
      <p:cxnSp>
        <p:nvCxnSpPr>
          <p:cNvPr id="13" name="Straight Arrow Connector 12"/>
          <p:cNvCxnSpPr/>
          <p:nvPr/>
        </p:nvCxnSpPr>
        <p:spPr>
          <a:xfrm flipH="1">
            <a:off x="2890271" y="5358512"/>
            <a:ext cx="1720095" cy="65222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4552819" y="5175117"/>
            <a:ext cx="4152099" cy="338554"/>
          </a:xfrm>
          <a:prstGeom prst="rect">
            <a:avLst/>
          </a:prstGeom>
          <a:noFill/>
        </p:spPr>
        <p:txBody>
          <a:bodyPr wrap="none" rtlCol="0">
            <a:spAutoFit/>
          </a:bodyPr>
          <a:lstStyle/>
          <a:p>
            <a:r>
              <a:rPr lang="en-US" sz="1600" dirty="0" smtClean="0">
                <a:solidFill>
                  <a:srgbClr val="FF0000"/>
                </a:solidFill>
              </a:rPr>
              <a:t>${CMAKE_COMMAND} is cmake.exe itself.</a:t>
            </a:r>
            <a:endParaRPr lang="en-US" sz="1600" dirty="0">
              <a:solidFill>
                <a:srgbClr val="FF0000"/>
              </a:solidFill>
            </a:endParaRPr>
          </a:p>
        </p:txBody>
      </p:sp>
    </p:spTree>
    <p:extLst>
      <p:ext uri="{BB962C8B-B14F-4D97-AF65-F5344CB8AC3E}">
        <p14:creationId xmlns:p14="http://schemas.microsoft.com/office/powerpoint/2010/main" val="16017315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First Part</a:t>
            </a:r>
            <a:endParaRPr lang="en-US" dirty="0"/>
          </a:p>
        </p:txBody>
      </p:sp>
      <p:sp>
        <p:nvSpPr>
          <p:cNvPr id="3" name="Content Placeholder 2"/>
          <p:cNvSpPr>
            <a:spLocks noGrp="1"/>
          </p:cNvSpPr>
          <p:nvPr>
            <p:ph idx="1"/>
          </p:nvPr>
        </p:nvSpPr>
        <p:spPr/>
        <p:txBody>
          <a:bodyPr/>
          <a:lstStyle/>
          <a:p>
            <a:r>
              <a:rPr lang="en-US" dirty="0" smtClean="0"/>
              <a:t>To make later part re-usable, set a variable called TARGET_NAME</a:t>
            </a:r>
          </a:p>
          <a:p>
            <a:r>
              <a:rPr lang="en-US" dirty="0" smtClean="0"/>
              <a:t>DATA_SOURCE is a directory that stores all data files.  Files and sub-directories will be copied to the location where the executable can see.</a:t>
            </a:r>
            <a:endParaRPr lang="en-US" dirty="0"/>
          </a:p>
        </p:txBody>
      </p:sp>
      <p:sp>
        <p:nvSpPr>
          <p:cNvPr id="4" name="TextBox 3"/>
          <p:cNvSpPr txBox="1"/>
          <p:nvPr/>
        </p:nvSpPr>
        <p:spPr>
          <a:xfrm>
            <a:off x="457200" y="3441700"/>
            <a:ext cx="7656263" cy="1646605"/>
          </a:xfrm>
          <a:prstGeom prst="rect">
            <a:avLst/>
          </a:prstGeom>
          <a:noFill/>
        </p:spPr>
        <p:txBody>
          <a:bodyPr wrap="none" rtlCol="0">
            <a:spAutoFit/>
          </a:bodyPr>
          <a:lstStyle/>
          <a:p>
            <a:r>
              <a:rPr lang="en-US" dirty="0">
                <a:latin typeface="Consolas" panose="020B0609020204030204" pitchFamily="49" charset="0"/>
              </a:rPr>
              <a:t>set(TARGET_NAME </a:t>
            </a:r>
            <a:r>
              <a:rPr lang="en-US" dirty="0" err="1">
                <a:latin typeface="Consolas" panose="020B0609020204030204" pitchFamily="49" charset="0"/>
              </a:rPr>
              <a:t>pngViewer</a:t>
            </a:r>
            <a:r>
              <a:rPr lang="en-US" dirty="0">
                <a:latin typeface="Consolas" panose="020B0609020204030204" pitchFamily="49" charset="0"/>
              </a:rPr>
              <a:t>)</a:t>
            </a:r>
          </a:p>
          <a:p>
            <a:r>
              <a:rPr lang="en-US" dirty="0" err="1">
                <a:latin typeface="Consolas" panose="020B0609020204030204" pitchFamily="49" charset="0"/>
              </a:rPr>
              <a:t>add_executable</a:t>
            </a:r>
            <a:r>
              <a:rPr lang="en-US" dirty="0">
                <a:latin typeface="Consolas" panose="020B0609020204030204" pitchFamily="49" charset="0"/>
              </a:rPr>
              <a:t>(${TARGET_NAME} MACOSX_BUNDLE main.cpp)</a:t>
            </a:r>
          </a:p>
          <a:p>
            <a:r>
              <a:rPr lang="en-US" dirty="0" err="1">
                <a:latin typeface="Consolas" panose="020B0609020204030204" pitchFamily="49" charset="0"/>
              </a:rPr>
              <a:t>target_link_libraries</a:t>
            </a:r>
            <a:r>
              <a:rPr lang="en-US" dirty="0">
                <a:latin typeface="Consolas" panose="020B0609020204030204" pitchFamily="49" charset="0"/>
              </a:rPr>
              <a:t>(${TARGET_NAME} </a:t>
            </a:r>
            <a:r>
              <a:rPr lang="en-US" dirty="0" err="1">
                <a:latin typeface="Consolas" panose="020B0609020204030204" pitchFamily="49" charset="0"/>
              </a:rPr>
              <a:t>fslazywindow</a:t>
            </a:r>
            <a:r>
              <a:rPr lang="en-US" dirty="0">
                <a:latin typeface="Consolas" panose="020B0609020204030204" pitchFamily="49" charset="0"/>
              </a:rPr>
              <a:t> </a:t>
            </a:r>
            <a:r>
              <a:rPr lang="en-US" dirty="0" err="1">
                <a:latin typeface="Consolas" panose="020B0609020204030204" pitchFamily="49" charset="0"/>
              </a:rPr>
              <a:t>ysbitmap</a:t>
            </a:r>
            <a:r>
              <a:rPr lang="en-US" dirty="0" smtClean="0">
                <a:latin typeface="Consolas" panose="020B0609020204030204" pitchFamily="49" charset="0"/>
              </a:rPr>
              <a:t>)</a:t>
            </a:r>
          </a:p>
          <a:p>
            <a:endParaRPr lang="en-US" dirty="0">
              <a:latin typeface="Consolas" panose="020B0609020204030204" pitchFamily="49" charset="0"/>
            </a:endParaRPr>
          </a:p>
          <a:p>
            <a:r>
              <a:rPr lang="en-US" dirty="0">
                <a:latin typeface="Consolas" panose="020B0609020204030204" pitchFamily="49" charset="0"/>
              </a:rPr>
              <a:t>set(DATA_SOURCE ${CMAKE_CURRENT_SOURCE_DIR}/data)</a:t>
            </a:r>
          </a:p>
          <a:p>
            <a:endParaRPr lang="en-US" sz="1100" dirty="0">
              <a:latin typeface="Consolas" panose="020B0609020204030204" pitchFamily="49" charset="0"/>
            </a:endParaRPr>
          </a:p>
        </p:txBody>
      </p:sp>
    </p:spTree>
    <p:extLst>
      <p:ext uri="{BB962C8B-B14F-4D97-AF65-F5344CB8AC3E}">
        <p14:creationId xmlns:p14="http://schemas.microsoft.com/office/powerpoint/2010/main" val="14743287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Second Part</a:t>
            </a:r>
            <a:endParaRPr lang="en-US" dirty="0"/>
          </a:p>
        </p:txBody>
      </p:sp>
      <p:sp>
        <p:nvSpPr>
          <p:cNvPr id="3" name="Content Placeholder 2"/>
          <p:cNvSpPr>
            <a:spLocks noGrp="1"/>
          </p:cNvSpPr>
          <p:nvPr>
            <p:ph idx="1"/>
          </p:nvPr>
        </p:nvSpPr>
        <p:spPr/>
        <p:txBody>
          <a:bodyPr/>
          <a:lstStyle/>
          <a:p>
            <a:r>
              <a:rPr lang="en-US" dirty="0" smtClean="0"/>
              <a:t>Identify data file destination.</a:t>
            </a:r>
          </a:p>
          <a:p>
            <a:r>
              <a:rPr lang="en-US" dirty="0" smtClean="0"/>
              <a:t>After this block, the variable DATA_DESTINATION stores where the files must be copied.</a:t>
            </a:r>
            <a:endParaRPr lang="en-US" dirty="0"/>
          </a:p>
        </p:txBody>
      </p:sp>
      <p:sp>
        <p:nvSpPr>
          <p:cNvPr id="4" name="TextBox 3"/>
          <p:cNvSpPr txBox="1"/>
          <p:nvPr/>
        </p:nvSpPr>
        <p:spPr>
          <a:xfrm>
            <a:off x="457200" y="3308350"/>
            <a:ext cx="7576113" cy="2677656"/>
          </a:xfrm>
          <a:prstGeom prst="rect">
            <a:avLst/>
          </a:prstGeom>
          <a:noFill/>
        </p:spPr>
        <p:txBody>
          <a:bodyPr wrap="none" rtlCol="0">
            <a:spAutoFit/>
          </a:bodyPr>
          <a:lstStyle/>
          <a:p>
            <a:r>
              <a:rPr lang="en-US" sz="1200" dirty="0" err="1">
                <a:latin typeface="Consolas" panose="020B0609020204030204" pitchFamily="49" charset="0"/>
              </a:rPr>
              <a:t>get_property</a:t>
            </a:r>
            <a:r>
              <a:rPr lang="en-US" sz="1200" dirty="0">
                <a:latin typeface="Consolas" panose="020B0609020204030204" pitchFamily="49" charset="0"/>
              </a:rPr>
              <a:t>(IS_MACOSX_BUNDLE TARGET ${TARGET_NAME} PROPERTY MACOSX_BUNDLE)</a:t>
            </a:r>
          </a:p>
          <a:p>
            <a:r>
              <a:rPr lang="en-US" sz="1200" dirty="0">
                <a:latin typeface="Consolas" panose="020B0609020204030204" pitchFamily="49" charset="0"/>
              </a:rPr>
              <a:t>if(MACOSX AND ${IS_MACOSX_BUNDLE})</a:t>
            </a:r>
          </a:p>
          <a:p>
            <a:r>
              <a:rPr lang="en-US" sz="1200" dirty="0" smtClean="0">
                <a:latin typeface="Consolas" panose="020B0609020204030204" pitchFamily="49" charset="0"/>
              </a:rPr>
              <a:t>    set(DATA_DESTINATION </a:t>
            </a:r>
            <a:r>
              <a:rPr lang="en-US" sz="1200" dirty="0">
                <a:latin typeface="Consolas" panose="020B0609020204030204" pitchFamily="49" charset="0"/>
              </a:rPr>
              <a:t>"$&lt;TARGET_FILE_DIR:${TARGET_NAME}&gt;/../Resources")</a:t>
            </a:r>
          </a:p>
          <a:p>
            <a:r>
              <a:rPr lang="en-US" sz="1200" dirty="0" err="1">
                <a:latin typeface="Consolas" panose="020B0609020204030204" pitchFamily="49" charset="0"/>
              </a:rPr>
              <a:t>elseif</a:t>
            </a:r>
            <a:r>
              <a:rPr lang="en-US" sz="1200" dirty="0">
                <a:latin typeface="Consolas" panose="020B0609020204030204" pitchFamily="49" charset="0"/>
              </a:rPr>
              <a:t>("${CMAKE_SYSTEM_NAME}" STREQUAL "</a:t>
            </a:r>
            <a:r>
              <a:rPr lang="en-US" sz="1200" dirty="0" err="1">
                <a:latin typeface="Consolas" panose="020B0609020204030204" pitchFamily="49" charset="0"/>
              </a:rPr>
              <a:t>WindowsStore</a:t>
            </a:r>
            <a:r>
              <a:rPr lang="en-US" sz="1200" dirty="0">
                <a:latin typeface="Consolas" panose="020B0609020204030204" pitchFamily="49" charset="0"/>
              </a:rPr>
              <a:t>")</a:t>
            </a:r>
          </a:p>
          <a:p>
            <a:r>
              <a:rPr lang="en-US" sz="1200" dirty="0" smtClean="0">
                <a:latin typeface="Consolas" panose="020B0609020204030204" pitchFamily="49" charset="0"/>
              </a:rPr>
              <a:t>    # </a:t>
            </a:r>
            <a:r>
              <a:rPr lang="en-US" sz="1200" dirty="0">
                <a:latin typeface="Consolas" panose="020B0609020204030204" pitchFamily="49" charset="0"/>
              </a:rPr>
              <a:t>YS_IS_UNIVERSAL_WINDOWS_APP is needed for </a:t>
            </a:r>
            <a:r>
              <a:rPr lang="en-US" sz="1200" dirty="0" err="1">
                <a:latin typeface="Consolas" panose="020B0609020204030204" pitchFamily="49" charset="0"/>
              </a:rPr>
              <a:t>ysgl</a:t>
            </a:r>
            <a:r>
              <a:rPr lang="en-US" sz="1200" dirty="0">
                <a:latin typeface="Consolas" panose="020B0609020204030204" pitchFamily="49" charset="0"/>
              </a:rPr>
              <a:t> to distinguish Win32 and UWP in VC</a:t>
            </a:r>
          </a:p>
          <a:p>
            <a:r>
              <a:rPr lang="en-US" sz="1200" dirty="0" smtClean="0">
                <a:latin typeface="Consolas" panose="020B0609020204030204" pitchFamily="49" charset="0"/>
              </a:rPr>
              <a:t>    </a:t>
            </a:r>
            <a:r>
              <a:rPr lang="en-US" sz="1200" dirty="0" err="1" smtClean="0">
                <a:latin typeface="Consolas" panose="020B0609020204030204" pitchFamily="49" charset="0"/>
              </a:rPr>
              <a:t>add_definitions</a:t>
            </a:r>
            <a:r>
              <a:rPr lang="en-US" sz="1200" dirty="0">
                <a:latin typeface="Consolas" panose="020B0609020204030204" pitchFamily="49" charset="0"/>
              </a:rPr>
              <a:t>(-DYS_IS_UNIVERSAL_WINDOWS_APP)</a:t>
            </a:r>
          </a:p>
          <a:p>
            <a:r>
              <a:rPr lang="en-US" sz="1200" dirty="0" smtClean="0">
                <a:latin typeface="Consolas" panose="020B0609020204030204" pitchFamily="49" charset="0"/>
              </a:rPr>
              <a:t>    set(CMAKE_CXX_FLAGS </a:t>
            </a:r>
            <a:r>
              <a:rPr lang="en-US" sz="1200" dirty="0">
                <a:latin typeface="Consolas" panose="020B0609020204030204" pitchFamily="49" charset="0"/>
              </a:rPr>
              <a:t>"${CMAKE_CXX_FLAGS} /ZW")</a:t>
            </a:r>
          </a:p>
          <a:p>
            <a:r>
              <a:rPr lang="en-US" sz="1200" dirty="0" smtClean="0">
                <a:latin typeface="Consolas" panose="020B0609020204030204" pitchFamily="49" charset="0"/>
              </a:rPr>
              <a:t>    set(CMAKE_C_FLAGS </a:t>
            </a:r>
            <a:r>
              <a:rPr lang="en-US" sz="1200" dirty="0">
                <a:latin typeface="Consolas" panose="020B0609020204030204" pitchFamily="49" charset="0"/>
              </a:rPr>
              <a:t>"${CMAKE_C_FLAGS} /ZW")</a:t>
            </a:r>
          </a:p>
          <a:p>
            <a:r>
              <a:rPr lang="en-US" sz="1200" dirty="0" smtClean="0">
                <a:latin typeface="Consolas" panose="020B0609020204030204" pitchFamily="49" charset="0"/>
              </a:rPr>
              <a:t>    set(DATA_DESTINATION </a:t>
            </a:r>
            <a:r>
              <a:rPr lang="en-US" sz="1200" dirty="0">
                <a:latin typeface="Consolas" panose="020B0609020204030204" pitchFamily="49" charset="0"/>
              </a:rPr>
              <a:t>"$&lt;TARGET_FILE_DIR:${TARGET_NAME}&gt;/Assets")</a:t>
            </a:r>
          </a:p>
          <a:p>
            <a:r>
              <a:rPr lang="en-US" sz="1200" dirty="0" err="1">
                <a:latin typeface="Consolas" panose="020B0609020204030204" pitchFamily="49" charset="0"/>
              </a:rPr>
              <a:t>elseif</a:t>
            </a:r>
            <a:r>
              <a:rPr lang="en-US" sz="1200" dirty="0">
                <a:latin typeface="Consolas" panose="020B0609020204030204" pitchFamily="49" charset="0"/>
              </a:rPr>
              <a:t>(MSVC)</a:t>
            </a:r>
          </a:p>
          <a:p>
            <a:r>
              <a:rPr lang="en-US" sz="1200" dirty="0" smtClean="0">
                <a:latin typeface="Consolas" panose="020B0609020204030204" pitchFamily="49" charset="0"/>
              </a:rPr>
              <a:t>    set(DATA_DESTINATION </a:t>
            </a:r>
            <a:r>
              <a:rPr lang="en-US" sz="1200" dirty="0">
                <a:latin typeface="Consolas" panose="020B0609020204030204" pitchFamily="49" charset="0"/>
              </a:rPr>
              <a:t>"$&lt;TARGET_FILE_DIR:${TARGET_NAME}&gt;")</a:t>
            </a:r>
          </a:p>
          <a:p>
            <a:r>
              <a:rPr lang="en-US" sz="1200" dirty="0">
                <a:latin typeface="Consolas" panose="020B0609020204030204" pitchFamily="49" charset="0"/>
              </a:rPr>
              <a:t>else()</a:t>
            </a:r>
          </a:p>
          <a:p>
            <a:r>
              <a:rPr lang="en-US" sz="1200" dirty="0" smtClean="0">
                <a:latin typeface="Consolas" panose="020B0609020204030204" pitchFamily="49" charset="0"/>
              </a:rPr>
              <a:t>    set(DATA_DESTINATION </a:t>
            </a:r>
            <a:r>
              <a:rPr lang="en-US" sz="1200" dirty="0">
                <a:latin typeface="Consolas" panose="020B0609020204030204" pitchFamily="49" charset="0"/>
              </a:rPr>
              <a:t>"$&lt;TARGET_FILE_DIR:${TARGET_NAME}&gt;")</a:t>
            </a:r>
          </a:p>
          <a:p>
            <a:r>
              <a:rPr lang="en-US" sz="1200" dirty="0" err="1">
                <a:latin typeface="Consolas" panose="020B0609020204030204" pitchFamily="49" charset="0"/>
              </a:rPr>
              <a:t>endif</a:t>
            </a:r>
            <a:r>
              <a:rPr lang="en-US" sz="1200" dirty="0">
                <a:latin typeface="Consolas" panose="020B0609020204030204" pitchFamily="49" charset="0"/>
              </a:rPr>
              <a:t>()</a:t>
            </a:r>
            <a:endParaRPr lang="en-US" sz="1200" dirty="0"/>
          </a:p>
        </p:txBody>
      </p:sp>
      <p:sp>
        <p:nvSpPr>
          <p:cNvPr id="5" name="Rounded Rectangle 4"/>
          <p:cNvSpPr/>
          <p:nvPr/>
        </p:nvSpPr>
        <p:spPr>
          <a:xfrm>
            <a:off x="3048000" y="3308350"/>
            <a:ext cx="1797050" cy="2540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4895850" y="3308350"/>
            <a:ext cx="1898650" cy="288131"/>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3946525" y="2778779"/>
            <a:ext cx="1274708" cy="369332"/>
          </a:xfrm>
          <a:prstGeom prst="rect">
            <a:avLst/>
          </a:prstGeom>
          <a:noFill/>
        </p:spPr>
        <p:txBody>
          <a:bodyPr wrap="none" rtlCol="0">
            <a:spAutoFit/>
          </a:bodyPr>
          <a:lstStyle/>
          <a:p>
            <a:r>
              <a:rPr lang="en-US" dirty="0" smtClean="0">
                <a:solidFill>
                  <a:srgbClr val="FF0000"/>
                </a:solidFill>
              </a:rPr>
              <a:t>This target</a:t>
            </a:r>
            <a:endParaRPr lang="en-US" dirty="0">
              <a:solidFill>
                <a:srgbClr val="FF0000"/>
              </a:solidFill>
            </a:endParaRPr>
          </a:p>
        </p:txBody>
      </p:sp>
      <p:sp>
        <p:nvSpPr>
          <p:cNvPr id="8" name="TextBox 7"/>
          <p:cNvSpPr txBox="1"/>
          <p:nvPr/>
        </p:nvSpPr>
        <p:spPr>
          <a:xfrm>
            <a:off x="5582471" y="2777290"/>
            <a:ext cx="1851789" cy="369332"/>
          </a:xfrm>
          <a:prstGeom prst="rect">
            <a:avLst/>
          </a:prstGeom>
          <a:noFill/>
        </p:spPr>
        <p:txBody>
          <a:bodyPr wrap="none" rtlCol="0">
            <a:spAutoFit/>
          </a:bodyPr>
          <a:lstStyle/>
          <a:p>
            <a:r>
              <a:rPr lang="en-US" dirty="0" smtClean="0">
                <a:solidFill>
                  <a:srgbClr val="FF0000"/>
                </a:solidFill>
              </a:rPr>
              <a:t>This property of </a:t>
            </a:r>
            <a:endParaRPr lang="en-US" dirty="0">
              <a:solidFill>
                <a:srgbClr val="FF0000"/>
              </a:solidFill>
            </a:endParaRPr>
          </a:p>
        </p:txBody>
      </p:sp>
      <p:sp>
        <p:nvSpPr>
          <p:cNvPr id="9" name="TextBox 8"/>
          <p:cNvSpPr txBox="1"/>
          <p:nvPr/>
        </p:nvSpPr>
        <p:spPr>
          <a:xfrm>
            <a:off x="1167636" y="2798861"/>
            <a:ext cx="2659702" cy="369332"/>
          </a:xfrm>
          <a:prstGeom prst="rect">
            <a:avLst/>
          </a:prstGeom>
          <a:noFill/>
        </p:spPr>
        <p:txBody>
          <a:bodyPr wrap="none" rtlCol="0">
            <a:spAutoFit/>
          </a:bodyPr>
          <a:lstStyle/>
          <a:p>
            <a:r>
              <a:rPr lang="en-US" dirty="0" smtClean="0">
                <a:solidFill>
                  <a:srgbClr val="FF0000"/>
                </a:solidFill>
              </a:rPr>
              <a:t>Is copied to this variable</a:t>
            </a:r>
            <a:endParaRPr lang="en-US" dirty="0">
              <a:solidFill>
                <a:srgbClr val="FF0000"/>
              </a:solidFill>
            </a:endParaRPr>
          </a:p>
        </p:txBody>
      </p:sp>
      <p:cxnSp>
        <p:nvCxnSpPr>
          <p:cNvPr id="11" name="Straight Connector 10"/>
          <p:cNvCxnSpPr>
            <a:endCxn id="6" idx="0"/>
          </p:cNvCxnSpPr>
          <p:nvPr/>
        </p:nvCxnSpPr>
        <p:spPr>
          <a:xfrm flipH="1">
            <a:off x="5845175" y="3168193"/>
            <a:ext cx="650875" cy="14015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7" idx="2"/>
            <a:endCxn id="5" idx="0"/>
          </p:cNvCxnSpPr>
          <p:nvPr/>
        </p:nvCxnSpPr>
        <p:spPr>
          <a:xfrm flipH="1">
            <a:off x="3946525" y="3148111"/>
            <a:ext cx="637354" cy="16023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4" name="Freeform 13"/>
          <p:cNvSpPr/>
          <p:nvPr/>
        </p:nvSpPr>
        <p:spPr>
          <a:xfrm>
            <a:off x="4660900" y="2590794"/>
            <a:ext cx="1638300" cy="266706"/>
          </a:xfrm>
          <a:custGeom>
            <a:avLst/>
            <a:gdLst>
              <a:gd name="connsiteX0" fmla="*/ 1638300 w 1638300"/>
              <a:gd name="connsiteY0" fmla="*/ 266706 h 266706"/>
              <a:gd name="connsiteX1" fmla="*/ 825500 w 1638300"/>
              <a:gd name="connsiteY1" fmla="*/ 6 h 266706"/>
              <a:gd name="connsiteX2" fmla="*/ 0 w 1638300"/>
              <a:gd name="connsiteY2" fmla="*/ 260356 h 266706"/>
            </a:gdLst>
            <a:ahLst/>
            <a:cxnLst>
              <a:cxn ang="0">
                <a:pos x="connsiteX0" y="connsiteY0"/>
              </a:cxn>
              <a:cxn ang="0">
                <a:pos x="connsiteX1" y="connsiteY1"/>
              </a:cxn>
              <a:cxn ang="0">
                <a:pos x="connsiteX2" y="connsiteY2"/>
              </a:cxn>
            </a:cxnLst>
            <a:rect l="l" t="t" r="r" b="b"/>
            <a:pathLst>
              <a:path w="1638300" h="266706">
                <a:moveTo>
                  <a:pt x="1638300" y="266706"/>
                </a:moveTo>
                <a:cubicBezTo>
                  <a:pt x="1368425" y="133885"/>
                  <a:pt x="1098550" y="1064"/>
                  <a:pt x="825500" y="6"/>
                </a:cubicBezTo>
                <a:cubicBezTo>
                  <a:pt x="552450" y="-1052"/>
                  <a:pt x="276225" y="129652"/>
                  <a:pt x="0" y="260356"/>
                </a:cubicBezTo>
              </a:path>
            </a:pathLst>
          </a:custGeom>
          <a:noFill/>
          <a:ln>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14"/>
          <p:cNvSpPr/>
          <p:nvPr/>
        </p:nvSpPr>
        <p:spPr>
          <a:xfrm>
            <a:off x="2921000" y="2666407"/>
            <a:ext cx="1460500" cy="210143"/>
          </a:xfrm>
          <a:custGeom>
            <a:avLst/>
            <a:gdLst>
              <a:gd name="connsiteX0" fmla="*/ 1460500 w 1460500"/>
              <a:gd name="connsiteY0" fmla="*/ 159343 h 210143"/>
              <a:gd name="connsiteX1" fmla="*/ 622300 w 1460500"/>
              <a:gd name="connsiteY1" fmla="*/ 593 h 210143"/>
              <a:gd name="connsiteX2" fmla="*/ 0 w 1460500"/>
              <a:gd name="connsiteY2" fmla="*/ 210143 h 210143"/>
            </a:gdLst>
            <a:ahLst/>
            <a:cxnLst>
              <a:cxn ang="0">
                <a:pos x="connsiteX0" y="connsiteY0"/>
              </a:cxn>
              <a:cxn ang="0">
                <a:pos x="connsiteX1" y="connsiteY1"/>
              </a:cxn>
              <a:cxn ang="0">
                <a:pos x="connsiteX2" y="connsiteY2"/>
              </a:cxn>
            </a:cxnLst>
            <a:rect l="l" t="t" r="r" b="b"/>
            <a:pathLst>
              <a:path w="1460500" h="210143">
                <a:moveTo>
                  <a:pt x="1460500" y="159343"/>
                </a:moveTo>
                <a:cubicBezTo>
                  <a:pt x="1163108" y="75734"/>
                  <a:pt x="865717" y="-7874"/>
                  <a:pt x="622300" y="593"/>
                </a:cubicBezTo>
                <a:cubicBezTo>
                  <a:pt x="378883" y="9060"/>
                  <a:pt x="189441" y="109601"/>
                  <a:pt x="0" y="210143"/>
                </a:cubicBezTo>
              </a:path>
            </a:pathLst>
          </a:custGeom>
          <a:noFill/>
          <a:ln>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p:cNvCxnSpPr>
            <a:stCxn id="9" idx="2"/>
          </p:cNvCxnSpPr>
          <p:nvPr/>
        </p:nvCxnSpPr>
        <p:spPr>
          <a:xfrm flipH="1">
            <a:off x="2292350" y="3168193"/>
            <a:ext cx="205137" cy="22270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8" name="Rounded Rectangle 17"/>
          <p:cNvSpPr/>
          <p:nvPr/>
        </p:nvSpPr>
        <p:spPr>
          <a:xfrm>
            <a:off x="2603500" y="5511800"/>
            <a:ext cx="2927350" cy="27305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1446267" y="6192498"/>
            <a:ext cx="7220951" cy="369332"/>
          </a:xfrm>
          <a:prstGeom prst="rect">
            <a:avLst/>
          </a:prstGeom>
          <a:noFill/>
        </p:spPr>
        <p:txBody>
          <a:bodyPr wrap="none" rtlCol="0">
            <a:spAutoFit/>
          </a:bodyPr>
          <a:lstStyle/>
          <a:p>
            <a:r>
              <a:rPr lang="en-US" dirty="0" smtClean="0">
                <a:solidFill>
                  <a:srgbClr val="FF0000"/>
                </a:solidFill>
              </a:rPr>
              <a:t>Generator expression: The value will be substituted by the generator.</a:t>
            </a:r>
            <a:endParaRPr lang="en-US" dirty="0">
              <a:solidFill>
                <a:srgbClr val="FF0000"/>
              </a:solidFill>
            </a:endParaRPr>
          </a:p>
        </p:txBody>
      </p:sp>
      <p:cxnSp>
        <p:nvCxnSpPr>
          <p:cNvPr id="21" name="Straight Connector 20"/>
          <p:cNvCxnSpPr>
            <a:stCxn id="19" idx="0"/>
            <a:endCxn id="18" idx="2"/>
          </p:cNvCxnSpPr>
          <p:nvPr/>
        </p:nvCxnSpPr>
        <p:spPr>
          <a:xfrm flipH="1" flipV="1">
            <a:off x="4067175" y="5784850"/>
            <a:ext cx="989568" cy="40764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45090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Last Part</a:t>
            </a:r>
            <a:endParaRPr lang="en-US" dirty="0"/>
          </a:p>
        </p:txBody>
      </p:sp>
      <p:sp>
        <p:nvSpPr>
          <p:cNvPr id="3" name="Content Placeholder 2"/>
          <p:cNvSpPr>
            <a:spLocks noGrp="1"/>
          </p:cNvSpPr>
          <p:nvPr>
            <p:ph idx="1"/>
          </p:nvPr>
        </p:nvSpPr>
        <p:spPr/>
        <p:txBody>
          <a:bodyPr/>
          <a:lstStyle/>
          <a:p>
            <a:r>
              <a:rPr lang="en-US" dirty="0" smtClean="0"/>
              <a:t>For each data source (can be multiple) set up post-build commands for copying files.</a:t>
            </a:r>
          </a:p>
          <a:p>
            <a:r>
              <a:rPr lang="en-US" dirty="0" smtClean="0"/>
              <a:t>Copy command is different between platforms.</a:t>
            </a:r>
          </a:p>
          <a:p>
            <a:r>
              <a:rPr lang="en-US" dirty="0" smtClean="0"/>
              <a:t>Use CMake.exe (${CMAKE_COMMAND}) to avoid platform dependency.</a:t>
            </a:r>
            <a:endParaRPr lang="en-US" dirty="0"/>
          </a:p>
        </p:txBody>
      </p:sp>
      <p:sp>
        <p:nvSpPr>
          <p:cNvPr id="5" name="TextBox 4"/>
          <p:cNvSpPr txBox="1"/>
          <p:nvPr/>
        </p:nvSpPr>
        <p:spPr>
          <a:xfrm>
            <a:off x="457200" y="4368800"/>
            <a:ext cx="7879080" cy="1107996"/>
          </a:xfrm>
          <a:prstGeom prst="rect">
            <a:avLst/>
          </a:prstGeom>
          <a:noFill/>
        </p:spPr>
        <p:txBody>
          <a:bodyPr wrap="none" rtlCol="0">
            <a:spAutoFit/>
          </a:bodyPr>
          <a:lstStyle/>
          <a:p>
            <a:r>
              <a:rPr lang="en-US" sz="1100" dirty="0" err="1">
                <a:latin typeface="Consolas" panose="020B0609020204030204" pitchFamily="49" charset="0"/>
              </a:rPr>
              <a:t>foreach</a:t>
            </a:r>
            <a:r>
              <a:rPr lang="en-US" sz="1100" dirty="0">
                <a:latin typeface="Consolas" panose="020B0609020204030204" pitchFamily="49" charset="0"/>
              </a:rPr>
              <a:t>(ONE_DATA_SOURCE ${DATA_SOURCE})</a:t>
            </a:r>
          </a:p>
          <a:p>
            <a:r>
              <a:rPr lang="en-US" sz="1100" dirty="0">
                <a:latin typeface="Consolas" panose="020B0609020204030204" pitchFamily="49" charset="0"/>
              </a:rPr>
              <a:t>    </a:t>
            </a:r>
            <a:r>
              <a:rPr lang="en-US" sz="1100" dirty="0" err="1">
                <a:latin typeface="Consolas" panose="020B0609020204030204" pitchFamily="49" charset="0"/>
              </a:rPr>
              <a:t>add_custom_command</a:t>
            </a:r>
            <a:r>
              <a:rPr lang="en-US" sz="1100" dirty="0">
                <a:latin typeface="Consolas" panose="020B0609020204030204" pitchFamily="49" charset="0"/>
              </a:rPr>
              <a:t>(TARGET ${TARGET_NAME} POST_BUILD </a:t>
            </a:r>
          </a:p>
          <a:p>
            <a:r>
              <a:rPr lang="en-US" sz="1100" dirty="0">
                <a:latin typeface="Consolas" panose="020B0609020204030204" pitchFamily="49" charset="0"/>
              </a:rPr>
              <a:t>        COMMAND "${CMAKE_COMMAND}" -E </a:t>
            </a:r>
            <a:r>
              <a:rPr lang="en-US" sz="1100" dirty="0" err="1">
                <a:latin typeface="Consolas" panose="020B0609020204030204" pitchFamily="49" charset="0"/>
              </a:rPr>
              <a:t>make_directory</a:t>
            </a:r>
            <a:r>
              <a:rPr lang="en-US" sz="1100" dirty="0">
                <a:latin typeface="Consolas" panose="020B0609020204030204" pitchFamily="49" charset="0"/>
              </a:rPr>
              <a:t> \"${DATA_DESTINATION}\"</a:t>
            </a:r>
          </a:p>
          <a:p>
            <a:r>
              <a:rPr lang="en-US" sz="1100" dirty="0">
                <a:latin typeface="Consolas" panose="020B0609020204030204" pitchFamily="49" charset="0"/>
              </a:rPr>
              <a:t>        COMMAND "${CMAKE_COMMAND}" -E </a:t>
            </a:r>
            <a:r>
              <a:rPr lang="en-US" sz="1100" dirty="0" err="1">
                <a:latin typeface="Consolas" panose="020B0609020204030204" pitchFamily="49" charset="0"/>
              </a:rPr>
              <a:t>copy_directory</a:t>
            </a:r>
            <a:r>
              <a:rPr lang="en-US" sz="1100" dirty="0">
                <a:latin typeface="Consolas" panose="020B0609020204030204" pitchFamily="49" charset="0"/>
              </a:rPr>
              <a:t> \"${ONE_DATA_SOURCE}\" \"${DATA_DESTINATION}\")</a:t>
            </a:r>
          </a:p>
          <a:p>
            <a:r>
              <a:rPr lang="en-US" sz="1100" dirty="0" err="1">
                <a:latin typeface="Consolas" panose="020B0609020204030204" pitchFamily="49" charset="0"/>
              </a:rPr>
              <a:t>endforeach</a:t>
            </a:r>
            <a:r>
              <a:rPr lang="en-US" sz="1100" dirty="0">
                <a:latin typeface="Consolas" panose="020B0609020204030204" pitchFamily="49" charset="0"/>
              </a:rPr>
              <a:t>(ONE_DATA_SOURCE)</a:t>
            </a:r>
          </a:p>
          <a:p>
            <a:endParaRPr lang="en-US" sz="1100" dirty="0">
              <a:latin typeface="Consolas" panose="020B0609020204030204" pitchFamily="49" charset="0"/>
            </a:endParaRPr>
          </a:p>
        </p:txBody>
      </p:sp>
      <p:sp>
        <p:nvSpPr>
          <p:cNvPr id="6" name="Rounded Rectangle 5"/>
          <p:cNvSpPr/>
          <p:nvPr/>
        </p:nvSpPr>
        <p:spPr>
          <a:xfrm>
            <a:off x="2260600" y="4578350"/>
            <a:ext cx="1676400" cy="1905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3136900" y="3596481"/>
            <a:ext cx="1736373" cy="369332"/>
          </a:xfrm>
          <a:prstGeom prst="rect">
            <a:avLst/>
          </a:prstGeom>
          <a:noFill/>
        </p:spPr>
        <p:txBody>
          <a:bodyPr wrap="none" rtlCol="0">
            <a:spAutoFit/>
          </a:bodyPr>
          <a:lstStyle/>
          <a:p>
            <a:r>
              <a:rPr lang="en-US" dirty="0" smtClean="0">
                <a:solidFill>
                  <a:srgbClr val="FF0000"/>
                </a:solidFill>
              </a:rPr>
              <a:t>For this target, </a:t>
            </a:r>
            <a:endParaRPr lang="en-US" dirty="0">
              <a:solidFill>
                <a:srgbClr val="FF0000"/>
              </a:solidFill>
            </a:endParaRPr>
          </a:p>
        </p:txBody>
      </p:sp>
      <p:sp>
        <p:nvSpPr>
          <p:cNvPr id="8" name="TextBox 7"/>
          <p:cNvSpPr txBox="1"/>
          <p:nvPr/>
        </p:nvSpPr>
        <p:spPr>
          <a:xfrm>
            <a:off x="4873273" y="3575764"/>
            <a:ext cx="1197764" cy="369332"/>
          </a:xfrm>
          <a:prstGeom prst="rect">
            <a:avLst/>
          </a:prstGeom>
          <a:noFill/>
        </p:spPr>
        <p:txBody>
          <a:bodyPr wrap="none" rtlCol="0">
            <a:spAutoFit/>
          </a:bodyPr>
          <a:lstStyle/>
          <a:p>
            <a:r>
              <a:rPr lang="en-US" dirty="0" smtClean="0">
                <a:solidFill>
                  <a:srgbClr val="FF0000"/>
                </a:solidFill>
              </a:rPr>
              <a:t>after build</a:t>
            </a:r>
            <a:endParaRPr lang="en-US" dirty="0">
              <a:solidFill>
                <a:srgbClr val="FF0000"/>
              </a:solidFill>
            </a:endParaRPr>
          </a:p>
        </p:txBody>
      </p:sp>
      <p:sp>
        <p:nvSpPr>
          <p:cNvPr id="9" name="Rounded Rectangle 8"/>
          <p:cNvSpPr/>
          <p:nvPr/>
        </p:nvSpPr>
        <p:spPr>
          <a:xfrm>
            <a:off x="3937000" y="4578350"/>
            <a:ext cx="831850" cy="1905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a:stCxn id="7" idx="2"/>
            <a:endCxn id="6" idx="0"/>
          </p:cNvCxnSpPr>
          <p:nvPr/>
        </p:nvCxnSpPr>
        <p:spPr>
          <a:xfrm flipH="1">
            <a:off x="3098800" y="3965813"/>
            <a:ext cx="906287" cy="61253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8" idx="2"/>
            <a:endCxn id="9" idx="0"/>
          </p:cNvCxnSpPr>
          <p:nvPr/>
        </p:nvCxnSpPr>
        <p:spPr>
          <a:xfrm flipH="1">
            <a:off x="4352925" y="3945096"/>
            <a:ext cx="1119230" cy="63325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137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If you want to support Universal Windows</a:t>
            </a:r>
            <a:endParaRPr lang="en-US" dirty="0"/>
          </a:p>
        </p:txBody>
      </p:sp>
      <p:sp>
        <p:nvSpPr>
          <p:cNvPr id="3" name="Content Placeholder 2"/>
          <p:cNvSpPr>
            <a:spLocks noGrp="1"/>
          </p:cNvSpPr>
          <p:nvPr>
            <p:ph idx="1"/>
          </p:nvPr>
        </p:nvSpPr>
        <p:spPr/>
        <p:txBody>
          <a:bodyPr/>
          <a:lstStyle/>
          <a:p>
            <a:r>
              <a:rPr lang="en-US" dirty="0" smtClean="0"/>
              <a:t>Universal Windows App has one extra step called "Deployment" before actually running the app.</a:t>
            </a:r>
          </a:p>
          <a:p>
            <a:r>
              <a:rPr lang="en-US" dirty="0" smtClean="0"/>
              <a:t>The data files need to be copied to the deployment location, which is controlled by Visual Studio.</a:t>
            </a:r>
          </a:p>
          <a:p>
            <a:r>
              <a:rPr lang="en-US" dirty="0" smtClean="0"/>
              <a:t>CMake added a </a:t>
            </a:r>
            <a:r>
              <a:rPr lang="en-US" dirty="0"/>
              <a:t>target property VS_DEPLOYMENT_CONTENT and </a:t>
            </a:r>
            <a:r>
              <a:rPr lang="en-US" dirty="0" smtClean="0"/>
              <a:t>VS_DEPLOYMENT_LOCATION.</a:t>
            </a:r>
          </a:p>
          <a:p>
            <a:r>
              <a:rPr lang="en-US" dirty="0" smtClean="0"/>
              <a:t>Data files need to be added as a source file, and then these properties must be set for the data files.</a:t>
            </a:r>
            <a:endParaRPr lang="en-US" dirty="0"/>
          </a:p>
        </p:txBody>
      </p:sp>
    </p:spTree>
    <p:extLst>
      <p:ext uri="{BB962C8B-B14F-4D97-AF65-F5344CB8AC3E}">
        <p14:creationId xmlns:p14="http://schemas.microsoft.com/office/powerpoint/2010/main" val="28977225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Last Part (UWP support)</a:t>
            </a:r>
            <a:endParaRPr lang="en-US" dirty="0"/>
          </a:p>
        </p:txBody>
      </p:sp>
      <p:sp>
        <p:nvSpPr>
          <p:cNvPr id="4" name="TextBox 3"/>
          <p:cNvSpPr txBox="1"/>
          <p:nvPr/>
        </p:nvSpPr>
        <p:spPr>
          <a:xfrm>
            <a:off x="457200" y="1060450"/>
            <a:ext cx="8186857" cy="5170646"/>
          </a:xfrm>
          <a:prstGeom prst="rect">
            <a:avLst/>
          </a:prstGeom>
          <a:noFill/>
        </p:spPr>
        <p:txBody>
          <a:bodyPr wrap="none" rtlCol="0">
            <a:spAutoFit/>
          </a:bodyPr>
          <a:lstStyle/>
          <a:p>
            <a:r>
              <a:rPr lang="en-US" sz="1100" dirty="0">
                <a:latin typeface="Consolas" panose="020B0609020204030204" pitchFamily="49" charset="0"/>
              </a:rPr>
              <a:t>if(NOT "${CMAKE_SYSTEM_NAME}" STREQUAL "</a:t>
            </a:r>
            <a:r>
              <a:rPr lang="en-US" sz="1100" dirty="0" err="1">
                <a:latin typeface="Consolas" panose="020B0609020204030204" pitchFamily="49" charset="0"/>
              </a:rPr>
              <a:t>WindowsStore</a:t>
            </a:r>
            <a:r>
              <a:rPr lang="en-US" sz="1100" dirty="0">
                <a:latin typeface="Consolas" panose="020B0609020204030204" pitchFamily="49" charset="0"/>
              </a:rPr>
              <a:t>")</a:t>
            </a:r>
          </a:p>
          <a:p>
            <a:r>
              <a:rPr lang="en-US" sz="1100" dirty="0" smtClean="0">
                <a:latin typeface="Consolas" panose="020B0609020204030204" pitchFamily="49" charset="0"/>
              </a:rPr>
              <a:t>    </a:t>
            </a:r>
            <a:r>
              <a:rPr lang="en-US" sz="1100" dirty="0" err="1" smtClean="0">
                <a:latin typeface="Consolas" panose="020B0609020204030204" pitchFamily="49" charset="0"/>
              </a:rPr>
              <a:t>foreach</a:t>
            </a:r>
            <a:r>
              <a:rPr lang="en-US" sz="1100" dirty="0" smtClean="0">
                <a:latin typeface="Consolas" panose="020B0609020204030204" pitchFamily="49" charset="0"/>
              </a:rPr>
              <a:t>(ONE_DATA_SOURCE </a:t>
            </a:r>
            <a:r>
              <a:rPr lang="en-US" sz="1100" dirty="0">
                <a:latin typeface="Consolas" panose="020B0609020204030204" pitchFamily="49" charset="0"/>
              </a:rPr>
              <a:t>${DATA_SOURCE})</a:t>
            </a:r>
          </a:p>
          <a:p>
            <a:r>
              <a:rPr lang="en-US" sz="1100" dirty="0" smtClean="0">
                <a:latin typeface="Consolas" panose="020B0609020204030204" pitchFamily="49" charset="0"/>
              </a:rPr>
              <a:t>        </a:t>
            </a:r>
            <a:r>
              <a:rPr lang="en-US" sz="1100" dirty="0" err="1" smtClean="0">
                <a:latin typeface="Consolas" panose="020B0609020204030204" pitchFamily="49" charset="0"/>
              </a:rPr>
              <a:t>add_custom_command</a:t>
            </a:r>
            <a:r>
              <a:rPr lang="en-US" sz="1100" dirty="0" smtClean="0">
                <a:latin typeface="Consolas" panose="020B0609020204030204" pitchFamily="49" charset="0"/>
              </a:rPr>
              <a:t>(TARGET </a:t>
            </a:r>
            <a:r>
              <a:rPr lang="en-US" sz="1100" dirty="0">
                <a:latin typeface="Consolas" panose="020B0609020204030204" pitchFamily="49" charset="0"/>
              </a:rPr>
              <a:t>${TARGET_NAME} POST_BUILD </a:t>
            </a:r>
          </a:p>
          <a:p>
            <a:r>
              <a:rPr lang="en-US" sz="1100" dirty="0" smtClean="0">
                <a:latin typeface="Consolas" panose="020B0609020204030204" pitchFamily="49" charset="0"/>
              </a:rPr>
              <a:t>            COMMAND </a:t>
            </a:r>
            <a:r>
              <a:rPr lang="en-US" sz="1100" dirty="0">
                <a:latin typeface="Consolas" panose="020B0609020204030204" pitchFamily="49" charset="0"/>
              </a:rPr>
              <a:t>"${CMAKE_COMMAND}" -E </a:t>
            </a:r>
            <a:r>
              <a:rPr lang="en-US" sz="1100" dirty="0" err="1">
                <a:latin typeface="Consolas" panose="020B0609020204030204" pitchFamily="49" charset="0"/>
              </a:rPr>
              <a:t>make_directory</a:t>
            </a:r>
            <a:r>
              <a:rPr lang="en-US" sz="1100" dirty="0">
                <a:latin typeface="Consolas" panose="020B0609020204030204" pitchFamily="49" charset="0"/>
              </a:rPr>
              <a:t> \"${DATA_DESTINATION}\"</a:t>
            </a:r>
          </a:p>
          <a:p>
            <a:r>
              <a:rPr lang="en-US" sz="1100" dirty="0" smtClean="0">
                <a:latin typeface="Consolas" panose="020B0609020204030204" pitchFamily="49" charset="0"/>
              </a:rPr>
              <a:t>            COMMAND </a:t>
            </a:r>
            <a:r>
              <a:rPr lang="en-US" sz="1100" dirty="0">
                <a:latin typeface="Consolas" panose="020B0609020204030204" pitchFamily="49" charset="0"/>
              </a:rPr>
              <a:t>"${CMAKE_COMMAND}" -E </a:t>
            </a:r>
            <a:r>
              <a:rPr lang="en-US" sz="1100" dirty="0" err="1">
                <a:latin typeface="Consolas" panose="020B0609020204030204" pitchFamily="49" charset="0"/>
              </a:rPr>
              <a:t>copy_directory</a:t>
            </a:r>
            <a:r>
              <a:rPr lang="en-US" sz="1100" dirty="0">
                <a:latin typeface="Consolas" panose="020B0609020204030204" pitchFamily="49" charset="0"/>
              </a:rPr>
              <a:t> \"${ONE_DATA_SOURCE}\" \"${DATA_DESTINATION}\")</a:t>
            </a:r>
          </a:p>
          <a:p>
            <a:r>
              <a:rPr lang="en-US" sz="1100" dirty="0" smtClean="0">
                <a:latin typeface="Consolas" panose="020B0609020204030204" pitchFamily="49" charset="0"/>
              </a:rPr>
              <a:t>    </a:t>
            </a:r>
            <a:r>
              <a:rPr lang="en-US" sz="1100" dirty="0" err="1" smtClean="0">
                <a:latin typeface="Consolas" panose="020B0609020204030204" pitchFamily="49" charset="0"/>
              </a:rPr>
              <a:t>endforeach</a:t>
            </a:r>
            <a:r>
              <a:rPr lang="en-US" sz="1100" dirty="0" smtClean="0">
                <a:latin typeface="Consolas" panose="020B0609020204030204" pitchFamily="49" charset="0"/>
              </a:rPr>
              <a:t>(ONE_DATA_SOURCE</a:t>
            </a:r>
            <a:r>
              <a:rPr lang="en-US" sz="1100" dirty="0">
                <a:latin typeface="Consolas" panose="020B0609020204030204" pitchFamily="49" charset="0"/>
              </a:rPr>
              <a:t>)</a:t>
            </a:r>
          </a:p>
          <a:p>
            <a:r>
              <a:rPr lang="en-US" sz="1100" dirty="0">
                <a:latin typeface="Consolas" panose="020B0609020204030204" pitchFamily="49" charset="0"/>
              </a:rPr>
              <a:t>else()</a:t>
            </a:r>
          </a:p>
          <a:p>
            <a:r>
              <a:rPr lang="en-US" sz="1100" dirty="0" smtClean="0">
                <a:latin typeface="Consolas" panose="020B0609020204030204" pitchFamily="49" charset="0"/>
              </a:rPr>
              <a:t>    </a:t>
            </a:r>
            <a:r>
              <a:rPr lang="en-US" sz="1100" dirty="0" err="1" smtClean="0">
                <a:latin typeface="Consolas" panose="020B0609020204030204" pitchFamily="49" charset="0"/>
              </a:rPr>
              <a:t>foreach</a:t>
            </a:r>
            <a:r>
              <a:rPr lang="en-US" sz="1100" dirty="0" smtClean="0">
                <a:latin typeface="Consolas" panose="020B0609020204030204" pitchFamily="49" charset="0"/>
              </a:rPr>
              <a:t>(ONE_DATA_SOURCE </a:t>
            </a:r>
            <a:r>
              <a:rPr lang="en-US" sz="1100" dirty="0">
                <a:latin typeface="Consolas" panose="020B0609020204030204" pitchFamily="49" charset="0"/>
              </a:rPr>
              <a:t>${DATA_SOURCE})</a:t>
            </a:r>
          </a:p>
          <a:p>
            <a:r>
              <a:rPr lang="en-US" sz="1100" dirty="0" smtClean="0">
                <a:latin typeface="Consolas" panose="020B0609020204030204" pitchFamily="49" charset="0"/>
              </a:rPr>
              <a:t>        file(GLOB_RECURSE </a:t>
            </a:r>
            <a:r>
              <a:rPr lang="en-US" sz="1100" dirty="0">
                <a:latin typeface="Consolas" panose="020B0609020204030204" pitchFamily="49" charset="0"/>
              </a:rPr>
              <a:t>DATA_FILES RELATIVE ${ONE_DATA_SOURCE} ${ONE_DATA_SOURCE}/*)</a:t>
            </a:r>
          </a:p>
          <a:p>
            <a:r>
              <a:rPr lang="en-US" sz="1100" dirty="0" smtClean="0">
                <a:latin typeface="Consolas" panose="020B0609020204030204" pitchFamily="49" charset="0"/>
              </a:rPr>
              <a:t>        </a:t>
            </a:r>
            <a:r>
              <a:rPr lang="en-US" sz="1100" dirty="0" err="1" smtClean="0">
                <a:latin typeface="Consolas" panose="020B0609020204030204" pitchFamily="49" charset="0"/>
              </a:rPr>
              <a:t>foreach</a:t>
            </a:r>
            <a:r>
              <a:rPr lang="en-US" sz="1100" dirty="0" smtClean="0">
                <a:latin typeface="Consolas" panose="020B0609020204030204" pitchFamily="49" charset="0"/>
              </a:rPr>
              <a:t>(DATA_FILE </a:t>
            </a:r>
            <a:r>
              <a:rPr lang="en-US" sz="1100" dirty="0">
                <a:latin typeface="Consolas" panose="020B0609020204030204" pitchFamily="49" charset="0"/>
              </a:rPr>
              <a:t>${DATA_FILES})</a:t>
            </a:r>
          </a:p>
          <a:p>
            <a:r>
              <a:rPr lang="en-US" sz="1100" dirty="0" smtClean="0">
                <a:latin typeface="Consolas" panose="020B0609020204030204" pitchFamily="49" charset="0"/>
              </a:rPr>
              <a:t>            set(DIR_PART</a:t>
            </a:r>
            <a:r>
              <a:rPr lang="en-US" sz="1100" dirty="0">
                <a:latin typeface="Consolas" panose="020B0609020204030204" pitchFamily="49" charset="0"/>
              </a:rPr>
              <a:t>)</a:t>
            </a:r>
          </a:p>
          <a:p>
            <a:r>
              <a:rPr lang="en-US" sz="1100" dirty="0" smtClean="0">
                <a:latin typeface="Consolas" panose="020B0609020204030204" pitchFamily="49" charset="0"/>
              </a:rPr>
              <a:t>            set(DATA_SOURCE_FILE </a:t>
            </a:r>
            <a:r>
              <a:rPr lang="en-US" sz="1100" dirty="0">
                <a:latin typeface="Consolas" panose="020B0609020204030204" pitchFamily="49" charset="0"/>
              </a:rPr>
              <a:t>${ONE_DATA_SOURCE}/${DATA_FILE})</a:t>
            </a:r>
          </a:p>
          <a:p>
            <a:r>
              <a:rPr lang="en-US" sz="1100" dirty="0" smtClean="0">
                <a:latin typeface="Consolas" panose="020B0609020204030204" pitchFamily="49" charset="0"/>
              </a:rPr>
              <a:t>            </a:t>
            </a:r>
            <a:r>
              <a:rPr lang="en-US" sz="1100" dirty="0" err="1" smtClean="0">
                <a:latin typeface="Consolas" panose="020B0609020204030204" pitchFamily="49" charset="0"/>
              </a:rPr>
              <a:t>get_filename_component</a:t>
            </a:r>
            <a:r>
              <a:rPr lang="en-US" sz="1100" dirty="0" smtClean="0">
                <a:latin typeface="Consolas" panose="020B0609020204030204" pitchFamily="49" charset="0"/>
              </a:rPr>
              <a:t>(NAME_PART </a:t>
            </a:r>
            <a:r>
              <a:rPr lang="en-US" sz="1100" dirty="0">
                <a:latin typeface="Consolas" panose="020B0609020204030204" pitchFamily="49" charset="0"/>
              </a:rPr>
              <a:t>${DATA_FILE} NAME)</a:t>
            </a:r>
          </a:p>
          <a:p>
            <a:r>
              <a:rPr lang="en-US" sz="1100" dirty="0" smtClean="0">
                <a:latin typeface="Consolas" panose="020B0609020204030204" pitchFamily="49" charset="0"/>
              </a:rPr>
              <a:t>            </a:t>
            </a:r>
            <a:r>
              <a:rPr lang="en-US" sz="1100" dirty="0" err="1" smtClean="0">
                <a:latin typeface="Consolas" panose="020B0609020204030204" pitchFamily="49" charset="0"/>
              </a:rPr>
              <a:t>get_filename_component</a:t>
            </a:r>
            <a:r>
              <a:rPr lang="en-US" sz="1100" dirty="0" smtClean="0">
                <a:latin typeface="Consolas" panose="020B0609020204030204" pitchFamily="49" charset="0"/>
              </a:rPr>
              <a:t>(DIR_PART </a:t>
            </a:r>
            <a:r>
              <a:rPr lang="en-US" sz="1100" dirty="0">
                <a:latin typeface="Consolas" panose="020B0609020204030204" pitchFamily="49" charset="0"/>
              </a:rPr>
              <a:t>${DATA_FILE} DIRECTORY)</a:t>
            </a:r>
          </a:p>
          <a:p>
            <a:r>
              <a:rPr lang="en-US" sz="1100" dirty="0" smtClean="0">
                <a:latin typeface="Consolas" panose="020B0609020204030204" pitchFamily="49" charset="0"/>
              </a:rPr>
              <a:t>            string(LENGTH </a:t>
            </a:r>
            <a:r>
              <a:rPr lang="en-US" sz="1100" dirty="0">
                <a:latin typeface="Consolas" panose="020B0609020204030204" pitchFamily="49" charset="0"/>
              </a:rPr>
              <a:t>"${DIR_PART}" DIR_PART_LENGTH)</a:t>
            </a:r>
          </a:p>
          <a:p>
            <a:r>
              <a:rPr lang="en-US" sz="1100" dirty="0" smtClean="0">
                <a:latin typeface="Consolas" panose="020B0609020204030204" pitchFamily="49" charset="0"/>
              </a:rPr>
              <a:t>            if</a:t>
            </a:r>
            <a:r>
              <a:rPr lang="en-US" sz="1100" dirty="0">
                <a:latin typeface="Consolas" panose="020B0609020204030204" pitchFamily="49" charset="0"/>
              </a:rPr>
              <a:t>(${DIR_PART_LENGTH} GREATER 0)</a:t>
            </a:r>
          </a:p>
          <a:p>
            <a:r>
              <a:rPr lang="en-US" sz="1100" dirty="0" smtClean="0">
                <a:latin typeface="Consolas" panose="020B0609020204030204" pitchFamily="49" charset="0"/>
              </a:rPr>
              <a:t>                set(DESTIN_DIR </a:t>
            </a:r>
            <a:r>
              <a:rPr lang="en-US" sz="1100" dirty="0">
                <a:latin typeface="Consolas" panose="020B0609020204030204" pitchFamily="49" charset="0"/>
              </a:rPr>
              <a:t>"Assets/${DIR_PART}")</a:t>
            </a:r>
          </a:p>
          <a:p>
            <a:r>
              <a:rPr lang="en-US" sz="1100" dirty="0" smtClean="0">
                <a:latin typeface="Consolas" panose="020B0609020204030204" pitchFamily="49" charset="0"/>
              </a:rPr>
              <a:t>            else</a:t>
            </a:r>
            <a:r>
              <a:rPr lang="en-US" sz="1100" dirty="0">
                <a:latin typeface="Consolas" panose="020B0609020204030204" pitchFamily="49" charset="0"/>
              </a:rPr>
              <a:t>()</a:t>
            </a:r>
          </a:p>
          <a:p>
            <a:r>
              <a:rPr lang="en-US" sz="1100" dirty="0" smtClean="0">
                <a:latin typeface="Consolas" panose="020B0609020204030204" pitchFamily="49" charset="0"/>
              </a:rPr>
              <a:t>                set(DESTIN_DIR </a:t>
            </a:r>
            <a:r>
              <a:rPr lang="en-US" sz="1100" dirty="0">
                <a:latin typeface="Consolas" panose="020B0609020204030204" pitchFamily="49" charset="0"/>
              </a:rPr>
              <a:t>"Assets")</a:t>
            </a:r>
          </a:p>
          <a:p>
            <a:r>
              <a:rPr lang="en-US" sz="1100" dirty="0" smtClean="0">
                <a:latin typeface="Consolas" panose="020B0609020204030204" pitchFamily="49" charset="0"/>
              </a:rPr>
              <a:t>            </a:t>
            </a:r>
            <a:r>
              <a:rPr lang="en-US" sz="1100" dirty="0" err="1" smtClean="0">
                <a:latin typeface="Consolas" panose="020B0609020204030204" pitchFamily="49" charset="0"/>
              </a:rPr>
              <a:t>endif</a:t>
            </a:r>
            <a:r>
              <a:rPr lang="en-US" sz="1100" dirty="0">
                <a:latin typeface="Consolas" panose="020B0609020204030204" pitchFamily="49" charset="0"/>
              </a:rPr>
              <a:t>()</a:t>
            </a:r>
          </a:p>
          <a:p>
            <a:r>
              <a:rPr lang="en-US" sz="1100" dirty="0" smtClean="0">
                <a:latin typeface="Consolas" panose="020B0609020204030204" pitchFamily="49" charset="0"/>
              </a:rPr>
              <a:t>            message</a:t>
            </a:r>
            <a:r>
              <a:rPr lang="en-US" sz="1100" dirty="0">
                <a:latin typeface="Consolas" panose="020B0609020204030204" pitchFamily="49" charset="0"/>
              </a:rPr>
              <a:t>(&gt;&gt; ${DATA_SOURCE_FILE})</a:t>
            </a:r>
          </a:p>
          <a:p>
            <a:r>
              <a:rPr lang="en-US" sz="1100" dirty="0" smtClean="0">
                <a:latin typeface="Consolas" panose="020B0609020204030204" pitchFamily="49" charset="0"/>
              </a:rPr>
              <a:t>            message</a:t>
            </a:r>
            <a:r>
              <a:rPr lang="en-US" sz="1100" dirty="0">
                <a:latin typeface="Consolas" panose="020B0609020204030204" pitchFamily="49" charset="0"/>
              </a:rPr>
              <a:t>(&gt;&gt; ${NAME_PART} @ ${DIR_PART}-&gt;${DESTIN_DIR})</a:t>
            </a:r>
          </a:p>
          <a:p>
            <a:endParaRPr lang="en-US" sz="1100" dirty="0">
              <a:latin typeface="Consolas" panose="020B0609020204030204" pitchFamily="49" charset="0"/>
            </a:endParaRPr>
          </a:p>
          <a:p>
            <a:r>
              <a:rPr lang="en-US" sz="1100" dirty="0" smtClean="0">
                <a:latin typeface="Consolas" panose="020B0609020204030204" pitchFamily="49" charset="0"/>
              </a:rPr>
              <a:t>            </a:t>
            </a:r>
            <a:r>
              <a:rPr lang="en-US" sz="1100" dirty="0" err="1" smtClean="0">
                <a:latin typeface="Consolas" panose="020B0609020204030204" pitchFamily="49" charset="0"/>
              </a:rPr>
              <a:t>target_sources</a:t>
            </a:r>
            <a:r>
              <a:rPr lang="en-US" sz="1100" dirty="0">
                <a:latin typeface="Consolas" panose="020B0609020204030204" pitchFamily="49" charset="0"/>
              </a:rPr>
              <a:t>(${TARGET_NAME} PUBLIC ${DATA_SOURCE_FILE})</a:t>
            </a:r>
          </a:p>
          <a:p>
            <a:r>
              <a:rPr lang="en-US" sz="1100" dirty="0" smtClean="0">
                <a:latin typeface="Consolas" panose="020B0609020204030204" pitchFamily="49" charset="0"/>
              </a:rPr>
              <a:t>            </a:t>
            </a:r>
            <a:r>
              <a:rPr lang="en-US" sz="1100" dirty="0" err="1" smtClean="0">
                <a:latin typeface="Consolas" panose="020B0609020204030204" pitchFamily="49" charset="0"/>
              </a:rPr>
              <a:t>set_property</a:t>
            </a:r>
            <a:r>
              <a:rPr lang="en-US" sz="1100" dirty="0" smtClean="0">
                <a:latin typeface="Consolas" panose="020B0609020204030204" pitchFamily="49" charset="0"/>
              </a:rPr>
              <a:t>(SOURCE </a:t>
            </a:r>
            <a:r>
              <a:rPr lang="en-US" sz="1100" dirty="0">
                <a:latin typeface="Consolas" panose="020B0609020204030204" pitchFamily="49" charset="0"/>
              </a:rPr>
              <a:t>${DATA_SOURCE_FILE} PROPERTY VS_DEPLOYMENT_CONTENT 1)</a:t>
            </a:r>
          </a:p>
          <a:p>
            <a:r>
              <a:rPr lang="en-US" sz="1100" dirty="0" smtClean="0">
                <a:latin typeface="Consolas" panose="020B0609020204030204" pitchFamily="49" charset="0"/>
              </a:rPr>
              <a:t>            </a:t>
            </a:r>
            <a:r>
              <a:rPr lang="en-US" sz="1100" dirty="0" err="1" smtClean="0">
                <a:latin typeface="Consolas" panose="020B0609020204030204" pitchFamily="49" charset="0"/>
              </a:rPr>
              <a:t>set_property</a:t>
            </a:r>
            <a:r>
              <a:rPr lang="en-US" sz="1100" dirty="0" smtClean="0">
                <a:latin typeface="Consolas" panose="020B0609020204030204" pitchFamily="49" charset="0"/>
              </a:rPr>
              <a:t>(SOURCE </a:t>
            </a:r>
            <a:r>
              <a:rPr lang="en-US" sz="1100" dirty="0">
                <a:latin typeface="Consolas" panose="020B0609020204030204" pitchFamily="49" charset="0"/>
              </a:rPr>
              <a:t>${DATA_SOURCE_FILE} PROPERTY VS_DEPLOYMENT_LOCATION "${DESTIN_DIR}")</a:t>
            </a:r>
          </a:p>
          <a:p>
            <a:r>
              <a:rPr lang="en-US" sz="1100" dirty="0" smtClean="0">
                <a:latin typeface="Consolas" panose="020B0609020204030204" pitchFamily="49" charset="0"/>
              </a:rPr>
              <a:t>        </a:t>
            </a:r>
            <a:r>
              <a:rPr lang="en-US" sz="1100" dirty="0" err="1" smtClean="0">
                <a:latin typeface="Consolas" panose="020B0609020204030204" pitchFamily="49" charset="0"/>
              </a:rPr>
              <a:t>endforeach</a:t>
            </a:r>
            <a:r>
              <a:rPr lang="en-US" sz="1100" dirty="0" smtClean="0">
                <a:latin typeface="Consolas" panose="020B0609020204030204" pitchFamily="49" charset="0"/>
              </a:rPr>
              <a:t>(DATA_FILE</a:t>
            </a:r>
            <a:r>
              <a:rPr lang="en-US" sz="1100" dirty="0">
                <a:latin typeface="Consolas" panose="020B0609020204030204" pitchFamily="49" charset="0"/>
              </a:rPr>
              <a:t>)</a:t>
            </a:r>
          </a:p>
          <a:p>
            <a:r>
              <a:rPr lang="en-US" sz="1100" dirty="0" smtClean="0">
                <a:latin typeface="Consolas" panose="020B0609020204030204" pitchFamily="49" charset="0"/>
              </a:rPr>
              <a:t>    </a:t>
            </a:r>
            <a:r>
              <a:rPr lang="en-US" sz="1100" dirty="0" err="1" smtClean="0">
                <a:latin typeface="Consolas" panose="020B0609020204030204" pitchFamily="49" charset="0"/>
              </a:rPr>
              <a:t>endforeach</a:t>
            </a:r>
            <a:r>
              <a:rPr lang="en-US" sz="1100" dirty="0" smtClean="0">
                <a:latin typeface="Consolas" panose="020B0609020204030204" pitchFamily="49" charset="0"/>
              </a:rPr>
              <a:t>(ONE_DATA_SOURCE</a:t>
            </a:r>
            <a:r>
              <a:rPr lang="en-US" sz="1100" dirty="0">
                <a:latin typeface="Consolas" panose="020B0609020204030204" pitchFamily="49" charset="0"/>
              </a:rPr>
              <a:t>)</a:t>
            </a:r>
          </a:p>
          <a:p>
            <a:r>
              <a:rPr lang="en-US" sz="1100" dirty="0" err="1">
                <a:latin typeface="Consolas" panose="020B0609020204030204" pitchFamily="49" charset="0"/>
              </a:rPr>
              <a:t>endif</a:t>
            </a:r>
            <a:r>
              <a:rPr lang="en-US" sz="1100" dirty="0">
                <a:latin typeface="Consolas" panose="020B0609020204030204" pitchFamily="49" charset="0"/>
              </a:rPr>
              <a:t>()</a:t>
            </a:r>
          </a:p>
          <a:p>
            <a:endParaRPr lang="en-US" sz="1100" dirty="0">
              <a:latin typeface="Consolas" panose="020B0609020204030204" pitchFamily="49" charset="0"/>
            </a:endParaRPr>
          </a:p>
        </p:txBody>
      </p:sp>
    </p:spTree>
    <p:extLst>
      <p:ext uri="{BB962C8B-B14F-4D97-AF65-F5344CB8AC3E}">
        <p14:creationId xmlns:p14="http://schemas.microsoft.com/office/powerpoint/2010/main" val="27012216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Programmable </a:t>
            </a:r>
            <a:r>
              <a:rPr lang="en-US" dirty="0" err="1" smtClean="0"/>
              <a:t>Shader</a:t>
            </a:r>
            <a:endParaRPr lang="en-US" dirty="0"/>
          </a:p>
        </p:txBody>
      </p:sp>
      <p:sp>
        <p:nvSpPr>
          <p:cNvPr id="3" name="Content Placeholder 2"/>
          <p:cNvSpPr>
            <a:spLocks noGrp="1"/>
          </p:cNvSpPr>
          <p:nvPr>
            <p:ph idx="1"/>
          </p:nvPr>
        </p:nvSpPr>
        <p:spPr/>
        <p:txBody>
          <a:bodyPr/>
          <a:lstStyle/>
          <a:p>
            <a:r>
              <a:rPr lang="en-US" dirty="0" smtClean="0"/>
              <a:t>What’s Programmable </a:t>
            </a:r>
            <a:r>
              <a:rPr lang="en-US" dirty="0" err="1" smtClean="0"/>
              <a:t>Shader</a:t>
            </a:r>
            <a:r>
              <a:rPr lang="en-US" dirty="0" smtClean="0"/>
              <a:t>?</a:t>
            </a:r>
          </a:p>
          <a:p>
            <a:r>
              <a:rPr lang="en-US" dirty="0" smtClean="0"/>
              <a:t>GLSL programming</a:t>
            </a:r>
          </a:p>
          <a:p>
            <a:r>
              <a:rPr lang="en-US" dirty="0" smtClean="0"/>
              <a:t>Pass-Through GLSL Program</a:t>
            </a:r>
          </a:p>
          <a:p>
            <a:r>
              <a:rPr lang="en-US" dirty="0" smtClean="0"/>
              <a:t>Screen coordinate as color</a:t>
            </a:r>
          </a:p>
          <a:p>
            <a:r>
              <a:rPr lang="en-US" dirty="0" smtClean="0"/>
              <a:t>Color as attribute</a:t>
            </a:r>
          </a:p>
          <a:p>
            <a:endParaRPr lang="en-US" dirty="0"/>
          </a:p>
        </p:txBody>
      </p:sp>
    </p:spTree>
    <p:extLst>
      <p:ext uri="{BB962C8B-B14F-4D97-AF65-F5344CB8AC3E}">
        <p14:creationId xmlns:p14="http://schemas.microsoft.com/office/powerpoint/2010/main" val="41980205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What’s Programmable </a:t>
            </a:r>
            <a:r>
              <a:rPr lang="en-US" dirty="0" err="1" smtClean="0"/>
              <a:t>Shader</a:t>
            </a:r>
            <a:r>
              <a:rPr lang="en-US" dirty="0" smtClean="0"/>
              <a:t>?</a:t>
            </a:r>
            <a:endParaRPr lang="en-US" dirty="0"/>
          </a:p>
        </p:txBody>
      </p:sp>
      <p:sp>
        <p:nvSpPr>
          <p:cNvPr id="3" name="Content Placeholder 2"/>
          <p:cNvSpPr>
            <a:spLocks noGrp="1"/>
          </p:cNvSpPr>
          <p:nvPr>
            <p:ph idx="1"/>
          </p:nvPr>
        </p:nvSpPr>
        <p:spPr/>
        <p:txBody>
          <a:bodyPr/>
          <a:lstStyle/>
          <a:p>
            <a:r>
              <a:rPr lang="en-US" dirty="0" smtClean="0"/>
              <a:t>Opposite of fixed-function pipeline.</a:t>
            </a:r>
          </a:p>
          <a:p>
            <a:r>
              <a:rPr lang="en-US" dirty="0" smtClean="0"/>
              <a:t>In fixed-function pipeline, a vertex consists of a fixed set of attributes (position, color, normal, and texture coordinate), and goes through a fixed calculation.</a:t>
            </a:r>
          </a:p>
          <a:p>
            <a:r>
              <a:rPr lang="en-US" dirty="0" smtClean="0"/>
              <a:t>In programmable </a:t>
            </a:r>
            <a:r>
              <a:rPr lang="en-US" dirty="0" err="1" smtClean="0"/>
              <a:t>shader</a:t>
            </a:r>
            <a:r>
              <a:rPr lang="en-US" dirty="0" smtClean="0"/>
              <a:t>, you can define what attributes that a vertex consists of.</a:t>
            </a:r>
            <a:endParaRPr lang="en-US" dirty="0"/>
          </a:p>
        </p:txBody>
      </p:sp>
    </p:spTree>
    <p:extLst>
      <p:ext uri="{BB962C8B-B14F-4D97-AF65-F5344CB8AC3E}">
        <p14:creationId xmlns:p14="http://schemas.microsoft.com/office/powerpoint/2010/main" val="7317149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What’s Programmable </a:t>
            </a:r>
            <a:r>
              <a:rPr lang="en-US" dirty="0" err="1"/>
              <a:t>Shader</a:t>
            </a:r>
            <a:r>
              <a:rPr lang="en-US" dirty="0"/>
              <a:t>?</a:t>
            </a:r>
          </a:p>
        </p:txBody>
      </p:sp>
      <p:sp>
        <p:nvSpPr>
          <p:cNvPr id="3" name="Content Placeholder 2"/>
          <p:cNvSpPr>
            <a:spLocks noGrp="1"/>
          </p:cNvSpPr>
          <p:nvPr>
            <p:ph idx="1"/>
          </p:nvPr>
        </p:nvSpPr>
        <p:spPr/>
        <p:txBody>
          <a:bodyPr/>
          <a:lstStyle/>
          <a:p>
            <a:r>
              <a:rPr lang="en-US" dirty="0" smtClean="0"/>
              <a:t>A vertex can be as simple as just one XY coordinate if:</a:t>
            </a:r>
          </a:p>
          <a:p>
            <a:pPr lvl="1"/>
            <a:r>
              <a:rPr lang="en-US" dirty="0" smtClean="0"/>
              <a:t>You are drawing 2D elements.</a:t>
            </a:r>
          </a:p>
          <a:p>
            <a:pPr lvl="1"/>
            <a:r>
              <a:rPr lang="en-US" dirty="0" smtClean="0"/>
              <a:t>All elements need to be drawn in the same color.</a:t>
            </a:r>
          </a:p>
          <a:p>
            <a:r>
              <a:rPr lang="en-US" dirty="0" smtClean="0"/>
              <a:t>Such minimum vertex will substantially reduce CPU-GPU transaction.</a:t>
            </a:r>
          </a:p>
          <a:p>
            <a:r>
              <a:rPr lang="en-US" dirty="0" smtClean="0"/>
              <a:t>Or, a vertex can have additional information such as:</a:t>
            </a:r>
          </a:p>
          <a:p>
            <a:pPr lvl="1"/>
            <a:r>
              <a:rPr lang="en-US" dirty="0" smtClean="0"/>
              <a:t>Multiple texture coordinates.</a:t>
            </a:r>
          </a:p>
          <a:p>
            <a:pPr lvl="1"/>
            <a:r>
              <a:rPr lang="en-US" dirty="0" smtClean="0"/>
              <a:t>Offset in the camera coordinate (Billboard).</a:t>
            </a:r>
          </a:p>
          <a:p>
            <a:pPr lvl="1"/>
            <a:r>
              <a:rPr lang="en-US" dirty="0" smtClean="0"/>
              <a:t>Different color for different lighting effect.</a:t>
            </a:r>
          </a:p>
          <a:p>
            <a:r>
              <a:rPr lang="en-US" dirty="0" smtClean="0"/>
              <a:t>Those information (what a vertex can carry) is called a </a:t>
            </a:r>
            <a:r>
              <a:rPr lang="en-US" b="1" i="1" dirty="0" smtClean="0"/>
              <a:t>vertex attribute</a:t>
            </a:r>
            <a:r>
              <a:rPr lang="en-US" dirty="0" smtClean="0"/>
              <a:t>.</a:t>
            </a:r>
          </a:p>
        </p:txBody>
      </p:sp>
    </p:spTree>
    <p:extLst>
      <p:ext uri="{BB962C8B-B14F-4D97-AF65-F5344CB8AC3E}">
        <p14:creationId xmlns:p14="http://schemas.microsoft.com/office/powerpoint/2010/main" val="27285556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What's Programmable </a:t>
            </a:r>
            <a:r>
              <a:rPr lang="en-US" dirty="0" err="1" smtClean="0"/>
              <a:t>Shader</a:t>
            </a:r>
            <a:r>
              <a:rPr lang="en-US" dirty="0" smtClean="0"/>
              <a:t>?</a:t>
            </a:r>
            <a:endParaRPr lang="en-US" dirty="0"/>
          </a:p>
        </p:txBody>
      </p:sp>
      <p:sp>
        <p:nvSpPr>
          <p:cNvPr id="3" name="Content Placeholder 2"/>
          <p:cNvSpPr>
            <a:spLocks noGrp="1"/>
          </p:cNvSpPr>
          <p:nvPr>
            <p:ph idx="1"/>
          </p:nvPr>
        </p:nvSpPr>
        <p:spPr/>
        <p:txBody>
          <a:bodyPr/>
          <a:lstStyle/>
          <a:p>
            <a:r>
              <a:rPr lang="en-US" dirty="0" smtClean="0"/>
              <a:t>Most of the modern graphics APIs </a:t>
            </a:r>
            <a:r>
              <a:rPr lang="en-US" u="sng" dirty="0" smtClean="0"/>
              <a:t>require</a:t>
            </a:r>
            <a:r>
              <a:rPr lang="en-US" dirty="0" smtClean="0"/>
              <a:t> </a:t>
            </a:r>
            <a:r>
              <a:rPr lang="en-US" dirty="0" err="1" smtClean="0"/>
              <a:t>shader</a:t>
            </a:r>
            <a:r>
              <a:rPr lang="en-US" dirty="0" smtClean="0"/>
              <a:t> programs.</a:t>
            </a:r>
          </a:p>
          <a:p>
            <a:r>
              <a:rPr lang="en-US" dirty="0" smtClean="0"/>
              <a:t>Although OpenGL 1.1's rendering model was not the most efficient, it is not supported when you write your program for newer platforms, especially smart phones and tablets.</a:t>
            </a:r>
          </a:p>
          <a:p>
            <a:endParaRPr lang="en-US" dirty="0"/>
          </a:p>
          <a:p>
            <a:r>
              <a:rPr lang="en-US" dirty="0" smtClean="0"/>
              <a:t>When you write a program, you want to visualize your idea for your thinking, debugging, and demonstration.</a:t>
            </a:r>
          </a:p>
          <a:p>
            <a:r>
              <a:rPr lang="en-US" dirty="0" smtClean="0"/>
              <a:t>You can really enhance your idea by visualizing it.</a:t>
            </a:r>
          </a:p>
          <a:p>
            <a:r>
              <a:rPr lang="en-US" dirty="0" smtClean="0"/>
              <a:t>I don't want you to stop when someone else's program does not visualize what you want.</a:t>
            </a:r>
          </a:p>
        </p:txBody>
      </p:sp>
    </p:spTree>
    <p:extLst>
      <p:ext uri="{BB962C8B-B14F-4D97-AF65-F5344CB8AC3E}">
        <p14:creationId xmlns:p14="http://schemas.microsoft.com/office/powerpoint/2010/main" val="20182604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GLSL – GL </a:t>
            </a:r>
            <a:r>
              <a:rPr lang="en-US" dirty="0" err="1"/>
              <a:t>Shader</a:t>
            </a:r>
            <a:r>
              <a:rPr lang="en-US" dirty="0"/>
              <a:t> Language</a:t>
            </a:r>
            <a:br>
              <a:rPr lang="en-US" dirty="0"/>
            </a:br>
            <a:endParaRPr lang="en-US" dirty="0"/>
          </a:p>
        </p:txBody>
      </p:sp>
      <p:sp>
        <p:nvSpPr>
          <p:cNvPr id="3" name="Content Placeholder 2"/>
          <p:cNvSpPr>
            <a:spLocks noGrp="1"/>
          </p:cNvSpPr>
          <p:nvPr>
            <p:ph idx="1"/>
          </p:nvPr>
        </p:nvSpPr>
        <p:spPr/>
        <p:txBody>
          <a:bodyPr/>
          <a:lstStyle/>
          <a:p>
            <a:r>
              <a:rPr lang="en-US" dirty="0" smtClean="0"/>
              <a:t>A programming language for programmable </a:t>
            </a:r>
            <a:r>
              <a:rPr lang="en-US" dirty="0" err="1" smtClean="0"/>
              <a:t>shader</a:t>
            </a:r>
            <a:r>
              <a:rPr lang="en-US" dirty="0" smtClean="0"/>
              <a:t> in OpenGL.</a:t>
            </a:r>
          </a:p>
          <a:p>
            <a:r>
              <a:rPr lang="en-US" dirty="0" smtClean="0"/>
              <a:t>Program-In-Program.</a:t>
            </a:r>
          </a:p>
          <a:p>
            <a:r>
              <a:rPr lang="en-US" dirty="0" smtClean="0"/>
              <a:t>Standard for OpenGL, OpenGL ES, and </a:t>
            </a:r>
            <a:r>
              <a:rPr lang="en-US" dirty="0" err="1" smtClean="0"/>
              <a:t>WebGL</a:t>
            </a:r>
            <a:r>
              <a:rPr lang="en-US" dirty="0" smtClean="0"/>
              <a:t>.</a:t>
            </a:r>
          </a:p>
          <a:p>
            <a:r>
              <a:rPr lang="en-US" dirty="0" smtClean="0"/>
              <a:t>You write separate programs in GLSL, and then compile in your program.</a:t>
            </a:r>
          </a:p>
          <a:p>
            <a:r>
              <a:rPr lang="en-US" dirty="0" smtClean="0"/>
              <a:t>Good news – GLSL is a C-like language.</a:t>
            </a:r>
          </a:p>
          <a:p>
            <a:r>
              <a:rPr lang="en-US" dirty="0" smtClean="0"/>
              <a:t>Bad news – Many C-language features are not available in GLSL.</a:t>
            </a:r>
          </a:p>
        </p:txBody>
      </p:sp>
    </p:spTree>
    <p:extLst>
      <p:ext uri="{BB962C8B-B14F-4D97-AF65-F5344CB8AC3E}">
        <p14:creationId xmlns:p14="http://schemas.microsoft.com/office/powerpoint/2010/main" val="13891863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Vertex </a:t>
            </a:r>
            <a:r>
              <a:rPr lang="en-US" dirty="0" err="1" smtClean="0"/>
              <a:t>Shader</a:t>
            </a:r>
            <a:r>
              <a:rPr lang="en-US" dirty="0" smtClean="0"/>
              <a:t> and Fragment </a:t>
            </a:r>
            <a:r>
              <a:rPr lang="en-US" dirty="0" err="1" smtClean="0"/>
              <a:t>Shader</a:t>
            </a:r>
            <a:endParaRPr lang="en-US" dirty="0"/>
          </a:p>
        </p:txBody>
      </p:sp>
      <p:sp>
        <p:nvSpPr>
          <p:cNvPr id="3" name="Content Placeholder 2"/>
          <p:cNvSpPr>
            <a:spLocks noGrp="1"/>
          </p:cNvSpPr>
          <p:nvPr>
            <p:ph idx="1"/>
          </p:nvPr>
        </p:nvSpPr>
        <p:spPr>
          <a:xfrm>
            <a:off x="457200" y="1066800"/>
            <a:ext cx="8229600" cy="1352107"/>
          </a:xfrm>
        </p:spPr>
        <p:txBody>
          <a:bodyPr/>
          <a:lstStyle/>
          <a:p>
            <a:r>
              <a:rPr lang="en-US" dirty="0" smtClean="0"/>
              <a:t>You need to write two </a:t>
            </a:r>
            <a:r>
              <a:rPr lang="en-US" dirty="0" err="1" smtClean="0"/>
              <a:t>shaders</a:t>
            </a:r>
            <a:r>
              <a:rPr lang="en-US" dirty="0" smtClean="0"/>
              <a:t> for one program, Vertex </a:t>
            </a:r>
            <a:r>
              <a:rPr lang="en-US" dirty="0" err="1" smtClean="0"/>
              <a:t>Shader</a:t>
            </a:r>
            <a:r>
              <a:rPr lang="en-US" dirty="0" smtClean="0"/>
              <a:t> and Fragment </a:t>
            </a:r>
            <a:r>
              <a:rPr lang="en-US" dirty="0" err="1" smtClean="0"/>
              <a:t>Shader</a:t>
            </a:r>
            <a:r>
              <a:rPr lang="en-US" dirty="0" smtClean="0"/>
              <a:t>.</a:t>
            </a:r>
          </a:p>
          <a:p>
            <a:endParaRPr lang="en-US" dirty="0" smtClean="0"/>
          </a:p>
        </p:txBody>
      </p:sp>
      <p:sp>
        <p:nvSpPr>
          <p:cNvPr id="4" name="TextBox 3"/>
          <p:cNvSpPr txBox="1"/>
          <p:nvPr/>
        </p:nvSpPr>
        <p:spPr>
          <a:xfrm>
            <a:off x="260496" y="3619396"/>
            <a:ext cx="1390124" cy="369332"/>
          </a:xfrm>
          <a:prstGeom prst="rect">
            <a:avLst/>
          </a:prstGeom>
          <a:noFill/>
        </p:spPr>
        <p:txBody>
          <a:bodyPr wrap="none" rtlCol="0">
            <a:spAutoFit/>
          </a:bodyPr>
          <a:lstStyle/>
          <a:p>
            <a:r>
              <a:rPr lang="en-US" dirty="0" smtClean="0"/>
              <a:t>Input vertex</a:t>
            </a:r>
            <a:endParaRPr lang="en-US" dirty="0"/>
          </a:p>
        </p:txBody>
      </p:sp>
      <p:sp>
        <p:nvSpPr>
          <p:cNvPr id="5" name="Right Arrow 4"/>
          <p:cNvSpPr/>
          <p:nvPr/>
        </p:nvSpPr>
        <p:spPr>
          <a:xfrm>
            <a:off x="1711840" y="3725721"/>
            <a:ext cx="164805" cy="1488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876645" y="3412061"/>
            <a:ext cx="1180213" cy="88250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1998918" y="3530146"/>
            <a:ext cx="935665" cy="646331"/>
          </a:xfrm>
          <a:prstGeom prst="rect">
            <a:avLst/>
          </a:prstGeom>
          <a:noFill/>
        </p:spPr>
        <p:txBody>
          <a:bodyPr wrap="square" rtlCol="0">
            <a:spAutoFit/>
          </a:bodyPr>
          <a:lstStyle/>
          <a:p>
            <a:r>
              <a:rPr lang="en-US" dirty="0" smtClean="0"/>
              <a:t>Vertex </a:t>
            </a:r>
            <a:r>
              <a:rPr lang="en-US" dirty="0" err="1" smtClean="0"/>
              <a:t>Shader</a:t>
            </a:r>
            <a:endParaRPr lang="en-US" dirty="0"/>
          </a:p>
        </p:txBody>
      </p:sp>
      <p:sp>
        <p:nvSpPr>
          <p:cNvPr id="8" name="Right Arrow 7"/>
          <p:cNvSpPr/>
          <p:nvPr/>
        </p:nvSpPr>
        <p:spPr>
          <a:xfrm>
            <a:off x="3078122" y="3738125"/>
            <a:ext cx="164805" cy="1488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3242926" y="3402555"/>
            <a:ext cx="1515141" cy="923330"/>
          </a:xfrm>
          <a:prstGeom prst="rect">
            <a:avLst/>
          </a:prstGeom>
          <a:noFill/>
        </p:spPr>
        <p:txBody>
          <a:bodyPr wrap="square" rtlCol="0">
            <a:spAutoFit/>
          </a:bodyPr>
          <a:lstStyle/>
          <a:p>
            <a:r>
              <a:rPr lang="en-US" dirty="0" smtClean="0"/>
              <a:t>Vertex position and </a:t>
            </a:r>
            <a:r>
              <a:rPr lang="en-US" dirty="0" err="1" smtClean="0"/>
              <a:t>varyings</a:t>
            </a:r>
            <a:endParaRPr lang="en-US" dirty="0"/>
          </a:p>
        </p:txBody>
      </p:sp>
      <p:sp>
        <p:nvSpPr>
          <p:cNvPr id="11" name="Freeform 10"/>
          <p:cNvSpPr/>
          <p:nvPr/>
        </p:nvSpPr>
        <p:spPr>
          <a:xfrm>
            <a:off x="671920" y="3874577"/>
            <a:ext cx="5145010" cy="2259418"/>
          </a:xfrm>
          <a:custGeom>
            <a:avLst/>
            <a:gdLst>
              <a:gd name="connsiteX0" fmla="*/ 4133996 w 5145010"/>
              <a:gd name="connsiteY0" fmla="*/ 0 h 2259418"/>
              <a:gd name="connsiteX1" fmla="*/ 4894224 w 5145010"/>
              <a:gd name="connsiteY1" fmla="*/ 584790 h 2259418"/>
              <a:gd name="connsiteX2" fmla="*/ 306275 w 5145010"/>
              <a:gd name="connsiteY2" fmla="*/ 1717158 h 2259418"/>
              <a:gd name="connsiteX3" fmla="*/ 800689 w 5145010"/>
              <a:gd name="connsiteY3" fmla="*/ 2259418 h 2259418"/>
            </a:gdLst>
            <a:ahLst/>
            <a:cxnLst>
              <a:cxn ang="0">
                <a:pos x="connsiteX0" y="connsiteY0"/>
              </a:cxn>
              <a:cxn ang="0">
                <a:pos x="connsiteX1" y="connsiteY1"/>
              </a:cxn>
              <a:cxn ang="0">
                <a:pos x="connsiteX2" y="connsiteY2"/>
              </a:cxn>
              <a:cxn ang="0">
                <a:pos x="connsiteX3" y="connsiteY3"/>
              </a:cxn>
            </a:cxnLst>
            <a:rect l="l" t="t" r="r" b="b"/>
            <a:pathLst>
              <a:path w="5145010" h="2259418">
                <a:moveTo>
                  <a:pt x="4133996" y="0"/>
                </a:moveTo>
                <a:cubicBezTo>
                  <a:pt x="4833086" y="149298"/>
                  <a:pt x="5532177" y="298597"/>
                  <a:pt x="4894224" y="584790"/>
                </a:cubicBezTo>
                <a:cubicBezTo>
                  <a:pt x="4256271" y="870983"/>
                  <a:pt x="988531" y="1438053"/>
                  <a:pt x="306275" y="1717158"/>
                </a:cubicBezTo>
                <a:cubicBezTo>
                  <a:pt x="-375981" y="1996263"/>
                  <a:pt x="212354" y="2127840"/>
                  <a:pt x="800689" y="2259418"/>
                </a:cubicBezTo>
              </a:path>
            </a:pathLst>
          </a:custGeom>
          <a:noFill/>
          <a:ln>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1435388" y="5628304"/>
            <a:ext cx="1562993" cy="1200329"/>
          </a:xfrm>
          <a:prstGeom prst="rect">
            <a:avLst/>
          </a:prstGeom>
          <a:noFill/>
        </p:spPr>
        <p:txBody>
          <a:bodyPr wrap="square" rtlCol="0">
            <a:spAutoFit/>
          </a:bodyPr>
          <a:lstStyle/>
          <a:p>
            <a:r>
              <a:rPr lang="en-US" dirty="0" smtClean="0"/>
              <a:t>A set of vertex positions and </a:t>
            </a:r>
            <a:r>
              <a:rPr lang="en-US" dirty="0" err="1" smtClean="0"/>
              <a:t>varyings</a:t>
            </a:r>
            <a:endParaRPr lang="en-US" dirty="0"/>
          </a:p>
        </p:txBody>
      </p:sp>
      <p:sp>
        <p:nvSpPr>
          <p:cNvPr id="13" name="Right Arrow 12"/>
          <p:cNvSpPr/>
          <p:nvPr/>
        </p:nvSpPr>
        <p:spPr>
          <a:xfrm>
            <a:off x="2934583" y="6059567"/>
            <a:ext cx="164805" cy="1488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3097614" y="5692744"/>
            <a:ext cx="1426540" cy="88250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3219886" y="5927781"/>
            <a:ext cx="1251105" cy="369332"/>
          </a:xfrm>
          <a:prstGeom prst="rect">
            <a:avLst/>
          </a:prstGeom>
          <a:noFill/>
        </p:spPr>
        <p:txBody>
          <a:bodyPr wrap="square" rtlCol="0">
            <a:spAutoFit/>
          </a:bodyPr>
          <a:lstStyle/>
          <a:p>
            <a:r>
              <a:rPr lang="en-US" dirty="0" smtClean="0"/>
              <a:t>Rasterizer</a:t>
            </a:r>
            <a:endParaRPr lang="en-US" dirty="0"/>
          </a:p>
        </p:txBody>
      </p:sp>
      <p:sp>
        <p:nvSpPr>
          <p:cNvPr id="16" name="Right Arrow 15"/>
          <p:cNvSpPr/>
          <p:nvPr/>
        </p:nvSpPr>
        <p:spPr>
          <a:xfrm>
            <a:off x="4524154" y="6059566"/>
            <a:ext cx="164805" cy="1488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4683639" y="5692744"/>
            <a:ext cx="1426540" cy="88250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4805911" y="5810829"/>
            <a:ext cx="1251105" cy="646331"/>
          </a:xfrm>
          <a:prstGeom prst="rect">
            <a:avLst/>
          </a:prstGeom>
          <a:noFill/>
        </p:spPr>
        <p:txBody>
          <a:bodyPr wrap="square" rtlCol="0">
            <a:spAutoFit/>
          </a:bodyPr>
          <a:lstStyle/>
          <a:p>
            <a:r>
              <a:rPr lang="en-US" dirty="0" smtClean="0"/>
              <a:t>Fragment </a:t>
            </a:r>
            <a:r>
              <a:rPr lang="en-US" dirty="0" err="1" smtClean="0"/>
              <a:t>Shader</a:t>
            </a:r>
            <a:endParaRPr lang="en-US" dirty="0"/>
          </a:p>
        </p:txBody>
      </p:sp>
      <p:sp>
        <p:nvSpPr>
          <p:cNvPr id="19" name="Right Arrow 18"/>
          <p:cNvSpPr/>
          <p:nvPr/>
        </p:nvSpPr>
        <p:spPr>
          <a:xfrm>
            <a:off x="6110179" y="6059567"/>
            <a:ext cx="164805" cy="1488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6296242" y="5949328"/>
            <a:ext cx="1249060" cy="369332"/>
          </a:xfrm>
          <a:prstGeom prst="rect">
            <a:avLst/>
          </a:prstGeom>
          <a:noFill/>
        </p:spPr>
        <p:txBody>
          <a:bodyPr wrap="none" rtlCol="0">
            <a:spAutoFit/>
          </a:bodyPr>
          <a:lstStyle/>
          <a:p>
            <a:r>
              <a:rPr lang="en-US" dirty="0" smtClean="0"/>
              <a:t>Pixel color</a:t>
            </a:r>
            <a:endParaRPr lang="en-US" dirty="0"/>
          </a:p>
        </p:txBody>
      </p:sp>
      <p:cxnSp>
        <p:nvCxnSpPr>
          <p:cNvPr id="21" name="Straight Connector 20"/>
          <p:cNvCxnSpPr/>
          <p:nvPr/>
        </p:nvCxnSpPr>
        <p:spPr>
          <a:xfrm>
            <a:off x="1771662" y="2845750"/>
            <a:ext cx="0" cy="16920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931492" y="2973936"/>
            <a:ext cx="907136" cy="369332"/>
          </a:xfrm>
          <a:prstGeom prst="rect">
            <a:avLst/>
          </a:prstGeom>
          <a:noFill/>
        </p:spPr>
        <p:txBody>
          <a:bodyPr wrap="square" rtlCol="0">
            <a:spAutoFit/>
          </a:bodyPr>
          <a:lstStyle/>
          <a:p>
            <a:r>
              <a:rPr lang="en-US" dirty="0" smtClean="0"/>
              <a:t>C++</a:t>
            </a:r>
            <a:endParaRPr lang="en-US" dirty="0"/>
          </a:p>
        </p:txBody>
      </p:sp>
      <p:sp>
        <p:nvSpPr>
          <p:cNvPr id="24" name="TextBox 23"/>
          <p:cNvSpPr txBox="1"/>
          <p:nvPr/>
        </p:nvSpPr>
        <p:spPr>
          <a:xfrm>
            <a:off x="1998918" y="2970810"/>
            <a:ext cx="907136" cy="369332"/>
          </a:xfrm>
          <a:prstGeom prst="rect">
            <a:avLst/>
          </a:prstGeom>
          <a:noFill/>
        </p:spPr>
        <p:txBody>
          <a:bodyPr wrap="square" rtlCol="0">
            <a:spAutoFit/>
          </a:bodyPr>
          <a:lstStyle/>
          <a:p>
            <a:r>
              <a:rPr lang="en-US" dirty="0" smtClean="0"/>
              <a:t>GLSL</a:t>
            </a:r>
            <a:endParaRPr lang="en-US" dirty="0"/>
          </a:p>
        </p:txBody>
      </p:sp>
      <p:cxnSp>
        <p:nvCxnSpPr>
          <p:cNvPr id="26" name="Straight Arrow Connector 25"/>
          <p:cNvCxnSpPr/>
          <p:nvPr/>
        </p:nvCxnSpPr>
        <p:spPr>
          <a:xfrm flipH="1">
            <a:off x="1504060" y="3152967"/>
            <a:ext cx="26760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endCxn id="24" idx="1"/>
          </p:cNvCxnSpPr>
          <p:nvPr/>
        </p:nvCxnSpPr>
        <p:spPr>
          <a:xfrm>
            <a:off x="1771662" y="3155476"/>
            <a:ext cx="22725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85279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Vertex </a:t>
            </a:r>
            <a:r>
              <a:rPr lang="en-US" dirty="0" err="1" smtClean="0"/>
              <a:t>Shader</a:t>
            </a:r>
            <a:r>
              <a:rPr lang="en-US" dirty="0" smtClean="0"/>
              <a:t> and Fragment </a:t>
            </a:r>
            <a:r>
              <a:rPr lang="en-US" dirty="0" err="1" smtClean="0"/>
              <a:t>Shader</a:t>
            </a:r>
            <a:endParaRPr lang="en-US" dirty="0"/>
          </a:p>
        </p:txBody>
      </p:sp>
      <p:sp>
        <p:nvSpPr>
          <p:cNvPr id="3" name="Content Placeholder 2"/>
          <p:cNvSpPr>
            <a:spLocks noGrp="1"/>
          </p:cNvSpPr>
          <p:nvPr>
            <p:ph idx="1"/>
          </p:nvPr>
        </p:nvSpPr>
        <p:spPr>
          <a:xfrm>
            <a:off x="457200" y="1066800"/>
            <a:ext cx="8229600" cy="1352107"/>
          </a:xfrm>
        </p:spPr>
        <p:txBody>
          <a:bodyPr/>
          <a:lstStyle/>
          <a:p>
            <a:r>
              <a:rPr lang="en-US" dirty="0" smtClean="0"/>
              <a:t>The vertex attributes are passed from the C++ program to the vertex </a:t>
            </a:r>
            <a:r>
              <a:rPr lang="en-US" dirty="0" err="1" smtClean="0"/>
              <a:t>shader</a:t>
            </a:r>
            <a:r>
              <a:rPr lang="en-US" dirty="0" smtClean="0"/>
              <a:t>.</a:t>
            </a:r>
          </a:p>
          <a:p>
            <a:r>
              <a:rPr lang="en-US" dirty="0" smtClean="0"/>
              <a:t>Therefore, your vertex </a:t>
            </a:r>
            <a:r>
              <a:rPr lang="en-US" dirty="0" err="1" smtClean="0"/>
              <a:t>shader</a:t>
            </a:r>
            <a:r>
              <a:rPr lang="en-US" dirty="0" smtClean="0"/>
              <a:t> defines what a vertex looks like.</a:t>
            </a:r>
          </a:p>
          <a:p>
            <a:endParaRPr lang="en-US" dirty="0" smtClean="0"/>
          </a:p>
        </p:txBody>
      </p:sp>
      <p:sp>
        <p:nvSpPr>
          <p:cNvPr id="4" name="TextBox 3"/>
          <p:cNvSpPr txBox="1"/>
          <p:nvPr/>
        </p:nvSpPr>
        <p:spPr>
          <a:xfrm>
            <a:off x="260496" y="3619396"/>
            <a:ext cx="1390124" cy="369332"/>
          </a:xfrm>
          <a:prstGeom prst="rect">
            <a:avLst/>
          </a:prstGeom>
          <a:noFill/>
        </p:spPr>
        <p:txBody>
          <a:bodyPr wrap="none" rtlCol="0">
            <a:spAutoFit/>
          </a:bodyPr>
          <a:lstStyle/>
          <a:p>
            <a:r>
              <a:rPr lang="en-US" dirty="0" smtClean="0"/>
              <a:t>Input vertex</a:t>
            </a:r>
            <a:endParaRPr lang="en-US" dirty="0"/>
          </a:p>
        </p:txBody>
      </p:sp>
      <p:sp>
        <p:nvSpPr>
          <p:cNvPr id="5" name="Right Arrow 4"/>
          <p:cNvSpPr/>
          <p:nvPr/>
        </p:nvSpPr>
        <p:spPr>
          <a:xfrm>
            <a:off x="1711840" y="3725721"/>
            <a:ext cx="164805" cy="1488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876645" y="3412061"/>
            <a:ext cx="1180213" cy="88250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1998918" y="3530146"/>
            <a:ext cx="935665" cy="646331"/>
          </a:xfrm>
          <a:prstGeom prst="rect">
            <a:avLst/>
          </a:prstGeom>
          <a:noFill/>
        </p:spPr>
        <p:txBody>
          <a:bodyPr wrap="square" rtlCol="0">
            <a:spAutoFit/>
          </a:bodyPr>
          <a:lstStyle/>
          <a:p>
            <a:r>
              <a:rPr lang="en-US" dirty="0" smtClean="0"/>
              <a:t>Vertex </a:t>
            </a:r>
            <a:r>
              <a:rPr lang="en-US" dirty="0" err="1" smtClean="0"/>
              <a:t>Shader</a:t>
            </a:r>
            <a:endParaRPr lang="en-US" dirty="0"/>
          </a:p>
        </p:txBody>
      </p:sp>
      <p:sp>
        <p:nvSpPr>
          <p:cNvPr id="8" name="Right Arrow 7"/>
          <p:cNvSpPr/>
          <p:nvPr/>
        </p:nvSpPr>
        <p:spPr>
          <a:xfrm>
            <a:off x="3078122" y="3738125"/>
            <a:ext cx="164805" cy="1488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3242926" y="3402555"/>
            <a:ext cx="1515141" cy="923330"/>
          </a:xfrm>
          <a:prstGeom prst="rect">
            <a:avLst/>
          </a:prstGeom>
          <a:noFill/>
        </p:spPr>
        <p:txBody>
          <a:bodyPr wrap="square" rtlCol="0">
            <a:spAutoFit/>
          </a:bodyPr>
          <a:lstStyle/>
          <a:p>
            <a:r>
              <a:rPr lang="en-US" dirty="0" smtClean="0"/>
              <a:t>Vertex position and </a:t>
            </a:r>
            <a:r>
              <a:rPr lang="en-US" dirty="0" err="1" smtClean="0"/>
              <a:t>varyings</a:t>
            </a:r>
            <a:endParaRPr lang="en-US" dirty="0"/>
          </a:p>
        </p:txBody>
      </p:sp>
      <p:sp>
        <p:nvSpPr>
          <p:cNvPr id="11" name="Freeform 10"/>
          <p:cNvSpPr/>
          <p:nvPr/>
        </p:nvSpPr>
        <p:spPr>
          <a:xfrm>
            <a:off x="671920" y="3874577"/>
            <a:ext cx="5145010" cy="2259418"/>
          </a:xfrm>
          <a:custGeom>
            <a:avLst/>
            <a:gdLst>
              <a:gd name="connsiteX0" fmla="*/ 4133996 w 5145010"/>
              <a:gd name="connsiteY0" fmla="*/ 0 h 2259418"/>
              <a:gd name="connsiteX1" fmla="*/ 4894224 w 5145010"/>
              <a:gd name="connsiteY1" fmla="*/ 584790 h 2259418"/>
              <a:gd name="connsiteX2" fmla="*/ 306275 w 5145010"/>
              <a:gd name="connsiteY2" fmla="*/ 1717158 h 2259418"/>
              <a:gd name="connsiteX3" fmla="*/ 800689 w 5145010"/>
              <a:gd name="connsiteY3" fmla="*/ 2259418 h 2259418"/>
            </a:gdLst>
            <a:ahLst/>
            <a:cxnLst>
              <a:cxn ang="0">
                <a:pos x="connsiteX0" y="connsiteY0"/>
              </a:cxn>
              <a:cxn ang="0">
                <a:pos x="connsiteX1" y="connsiteY1"/>
              </a:cxn>
              <a:cxn ang="0">
                <a:pos x="connsiteX2" y="connsiteY2"/>
              </a:cxn>
              <a:cxn ang="0">
                <a:pos x="connsiteX3" y="connsiteY3"/>
              </a:cxn>
            </a:cxnLst>
            <a:rect l="l" t="t" r="r" b="b"/>
            <a:pathLst>
              <a:path w="5145010" h="2259418">
                <a:moveTo>
                  <a:pt x="4133996" y="0"/>
                </a:moveTo>
                <a:cubicBezTo>
                  <a:pt x="4833086" y="149298"/>
                  <a:pt x="5532177" y="298597"/>
                  <a:pt x="4894224" y="584790"/>
                </a:cubicBezTo>
                <a:cubicBezTo>
                  <a:pt x="4256271" y="870983"/>
                  <a:pt x="988531" y="1438053"/>
                  <a:pt x="306275" y="1717158"/>
                </a:cubicBezTo>
                <a:cubicBezTo>
                  <a:pt x="-375981" y="1996263"/>
                  <a:pt x="212354" y="2127840"/>
                  <a:pt x="800689" y="2259418"/>
                </a:cubicBezTo>
              </a:path>
            </a:pathLst>
          </a:custGeom>
          <a:noFill/>
          <a:ln>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1435388" y="5628304"/>
            <a:ext cx="1562993" cy="1200329"/>
          </a:xfrm>
          <a:prstGeom prst="rect">
            <a:avLst/>
          </a:prstGeom>
          <a:noFill/>
        </p:spPr>
        <p:txBody>
          <a:bodyPr wrap="square" rtlCol="0">
            <a:spAutoFit/>
          </a:bodyPr>
          <a:lstStyle/>
          <a:p>
            <a:r>
              <a:rPr lang="en-US" dirty="0" smtClean="0"/>
              <a:t>A set of vertex positions and </a:t>
            </a:r>
            <a:r>
              <a:rPr lang="en-US" dirty="0" err="1" smtClean="0"/>
              <a:t>varyings</a:t>
            </a:r>
            <a:endParaRPr lang="en-US" dirty="0"/>
          </a:p>
        </p:txBody>
      </p:sp>
      <p:sp>
        <p:nvSpPr>
          <p:cNvPr id="13" name="Right Arrow 12"/>
          <p:cNvSpPr/>
          <p:nvPr/>
        </p:nvSpPr>
        <p:spPr>
          <a:xfrm>
            <a:off x="2934583" y="6059567"/>
            <a:ext cx="164805" cy="1488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3097614" y="5692744"/>
            <a:ext cx="1426540" cy="88250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3219886" y="5927781"/>
            <a:ext cx="1251105" cy="369332"/>
          </a:xfrm>
          <a:prstGeom prst="rect">
            <a:avLst/>
          </a:prstGeom>
          <a:noFill/>
        </p:spPr>
        <p:txBody>
          <a:bodyPr wrap="square" rtlCol="0">
            <a:spAutoFit/>
          </a:bodyPr>
          <a:lstStyle/>
          <a:p>
            <a:r>
              <a:rPr lang="en-US" dirty="0" smtClean="0"/>
              <a:t>Rasterizer</a:t>
            </a:r>
            <a:endParaRPr lang="en-US" dirty="0"/>
          </a:p>
        </p:txBody>
      </p:sp>
      <p:sp>
        <p:nvSpPr>
          <p:cNvPr id="16" name="Right Arrow 15"/>
          <p:cNvSpPr/>
          <p:nvPr/>
        </p:nvSpPr>
        <p:spPr>
          <a:xfrm>
            <a:off x="4524154" y="6059566"/>
            <a:ext cx="164805" cy="1488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4683639" y="5692744"/>
            <a:ext cx="1426540" cy="88250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4805911" y="5810829"/>
            <a:ext cx="1251105" cy="646331"/>
          </a:xfrm>
          <a:prstGeom prst="rect">
            <a:avLst/>
          </a:prstGeom>
          <a:noFill/>
        </p:spPr>
        <p:txBody>
          <a:bodyPr wrap="square" rtlCol="0">
            <a:spAutoFit/>
          </a:bodyPr>
          <a:lstStyle/>
          <a:p>
            <a:r>
              <a:rPr lang="en-US" dirty="0" smtClean="0"/>
              <a:t>Fragment </a:t>
            </a:r>
            <a:r>
              <a:rPr lang="en-US" dirty="0" err="1" smtClean="0"/>
              <a:t>Shader</a:t>
            </a:r>
            <a:endParaRPr lang="en-US" dirty="0"/>
          </a:p>
        </p:txBody>
      </p:sp>
      <p:sp>
        <p:nvSpPr>
          <p:cNvPr id="19" name="Right Arrow 18"/>
          <p:cNvSpPr/>
          <p:nvPr/>
        </p:nvSpPr>
        <p:spPr>
          <a:xfrm>
            <a:off x="6110179" y="6059567"/>
            <a:ext cx="164805" cy="1488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6296242" y="5949328"/>
            <a:ext cx="1249060" cy="369332"/>
          </a:xfrm>
          <a:prstGeom prst="rect">
            <a:avLst/>
          </a:prstGeom>
          <a:noFill/>
        </p:spPr>
        <p:txBody>
          <a:bodyPr wrap="none" rtlCol="0">
            <a:spAutoFit/>
          </a:bodyPr>
          <a:lstStyle/>
          <a:p>
            <a:r>
              <a:rPr lang="en-US" dirty="0" smtClean="0"/>
              <a:t>Pixel color</a:t>
            </a:r>
            <a:endParaRPr lang="en-US" dirty="0"/>
          </a:p>
        </p:txBody>
      </p:sp>
      <p:cxnSp>
        <p:nvCxnSpPr>
          <p:cNvPr id="21" name="Straight Connector 20"/>
          <p:cNvCxnSpPr/>
          <p:nvPr/>
        </p:nvCxnSpPr>
        <p:spPr>
          <a:xfrm>
            <a:off x="1771662" y="2845750"/>
            <a:ext cx="0" cy="16920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931492" y="2973936"/>
            <a:ext cx="907136" cy="369332"/>
          </a:xfrm>
          <a:prstGeom prst="rect">
            <a:avLst/>
          </a:prstGeom>
          <a:noFill/>
        </p:spPr>
        <p:txBody>
          <a:bodyPr wrap="square" rtlCol="0">
            <a:spAutoFit/>
          </a:bodyPr>
          <a:lstStyle/>
          <a:p>
            <a:r>
              <a:rPr lang="en-US" dirty="0" smtClean="0"/>
              <a:t>C++</a:t>
            </a:r>
            <a:endParaRPr lang="en-US" dirty="0"/>
          </a:p>
        </p:txBody>
      </p:sp>
      <p:sp>
        <p:nvSpPr>
          <p:cNvPr id="24" name="TextBox 23"/>
          <p:cNvSpPr txBox="1"/>
          <p:nvPr/>
        </p:nvSpPr>
        <p:spPr>
          <a:xfrm>
            <a:off x="1998918" y="2970810"/>
            <a:ext cx="907136" cy="369332"/>
          </a:xfrm>
          <a:prstGeom prst="rect">
            <a:avLst/>
          </a:prstGeom>
          <a:noFill/>
        </p:spPr>
        <p:txBody>
          <a:bodyPr wrap="square" rtlCol="0">
            <a:spAutoFit/>
          </a:bodyPr>
          <a:lstStyle/>
          <a:p>
            <a:r>
              <a:rPr lang="en-US" dirty="0" smtClean="0"/>
              <a:t>GLSL</a:t>
            </a:r>
            <a:endParaRPr lang="en-US" dirty="0"/>
          </a:p>
        </p:txBody>
      </p:sp>
      <p:cxnSp>
        <p:nvCxnSpPr>
          <p:cNvPr id="26" name="Straight Arrow Connector 25"/>
          <p:cNvCxnSpPr/>
          <p:nvPr/>
        </p:nvCxnSpPr>
        <p:spPr>
          <a:xfrm flipH="1">
            <a:off x="1504060" y="3152967"/>
            <a:ext cx="26760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endCxn id="24" idx="1"/>
          </p:cNvCxnSpPr>
          <p:nvPr/>
        </p:nvCxnSpPr>
        <p:spPr>
          <a:xfrm>
            <a:off x="1771662" y="3155476"/>
            <a:ext cx="22725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34618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Vertex </a:t>
            </a:r>
            <a:r>
              <a:rPr lang="en-US" dirty="0" err="1" smtClean="0"/>
              <a:t>Shader</a:t>
            </a:r>
            <a:endParaRPr lang="en-US" dirty="0"/>
          </a:p>
        </p:txBody>
      </p:sp>
      <p:sp>
        <p:nvSpPr>
          <p:cNvPr id="3" name="Content Placeholder 2"/>
          <p:cNvSpPr>
            <a:spLocks noGrp="1"/>
          </p:cNvSpPr>
          <p:nvPr>
            <p:ph idx="1"/>
          </p:nvPr>
        </p:nvSpPr>
        <p:spPr/>
        <p:txBody>
          <a:bodyPr/>
          <a:lstStyle/>
          <a:p>
            <a:r>
              <a:rPr lang="en-US" dirty="0" smtClean="0"/>
              <a:t>Input:</a:t>
            </a:r>
          </a:p>
          <a:p>
            <a:pPr lvl="1"/>
            <a:r>
              <a:rPr lang="en-US" dirty="0" smtClean="0"/>
              <a:t>A set of vertex attributes as input.</a:t>
            </a:r>
          </a:p>
          <a:p>
            <a:r>
              <a:rPr lang="en-US" dirty="0" smtClean="0"/>
              <a:t>Output:</a:t>
            </a:r>
          </a:p>
          <a:p>
            <a:pPr lvl="1"/>
            <a:r>
              <a:rPr lang="en-US" dirty="0" smtClean="0"/>
              <a:t>A vertex position (</a:t>
            </a:r>
            <a:r>
              <a:rPr lang="en-US" dirty="0" err="1" smtClean="0"/>
              <a:t>gl_Position</a:t>
            </a:r>
            <a:r>
              <a:rPr lang="en-US" dirty="0" smtClean="0"/>
              <a:t>) and </a:t>
            </a:r>
            <a:r>
              <a:rPr lang="en-US" dirty="0" err="1" smtClean="0"/>
              <a:t>varyings</a:t>
            </a:r>
            <a:r>
              <a:rPr lang="en-US" dirty="0" smtClean="0"/>
              <a:t>.</a:t>
            </a:r>
          </a:p>
          <a:p>
            <a:r>
              <a:rPr lang="en-US" dirty="0" smtClean="0"/>
              <a:t>Varying: A value that is assigned per vertex and interpolated within a primitive by the Rasterizer.</a:t>
            </a:r>
          </a:p>
          <a:p>
            <a:r>
              <a:rPr lang="en-US" dirty="0" smtClean="0"/>
              <a:t>Examples of 'varying's:</a:t>
            </a:r>
          </a:p>
          <a:p>
            <a:pPr lvl="1"/>
            <a:r>
              <a:rPr lang="en-US" dirty="0" smtClean="0"/>
              <a:t>Color – When a color is assigned per vertex.</a:t>
            </a:r>
          </a:p>
          <a:p>
            <a:pPr lvl="1"/>
            <a:r>
              <a:rPr lang="en-US" dirty="0" smtClean="0"/>
              <a:t>Normal – For </a:t>
            </a:r>
            <a:r>
              <a:rPr lang="en-US" dirty="0" err="1" smtClean="0"/>
              <a:t>Phong</a:t>
            </a:r>
            <a:r>
              <a:rPr lang="en-US" dirty="0" smtClean="0"/>
              <a:t> shading, normal must be interpolated within a primitive.</a:t>
            </a:r>
          </a:p>
          <a:p>
            <a:pPr lvl="1"/>
            <a:r>
              <a:rPr lang="en-US" dirty="0" smtClean="0"/>
              <a:t>Texture Coordinate – Texture coordinate typically is independent of the vertex coordinate, and must be interpolated within a primitive.</a:t>
            </a:r>
          </a:p>
        </p:txBody>
      </p:sp>
    </p:spTree>
    <p:extLst>
      <p:ext uri="{BB962C8B-B14F-4D97-AF65-F5344CB8AC3E}">
        <p14:creationId xmlns:p14="http://schemas.microsoft.com/office/powerpoint/2010/main" val="30154407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Fragment </a:t>
            </a:r>
            <a:r>
              <a:rPr lang="en-US" dirty="0" err="1" smtClean="0"/>
              <a:t>Shader</a:t>
            </a:r>
            <a:endParaRPr lang="en-US" dirty="0"/>
          </a:p>
        </p:txBody>
      </p:sp>
      <p:sp>
        <p:nvSpPr>
          <p:cNvPr id="3" name="Content Placeholder 2"/>
          <p:cNvSpPr>
            <a:spLocks noGrp="1"/>
          </p:cNvSpPr>
          <p:nvPr>
            <p:ph idx="1"/>
          </p:nvPr>
        </p:nvSpPr>
        <p:spPr/>
        <p:txBody>
          <a:bodyPr/>
          <a:lstStyle/>
          <a:p>
            <a:r>
              <a:rPr lang="en-US" dirty="0" smtClean="0"/>
              <a:t>Input:</a:t>
            </a:r>
          </a:p>
          <a:p>
            <a:pPr lvl="1"/>
            <a:r>
              <a:rPr lang="en-US" dirty="0" smtClean="0"/>
              <a:t>The 'varying's interpolated for the pixel location.</a:t>
            </a:r>
          </a:p>
          <a:p>
            <a:r>
              <a:rPr lang="en-US" dirty="0" smtClean="0"/>
              <a:t>Output:</a:t>
            </a:r>
          </a:p>
          <a:p>
            <a:pPr lvl="1"/>
            <a:r>
              <a:rPr lang="en-US" dirty="0" smtClean="0"/>
              <a:t>The pixel color (</a:t>
            </a:r>
            <a:r>
              <a:rPr lang="en-US" dirty="0" err="1" smtClean="0"/>
              <a:t>gl_FragColor</a:t>
            </a:r>
            <a:r>
              <a:rPr lang="en-US" dirty="0" smtClean="0"/>
              <a:t>)</a:t>
            </a:r>
            <a:endParaRPr lang="en-US" dirty="0"/>
          </a:p>
        </p:txBody>
      </p:sp>
      <p:sp>
        <p:nvSpPr>
          <p:cNvPr id="4" name="TextBox 3"/>
          <p:cNvSpPr txBox="1"/>
          <p:nvPr/>
        </p:nvSpPr>
        <p:spPr>
          <a:xfrm>
            <a:off x="260496" y="3619396"/>
            <a:ext cx="1390124" cy="369332"/>
          </a:xfrm>
          <a:prstGeom prst="rect">
            <a:avLst/>
          </a:prstGeom>
          <a:noFill/>
        </p:spPr>
        <p:txBody>
          <a:bodyPr wrap="none" rtlCol="0">
            <a:spAutoFit/>
          </a:bodyPr>
          <a:lstStyle/>
          <a:p>
            <a:r>
              <a:rPr lang="en-US" dirty="0" smtClean="0"/>
              <a:t>Input vertex</a:t>
            </a:r>
            <a:endParaRPr lang="en-US" dirty="0"/>
          </a:p>
        </p:txBody>
      </p:sp>
      <p:sp>
        <p:nvSpPr>
          <p:cNvPr id="5" name="Right Arrow 4"/>
          <p:cNvSpPr/>
          <p:nvPr/>
        </p:nvSpPr>
        <p:spPr>
          <a:xfrm>
            <a:off x="1711840" y="3725721"/>
            <a:ext cx="164805" cy="1488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876645" y="3412061"/>
            <a:ext cx="1180213" cy="88250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1998918" y="3530146"/>
            <a:ext cx="935665" cy="646331"/>
          </a:xfrm>
          <a:prstGeom prst="rect">
            <a:avLst/>
          </a:prstGeom>
          <a:noFill/>
        </p:spPr>
        <p:txBody>
          <a:bodyPr wrap="square" rtlCol="0">
            <a:spAutoFit/>
          </a:bodyPr>
          <a:lstStyle/>
          <a:p>
            <a:r>
              <a:rPr lang="en-US" dirty="0" smtClean="0"/>
              <a:t>Vertex </a:t>
            </a:r>
            <a:r>
              <a:rPr lang="en-US" dirty="0" err="1" smtClean="0"/>
              <a:t>Shader</a:t>
            </a:r>
            <a:endParaRPr lang="en-US" dirty="0"/>
          </a:p>
        </p:txBody>
      </p:sp>
      <p:sp>
        <p:nvSpPr>
          <p:cNvPr id="8" name="Right Arrow 7"/>
          <p:cNvSpPr/>
          <p:nvPr/>
        </p:nvSpPr>
        <p:spPr>
          <a:xfrm>
            <a:off x="3078122" y="3738125"/>
            <a:ext cx="164805" cy="1488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3242926" y="3402555"/>
            <a:ext cx="1515141" cy="923330"/>
          </a:xfrm>
          <a:prstGeom prst="rect">
            <a:avLst/>
          </a:prstGeom>
          <a:noFill/>
        </p:spPr>
        <p:txBody>
          <a:bodyPr wrap="square" rtlCol="0">
            <a:spAutoFit/>
          </a:bodyPr>
          <a:lstStyle/>
          <a:p>
            <a:r>
              <a:rPr lang="en-US" dirty="0" smtClean="0"/>
              <a:t>Vertex position and </a:t>
            </a:r>
            <a:r>
              <a:rPr lang="en-US" dirty="0" err="1" smtClean="0"/>
              <a:t>varyings</a:t>
            </a:r>
            <a:endParaRPr lang="en-US" dirty="0"/>
          </a:p>
        </p:txBody>
      </p:sp>
      <p:sp>
        <p:nvSpPr>
          <p:cNvPr id="10" name="Freeform 9"/>
          <p:cNvSpPr/>
          <p:nvPr/>
        </p:nvSpPr>
        <p:spPr>
          <a:xfrm>
            <a:off x="671920" y="3874577"/>
            <a:ext cx="5145010" cy="2259418"/>
          </a:xfrm>
          <a:custGeom>
            <a:avLst/>
            <a:gdLst>
              <a:gd name="connsiteX0" fmla="*/ 4133996 w 5145010"/>
              <a:gd name="connsiteY0" fmla="*/ 0 h 2259418"/>
              <a:gd name="connsiteX1" fmla="*/ 4894224 w 5145010"/>
              <a:gd name="connsiteY1" fmla="*/ 584790 h 2259418"/>
              <a:gd name="connsiteX2" fmla="*/ 306275 w 5145010"/>
              <a:gd name="connsiteY2" fmla="*/ 1717158 h 2259418"/>
              <a:gd name="connsiteX3" fmla="*/ 800689 w 5145010"/>
              <a:gd name="connsiteY3" fmla="*/ 2259418 h 2259418"/>
            </a:gdLst>
            <a:ahLst/>
            <a:cxnLst>
              <a:cxn ang="0">
                <a:pos x="connsiteX0" y="connsiteY0"/>
              </a:cxn>
              <a:cxn ang="0">
                <a:pos x="connsiteX1" y="connsiteY1"/>
              </a:cxn>
              <a:cxn ang="0">
                <a:pos x="connsiteX2" y="connsiteY2"/>
              </a:cxn>
              <a:cxn ang="0">
                <a:pos x="connsiteX3" y="connsiteY3"/>
              </a:cxn>
            </a:cxnLst>
            <a:rect l="l" t="t" r="r" b="b"/>
            <a:pathLst>
              <a:path w="5145010" h="2259418">
                <a:moveTo>
                  <a:pt x="4133996" y="0"/>
                </a:moveTo>
                <a:cubicBezTo>
                  <a:pt x="4833086" y="149298"/>
                  <a:pt x="5532177" y="298597"/>
                  <a:pt x="4894224" y="584790"/>
                </a:cubicBezTo>
                <a:cubicBezTo>
                  <a:pt x="4256271" y="870983"/>
                  <a:pt x="988531" y="1438053"/>
                  <a:pt x="306275" y="1717158"/>
                </a:cubicBezTo>
                <a:cubicBezTo>
                  <a:pt x="-375981" y="1996263"/>
                  <a:pt x="212354" y="2127840"/>
                  <a:pt x="800689" y="2259418"/>
                </a:cubicBezTo>
              </a:path>
            </a:pathLst>
          </a:custGeom>
          <a:noFill/>
          <a:ln>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1435388" y="5628304"/>
            <a:ext cx="1562993" cy="1200329"/>
          </a:xfrm>
          <a:prstGeom prst="rect">
            <a:avLst/>
          </a:prstGeom>
          <a:noFill/>
        </p:spPr>
        <p:txBody>
          <a:bodyPr wrap="square" rtlCol="0">
            <a:spAutoFit/>
          </a:bodyPr>
          <a:lstStyle/>
          <a:p>
            <a:r>
              <a:rPr lang="en-US" dirty="0" smtClean="0"/>
              <a:t>A set of vertex positions and </a:t>
            </a:r>
            <a:r>
              <a:rPr lang="en-US" dirty="0" err="1" smtClean="0"/>
              <a:t>varyings</a:t>
            </a:r>
            <a:endParaRPr lang="en-US" dirty="0"/>
          </a:p>
        </p:txBody>
      </p:sp>
      <p:sp>
        <p:nvSpPr>
          <p:cNvPr id="12" name="Right Arrow 11"/>
          <p:cNvSpPr/>
          <p:nvPr/>
        </p:nvSpPr>
        <p:spPr>
          <a:xfrm>
            <a:off x="2934583" y="6059567"/>
            <a:ext cx="164805" cy="1488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3097614" y="5692744"/>
            <a:ext cx="1426540" cy="88250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3219886" y="5927781"/>
            <a:ext cx="1251105" cy="369332"/>
          </a:xfrm>
          <a:prstGeom prst="rect">
            <a:avLst/>
          </a:prstGeom>
          <a:noFill/>
        </p:spPr>
        <p:txBody>
          <a:bodyPr wrap="square" rtlCol="0">
            <a:spAutoFit/>
          </a:bodyPr>
          <a:lstStyle/>
          <a:p>
            <a:r>
              <a:rPr lang="en-US" dirty="0" smtClean="0"/>
              <a:t>Rasterizer</a:t>
            </a:r>
            <a:endParaRPr lang="en-US" dirty="0"/>
          </a:p>
        </p:txBody>
      </p:sp>
      <p:sp>
        <p:nvSpPr>
          <p:cNvPr id="15" name="Right Arrow 14"/>
          <p:cNvSpPr/>
          <p:nvPr/>
        </p:nvSpPr>
        <p:spPr>
          <a:xfrm>
            <a:off x="4524154" y="6059566"/>
            <a:ext cx="164805" cy="1488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4683639" y="5692744"/>
            <a:ext cx="1426540" cy="88250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4805911" y="5810829"/>
            <a:ext cx="1251105" cy="646331"/>
          </a:xfrm>
          <a:prstGeom prst="rect">
            <a:avLst/>
          </a:prstGeom>
          <a:noFill/>
        </p:spPr>
        <p:txBody>
          <a:bodyPr wrap="square" rtlCol="0">
            <a:spAutoFit/>
          </a:bodyPr>
          <a:lstStyle/>
          <a:p>
            <a:r>
              <a:rPr lang="en-US" dirty="0" smtClean="0"/>
              <a:t>Fragment </a:t>
            </a:r>
            <a:r>
              <a:rPr lang="en-US" dirty="0" err="1" smtClean="0"/>
              <a:t>Shader</a:t>
            </a:r>
            <a:endParaRPr lang="en-US" dirty="0"/>
          </a:p>
        </p:txBody>
      </p:sp>
      <p:sp>
        <p:nvSpPr>
          <p:cNvPr id="18" name="Right Arrow 17"/>
          <p:cNvSpPr/>
          <p:nvPr/>
        </p:nvSpPr>
        <p:spPr>
          <a:xfrm>
            <a:off x="6110179" y="6059567"/>
            <a:ext cx="164805" cy="1488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6296242" y="5949328"/>
            <a:ext cx="1249060" cy="369332"/>
          </a:xfrm>
          <a:prstGeom prst="rect">
            <a:avLst/>
          </a:prstGeom>
          <a:noFill/>
        </p:spPr>
        <p:txBody>
          <a:bodyPr wrap="none" rtlCol="0">
            <a:spAutoFit/>
          </a:bodyPr>
          <a:lstStyle/>
          <a:p>
            <a:r>
              <a:rPr lang="en-US" dirty="0" smtClean="0"/>
              <a:t>Pixel color</a:t>
            </a:r>
            <a:endParaRPr lang="en-US" dirty="0"/>
          </a:p>
        </p:txBody>
      </p:sp>
      <p:cxnSp>
        <p:nvCxnSpPr>
          <p:cNvPr id="20" name="Straight Connector 19"/>
          <p:cNvCxnSpPr/>
          <p:nvPr/>
        </p:nvCxnSpPr>
        <p:spPr>
          <a:xfrm>
            <a:off x="1771662" y="2845750"/>
            <a:ext cx="0" cy="16920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931492" y="2973936"/>
            <a:ext cx="907136" cy="369332"/>
          </a:xfrm>
          <a:prstGeom prst="rect">
            <a:avLst/>
          </a:prstGeom>
          <a:noFill/>
        </p:spPr>
        <p:txBody>
          <a:bodyPr wrap="square" rtlCol="0">
            <a:spAutoFit/>
          </a:bodyPr>
          <a:lstStyle/>
          <a:p>
            <a:r>
              <a:rPr lang="en-US" dirty="0" smtClean="0"/>
              <a:t>C++</a:t>
            </a:r>
            <a:endParaRPr lang="en-US" dirty="0"/>
          </a:p>
        </p:txBody>
      </p:sp>
      <p:sp>
        <p:nvSpPr>
          <p:cNvPr id="22" name="TextBox 21"/>
          <p:cNvSpPr txBox="1"/>
          <p:nvPr/>
        </p:nvSpPr>
        <p:spPr>
          <a:xfrm>
            <a:off x="1998918" y="2970810"/>
            <a:ext cx="907136" cy="369332"/>
          </a:xfrm>
          <a:prstGeom prst="rect">
            <a:avLst/>
          </a:prstGeom>
          <a:noFill/>
        </p:spPr>
        <p:txBody>
          <a:bodyPr wrap="square" rtlCol="0">
            <a:spAutoFit/>
          </a:bodyPr>
          <a:lstStyle/>
          <a:p>
            <a:r>
              <a:rPr lang="en-US" dirty="0" smtClean="0"/>
              <a:t>GLSL</a:t>
            </a:r>
            <a:endParaRPr lang="en-US" dirty="0"/>
          </a:p>
        </p:txBody>
      </p:sp>
      <p:cxnSp>
        <p:nvCxnSpPr>
          <p:cNvPr id="23" name="Straight Arrow Connector 22"/>
          <p:cNvCxnSpPr/>
          <p:nvPr/>
        </p:nvCxnSpPr>
        <p:spPr>
          <a:xfrm flipH="1">
            <a:off x="1504060" y="3152967"/>
            <a:ext cx="26760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endCxn id="22" idx="1"/>
          </p:cNvCxnSpPr>
          <p:nvPr/>
        </p:nvCxnSpPr>
        <p:spPr>
          <a:xfrm>
            <a:off x="1771662" y="3155476"/>
            <a:ext cx="22725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34018" y="2572804"/>
            <a:ext cx="3491715" cy="369332"/>
          </a:xfrm>
          <a:prstGeom prst="rect">
            <a:avLst/>
          </a:prstGeom>
          <a:noFill/>
        </p:spPr>
        <p:txBody>
          <a:bodyPr wrap="square" rtlCol="0">
            <a:spAutoFit/>
          </a:bodyPr>
          <a:lstStyle/>
          <a:p>
            <a:r>
              <a:rPr lang="en-US" dirty="0" smtClean="0"/>
              <a:t>Whatever values you define.</a:t>
            </a:r>
            <a:endParaRPr lang="en-US" dirty="0"/>
          </a:p>
        </p:txBody>
      </p:sp>
      <p:sp>
        <p:nvSpPr>
          <p:cNvPr id="35" name="TextBox 34"/>
          <p:cNvSpPr txBox="1"/>
          <p:nvPr/>
        </p:nvSpPr>
        <p:spPr>
          <a:xfrm>
            <a:off x="3361539" y="2572804"/>
            <a:ext cx="3465184" cy="369332"/>
          </a:xfrm>
          <a:prstGeom prst="rect">
            <a:avLst/>
          </a:prstGeom>
          <a:noFill/>
        </p:spPr>
        <p:txBody>
          <a:bodyPr wrap="square" rtlCol="0">
            <a:spAutoFit/>
          </a:bodyPr>
          <a:lstStyle/>
          <a:p>
            <a:r>
              <a:rPr lang="en-US" dirty="0" smtClean="0"/>
              <a:t>Screen coordinate system</a:t>
            </a:r>
            <a:endParaRPr lang="en-US" dirty="0"/>
          </a:p>
        </p:txBody>
      </p:sp>
      <p:cxnSp>
        <p:nvCxnSpPr>
          <p:cNvPr id="36" name="Straight Connector 35"/>
          <p:cNvCxnSpPr/>
          <p:nvPr/>
        </p:nvCxnSpPr>
        <p:spPr>
          <a:xfrm>
            <a:off x="3152777" y="2715986"/>
            <a:ext cx="0" cy="18596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H="1">
            <a:off x="2885175" y="2763472"/>
            <a:ext cx="26760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a:off x="3152777" y="2757435"/>
            <a:ext cx="22725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76370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Fragment </a:t>
            </a:r>
            <a:r>
              <a:rPr lang="en-US" dirty="0" err="1" smtClean="0"/>
              <a:t>Shader</a:t>
            </a:r>
            <a:endParaRPr lang="en-US" dirty="0"/>
          </a:p>
        </p:txBody>
      </p:sp>
      <p:sp>
        <p:nvSpPr>
          <p:cNvPr id="3" name="Content Placeholder 2"/>
          <p:cNvSpPr>
            <a:spLocks noGrp="1"/>
          </p:cNvSpPr>
          <p:nvPr>
            <p:ph idx="1"/>
          </p:nvPr>
        </p:nvSpPr>
        <p:spPr/>
        <p:txBody>
          <a:bodyPr/>
          <a:lstStyle/>
          <a:p>
            <a:r>
              <a:rPr lang="en-US" dirty="0" smtClean="0"/>
              <a:t>What happens between the vertex </a:t>
            </a:r>
            <a:r>
              <a:rPr lang="en-US" dirty="0" err="1" smtClean="0"/>
              <a:t>shader</a:t>
            </a:r>
            <a:r>
              <a:rPr lang="en-US" dirty="0" smtClean="0"/>
              <a:t> and a fragment </a:t>
            </a:r>
            <a:r>
              <a:rPr lang="en-US" dirty="0" err="1" smtClean="0"/>
              <a:t>shader</a:t>
            </a:r>
            <a:r>
              <a:rPr lang="en-US" dirty="0" smtClean="0"/>
              <a:t>?  =&gt;  Interpolation</a:t>
            </a:r>
            <a:endParaRPr lang="en-US" dirty="0"/>
          </a:p>
        </p:txBody>
      </p:sp>
      <p:sp>
        <p:nvSpPr>
          <p:cNvPr id="4" name="TextBox 3"/>
          <p:cNvSpPr txBox="1"/>
          <p:nvPr/>
        </p:nvSpPr>
        <p:spPr>
          <a:xfrm>
            <a:off x="260496" y="3619396"/>
            <a:ext cx="1390124" cy="369332"/>
          </a:xfrm>
          <a:prstGeom prst="rect">
            <a:avLst/>
          </a:prstGeom>
          <a:noFill/>
        </p:spPr>
        <p:txBody>
          <a:bodyPr wrap="none" rtlCol="0">
            <a:spAutoFit/>
          </a:bodyPr>
          <a:lstStyle/>
          <a:p>
            <a:r>
              <a:rPr lang="en-US" dirty="0" smtClean="0"/>
              <a:t>Input vertex</a:t>
            </a:r>
            <a:endParaRPr lang="en-US" dirty="0"/>
          </a:p>
        </p:txBody>
      </p:sp>
      <p:sp>
        <p:nvSpPr>
          <p:cNvPr id="5" name="Right Arrow 4"/>
          <p:cNvSpPr/>
          <p:nvPr/>
        </p:nvSpPr>
        <p:spPr>
          <a:xfrm>
            <a:off x="1711840" y="3725721"/>
            <a:ext cx="164805" cy="1488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876645" y="3412061"/>
            <a:ext cx="1180213" cy="88250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1998918" y="3530146"/>
            <a:ext cx="935665" cy="646331"/>
          </a:xfrm>
          <a:prstGeom prst="rect">
            <a:avLst/>
          </a:prstGeom>
          <a:noFill/>
        </p:spPr>
        <p:txBody>
          <a:bodyPr wrap="square" rtlCol="0">
            <a:spAutoFit/>
          </a:bodyPr>
          <a:lstStyle/>
          <a:p>
            <a:r>
              <a:rPr lang="en-US" dirty="0" smtClean="0"/>
              <a:t>Vertex </a:t>
            </a:r>
            <a:r>
              <a:rPr lang="en-US" dirty="0" err="1" smtClean="0"/>
              <a:t>Shader</a:t>
            </a:r>
            <a:endParaRPr lang="en-US" dirty="0"/>
          </a:p>
        </p:txBody>
      </p:sp>
      <p:sp>
        <p:nvSpPr>
          <p:cNvPr id="8" name="Right Arrow 7"/>
          <p:cNvSpPr/>
          <p:nvPr/>
        </p:nvSpPr>
        <p:spPr>
          <a:xfrm>
            <a:off x="3078122" y="3738125"/>
            <a:ext cx="164805" cy="1488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3242926" y="3402555"/>
            <a:ext cx="1515141" cy="923330"/>
          </a:xfrm>
          <a:prstGeom prst="rect">
            <a:avLst/>
          </a:prstGeom>
          <a:noFill/>
        </p:spPr>
        <p:txBody>
          <a:bodyPr wrap="square" rtlCol="0">
            <a:spAutoFit/>
          </a:bodyPr>
          <a:lstStyle/>
          <a:p>
            <a:r>
              <a:rPr lang="en-US" dirty="0" smtClean="0"/>
              <a:t>Vertex position and </a:t>
            </a:r>
            <a:r>
              <a:rPr lang="en-US" dirty="0" err="1" smtClean="0"/>
              <a:t>varyings</a:t>
            </a:r>
            <a:endParaRPr lang="en-US" dirty="0"/>
          </a:p>
        </p:txBody>
      </p:sp>
      <p:sp>
        <p:nvSpPr>
          <p:cNvPr id="10" name="Freeform 9"/>
          <p:cNvSpPr/>
          <p:nvPr/>
        </p:nvSpPr>
        <p:spPr>
          <a:xfrm>
            <a:off x="671920" y="3874577"/>
            <a:ext cx="5145010" cy="2259418"/>
          </a:xfrm>
          <a:custGeom>
            <a:avLst/>
            <a:gdLst>
              <a:gd name="connsiteX0" fmla="*/ 4133996 w 5145010"/>
              <a:gd name="connsiteY0" fmla="*/ 0 h 2259418"/>
              <a:gd name="connsiteX1" fmla="*/ 4894224 w 5145010"/>
              <a:gd name="connsiteY1" fmla="*/ 584790 h 2259418"/>
              <a:gd name="connsiteX2" fmla="*/ 306275 w 5145010"/>
              <a:gd name="connsiteY2" fmla="*/ 1717158 h 2259418"/>
              <a:gd name="connsiteX3" fmla="*/ 800689 w 5145010"/>
              <a:gd name="connsiteY3" fmla="*/ 2259418 h 2259418"/>
            </a:gdLst>
            <a:ahLst/>
            <a:cxnLst>
              <a:cxn ang="0">
                <a:pos x="connsiteX0" y="connsiteY0"/>
              </a:cxn>
              <a:cxn ang="0">
                <a:pos x="connsiteX1" y="connsiteY1"/>
              </a:cxn>
              <a:cxn ang="0">
                <a:pos x="connsiteX2" y="connsiteY2"/>
              </a:cxn>
              <a:cxn ang="0">
                <a:pos x="connsiteX3" y="connsiteY3"/>
              </a:cxn>
            </a:cxnLst>
            <a:rect l="l" t="t" r="r" b="b"/>
            <a:pathLst>
              <a:path w="5145010" h="2259418">
                <a:moveTo>
                  <a:pt x="4133996" y="0"/>
                </a:moveTo>
                <a:cubicBezTo>
                  <a:pt x="4833086" y="149298"/>
                  <a:pt x="5532177" y="298597"/>
                  <a:pt x="4894224" y="584790"/>
                </a:cubicBezTo>
                <a:cubicBezTo>
                  <a:pt x="4256271" y="870983"/>
                  <a:pt x="988531" y="1438053"/>
                  <a:pt x="306275" y="1717158"/>
                </a:cubicBezTo>
                <a:cubicBezTo>
                  <a:pt x="-375981" y="1996263"/>
                  <a:pt x="212354" y="2127840"/>
                  <a:pt x="800689" y="2259418"/>
                </a:cubicBezTo>
              </a:path>
            </a:pathLst>
          </a:custGeom>
          <a:noFill/>
          <a:ln>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1435388" y="5628304"/>
            <a:ext cx="1562993" cy="1200329"/>
          </a:xfrm>
          <a:prstGeom prst="rect">
            <a:avLst/>
          </a:prstGeom>
          <a:noFill/>
        </p:spPr>
        <p:txBody>
          <a:bodyPr wrap="square" rtlCol="0">
            <a:spAutoFit/>
          </a:bodyPr>
          <a:lstStyle/>
          <a:p>
            <a:r>
              <a:rPr lang="en-US" dirty="0" smtClean="0"/>
              <a:t>A set of vertex positions and </a:t>
            </a:r>
            <a:r>
              <a:rPr lang="en-US" dirty="0" err="1" smtClean="0"/>
              <a:t>varyings</a:t>
            </a:r>
            <a:endParaRPr lang="en-US" dirty="0"/>
          </a:p>
        </p:txBody>
      </p:sp>
      <p:sp>
        <p:nvSpPr>
          <p:cNvPr id="12" name="Right Arrow 11"/>
          <p:cNvSpPr/>
          <p:nvPr/>
        </p:nvSpPr>
        <p:spPr>
          <a:xfrm>
            <a:off x="2934583" y="6059567"/>
            <a:ext cx="164805" cy="1488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3097614" y="5692744"/>
            <a:ext cx="1426540" cy="88250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3219886" y="5927781"/>
            <a:ext cx="1251105" cy="369332"/>
          </a:xfrm>
          <a:prstGeom prst="rect">
            <a:avLst/>
          </a:prstGeom>
          <a:noFill/>
        </p:spPr>
        <p:txBody>
          <a:bodyPr wrap="square" rtlCol="0">
            <a:spAutoFit/>
          </a:bodyPr>
          <a:lstStyle/>
          <a:p>
            <a:r>
              <a:rPr lang="en-US" dirty="0" smtClean="0"/>
              <a:t>Rasterizer</a:t>
            </a:r>
            <a:endParaRPr lang="en-US" dirty="0"/>
          </a:p>
        </p:txBody>
      </p:sp>
      <p:sp>
        <p:nvSpPr>
          <p:cNvPr id="15" name="Right Arrow 14"/>
          <p:cNvSpPr/>
          <p:nvPr/>
        </p:nvSpPr>
        <p:spPr>
          <a:xfrm>
            <a:off x="4524154" y="6059566"/>
            <a:ext cx="164805" cy="1488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4683639" y="5692744"/>
            <a:ext cx="1426540" cy="88250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4805911" y="5810829"/>
            <a:ext cx="1251105" cy="646331"/>
          </a:xfrm>
          <a:prstGeom prst="rect">
            <a:avLst/>
          </a:prstGeom>
          <a:noFill/>
        </p:spPr>
        <p:txBody>
          <a:bodyPr wrap="square" rtlCol="0">
            <a:spAutoFit/>
          </a:bodyPr>
          <a:lstStyle/>
          <a:p>
            <a:r>
              <a:rPr lang="en-US" dirty="0" smtClean="0"/>
              <a:t>Fragment </a:t>
            </a:r>
            <a:r>
              <a:rPr lang="en-US" dirty="0" err="1" smtClean="0"/>
              <a:t>Shader</a:t>
            </a:r>
            <a:endParaRPr lang="en-US" dirty="0"/>
          </a:p>
        </p:txBody>
      </p:sp>
      <p:sp>
        <p:nvSpPr>
          <p:cNvPr id="18" name="Right Arrow 17"/>
          <p:cNvSpPr/>
          <p:nvPr/>
        </p:nvSpPr>
        <p:spPr>
          <a:xfrm>
            <a:off x="6110179" y="6059567"/>
            <a:ext cx="164805" cy="1488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6296242" y="5949328"/>
            <a:ext cx="1249060" cy="369332"/>
          </a:xfrm>
          <a:prstGeom prst="rect">
            <a:avLst/>
          </a:prstGeom>
          <a:noFill/>
        </p:spPr>
        <p:txBody>
          <a:bodyPr wrap="none" rtlCol="0">
            <a:spAutoFit/>
          </a:bodyPr>
          <a:lstStyle/>
          <a:p>
            <a:r>
              <a:rPr lang="en-US" dirty="0" smtClean="0"/>
              <a:t>Pixel color</a:t>
            </a:r>
            <a:endParaRPr lang="en-US" dirty="0"/>
          </a:p>
        </p:txBody>
      </p:sp>
      <p:cxnSp>
        <p:nvCxnSpPr>
          <p:cNvPr id="20" name="Straight Connector 19"/>
          <p:cNvCxnSpPr/>
          <p:nvPr/>
        </p:nvCxnSpPr>
        <p:spPr>
          <a:xfrm>
            <a:off x="1771662" y="2845750"/>
            <a:ext cx="0" cy="16920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931492" y="2973936"/>
            <a:ext cx="907136" cy="369332"/>
          </a:xfrm>
          <a:prstGeom prst="rect">
            <a:avLst/>
          </a:prstGeom>
          <a:noFill/>
        </p:spPr>
        <p:txBody>
          <a:bodyPr wrap="square" rtlCol="0">
            <a:spAutoFit/>
          </a:bodyPr>
          <a:lstStyle/>
          <a:p>
            <a:r>
              <a:rPr lang="en-US" dirty="0" smtClean="0"/>
              <a:t>C++</a:t>
            </a:r>
            <a:endParaRPr lang="en-US" dirty="0"/>
          </a:p>
        </p:txBody>
      </p:sp>
      <p:sp>
        <p:nvSpPr>
          <p:cNvPr id="22" name="TextBox 21"/>
          <p:cNvSpPr txBox="1"/>
          <p:nvPr/>
        </p:nvSpPr>
        <p:spPr>
          <a:xfrm>
            <a:off x="1998918" y="2970810"/>
            <a:ext cx="907136" cy="369332"/>
          </a:xfrm>
          <a:prstGeom prst="rect">
            <a:avLst/>
          </a:prstGeom>
          <a:noFill/>
        </p:spPr>
        <p:txBody>
          <a:bodyPr wrap="square" rtlCol="0">
            <a:spAutoFit/>
          </a:bodyPr>
          <a:lstStyle/>
          <a:p>
            <a:r>
              <a:rPr lang="en-US" dirty="0" smtClean="0"/>
              <a:t>GLSL</a:t>
            </a:r>
            <a:endParaRPr lang="en-US" dirty="0"/>
          </a:p>
        </p:txBody>
      </p:sp>
      <p:cxnSp>
        <p:nvCxnSpPr>
          <p:cNvPr id="23" name="Straight Arrow Connector 22"/>
          <p:cNvCxnSpPr/>
          <p:nvPr/>
        </p:nvCxnSpPr>
        <p:spPr>
          <a:xfrm flipH="1">
            <a:off x="1504060" y="3152967"/>
            <a:ext cx="26760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endCxn id="22" idx="1"/>
          </p:cNvCxnSpPr>
          <p:nvPr/>
        </p:nvCxnSpPr>
        <p:spPr>
          <a:xfrm>
            <a:off x="1771662" y="3155476"/>
            <a:ext cx="22725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34018" y="2572804"/>
            <a:ext cx="3491715" cy="369332"/>
          </a:xfrm>
          <a:prstGeom prst="rect">
            <a:avLst/>
          </a:prstGeom>
          <a:noFill/>
        </p:spPr>
        <p:txBody>
          <a:bodyPr wrap="square" rtlCol="0">
            <a:spAutoFit/>
          </a:bodyPr>
          <a:lstStyle/>
          <a:p>
            <a:r>
              <a:rPr lang="en-US" dirty="0" smtClean="0"/>
              <a:t>Whatever values you define.</a:t>
            </a:r>
            <a:endParaRPr lang="en-US" dirty="0"/>
          </a:p>
        </p:txBody>
      </p:sp>
      <p:sp>
        <p:nvSpPr>
          <p:cNvPr id="35" name="TextBox 34"/>
          <p:cNvSpPr txBox="1"/>
          <p:nvPr/>
        </p:nvSpPr>
        <p:spPr>
          <a:xfrm>
            <a:off x="3361539" y="2572804"/>
            <a:ext cx="3465184" cy="369332"/>
          </a:xfrm>
          <a:prstGeom prst="rect">
            <a:avLst/>
          </a:prstGeom>
          <a:noFill/>
        </p:spPr>
        <p:txBody>
          <a:bodyPr wrap="square" rtlCol="0">
            <a:spAutoFit/>
          </a:bodyPr>
          <a:lstStyle/>
          <a:p>
            <a:r>
              <a:rPr lang="en-US" dirty="0" smtClean="0"/>
              <a:t>Screen coordinate system</a:t>
            </a:r>
            <a:endParaRPr lang="en-US" dirty="0"/>
          </a:p>
        </p:txBody>
      </p:sp>
      <p:cxnSp>
        <p:nvCxnSpPr>
          <p:cNvPr id="36" name="Straight Connector 35"/>
          <p:cNvCxnSpPr/>
          <p:nvPr/>
        </p:nvCxnSpPr>
        <p:spPr>
          <a:xfrm>
            <a:off x="3152777" y="2452643"/>
            <a:ext cx="0" cy="2122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H="1">
            <a:off x="2885175" y="2763472"/>
            <a:ext cx="26760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a:off x="3152777" y="2757435"/>
            <a:ext cx="22725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17541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Essentially, </a:t>
            </a:r>
            <a:r>
              <a:rPr lang="en-US" dirty="0" err="1" smtClean="0"/>
              <a:t>shaders</a:t>
            </a:r>
            <a:r>
              <a:rPr lang="en-US" dirty="0" smtClean="0"/>
              <a:t> are call-back functions.</a:t>
            </a:r>
            <a:endParaRPr lang="en-US" dirty="0"/>
          </a:p>
        </p:txBody>
      </p:sp>
      <p:sp>
        <p:nvSpPr>
          <p:cNvPr id="3" name="Content Placeholder 2"/>
          <p:cNvSpPr>
            <a:spLocks noGrp="1"/>
          </p:cNvSpPr>
          <p:nvPr>
            <p:ph idx="1"/>
          </p:nvPr>
        </p:nvSpPr>
        <p:spPr/>
        <p:txBody>
          <a:bodyPr/>
          <a:lstStyle/>
          <a:p>
            <a:r>
              <a:rPr lang="en-US" dirty="0" smtClean="0"/>
              <a:t>Vertex </a:t>
            </a:r>
            <a:r>
              <a:rPr lang="en-US" dirty="0" err="1" smtClean="0"/>
              <a:t>Shader</a:t>
            </a:r>
            <a:r>
              <a:rPr lang="en-US" dirty="0" smtClean="0"/>
              <a:t>:        A function called per vertex.</a:t>
            </a:r>
          </a:p>
          <a:p>
            <a:r>
              <a:rPr lang="en-US" dirty="0" smtClean="0"/>
              <a:t>Fragment </a:t>
            </a:r>
            <a:r>
              <a:rPr lang="en-US" dirty="0" err="1" smtClean="0"/>
              <a:t>Shader</a:t>
            </a:r>
            <a:r>
              <a:rPr lang="en-US" dirty="0" smtClean="0"/>
              <a:t>:     A function called per pixel.</a:t>
            </a:r>
          </a:p>
          <a:p>
            <a:endParaRPr lang="en-US" dirty="0"/>
          </a:p>
          <a:p>
            <a:endParaRPr lang="en-US" dirty="0" smtClean="0"/>
          </a:p>
          <a:p>
            <a:r>
              <a:rPr lang="en-US" dirty="0" smtClean="0"/>
              <a:t>When the time comes, hopefully these can just be a C/C++ call-back function.  But, there still is a wall between CPU and GPU.</a:t>
            </a:r>
            <a:endParaRPr lang="en-US" dirty="0"/>
          </a:p>
        </p:txBody>
      </p:sp>
    </p:spTree>
    <p:extLst>
      <p:ext uri="{BB962C8B-B14F-4D97-AF65-F5344CB8AC3E}">
        <p14:creationId xmlns:p14="http://schemas.microsoft.com/office/powerpoint/2010/main" val="11377220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you need to prepare for GLSL program</a:t>
            </a:r>
            <a:endParaRPr lang="en-US" dirty="0"/>
          </a:p>
        </p:txBody>
      </p:sp>
      <p:sp>
        <p:nvSpPr>
          <p:cNvPr id="3" name="Content Placeholder 2"/>
          <p:cNvSpPr>
            <a:spLocks noGrp="1"/>
          </p:cNvSpPr>
          <p:nvPr>
            <p:ph idx="1"/>
          </p:nvPr>
        </p:nvSpPr>
        <p:spPr/>
        <p:txBody>
          <a:bodyPr/>
          <a:lstStyle/>
          <a:p>
            <a:r>
              <a:rPr lang="en-US" dirty="0" smtClean="0"/>
              <a:t>Two text files:</a:t>
            </a:r>
          </a:p>
          <a:p>
            <a:pPr lvl="1"/>
            <a:r>
              <a:rPr lang="en-US" dirty="0" smtClean="0"/>
              <a:t>Vertex </a:t>
            </a:r>
            <a:r>
              <a:rPr lang="en-US" dirty="0" err="1" smtClean="0"/>
              <a:t>Shader</a:t>
            </a:r>
            <a:endParaRPr lang="en-US" dirty="0" smtClean="0"/>
          </a:p>
          <a:p>
            <a:pPr lvl="1"/>
            <a:r>
              <a:rPr lang="en-US" dirty="0" smtClean="0"/>
              <a:t>Fragment </a:t>
            </a:r>
            <a:r>
              <a:rPr lang="en-US" dirty="0" err="1" smtClean="0"/>
              <a:t>Shader</a:t>
            </a:r>
            <a:endParaRPr lang="en-US" dirty="0" smtClean="0"/>
          </a:p>
          <a:p>
            <a:r>
              <a:rPr lang="en-US" dirty="0" smtClean="0"/>
              <a:t>In C++ program:</a:t>
            </a:r>
          </a:p>
          <a:p>
            <a:pPr lvl="1"/>
            <a:r>
              <a:rPr lang="en-US" dirty="0" smtClean="0"/>
              <a:t>Reserve an identifier for each of:</a:t>
            </a:r>
          </a:p>
          <a:p>
            <a:pPr lvl="2"/>
            <a:r>
              <a:rPr lang="en-US" dirty="0" smtClean="0"/>
              <a:t>A vertex </a:t>
            </a:r>
            <a:r>
              <a:rPr lang="en-US" dirty="0" err="1" smtClean="0"/>
              <a:t>shader</a:t>
            </a:r>
            <a:endParaRPr lang="en-US" dirty="0" smtClean="0"/>
          </a:p>
          <a:p>
            <a:pPr lvl="2"/>
            <a:r>
              <a:rPr lang="en-US" dirty="0" smtClean="0"/>
              <a:t>A fragment </a:t>
            </a:r>
            <a:r>
              <a:rPr lang="en-US" dirty="0" err="1" smtClean="0"/>
              <a:t>shader</a:t>
            </a:r>
            <a:endParaRPr lang="en-US" dirty="0" smtClean="0"/>
          </a:p>
          <a:p>
            <a:pPr lvl="2"/>
            <a:r>
              <a:rPr lang="en-US" dirty="0" smtClean="0"/>
              <a:t>A program (combination of vertex and fragment </a:t>
            </a:r>
            <a:r>
              <a:rPr lang="en-US" dirty="0" err="1" smtClean="0"/>
              <a:t>shaders</a:t>
            </a:r>
            <a:r>
              <a:rPr lang="en-US" dirty="0" smtClean="0"/>
              <a:t>)</a:t>
            </a:r>
          </a:p>
          <a:p>
            <a:pPr lvl="1"/>
            <a:r>
              <a:rPr lang="en-US" dirty="0" smtClean="0"/>
              <a:t>Compile the </a:t>
            </a:r>
            <a:r>
              <a:rPr lang="en-US" dirty="0" err="1" smtClean="0"/>
              <a:t>shaders</a:t>
            </a:r>
            <a:r>
              <a:rPr lang="en-US" dirty="0" smtClean="0"/>
              <a:t>.</a:t>
            </a:r>
          </a:p>
          <a:p>
            <a:pPr lvl="1"/>
            <a:r>
              <a:rPr lang="en-US" dirty="0" smtClean="0"/>
              <a:t>Link the </a:t>
            </a:r>
            <a:r>
              <a:rPr lang="en-US" dirty="0" err="1" smtClean="0"/>
              <a:t>shaders</a:t>
            </a:r>
            <a:r>
              <a:rPr lang="en-US" dirty="0" smtClean="0"/>
              <a:t>.</a:t>
            </a:r>
            <a:endParaRPr lang="en-US" dirty="0"/>
          </a:p>
        </p:txBody>
      </p:sp>
    </p:spTree>
    <p:extLst>
      <p:ext uri="{BB962C8B-B14F-4D97-AF65-F5344CB8AC3E}">
        <p14:creationId xmlns:p14="http://schemas.microsoft.com/office/powerpoint/2010/main" val="31685587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 use a GLSL program,</a:t>
            </a:r>
            <a:endParaRPr lang="en-US" dirty="0"/>
          </a:p>
        </p:txBody>
      </p:sp>
      <p:sp>
        <p:nvSpPr>
          <p:cNvPr id="3" name="Content Placeholder 2"/>
          <p:cNvSpPr>
            <a:spLocks noGrp="1"/>
          </p:cNvSpPr>
          <p:nvPr>
            <p:ph idx="1"/>
          </p:nvPr>
        </p:nvSpPr>
        <p:spPr/>
        <p:txBody>
          <a:bodyPr/>
          <a:lstStyle/>
          <a:p>
            <a:pPr marL="457200" indent="-457200">
              <a:buFont typeface="+mj-lt"/>
              <a:buAutoNum type="arabicPeriod"/>
            </a:pPr>
            <a:r>
              <a:rPr lang="en-US" dirty="0" smtClean="0"/>
              <a:t>Enable the program (</a:t>
            </a:r>
            <a:r>
              <a:rPr lang="en-US" dirty="0" err="1" smtClean="0"/>
              <a:t>glUseProgram</a:t>
            </a:r>
            <a:r>
              <a:rPr lang="en-US" dirty="0" smtClean="0"/>
              <a:t>)</a:t>
            </a:r>
          </a:p>
          <a:p>
            <a:pPr marL="457200" indent="-457200">
              <a:buFont typeface="+mj-lt"/>
              <a:buAutoNum type="arabicPeriod"/>
            </a:pPr>
            <a:r>
              <a:rPr lang="en-US" dirty="0" smtClean="0"/>
              <a:t>Enable vertex-attribute arrays.</a:t>
            </a:r>
          </a:p>
          <a:p>
            <a:pPr marL="457200" indent="-457200">
              <a:buFont typeface="+mj-lt"/>
              <a:buAutoNum type="arabicPeriod"/>
            </a:pPr>
            <a:r>
              <a:rPr lang="en-US" dirty="0" smtClean="0"/>
              <a:t>Set vertex-attribute pointer.</a:t>
            </a:r>
          </a:p>
          <a:p>
            <a:pPr marL="457200" indent="-457200">
              <a:buFont typeface="+mj-lt"/>
              <a:buAutoNum type="arabicPeriod"/>
            </a:pPr>
            <a:r>
              <a:rPr lang="en-US" dirty="0" err="1" smtClean="0"/>
              <a:t>glDrawArrays</a:t>
            </a:r>
            <a:endParaRPr lang="en-US" dirty="0" smtClean="0"/>
          </a:p>
          <a:p>
            <a:pPr marL="457200" indent="-457200">
              <a:buFont typeface="+mj-lt"/>
              <a:buAutoNum type="arabicPeriod"/>
            </a:pPr>
            <a:r>
              <a:rPr lang="en-US" dirty="0" smtClean="0"/>
              <a:t>Disable vertex-attribute arrays</a:t>
            </a:r>
          </a:p>
          <a:p>
            <a:pPr marL="457200" indent="-457200">
              <a:buFont typeface="+mj-lt"/>
              <a:buAutoNum type="arabicPeriod"/>
            </a:pPr>
            <a:endParaRPr lang="en-US" dirty="0"/>
          </a:p>
          <a:p>
            <a:pPr marL="0" indent="0">
              <a:buNone/>
            </a:pPr>
            <a:r>
              <a:rPr lang="en-US" dirty="0" smtClean="0"/>
              <a:t>Steps 3 and 4 can be repeated to save </a:t>
            </a:r>
            <a:r>
              <a:rPr lang="en-US" smtClean="0"/>
              <a:t>OpenGL function calls.</a:t>
            </a:r>
            <a:endParaRPr lang="en-US" dirty="0"/>
          </a:p>
        </p:txBody>
      </p:sp>
    </p:spTree>
    <p:extLst>
      <p:ext uri="{BB962C8B-B14F-4D97-AF65-F5344CB8AC3E}">
        <p14:creationId xmlns:p14="http://schemas.microsoft.com/office/powerpoint/2010/main" val="6531075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Pass-Through GLSL Program</a:t>
            </a:r>
            <a:endParaRPr lang="en-US" dirty="0"/>
          </a:p>
        </p:txBody>
      </p:sp>
      <p:sp>
        <p:nvSpPr>
          <p:cNvPr id="3" name="Content Placeholder 2"/>
          <p:cNvSpPr>
            <a:spLocks noGrp="1"/>
          </p:cNvSpPr>
          <p:nvPr>
            <p:ph idx="1"/>
          </p:nvPr>
        </p:nvSpPr>
        <p:spPr>
          <a:xfrm>
            <a:off x="457200" y="1066800"/>
            <a:ext cx="8229600" cy="2122967"/>
          </a:xfrm>
        </p:spPr>
        <p:txBody>
          <a:bodyPr/>
          <a:lstStyle/>
          <a:p>
            <a:r>
              <a:rPr lang="en-US" dirty="0" smtClean="0"/>
              <a:t>The minimum GLSL program.</a:t>
            </a:r>
          </a:p>
          <a:p>
            <a:pPr lvl="1"/>
            <a:r>
              <a:rPr lang="en-US" dirty="0" smtClean="0"/>
              <a:t>Passes input vertex coordinate (</a:t>
            </a:r>
            <a:r>
              <a:rPr lang="en-US" dirty="0" err="1" smtClean="0"/>
              <a:t>x,y,z</a:t>
            </a:r>
            <a:r>
              <a:rPr lang="en-US" dirty="0" smtClean="0"/>
              <a:t>) to the rasterizer with no transformation.</a:t>
            </a:r>
          </a:p>
          <a:p>
            <a:pPr lvl="1"/>
            <a:r>
              <a:rPr lang="en-US" dirty="0" smtClean="0"/>
              <a:t>The primitive color is constant (red).</a:t>
            </a:r>
          </a:p>
          <a:p>
            <a:endParaRPr lang="en-US" dirty="0" smtClean="0"/>
          </a:p>
        </p:txBody>
      </p:sp>
    </p:spTree>
    <p:extLst>
      <p:ext uri="{BB962C8B-B14F-4D97-AF65-F5344CB8AC3E}">
        <p14:creationId xmlns:p14="http://schemas.microsoft.com/office/powerpoint/2010/main" val="36966991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Vertex </a:t>
            </a:r>
            <a:r>
              <a:rPr lang="en-US" dirty="0" err="1" smtClean="0"/>
              <a:t>Shader</a:t>
            </a:r>
            <a:endParaRPr lang="en-US" dirty="0"/>
          </a:p>
        </p:txBody>
      </p:sp>
      <p:sp>
        <p:nvSpPr>
          <p:cNvPr id="3" name="Content Placeholder 2"/>
          <p:cNvSpPr>
            <a:spLocks noGrp="1"/>
          </p:cNvSpPr>
          <p:nvPr>
            <p:ph idx="1"/>
          </p:nvPr>
        </p:nvSpPr>
        <p:spPr>
          <a:xfrm>
            <a:off x="457200" y="1066801"/>
            <a:ext cx="8229600" cy="756684"/>
          </a:xfrm>
        </p:spPr>
        <p:txBody>
          <a:bodyPr/>
          <a:lstStyle/>
          <a:p>
            <a:r>
              <a:rPr lang="en-US" dirty="0" smtClean="0"/>
              <a:t>Written in </a:t>
            </a:r>
            <a:r>
              <a:rPr lang="en-US" dirty="0" err="1" smtClean="0"/>
              <a:t>vertexShader.glsl</a:t>
            </a:r>
            <a:endParaRPr lang="en-US" dirty="0"/>
          </a:p>
        </p:txBody>
      </p:sp>
      <p:sp>
        <p:nvSpPr>
          <p:cNvPr id="4" name="TextBox 3"/>
          <p:cNvSpPr txBox="1"/>
          <p:nvPr/>
        </p:nvSpPr>
        <p:spPr>
          <a:xfrm>
            <a:off x="1424763" y="2232837"/>
            <a:ext cx="3252814" cy="1200329"/>
          </a:xfrm>
          <a:prstGeom prst="rect">
            <a:avLst/>
          </a:prstGeom>
          <a:noFill/>
        </p:spPr>
        <p:txBody>
          <a:bodyPr wrap="none" rtlCol="0">
            <a:spAutoFit/>
          </a:bodyPr>
          <a:lstStyle/>
          <a:p>
            <a:r>
              <a:rPr lang="fr-FR" sz="1200" dirty="0" err="1">
                <a:latin typeface="Lucida Console" panose="020B0609040504020204" pitchFamily="49" charset="0"/>
              </a:rPr>
              <a:t>attribute</a:t>
            </a:r>
            <a:r>
              <a:rPr lang="fr-FR" sz="1200" dirty="0">
                <a:latin typeface="Lucida Console" panose="020B0609040504020204" pitchFamily="49" charset="0"/>
              </a:rPr>
              <a:t> vec3 vertex;</a:t>
            </a:r>
          </a:p>
          <a:p>
            <a:r>
              <a:rPr lang="fr-FR" sz="1200" dirty="0" err="1">
                <a:latin typeface="Lucida Console" panose="020B0609040504020204" pitchFamily="49" charset="0"/>
              </a:rPr>
              <a:t>void</a:t>
            </a:r>
            <a:r>
              <a:rPr lang="fr-FR" sz="1200" dirty="0">
                <a:latin typeface="Lucida Console" panose="020B0609040504020204" pitchFamily="49" charset="0"/>
              </a:rPr>
              <a:t> main()</a:t>
            </a:r>
          </a:p>
          <a:p>
            <a:r>
              <a:rPr lang="fr-FR" sz="1200" dirty="0">
                <a:latin typeface="Lucida Console" panose="020B0609040504020204" pitchFamily="49" charset="0"/>
              </a:rPr>
              <a:t>{</a:t>
            </a:r>
          </a:p>
          <a:p>
            <a:r>
              <a:rPr lang="fr-FR" sz="1200" dirty="0" smtClean="0">
                <a:latin typeface="Lucida Console" panose="020B0609040504020204" pitchFamily="49" charset="0"/>
              </a:rPr>
              <a:t>    </a:t>
            </a:r>
            <a:r>
              <a:rPr lang="fr-FR" sz="1200" dirty="0" err="1" smtClean="0">
                <a:latin typeface="Lucida Console" panose="020B0609040504020204" pitchFamily="49" charset="0"/>
              </a:rPr>
              <a:t>gl_Position</a:t>
            </a:r>
            <a:r>
              <a:rPr lang="fr-FR" sz="1200" dirty="0" smtClean="0">
                <a:latin typeface="Lucida Console" panose="020B0609040504020204" pitchFamily="49" charset="0"/>
              </a:rPr>
              <a:t>=vec4(vertex,1.0</a:t>
            </a:r>
            <a:r>
              <a:rPr lang="fr-FR" sz="1200" dirty="0">
                <a:latin typeface="Lucida Console" panose="020B0609040504020204" pitchFamily="49" charset="0"/>
              </a:rPr>
              <a:t>);</a:t>
            </a:r>
          </a:p>
          <a:p>
            <a:r>
              <a:rPr lang="fr-FR" sz="1200" dirty="0">
                <a:latin typeface="Lucida Console" panose="020B0609040504020204" pitchFamily="49" charset="0"/>
              </a:rPr>
              <a:t>}</a:t>
            </a:r>
          </a:p>
          <a:p>
            <a:endParaRPr lang="en-US" sz="1200" dirty="0">
              <a:latin typeface="Lucida Console" panose="020B0609040504020204" pitchFamily="49" charset="0"/>
            </a:endParaRPr>
          </a:p>
        </p:txBody>
      </p:sp>
      <p:cxnSp>
        <p:nvCxnSpPr>
          <p:cNvPr id="6" name="Straight Arrow Connector 5"/>
          <p:cNvCxnSpPr/>
          <p:nvPr/>
        </p:nvCxnSpPr>
        <p:spPr>
          <a:xfrm flipH="1">
            <a:off x="3567223" y="1919177"/>
            <a:ext cx="1228061" cy="4572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4795284" y="1440711"/>
            <a:ext cx="4305685" cy="1200329"/>
          </a:xfrm>
          <a:prstGeom prst="rect">
            <a:avLst/>
          </a:prstGeom>
          <a:noFill/>
        </p:spPr>
        <p:txBody>
          <a:bodyPr wrap="square" rtlCol="0">
            <a:spAutoFit/>
          </a:bodyPr>
          <a:lstStyle/>
          <a:p>
            <a:r>
              <a:rPr lang="en-US" dirty="0" smtClean="0">
                <a:solidFill>
                  <a:srgbClr val="FF0000"/>
                </a:solidFill>
              </a:rPr>
              <a:t>This is what this vertex </a:t>
            </a:r>
            <a:r>
              <a:rPr lang="en-US" dirty="0" err="1" smtClean="0">
                <a:solidFill>
                  <a:srgbClr val="FF0000"/>
                </a:solidFill>
              </a:rPr>
              <a:t>shader</a:t>
            </a:r>
            <a:r>
              <a:rPr lang="en-US" dirty="0" smtClean="0">
                <a:solidFill>
                  <a:srgbClr val="FF0000"/>
                </a:solidFill>
              </a:rPr>
              <a:t> receives from your C++ program.</a:t>
            </a:r>
            <a:br>
              <a:rPr lang="en-US" dirty="0" smtClean="0">
                <a:solidFill>
                  <a:srgbClr val="FF0000"/>
                </a:solidFill>
              </a:rPr>
            </a:br>
            <a:r>
              <a:rPr lang="en-US" dirty="0" smtClean="0">
                <a:solidFill>
                  <a:srgbClr val="FF0000"/>
                </a:solidFill>
              </a:rPr>
              <a:t>In this case, it means that one vertex consists of one 3D vector called vertex.</a:t>
            </a:r>
            <a:endParaRPr lang="en-US" dirty="0">
              <a:solidFill>
                <a:srgbClr val="FF0000"/>
              </a:solidFill>
            </a:endParaRPr>
          </a:p>
        </p:txBody>
      </p:sp>
      <p:cxnSp>
        <p:nvCxnSpPr>
          <p:cNvPr id="9" name="Straight Arrow Connector 8"/>
          <p:cNvCxnSpPr/>
          <p:nvPr/>
        </p:nvCxnSpPr>
        <p:spPr>
          <a:xfrm flipH="1" flipV="1">
            <a:off x="2468880" y="3022899"/>
            <a:ext cx="398033" cy="726141"/>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2285166" y="3749040"/>
            <a:ext cx="4305685" cy="1477328"/>
          </a:xfrm>
          <a:prstGeom prst="rect">
            <a:avLst/>
          </a:prstGeom>
          <a:noFill/>
        </p:spPr>
        <p:txBody>
          <a:bodyPr wrap="square" rtlCol="0">
            <a:spAutoFit/>
          </a:bodyPr>
          <a:lstStyle/>
          <a:p>
            <a:r>
              <a:rPr lang="en-US" dirty="0" smtClean="0">
                <a:solidFill>
                  <a:srgbClr val="FF0000"/>
                </a:solidFill>
              </a:rPr>
              <a:t>This is what the next stage receives from this vertex </a:t>
            </a:r>
            <a:r>
              <a:rPr lang="en-US" dirty="0" err="1" smtClean="0">
                <a:solidFill>
                  <a:srgbClr val="FF0000"/>
                </a:solidFill>
              </a:rPr>
              <a:t>shader</a:t>
            </a:r>
            <a:r>
              <a:rPr lang="en-US" dirty="0" smtClean="0">
                <a:solidFill>
                  <a:srgbClr val="FF0000"/>
                </a:solidFill>
              </a:rPr>
              <a:t>.</a:t>
            </a:r>
            <a:br>
              <a:rPr lang="en-US" dirty="0" smtClean="0">
                <a:solidFill>
                  <a:srgbClr val="FF0000"/>
                </a:solidFill>
              </a:rPr>
            </a:br>
            <a:r>
              <a:rPr lang="en-US" dirty="0" smtClean="0">
                <a:solidFill>
                  <a:srgbClr val="FF0000"/>
                </a:solidFill>
              </a:rPr>
              <a:t>It needs to be a 4D vector (homogeneous coordinate).  Therefore, 1.0 is added as the 4th dimension.</a:t>
            </a:r>
            <a:endParaRPr lang="en-US" dirty="0">
              <a:solidFill>
                <a:srgbClr val="FF0000"/>
              </a:solidFill>
            </a:endParaRPr>
          </a:p>
        </p:txBody>
      </p:sp>
    </p:spTree>
    <p:extLst>
      <p:ext uri="{BB962C8B-B14F-4D97-AF65-F5344CB8AC3E}">
        <p14:creationId xmlns:p14="http://schemas.microsoft.com/office/powerpoint/2010/main" val="8372499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Vector calculation in GLSL</a:t>
            </a:r>
            <a:endParaRPr lang="en-US" dirty="0"/>
          </a:p>
        </p:txBody>
      </p:sp>
      <p:sp>
        <p:nvSpPr>
          <p:cNvPr id="3" name="Content Placeholder 2"/>
          <p:cNvSpPr>
            <a:spLocks noGrp="1"/>
          </p:cNvSpPr>
          <p:nvPr>
            <p:ph idx="1"/>
          </p:nvPr>
        </p:nvSpPr>
        <p:spPr/>
        <p:txBody>
          <a:bodyPr/>
          <a:lstStyle/>
          <a:p>
            <a:r>
              <a:rPr lang="en-US" dirty="0" smtClean="0"/>
              <a:t>GLSL is optimized for vector and matrix calculations.</a:t>
            </a:r>
          </a:p>
          <a:p>
            <a:r>
              <a:rPr lang="en-US" dirty="0" smtClean="0"/>
              <a:t>The following expression:</a:t>
            </a:r>
            <a:br>
              <a:rPr lang="en-US" dirty="0" smtClean="0"/>
            </a:br>
            <a:r>
              <a:rPr lang="en-US" dirty="0" smtClean="0"/>
              <a:t>    vec4(vertex,1.0) </a:t>
            </a:r>
            <a:br>
              <a:rPr lang="en-US" dirty="0" smtClean="0"/>
            </a:br>
            <a:r>
              <a:rPr lang="en-US" dirty="0" smtClean="0"/>
              <a:t>means that a 4D vector, first three dimensions taken from a 3D vector called vertex, and the last dimension is 1.0.</a:t>
            </a:r>
          </a:p>
          <a:p>
            <a:r>
              <a:rPr lang="en-US" dirty="0" smtClean="0"/>
              <a:t>The 3D vector of the first three component of a 4D vector can be extracted by writing (if vertex is a vec4 variable):</a:t>
            </a:r>
            <a:br>
              <a:rPr lang="en-US" dirty="0" smtClean="0"/>
            </a:br>
            <a:r>
              <a:rPr lang="en-US" dirty="0" smtClean="0"/>
              <a:t>    </a:t>
            </a:r>
            <a:r>
              <a:rPr lang="en-US" dirty="0" err="1" smtClean="0"/>
              <a:t>vertex.xyz</a:t>
            </a:r>
            <a:endParaRPr lang="en-US" dirty="0" smtClean="0"/>
          </a:p>
          <a:p>
            <a:r>
              <a:rPr lang="en-US" dirty="0" smtClean="0"/>
              <a:t>Similarly, you can extract components of 3D vector to get a 2D vector by writing:</a:t>
            </a:r>
            <a:br>
              <a:rPr lang="en-US" dirty="0" smtClean="0"/>
            </a:br>
            <a:r>
              <a:rPr lang="en-US" dirty="0" smtClean="0"/>
              <a:t>    </a:t>
            </a:r>
            <a:r>
              <a:rPr lang="en-US" dirty="0" err="1" smtClean="0"/>
              <a:t>vertex.xy</a:t>
            </a:r>
            <a:r>
              <a:rPr lang="en-US" dirty="0" smtClean="0"/>
              <a:t/>
            </a:r>
            <a:br>
              <a:rPr lang="en-US" dirty="0" smtClean="0"/>
            </a:br>
            <a:r>
              <a:rPr lang="en-US" dirty="0" smtClean="0"/>
              <a:t>    </a:t>
            </a:r>
            <a:r>
              <a:rPr lang="en-US" dirty="0" err="1" smtClean="0"/>
              <a:t>vertex.xz</a:t>
            </a:r>
            <a:r>
              <a:rPr lang="en-US" dirty="0" smtClean="0"/>
              <a:t/>
            </a:r>
            <a:br>
              <a:rPr lang="en-US" dirty="0" smtClean="0"/>
            </a:br>
            <a:r>
              <a:rPr lang="en-US" dirty="0" smtClean="0"/>
              <a:t>    </a:t>
            </a:r>
            <a:r>
              <a:rPr lang="en-US" dirty="0" err="1" smtClean="0"/>
              <a:t>vertex.yz</a:t>
            </a:r>
            <a:endParaRPr lang="en-US" dirty="0"/>
          </a:p>
        </p:txBody>
      </p:sp>
    </p:spTree>
    <p:extLst>
      <p:ext uri="{BB962C8B-B14F-4D97-AF65-F5344CB8AC3E}">
        <p14:creationId xmlns:p14="http://schemas.microsoft.com/office/powerpoint/2010/main" val="32850983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Also a 3D or 4D vectors can be used as a color, (</a:t>
            </a:r>
            <a:r>
              <a:rPr lang="en-US" dirty="0" err="1" smtClean="0"/>
              <a:t>r,g,b</a:t>
            </a:r>
            <a:r>
              <a:rPr lang="en-US" dirty="0" smtClean="0"/>
              <a:t>) or (</a:t>
            </a:r>
            <a:r>
              <a:rPr lang="en-US" dirty="0" err="1" smtClean="0"/>
              <a:t>r,g,b,a</a:t>
            </a:r>
            <a:r>
              <a:rPr lang="en-US" dirty="0" smtClean="0"/>
              <a:t>).</a:t>
            </a:r>
          </a:p>
          <a:p>
            <a:r>
              <a:rPr lang="en-US" dirty="0" smtClean="0"/>
              <a:t>The first component </a:t>
            </a:r>
            <a:r>
              <a:rPr lang="en-US" dirty="0" err="1" smtClean="0"/>
              <a:t>vertex.x</a:t>
            </a:r>
            <a:r>
              <a:rPr lang="en-US" dirty="0" smtClean="0"/>
              <a:t> is same as </a:t>
            </a:r>
            <a:r>
              <a:rPr lang="en-US" dirty="0" err="1" smtClean="0"/>
              <a:t>vertex.r</a:t>
            </a:r>
            <a:endParaRPr lang="en-US" dirty="0" smtClean="0"/>
          </a:p>
          <a:p>
            <a:r>
              <a:rPr lang="en-US" dirty="0" smtClean="0"/>
              <a:t>Also </a:t>
            </a:r>
            <a:r>
              <a:rPr lang="en-US" dirty="0" err="1" smtClean="0"/>
              <a:t>vertex.rgb</a:t>
            </a:r>
            <a:r>
              <a:rPr lang="en-US" dirty="0" smtClean="0"/>
              <a:t> is same as </a:t>
            </a:r>
            <a:r>
              <a:rPr lang="en-US" dirty="0" err="1" smtClean="0"/>
              <a:t>vertex.xyz</a:t>
            </a:r>
            <a:endParaRPr lang="en-US" dirty="0"/>
          </a:p>
        </p:txBody>
      </p:sp>
    </p:spTree>
    <p:extLst>
      <p:ext uri="{BB962C8B-B14F-4D97-AF65-F5344CB8AC3E}">
        <p14:creationId xmlns:p14="http://schemas.microsoft.com/office/powerpoint/2010/main" val="35855234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Fragment </a:t>
            </a:r>
            <a:r>
              <a:rPr lang="en-US" dirty="0" err="1" smtClean="0"/>
              <a:t>Shader</a:t>
            </a:r>
            <a:endParaRPr lang="en-US" dirty="0"/>
          </a:p>
        </p:txBody>
      </p:sp>
      <p:sp>
        <p:nvSpPr>
          <p:cNvPr id="3" name="Content Placeholder 2"/>
          <p:cNvSpPr>
            <a:spLocks noGrp="1"/>
          </p:cNvSpPr>
          <p:nvPr>
            <p:ph idx="1"/>
          </p:nvPr>
        </p:nvSpPr>
        <p:spPr/>
        <p:txBody>
          <a:bodyPr/>
          <a:lstStyle/>
          <a:p>
            <a:r>
              <a:rPr lang="en-US" dirty="0" smtClean="0"/>
              <a:t>Written in </a:t>
            </a:r>
            <a:r>
              <a:rPr lang="en-US" dirty="0" err="1" smtClean="0"/>
              <a:t>fragmentShader.glsl</a:t>
            </a:r>
            <a:endParaRPr lang="en-US" dirty="0"/>
          </a:p>
        </p:txBody>
      </p:sp>
      <p:sp>
        <p:nvSpPr>
          <p:cNvPr id="4" name="TextBox 3"/>
          <p:cNvSpPr txBox="1"/>
          <p:nvPr/>
        </p:nvSpPr>
        <p:spPr>
          <a:xfrm>
            <a:off x="1424763" y="2232837"/>
            <a:ext cx="3066865" cy="1200329"/>
          </a:xfrm>
          <a:prstGeom prst="rect">
            <a:avLst/>
          </a:prstGeom>
          <a:noFill/>
        </p:spPr>
        <p:txBody>
          <a:bodyPr wrap="none" rtlCol="0">
            <a:spAutoFit/>
          </a:bodyPr>
          <a:lstStyle/>
          <a:p>
            <a:r>
              <a:rPr lang="fr-FR" sz="1200" dirty="0" err="1">
                <a:latin typeface="Lucida Console" panose="020B0609040504020204" pitchFamily="49" charset="0"/>
              </a:rPr>
              <a:t>void</a:t>
            </a:r>
            <a:r>
              <a:rPr lang="fr-FR" sz="1200" dirty="0">
                <a:latin typeface="Lucida Console" panose="020B0609040504020204" pitchFamily="49" charset="0"/>
              </a:rPr>
              <a:t> main()</a:t>
            </a:r>
          </a:p>
          <a:p>
            <a:r>
              <a:rPr lang="fr-FR" sz="1200" dirty="0">
                <a:latin typeface="Lucida Console" panose="020B0609040504020204" pitchFamily="49" charset="0"/>
              </a:rPr>
              <a:t>{</a:t>
            </a:r>
          </a:p>
          <a:p>
            <a:r>
              <a:rPr lang="fr-FR" sz="1200" dirty="0" smtClean="0">
                <a:latin typeface="Lucida Console" panose="020B0609040504020204" pitchFamily="49" charset="0"/>
              </a:rPr>
              <a:t>    </a:t>
            </a:r>
            <a:r>
              <a:rPr lang="fr-FR" sz="1200" dirty="0" err="1" smtClean="0">
                <a:latin typeface="Lucida Console" panose="020B0609040504020204" pitchFamily="49" charset="0"/>
              </a:rPr>
              <a:t>gl_FragColor</a:t>
            </a:r>
            <a:r>
              <a:rPr lang="fr-FR" sz="1200" dirty="0" smtClean="0">
                <a:latin typeface="Lucida Console" panose="020B0609040504020204" pitchFamily="49" charset="0"/>
              </a:rPr>
              <a:t>=vec4(1,0,0,1</a:t>
            </a:r>
            <a:r>
              <a:rPr lang="fr-FR" sz="1200" dirty="0">
                <a:latin typeface="Lucida Console" panose="020B0609040504020204" pitchFamily="49" charset="0"/>
              </a:rPr>
              <a:t>);</a:t>
            </a:r>
          </a:p>
          <a:p>
            <a:r>
              <a:rPr lang="fr-FR" sz="1200" dirty="0">
                <a:latin typeface="Lucida Console" panose="020B0609040504020204" pitchFamily="49" charset="0"/>
              </a:rPr>
              <a:t>}</a:t>
            </a:r>
          </a:p>
          <a:p>
            <a:endParaRPr lang="fr-FR" sz="1200" dirty="0">
              <a:latin typeface="Lucida Console" panose="020B0609040504020204" pitchFamily="49" charset="0"/>
            </a:endParaRPr>
          </a:p>
          <a:p>
            <a:endParaRPr lang="en-US" sz="1200" dirty="0">
              <a:latin typeface="Lucida Console" panose="020B0609040504020204" pitchFamily="49" charset="0"/>
            </a:endParaRPr>
          </a:p>
        </p:txBody>
      </p:sp>
      <p:cxnSp>
        <p:nvCxnSpPr>
          <p:cNvPr id="6" name="Straight Arrow Connector 5"/>
          <p:cNvCxnSpPr/>
          <p:nvPr/>
        </p:nvCxnSpPr>
        <p:spPr>
          <a:xfrm flipH="1" flipV="1">
            <a:off x="2466753" y="2833001"/>
            <a:ext cx="281763" cy="96282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2413592" y="3854302"/>
            <a:ext cx="4582632" cy="646331"/>
          </a:xfrm>
          <a:prstGeom prst="rect">
            <a:avLst/>
          </a:prstGeom>
          <a:noFill/>
        </p:spPr>
        <p:txBody>
          <a:bodyPr wrap="square" rtlCol="0">
            <a:spAutoFit/>
          </a:bodyPr>
          <a:lstStyle/>
          <a:p>
            <a:r>
              <a:rPr lang="en-US" dirty="0" smtClean="0">
                <a:solidFill>
                  <a:srgbClr val="FF0000"/>
                </a:solidFill>
              </a:rPr>
              <a:t>This is the color of the pixel written to the frame buffer.  In this case, always red.</a:t>
            </a:r>
            <a:endParaRPr lang="en-US" dirty="0">
              <a:solidFill>
                <a:srgbClr val="FF0000"/>
              </a:solidFill>
            </a:endParaRPr>
          </a:p>
        </p:txBody>
      </p:sp>
    </p:spTree>
    <p:extLst>
      <p:ext uri="{BB962C8B-B14F-4D97-AF65-F5344CB8AC3E}">
        <p14:creationId xmlns:p14="http://schemas.microsoft.com/office/powerpoint/2010/main" val="6947424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One thing to remember when writing a </a:t>
            </a:r>
            <a:r>
              <a:rPr lang="en-US" dirty="0" err="1"/>
              <a:t>shader</a:t>
            </a:r>
            <a:r>
              <a:rPr lang="en-US" dirty="0"/>
              <a:t> program</a:t>
            </a:r>
          </a:p>
        </p:txBody>
      </p:sp>
      <p:sp>
        <p:nvSpPr>
          <p:cNvPr id="3" name="Content Placeholder 2"/>
          <p:cNvSpPr>
            <a:spLocks noGrp="1"/>
          </p:cNvSpPr>
          <p:nvPr>
            <p:ph idx="1"/>
          </p:nvPr>
        </p:nvSpPr>
        <p:spPr/>
        <p:txBody>
          <a:bodyPr/>
          <a:lstStyle/>
          <a:p>
            <a:r>
              <a:rPr lang="en-US" dirty="0" smtClean="0"/>
              <a:t>The compiler will not re-compile your program when you modify your </a:t>
            </a:r>
            <a:r>
              <a:rPr lang="en-US" dirty="0" err="1" smtClean="0"/>
              <a:t>shader</a:t>
            </a:r>
            <a:r>
              <a:rPr lang="en-US" dirty="0" smtClean="0"/>
              <a:t> source.</a:t>
            </a:r>
          </a:p>
          <a:p>
            <a:r>
              <a:rPr lang="en-US" dirty="0" smtClean="0"/>
              <a:t>When you modify your </a:t>
            </a:r>
            <a:r>
              <a:rPr lang="en-US" dirty="0" err="1" smtClean="0"/>
              <a:t>shader</a:t>
            </a:r>
            <a:r>
              <a:rPr lang="en-US" dirty="0" smtClean="0"/>
              <a:t> source, you also need to touch your source files so that the compiler builds your program, (and then copies the </a:t>
            </a:r>
            <a:r>
              <a:rPr lang="en-US" dirty="0" err="1" smtClean="0"/>
              <a:t>shader</a:t>
            </a:r>
            <a:r>
              <a:rPr lang="en-US" dirty="0" smtClean="0"/>
              <a:t> sources to the executable directory.)</a:t>
            </a:r>
            <a:endParaRPr lang="en-US" dirty="0"/>
          </a:p>
        </p:txBody>
      </p:sp>
    </p:spTree>
    <p:extLst>
      <p:ext uri="{BB962C8B-B14F-4D97-AF65-F5344CB8AC3E}">
        <p14:creationId xmlns:p14="http://schemas.microsoft.com/office/powerpoint/2010/main" val="17958851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can the C++ program access these two files?</a:t>
            </a:r>
            <a:endParaRPr lang="en-US" dirty="0"/>
          </a:p>
        </p:txBody>
      </p:sp>
      <p:sp>
        <p:nvSpPr>
          <p:cNvPr id="3" name="Content Placeholder 2"/>
          <p:cNvSpPr>
            <a:spLocks noGrp="1"/>
          </p:cNvSpPr>
          <p:nvPr>
            <p:ph idx="1"/>
          </p:nvPr>
        </p:nvSpPr>
        <p:spPr/>
        <p:txBody>
          <a:bodyPr/>
          <a:lstStyle/>
          <a:p>
            <a:r>
              <a:rPr lang="en-US" dirty="0" smtClean="0"/>
              <a:t>These two files needs to be copied to the location that the executable can access.</a:t>
            </a:r>
          </a:p>
          <a:p>
            <a:r>
              <a:rPr lang="en-US" dirty="0" smtClean="0"/>
              <a:t>Store these two files under data directory of the source directory, and</a:t>
            </a:r>
          </a:p>
          <a:p>
            <a:r>
              <a:rPr lang="en-US" dirty="0" smtClean="0"/>
              <a:t>Use:</a:t>
            </a:r>
          </a:p>
          <a:p>
            <a:endParaRPr lang="en-US" dirty="0"/>
          </a:p>
          <a:p>
            <a:endParaRPr lang="en-US" dirty="0" smtClean="0"/>
          </a:p>
          <a:p>
            <a:r>
              <a:rPr lang="en-US" dirty="0" smtClean="0"/>
              <a:t>And insert the piece of CMake script that we did in the last lecture so that the </a:t>
            </a:r>
            <a:r>
              <a:rPr lang="en-US" dirty="0" err="1" smtClean="0"/>
              <a:t>shader</a:t>
            </a:r>
            <a:r>
              <a:rPr lang="en-US" dirty="0" smtClean="0"/>
              <a:t> programs are copied to the directory where the program can look at.</a:t>
            </a:r>
            <a:endParaRPr lang="en-US" dirty="0"/>
          </a:p>
        </p:txBody>
      </p:sp>
      <p:sp>
        <p:nvSpPr>
          <p:cNvPr id="4" name="TextBox 3"/>
          <p:cNvSpPr txBox="1"/>
          <p:nvPr/>
        </p:nvSpPr>
        <p:spPr>
          <a:xfrm>
            <a:off x="770871" y="3167390"/>
            <a:ext cx="7994496" cy="646331"/>
          </a:xfrm>
          <a:prstGeom prst="rect">
            <a:avLst/>
          </a:prstGeom>
          <a:noFill/>
        </p:spPr>
        <p:txBody>
          <a:bodyPr wrap="none" rtlCol="0">
            <a:spAutoFit/>
          </a:bodyPr>
          <a:lstStyle/>
          <a:p>
            <a:r>
              <a:rPr lang="en-US" dirty="0">
                <a:latin typeface="Lucida Console" panose="020B0609040504020204" pitchFamily="49" charset="0"/>
              </a:rPr>
              <a:t>set(DATA_FILE_LOCATION ${CMAKE_CURRENT_SOURCE_DIR}/data)</a:t>
            </a:r>
          </a:p>
          <a:p>
            <a:endParaRPr lang="en-US" dirty="0">
              <a:latin typeface="Lucida Console" panose="020B0609040504020204" pitchFamily="49" charset="0"/>
            </a:endParaRPr>
          </a:p>
        </p:txBody>
      </p:sp>
    </p:spTree>
    <p:extLst>
      <p:ext uri="{BB962C8B-B14F-4D97-AF65-F5344CB8AC3E}">
        <p14:creationId xmlns:p14="http://schemas.microsoft.com/office/powerpoint/2010/main" val="13237278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Going step by step</a:t>
            </a:r>
            <a:endParaRPr lang="en-US" dirty="0"/>
          </a:p>
        </p:txBody>
      </p:sp>
      <p:sp>
        <p:nvSpPr>
          <p:cNvPr id="3" name="Content Placeholder 2"/>
          <p:cNvSpPr>
            <a:spLocks noGrp="1"/>
          </p:cNvSpPr>
          <p:nvPr>
            <p:ph idx="1"/>
          </p:nvPr>
        </p:nvSpPr>
        <p:spPr/>
        <p:txBody>
          <a:bodyPr/>
          <a:lstStyle/>
          <a:p>
            <a:r>
              <a:rPr lang="en-US" dirty="0" smtClean="0"/>
              <a:t>First check if the two files are accessible.</a:t>
            </a:r>
          </a:p>
          <a:p>
            <a:r>
              <a:rPr lang="en-US" dirty="0" smtClean="0"/>
              <a:t>In Initialize function, just open and read the contents of the two </a:t>
            </a:r>
            <a:r>
              <a:rPr lang="en-US" dirty="0" err="1" smtClean="0"/>
              <a:t>shader</a:t>
            </a:r>
            <a:r>
              <a:rPr lang="en-US" dirty="0" smtClean="0"/>
              <a:t> source files.</a:t>
            </a:r>
            <a:endParaRPr lang="en-US" dirty="0"/>
          </a:p>
        </p:txBody>
      </p:sp>
    </p:spTree>
    <p:extLst>
      <p:ext uri="{BB962C8B-B14F-4D97-AF65-F5344CB8AC3E}">
        <p14:creationId xmlns:p14="http://schemas.microsoft.com/office/powerpoint/2010/main" val="26009998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Reading in the renderer to </a:t>
            </a:r>
            <a:r>
              <a:rPr lang="en-US" dirty="0" err="1" smtClean="0"/>
              <a:t>std</a:t>
            </a:r>
            <a:r>
              <a:rPr lang="en-US" dirty="0" smtClean="0"/>
              <a:t>::vector &lt;char&gt;</a:t>
            </a:r>
            <a:endParaRPr lang="en-US" dirty="0"/>
          </a:p>
        </p:txBody>
      </p:sp>
      <p:sp>
        <p:nvSpPr>
          <p:cNvPr id="3" name="Content Placeholder 2"/>
          <p:cNvSpPr>
            <a:spLocks noGrp="1"/>
          </p:cNvSpPr>
          <p:nvPr>
            <p:ph idx="1"/>
          </p:nvPr>
        </p:nvSpPr>
        <p:spPr/>
        <p:txBody>
          <a:bodyPr/>
          <a:lstStyle/>
          <a:p>
            <a:r>
              <a:rPr lang="en-US" dirty="0" smtClean="0"/>
              <a:t>The goal:  Write a class that enables the program in the constructor, and disables it in the destructor.</a:t>
            </a:r>
          </a:p>
          <a:p>
            <a:endParaRPr lang="en-US" dirty="0" smtClean="0"/>
          </a:p>
          <a:p>
            <a:r>
              <a:rPr lang="en-US" dirty="0" smtClean="0"/>
              <a:t>Add </a:t>
            </a:r>
            <a:r>
              <a:rPr lang="en-US" dirty="0" err="1" smtClean="0"/>
              <a:t>renderer.h</a:t>
            </a:r>
            <a:r>
              <a:rPr lang="en-US" dirty="0" smtClean="0"/>
              <a:t> and renderer.cpp</a:t>
            </a:r>
            <a:endParaRPr lang="en-US" dirty="0"/>
          </a:p>
        </p:txBody>
      </p:sp>
    </p:spTree>
    <p:extLst>
      <p:ext uri="{BB962C8B-B14F-4D97-AF65-F5344CB8AC3E}">
        <p14:creationId xmlns:p14="http://schemas.microsoft.com/office/powerpoint/2010/main" val="22457379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2973" y="1762594"/>
            <a:ext cx="3562194" cy="1338828"/>
          </a:xfrm>
          <a:prstGeom prst="rect">
            <a:avLst/>
          </a:prstGeom>
          <a:noFill/>
        </p:spPr>
        <p:txBody>
          <a:bodyPr wrap="none" rtlCol="0">
            <a:spAutoFit/>
          </a:bodyPr>
          <a:lstStyle/>
          <a:p>
            <a:r>
              <a:rPr lang="en-US" sz="900" dirty="0">
                <a:latin typeface="Lucida Console" panose="020B0609040504020204" pitchFamily="49" charset="0"/>
              </a:rPr>
              <a:t>#</a:t>
            </a:r>
            <a:r>
              <a:rPr lang="en-US" sz="900" dirty="0" err="1">
                <a:latin typeface="Lucida Console" panose="020B0609040504020204" pitchFamily="49" charset="0"/>
              </a:rPr>
              <a:t>ifndef</a:t>
            </a:r>
            <a:r>
              <a:rPr lang="en-US" sz="900" dirty="0">
                <a:latin typeface="Lucida Console" panose="020B0609040504020204" pitchFamily="49" charset="0"/>
              </a:rPr>
              <a:t> RENDERER_IS_INCLUDED</a:t>
            </a:r>
          </a:p>
          <a:p>
            <a:r>
              <a:rPr lang="en-US" sz="900" dirty="0">
                <a:latin typeface="Lucida Console" panose="020B0609040504020204" pitchFamily="49" charset="0"/>
              </a:rPr>
              <a:t>#define </a:t>
            </a:r>
            <a:r>
              <a:rPr lang="en-US" sz="900" dirty="0" smtClean="0">
                <a:latin typeface="Lucida Console" panose="020B0609040504020204" pitchFamily="49" charset="0"/>
              </a:rPr>
              <a:t>RENDERER_IS_INCLUDED</a:t>
            </a:r>
            <a:endParaRPr lang="en-US" sz="900" dirty="0">
              <a:latin typeface="Lucida Console" panose="020B0609040504020204" pitchFamily="49" charset="0"/>
            </a:endParaRPr>
          </a:p>
          <a:p>
            <a:endParaRPr lang="en-US" sz="900" dirty="0">
              <a:latin typeface="Lucida Console" panose="020B0609040504020204" pitchFamily="49" charset="0"/>
            </a:endParaRPr>
          </a:p>
          <a:p>
            <a:r>
              <a:rPr lang="en-US" sz="900" dirty="0" smtClean="0">
                <a:latin typeface="Lucida Console" panose="020B0609040504020204" pitchFamily="49" charset="0"/>
              </a:rPr>
              <a:t>#include &lt;</a:t>
            </a:r>
            <a:r>
              <a:rPr lang="en-US" sz="900" dirty="0" err="1" smtClean="0">
                <a:latin typeface="Lucida Console" panose="020B0609040504020204" pitchFamily="49" charset="0"/>
              </a:rPr>
              <a:t>ysgl.h</a:t>
            </a:r>
            <a:r>
              <a:rPr lang="en-US" sz="900" dirty="0" smtClean="0">
                <a:latin typeface="Lucida Console" panose="020B0609040504020204" pitchFamily="49" charset="0"/>
              </a:rPr>
              <a:t>&gt;</a:t>
            </a:r>
          </a:p>
          <a:p>
            <a:r>
              <a:rPr lang="en-US" sz="900" dirty="0" smtClean="0">
                <a:latin typeface="Lucida Console" panose="020B0609040504020204" pitchFamily="49" charset="0"/>
              </a:rPr>
              <a:t>#</a:t>
            </a:r>
            <a:r>
              <a:rPr lang="en-US" sz="900" dirty="0">
                <a:latin typeface="Lucida Console" panose="020B0609040504020204" pitchFamily="49" charset="0"/>
              </a:rPr>
              <a:t>include &lt;vector&gt;</a:t>
            </a:r>
          </a:p>
          <a:p>
            <a:r>
              <a:rPr lang="en-US" sz="900" dirty="0" err="1" smtClean="0">
                <a:latin typeface="Lucida Console" panose="020B0609040504020204" pitchFamily="49" charset="0"/>
              </a:rPr>
              <a:t>std</a:t>
            </a:r>
            <a:r>
              <a:rPr lang="en-US" sz="900" dirty="0">
                <a:latin typeface="Lucida Console" panose="020B0609040504020204" pitchFamily="49" charset="0"/>
              </a:rPr>
              <a:t>::vector &lt;char&gt; </a:t>
            </a:r>
            <a:r>
              <a:rPr lang="en-US" sz="900" dirty="0" err="1">
                <a:latin typeface="Lucida Console" panose="020B0609040504020204" pitchFamily="49" charset="0"/>
              </a:rPr>
              <a:t>ReadTextFile</a:t>
            </a:r>
            <a:r>
              <a:rPr lang="en-US" sz="900" dirty="0">
                <a:latin typeface="Lucida Console" panose="020B0609040504020204" pitchFamily="49" charset="0"/>
              </a:rPr>
              <a:t>(</a:t>
            </a:r>
            <a:r>
              <a:rPr lang="en-US" sz="900" dirty="0" err="1">
                <a:latin typeface="Lucida Console" panose="020B0609040504020204" pitchFamily="49" charset="0"/>
              </a:rPr>
              <a:t>const</a:t>
            </a:r>
            <a:r>
              <a:rPr lang="en-US" sz="900" dirty="0">
                <a:latin typeface="Lucida Console" panose="020B0609040504020204" pitchFamily="49" charset="0"/>
              </a:rPr>
              <a:t> char </a:t>
            </a:r>
            <a:r>
              <a:rPr lang="en-US" sz="900" dirty="0" err="1">
                <a:latin typeface="Lucida Console" panose="020B0609040504020204" pitchFamily="49" charset="0"/>
              </a:rPr>
              <a:t>fn</a:t>
            </a:r>
            <a:r>
              <a:rPr lang="en-US" sz="900" dirty="0">
                <a:latin typeface="Lucida Console" panose="020B0609040504020204" pitchFamily="49" charset="0"/>
              </a:rPr>
              <a:t>[]);</a:t>
            </a:r>
          </a:p>
          <a:p>
            <a:endParaRPr lang="en-US" sz="900" dirty="0">
              <a:latin typeface="Lucida Console" panose="020B0609040504020204" pitchFamily="49" charset="0"/>
            </a:endParaRPr>
          </a:p>
          <a:p>
            <a:r>
              <a:rPr lang="en-US" sz="900" dirty="0">
                <a:latin typeface="Lucida Console" panose="020B0609040504020204" pitchFamily="49" charset="0"/>
              </a:rPr>
              <a:t>#</a:t>
            </a:r>
            <a:r>
              <a:rPr lang="en-US" sz="900" dirty="0" err="1">
                <a:latin typeface="Lucida Console" panose="020B0609040504020204" pitchFamily="49" charset="0"/>
              </a:rPr>
              <a:t>endif</a:t>
            </a:r>
            <a:endParaRPr lang="en-US" sz="900" dirty="0">
              <a:latin typeface="Lucida Console" panose="020B0609040504020204" pitchFamily="49" charset="0"/>
            </a:endParaRPr>
          </a:p>
          <a:p>
            <a:endParaRPr lang="en-US" sz="900" dirty="0">
              <a:latin typeface="Lucida Console" panose="020B0609040504020204" pitchFamily="49" charset="0"/>
            </a:endParaRPr>
          </a:p>
        </p:txBody>
      </p:sp>
      <p:sp>
        <p:nvSpPr>
          <p:cNvPr id="5" name="TextBox 4"/>
          <p:cNvSpPr txBox="1"/>
          <p:nvPr/>
        </p:nvSpPr>
        <p:spPr>
          <a:xfrm>
            <a:off x="4991043" y="1762594"/>
            <a:ext cx="3877985" cy="3631763"/>
          </a:xfrm>
          <a:prstGeom prst="rect">
            <a:avLst/>
          </a:prstGeom>
          <a:noFill/>
        </p:spPr>
        <p:txBody>
          <a:bodyPr wrap="none" rtlCol="0">
            <a:spAutoFit/>
          </a:bodyPr>
          <a:lstStyle/>
          <a:p>
            <a:r>
              <a:rPr lang="en-US" sz="1000" dirty="0">
                <a:latin typeface="Lucida Console" panose="020B0609040504020204" pitchFamily="49" charset="0"/>
              </a:rPr>
              <a:t>#include "</a:t>
            </a:r>
            <a:r>
              <a:rPr lang="en-US" sz="1000" dirty="0" err="1">
                <a:latin typeface="Lucida Console" panose="020B0609040504020204" pitchFamily="49" charset="0"/>
              </a:rPr>
              <a:t>renderer.h</a:t>
            </a:r>
            <a:r>
              <a:rPr lang="en-US" sz="1000" dirty="0">
                <a:latin typeface="Lucida Console" panose="020B0609040504020204" pitchFamily="49" charset="0"/>
              </a:rPr>
              <a:t>"</a:t>
            </a:r>
          </a:p>
          <a:p>
            <a:endParaRPr lang="en-US" sz="1000" dirty="0" smtClean="0">
              <a:latin typeface="Lucida Console" panose="020B0609040504020204" pitchFamily="49" charset="0"/>
            </a:endParaRPr>
          </a:p>
          <a:p>
            <a:r>
              <a:rPr lang="en-US" sz="1000" dirty="0" err="1" smtClean="0">
                <a:latin typeface="Lucida Console" panose="020B0609040504020204" pitchFamily="49" charset="0"/>
              </a:rPr>
              <a:t>std</a:t>
            </a:r>
            <a:r>
              <a:rPr lang="en-US" sz="1000" dirty="0">
                <a:latin typeface="Lucida Console" panose="020B0609040504020204" pitchFamily="49" charset="0"/>
              </a:rPr>
              <a:t>::vector &lt;char&gt; </a:t>
            </a:r>
            <a:r>
              <a:rPr lang="en-US" sz="1000" dirty="0" err="1">
                <a:latin typeface="Lucida Console" panose="020B0609040504020204" pitchFamily="49" charset="0"/>
              </a:rPr>
              <a:t>ReadTextFile</a:t>
            </a:r>
            <a:r>
              <a:rPr lang="en-US" sz="1000" dirty="0">
                <a:latin typeface="Lucida Console" panose="020B0609040504020204" pitchFamily="49" charset="0"/>
              </a:rPr>
              <a:t>(</a:t>
            </a:r>
            <a:r>
              <a:rPr lang="en-US" sz="1000" dirty="0" err="1">
                <a:latin typeface="Lucida Console" panose="020B0609040504020204" pitchFamily="49" charset="0"/>
              </a:rPr>
              <a:t>const</a:t>
            </a:r>
            <a:r>
              <a:rPr lang="en-US" sz="1000" dirty="0">
                <a:latin typeface="Lucida Console" panose="020B0609040504020204" pitchFamily="49" charset="0"/>
              </a:rPr>
              <a:t> char </a:t>
            </a:r>
            <a:r>
              <a:rPr lang="en-US" sz="1000" dirty="0" err="1">
                <a:latin typeface="Lucida Console" panose="020B0609040504020204" pitchFamily="49" charset="0"/>
              </a:rPr>
              <a:t>fn</a:t>
            </a:r>
            <a:r>
              <a:rPr lang="en-US" sz="1000" dirty="0">
                <a:latin typeface="Lucida Console" panose="020B0609040504020204" pitchFamily="49" charset="0"/>
              </a:rPr>
              <a:t>[])</a:t>
            </a:r>
          </a:p>
          <a:p>
            <a:r>
              <a:rPr lang="en-US" sz="1000" dirty="0">
                <a:latin typeface="Lucida Console" panose="020B0609040504020204" pitchFamily="49" charset="0"/>
              </a:rPr>
              <a:t>{</a:t>
            </a:r>
          </a:p>
          <a:p>
            <a:r>
              <a:rPr lang="en-US" sz="1000" dirty="0" smtClean="0">
                <a:latin typeface="Lucida Console" panose="020B0609040504020204" pitchFamily="49" charset="0"/>
              </a:rPr>
              <a:t>    </a:t>
            </a:r>
            <a:r>
              <a:rPr lang="en-US" sz="1000" dirty="0" err="1" smtClean="0">
                <a:latin typeface="Lucida Console" panose="020B0609040504020204" pitchFamily="49" charset="0"/>
              </a:rPr>
              <a:t>std</a:t>
            </a:r>
            <a:r>
              <a:rPr lang="en-US" sz="1000" dirty="0">
                <a:latin typeface="Lucida Console" panose="020B0609040504020204" pitchFamily="49" charset="0"/>
              </a:rPr>
              <a:t>::vector &lt;char&gt; </a:t>
            </a:r>
            <a:r>
              <a:rPr lang="en-US" sz="1000" dirty="0" err="1">
                <a:latin typeface="Lucida Console" panose="020B0609040504020204" pitchFamily="49" charset="0"/>
              </a:rPr>
              <a:t>fileContent</a:t>
            </a:r>
            <a:r>
              <a:rPr lang="en-US" sz="1000" dirty="0">
                <a:latin typeface="Lucida Console" panose="020B0609040504020204" pitchFamily="49" charset="0"/>
              </a:rPr>
              <a:t>;</a:t>
            </a:r>
          </a:p>
          <a:p>
            <a:r>
              <a:rPr lang="en-US" sz="1000" dirty="0" smtClean="0">
                <a:latin typeface="Lucida Console" panose="020B0609040504020204" pitchFamily="49" charset="0"/>
              </a:rPr>
              <a:t>    char </a:t>
            </a:r>
            <a:r>
              <a:rPr lang="en-US" sz="1000" dirty="0" err="1">
                <a:latin typeface="Lucida Console" panose="020B0609040504020204" pitchFamily="49" charset="0"/>
              </a:rPr>
              <a:t>str</a:t>
            </a:r>
            <a:r>
              <a:rPr lang="en-US" sz="1000" dirty="0">
                <a:latin typeface="Lucida Console" panose="020B0609040504020204" pitchFamily="49" charset="0"/>
              </a:rPr>
              <a:t>[256];</a:t>
            </a:r>
          </a:p>
          <a:p>
            <a:endParaRPr lang="en-US" sz="1000" dirty="0">
              <a:latin typeface="Lucida Console" panose="020B0609040504020204" pitchFamily="49" charset="0"/>
            </a:endParaRPr>
          </a:p>
          <a:p>
            <a:r>
              <a:rPr lang="en-US" sz="1000" dirty="0" smtClean="0">
                <a:latin typeface="Lucida Console" panose="020B0609040504020204" pitchFamily="49" charset="0"/>
              </a:rPr>
              <a:t>    FILE </a:t>
            </a:r>
            <a:r>
              <a:rPr lang="en-US" sz="1000" dirty="0">
                <a:latin typeface="Lucida Console" panose="020B0609040504020204" pitchFamily="49" charset="0"/>
              </a:rPr>
              <a:t>*</a:t>
            </a:r>
            <a:r>
              <a:rPr lang="en-US" sz="1000" dirty="0" err="1">
                <a:latin typeface="Lucida Console" panose="020B0609040504020204" pitchFamily="49" charset="0"/>
              </a:rPr>
              <a:t>fp</a:t>
            </a:r>
            <a:r>
              <a:rPr lang="en-US" sz="1000" dirty="0">
                <a:latin typeface="Lucida Console" panose="020B0609040504020204" pitchFamily="49" charset="0"/>
              </a:rPr>
              <a:t>=</a:t>
            </a:r>
            <a:r>
              <a:rPr lang="en-US" sz="1000" dirty="0" err="1">
                <a:latin typeface="Lucida Console" panose="020B0609040504020204" pitchFamily="49" charset="0"/>
              </a:rPr>
              <a:t>fopen</a:t>
            </a:r>
            <a:r>
              <a:rPr lang="en-US" sz="1000" dirty="0">
                <a:latin typeface="Lucida Console" panose="020B0609040504020204" pitchFamily="49" charset="0"/>
              </a:rPr>
              <a:t>(</a:t>
            </a:r>
            <a:r>
              <a:rPr lang="en-US" sz="1000" dirty="0" err="1">
                <a:latin typeface="Lucida Console" panose="020B0609040504020204" pitchFamily="49" charset="0"/>
              </a:rPr>
              <a:t>fn</a:t>
            </a:r>
            <a:r>
              <a:rPr lang="en-US" sz="1000" dirty="0">
                <a:latin typeface="Lucida Console" panose="020B0609040504020204" pitchFamily="49" charset="0"/>
              </a:rPr>
              <a:t>,"r");</a:t>
            </a:r>
          </a:p>
          <a:p>
            <a:r>
              <a:rPr lang="en-US" sz="1000" dirty="0" smtClean="0">
                <a:latin typeface="Lucida Console" panose="020B0609040504020204" pitchFamily="49" charset="0"/>
              </a:rPr>
              <a:t>    if(</a:t>
            </a:r>
            <a:r>
              <a:rPr lang="en-US" sz="1000" dirty="0" err="1" smtClean="0">
                <a:latin typeface="Lucida Console" panose="020B0609040504020204" pitchFamily="49" charset="0"/>
              </a:rPr>
              <a:t>nullptr</a:t>
            </a:r>
            <a:r>
              <a:rPr lang="en-US" sz="1000" dirty="0">
                <a:latin typeface="Lucida Console" panose="020B0609040504020204" pitchFamily="49" charset="0"/>
              </a:rPr>
              <a:t>!=</a:t>
            </a:r>
            <a:r>
              <a:rPr lang="en-US" sz="1000" dirty="0" err="1">
                <a:latin typeface="Lucida Console" panose="020B0609040504020204" pitchFamily="49" charset="0"/>
              </a:rPr>
              <a:t>fp</a:t>
            </a:r>
            <a:r>
              <a:rPr lang="en-US" sz="1000" dirty="0">
                <a:latin typeface="Lucida Console" panose="020B0609040504020204" pitchFamily="49" charset="0"/>
              </a:rPr>
              <a:t>)</a:t>
            </a:r>
          </a:p>
          <a:p>
            <a:r>
              <a:rPr lang="en-US" sz="1000" dirty="0" smtClean="0">
                <a:latin typeface="Lucida Console" panose="020B0609040504020204" pitchFamily="49" charset="0"/>
              </a:rPr>
              <a:t>    {</a:t>
            </a:r>
            <a:endParaRPr lang="en-US" sz="1000" dirty="0">
              <a:latin typeface="Lucida Console" panose="020B0609040504020204" pitchFamily="49" charset="0"/>
            </a:endParaRPr>
          </a:p>
          <a:p>
            <a:r>
              <a:rPr lang="en-US" sz="1000" dirty="0" smtClean="0">
                <a:latin typeface="Lucida Console" panose="020B0609040504020204" pitchFamily="49" charset="0"/>
              </a:rPr>
              <a:t>        while(</a:t>
            </a:r>
            <a:r>
              <a:rPr lang="en-US" sz="1000" dirty="0" err="1" smtClean="0">
                <a:latin typeface="Lucida Console" panose="020B0609040504020204" pitchFamily="49" charset="0"/>
              </a:rPr>
              <a:t>nullptr</a:t>
            </a:r>
            <a:r>
              <a:rPr lang="en-US" sz="1000" dirty="0">
                <a:latin typeface="Lucida Console" panose="020B0609040504020204" pitchFamily="49" charset="0"/>
              </a:rPr>
              <a:t>!=</a:t>
            </a:r>
            <a:r>
              <a:rPr lang="en-US" sz="1000" dirty="0" err="1">
                <a:latin typeface="Lucida Console" panose="020B0609040504020204" pitchFamily="49" charset="0"/>
              </a:rPr>
              <a:t>fgets</a:t>
            </a:r>
            <a:r>
              <a:rPr lang="en-US" sz="1000" dirty="0">
                <a:latin typeface="Lucida Console" panose="020B0609040504020204" pitchFamily="49" charset="0"/>
              </a:rPr>
              <a:t>(str,255,fp))</a:t>
            </a:r>
          </a:p>
          <a:p>
            <a:r>
              <a:rPr lang="en-US" sz="1000" dirty="0" smtClean="0">
                <a:latin typeface="Lucida Console" panose="020B0609040504020204" pitchFamily="49" charset="0"/>
              </a:rPr>
              <a:t>        {</a:t>
            </a:r>
            <a:endParaRPr lang="en-US" sz="1000" dirty="0">
              <a:latin typeface="Lucida Console" panose="020B0609040504020204" pitchFamily="49" charset="0"/>
            </a:endParaRPr>
          </a:p>
          <a:p>
            <a:r>
              <a:rPr lang="en-US" sz="1000" dirty="0" smtClean="0">
                <a:latin typeface="Lucida Console" panose="020B0609040504020204" pitchFamily="49" charset="0"/>
              </a:rPr>
              <a:t>            for(</a:t>
            </a:r>
            <a:r>
              <a:rPr lang="en-US" sz="1000" dirty="0" err="1" smtClean="0">
                <a:latin typeface="Lucida Console" panose="020B0609040504020204" pitchFamily="49" charset="0"/>
              </a:rPr>
              <a:t>int</a:t>
            </a:r>
            <a:r>
              <a:rPr lang="en-US" sz="1000" dirty="0" smtClean="0">
                <a:latin typeface="Lucida Console" panose="020B0609040504020204" pitchFamily="49" charset="0"/>
              </a:rPr>
              <a:t> </a:t>
            </a:r>
            <a:r>
              <a:rPr lang="en-US" sz="1000" dirty="0" err="1">
                <a:latin typeface="Lucida Console" panose="020B0609040504020204" pitchFamily="49" charset="0"/>
              </a:rPr>
              <a:t>i</a:t>
            </a:r>
            <a:r>
              <a:rPr lang="en-US" sz="1000" dirty="0">
                <a:latin typeface="Lucida Console" panose="020B0609040504020204" pitchFamily="49" charset="0"/>
              </a:rPr>
              <a:t>=0; </a:t>
            </a:r>
            <a:r>
              <a:rPr lang="en-US" sz="1000" dirty="0" err="1">
                <a:latin typeface="Lucida Console" panose="020B0609040504020204" pitchFamily="49" charset="0"/>
              </a:rPr>
              <a:t>str</a:t>
            </a:r>
            <a:r>
              <a:rPr lang="en-US" sz="1000" dirty="0">
                <a:latin typeface="Lucida Console" panose="020B0609040504020204" pitchFamily="49" charset="0"/>
              </a:rPr>
              <a:t>[</a:t>
            </a:r>
            <a:r>
              <a:rPr lang="en-US" sz="1000" dirty="0" err="1">
                <a:latin typeface="Lucida Console" panose="020B0609040504020204" pitchFamily="49" charset="0"/>
              </a:rPr>
              <a:t>i</a:t>
            </a:r>
            <a:r>
              <a:rPr lang="en-US" sz="1000" dirty="0">
                <a:latin typeface="Lucida Console" panose="020B0609040504020204" pitchFamily="49" charset="0"/>
              </a:rPr>
              <a:t>]!=0; ++</a:t>
            </a:r>
            <a:r>
              <a:rPr lang="en-US" sz="1000" dirty="0" err="1">
                <a:latin typeface="Lucida Console" panose="020B0609040504020204" pitchFamily="49" charset="0"/>
              </a:rPr>
              <a:t>i</a:t>
            </a:r>
            <a:r>
              <a:rPr lang="en-US" sz="1000" dirty="0">
                <a:latin typeface="Lucida Console" panose="020B0609040504020204" pitchFamily="49" charset="0"/>
              </a:rPr>
              <a:t>)</a:t>
            </a:r>
          </a:p>
          <a:p>
            <a:r>
              <a:rPr lang="en-US" sz="1000" dirty="0" smtClean="0">
                <a:latin typeface="Lucida Console" panose="020B0609040504020204" pitchFamily="49" charset="0"/>
              </a:rPr>
              <a:t>            {</a:t>
            </a:r>
            <a:endParaRPr lang="en-US" sz="1000" dirty="0">
              <a:latin typeface="Lucida Console" panose="020B0609040504020204" pitchFamily="49" charset="0"/>
            </a:endParaRPr>
          </a:p>
          <a:p>
            <a:r>
              <a:rPr lang="en-US" sz="1000" dirty="0" smtClean="0">
                <a:latin typeface="Lucida Console" panose="020B0609040504020204" pitchFamily="49" charset="0"/>
              </a:rPr>
              <a:t>                </a:t>
            </a:r>
            <a:r>
              <a:rPr lang="en-US" sz="1000" dirty="0" err="1" smtClean="0">
                <a:latin typeface="Lucida Console" panose="020B0609040504020204" pitchFamily="49" charset="0"/>
              </a:rPr>
              <a:t>fileContent.push_back</a:t>
            </a:r>
            <a:r>
              <a:rPr lang="en-US" sz="1000" dirty="0" smtClean="0">
                <a:latin typeface="Lucida Console" panose="020B0609040504020204" pitchFamily="49" charset="0"/>
              </a:rPr>
              <a:t>(</a:t>
            </a:r>
            <a:r>
              <a:rPr lang="en-US" sz="1000" dirty="0" err="1" smtClean="0">
                <a:latin typeface="Lucida Console" panose="020B0609040504020204" pitchFamily="49" charset="0"/>
              </a:rPr>
              <a:t>str</a:t>
            </a:r>
            <a:r>
              <a:rPr lang="en-US" sz="1000" dirty="0" smtClean="0">
                <a:latin typeface="Lucida Console" panose="020B0609040504020204" pitchFamily="49" charset="0"/>
              </a:rPr>
              <a:t>[</a:t>
            </a:r>
            <a:r>
              <a:rPr lang="en-US" sz="1000" dirty="0" err="1" smtClean="0">
                <a:latin typeface="Lucida Console" panose="020B0609040504020204" pitchFamily="49" charset="0"/>
              </a:rPr>
              <a:t>i</a:t>
            </a:r>
            <a:r>
              <a:rPr lang="en-US" sz="1000" dirty="0">
                <a:latin typeface="Lucida Console" panose="020B0609040504020204" pitchFamily="49" charset="0"/>
              </a:rPr>
              <a:t>]);</a:t>
            </a:r>
          </a:p>
          <a:p>
            <a:r>
              <a:rPr lang="en-US" sz="1000" dirty="0" smtClean="0">
                <a:latin typeface="Lucida Console" panose="020B0609040504020204" pitchFamily="49" charset="0"/>
              </a:rPr>
              <a:t>            }</a:t>
            </a:r>
            <a:endParaRPr lang="en-US" sz="1000" dirty="0">
              <a:latin typeface="Lucida Console" panose="020B0609040504020204" pitchFamily="49" charset="0"/>
            </a:endParaRPr>
          </a:p>
          <a:p>
            <a:r>
              <a:rPr lang="en-US" sz="1000" dirty="0" smtClean="0">
                <a:latin typeface="Lucida Console" panose="020B0609040504020204" pitchFamily="49" charset="0"/>
              </a:rPr>
              <a:t>        }</a:t>
            </a:r>
            <a:endParaRPr lang="en-US" sz="1000" dirty="0">
              <a:latin typeface="Lucida Console" panose="020B0609040504020204" pitchFamily="49" charset="0"/>
            </a:endParaRPr>
          </a:p>
          <a:p>
            <a:r>
              <a:rPr lang="en-US" sz="1000" dirty="0" smtClean="0">
                <a:latin typeface="Lucida Console" panose="020B0609040504020204" pitchFamily="49" charset="0"/>
              </a:rPr>
              <a:t>        </a:t>
            </a:r>
            <a:r>
              <a:rPr lang="en-US" sz="1000" dirty="0" err="1" smtClean="0">
                <a:latin typeface="Lucida Console" panose="020B0609040504020204" pitchFamily="49" charset="0"/>
              </a:rPr>
              <a:t>fclose</a:t>
            </a:r>
            <a:r>
              <a:rPr lang="en-US" sz="1000" dirty="0" smtClean="0">
                <a:latin typeface="Lucida Console" panose="020B0609040504020204" pitchFamily="49" charset="0"/>
              </a:rPr>
              <a:t>(</a:t>
            </a:r>
            <a:r>
              <a:rPr lang="en-US" sz="1000" dirty="0" err="1" smtClean="0">
                <a:latin typeface="Lucida Console" panose="020B0609040504020204" pitchFamily="49" charset="0"/>
              </a:rPr>
              <a:t>fp</a:t>
            </a:r>
            <a:r>
              <a:rPr lang="en-US" sz="1000" dirty="0">
                <a:latin typeface="Lucida Console" panose="020B0609040504020204" pitchFamily="49" charset="0"/>
              </a:rPr>
              <a:t>);</a:t>
            </a:r>
          </a:p>
          <a:p>
            <a:r>
              <a:rPr lang="en-US" sz="1000" dirty="0" smtClean="0">
                <a:latin typeface="Lucida Console" panose="020B0609040504020204" pitchFamily="49" charset="0"/>
              </a:rPr>
              <a:t>    }</a:t>
            </a:r>
            <a:endParaRPr lang="en-US" sz="1000" dirty="0">
              <a:latin typeface="Lucida Console" panose="020B0609040504020204" pitchFamily="49" charset="0"/>
            </a:endParaRPr>
          </a:p>
          <a:p>
            <a:r>
              <a:rPr lang="en-US" sz="1000" dirty="0" smtClean="0">
                <a:latin typeface="Lucida Console" panose="020B0609040504020204" pitchFamily="49" charset="0"/>
              </a:rPr>
              <a:t>    </a:t>
            </a:r>
            <a:r>
              <a:rPr lang="en-US" sz="1000" dirty="0" err="1" smtClean="0">
                <a:latin typeface="Lucida Console" panose="020B0609040504020204" pitchFamily="49" charset="0"/>
              </a:rPr>
              <a:t>fileContent.push_back</a:t>
            </a:r>
            <a:r>
              <a:rPr lang="en-US" sz="1000" dirty="0" smtClean="0">
                <a:latin typeface="Lucida Console" panose="020B0609040504020204" pitchFamily="49" charset="0"/>
              </a:rPr>
              <a:t>(0</a:t>
            </a:r>
            <a:r>
              <a:rPr lang="en-US" sz="1000" dirty="0">
                <a:latin typeface="Lucida Console" panose="020B0609040504020204" pitchFamily="49" charset="0"/>
              </a:rPr>
              <a:t>);</a:t>
            </a:r>
          </a:p>
          <a:p>
            <a:r>
              <a:rPr lang="en-US" sz="1000" dirty="0" smtClean="0">
                <a:latin typeface="Lucida Console" panose="020B0609040504020204" pitchFamily="49" charset="0"/>
              </a:rPr>
              <a:t>    return </a:t>
            </a:r>
            <a:r>
              <a:rPr lang="en-US" sz="1000" dirty="0" err="1">
                <a:latin typeface="Lucida Console" panose="020B0609040504020204" pitchFamily="49" charset="0"/>
              </a:rPr>
              <a:t>fileContent</a:t>
            </a:r>
            <a:r>
              <a:rPr lang="en-US" sz="1000" dirty="0">
                <a:latin typeface="Lucida Console" panose="020B0609040504020204" pitchFamily="49" charset="0"/>
              </a:rPr>
              <a:t>;</a:t>
            </a:r>
          </a:p>
          <a:p>
            <a:r>
              <a:rPr lang="en-US" sz="1000" dirty="0">
                <a:latin typeface="Lucida Console" panose="020B0609040504020204" pitchFamily="49" charset="0"/>
              </a:rPr>
              <a:t>}</a:t>
            </a:r>
          </a:p>
          <a:p>
            <a:endParaRPr lang="en-US" sz="1000" dirty="0">
              <a:latin typeface="Lucida Console" panose="020B0609040504020204" pitchFamily="49" charset="0"/>
            </a:endParaRPr>
          </a:p>
        </p:txBody>
      </p:sp>
      <p:sp>
        <p:nvSpPr>
          <p:cNvPr id="6" name="TextBox 5"/>
          <p:cNvSpPr txBox="1"/>
          <p:nvPr/>
        </p:nvSpPr>
        <p:spPr>
          <a:xfrm>
            <a:off x="232973" y="1208596"/>
            <a:ext cx="1236300" cy="369332"/>
          </a:xfrm>
          <a:prstGeom prst="rect">
            <a:avLst/>
          </a:prstGeom>
          <a:noFill/>
        </p:spPr>
        <p:txBody>
          <a:bodyPr wrap="none" rtlCol="0">
            <a:spAutoFit/>
          </a:bodyPr>
          <a:lstStyle/>
          <a:p>
            <a:r>
              <a:rPr lang="en-US" dirty="0" err="1" smtClean="0"/>
              <a:t>renderer.h</a:t>
            </a:r>
            <a:endParaRPr lang="en-US" dirty="0"/>
          </a:p>
        </p:txBody>
      </p:sp>
      <p:sp>
        <p:nvSpPr>
          <p:cNvPr id="7" name="TextBox 6"/>
          <p:cNvSpPr txBox="1"/>
          <p:nvPr/>
        </p:nvSpPr>
        <p:spPr>
          <a:xfrm>
            <a:off x="4991043" y="1208596"/>
            <a:ext cx="1479957" cy="369332"/>
          </a:xfrm>
          <a:prstGeom prst="rect">
            <a:avLst/>
          </a:prstGeom>
          <a:noFill/>
        </p:spPr>
        <p:txBody>
          <a:bodyPr wrap="none" rtlCol="0">
            <a:spAutoFit/>
          </a:bodyPr>
          <a:lstStyle/>
          <a:p>
            <a:r>
              <a:rPr lang="en-US" dirty="0" smtClean="0"/>
              <a:t>renderer.cpp</a:t>
            </a:r>
            <a:endParaRPr lang="en-US" dirty="0"/>
          </a:p>
        </p:txBody>
      </p:sp>
    </p:spTree>
    <p:extLst>
      <p:ext uri="{BB962C8B-B14F-4D97-AF65-F5344CB8AC3E}">
        <p14:creationId xmlns:p14="http://schemas.microsoft.com/office/powerpoint/2010/main" val="22499316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in OpenGL header locations</a:t>
            </a:r>
            <a:endParaRPr lang="en-US" dirty="0"/>
          </a:p>
        </p:txBody>
      </p:sp>
      <p:sp>
        <p:nvSpPr>
          <p:cNvPr id="3" name="Content Placeholder 2"/>
          <p:cNvSpPr>
            <a:spLocks noGrp="1"/>
          </p:cNvSpPr>
          <p:nvPr>
            <p:ph idx="1"/>
          </p:nvPr>
        </p:nvSpPr>
        <p:spPr/>
        <p:txBody>
          <a:bodyPr/>
          <a:lstStyle/>
          <a:p>
            <a:r>
              <a:rPr lang="en-US" dirty="0"/>
              <a:t>Problem (major frustration):</a:t>
            </a:r>
          </a:p>
          <a:p>
            <a:pPr lvl="1"/>
            <a:r>
              <a:rPr lang="en-US" dirty="0"/>
              <a:t>Apple put OpenGL headers in a non-standard location.</a:t>
            </a:r>
          </a:p>
          <a:p>
            <a:pPr lvl="1"/>
            <a:r>
              <a:rPr lang="en-US" dirty="0"/>
              <a:t>Windows needs </a:t>
            </a:r>
            <a:r>
              <a:rPr lang="en-US" dirty="0" err="1"/>
              <a:t>windows.h</a:t>
            </a:r>
            <a:r>
              <a:rPr lang="en-US" dirty="0"/>
              <a:t> be included before including OpenGL headers</a:t>
            </a:r>
            <a:r>
              <a:rPr lang="en-US" dirty="0" smtClean="0"/>
              <a:t>.</a:t>
            </a:r>
          </a:p>
          <a:p>
            <a:pPr lvl="1"/>
            <a:r>
              <a:rPr lang="en-US" dirty="0" smtClean="0"/>
              <a:t>Visual C++ does not come with OpenGL 2.x headers.  (For Visual C++, headers are in public/</a:t>
            </a:r>
            <a:r>
              <a:rPr lang="en-US" dirty="0" err="1" smtClean="0"/>
              <a:t>src</a:t>
            </a:r>
            <a:r>
              <a:rPr lang="en-US" dirty="0" smtClean="0"/>
              <a:t>/imported/include/GL.  Redistribution of the headers are permitted.)</a:t>
            </a:r>
            <a:endParaRPr lang="en-US" dirty="0"/>
          </a:p>
          <a:p>
            <a:pPr lvl="1"/>
            <a:r>
              <a:rPr lang="en-US" dirty="0"/>
              <a:t>iOS uses OpenGL ES, whose headers are in a different location.</a:t>
            </a:r>
          </a:p>
          <a:p>
            <a:r>
              <a:rPr lang="en-US" dirty="0"/>
              <a:t>You end up needing that many lines</a:t>
            </a:r>
            <a:r>
              <a:rPr lang="en-US" dirty="0" smtClean="0"/>
              <a:t>.</a:t>
            </a:r>
            <a:endParaRPr lang="en-US" dirty="0"/>
          </a:p>
        </p:txBody>
      </p:sp>
    </p:spTree>
    <p:extLst>
      <p:ext uri="{BB962C8B-B14F-4D97-AF65-F5344CB8AC3E}">
        <p14:creationId xmlns:p14="http://schemas.microsoft.com/office/powerpoint/2010/main" val="23715727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13429" y="266932"/>
            <a:ext cx="6724918" cy="5940088"/>
          </a:xfrm>
          <a:prstGeom prst="rect">
            <a:avLst/>
          </a:prstGeom>
          <a:noFill/>
        </p:spPr>
        <p:txBody>
          <a:bodyPr wrap="none" rtlCol="0">
            <a:spAutoFit/>
          </a:bodyPr>
          <a:lstStyle/>
          <a:p>
            <a:r>
              <a:rPr lang="en-US" sz="1000" dirty="0">
                <a:latin typeface="Lucida Console" panose="020B0609040504020204" pitchFamily="49" charset="0"/>
              </a:rPr>
              <a:t>#</a:t>
            </a:r>
            <a:r>
              <a:rPr lang="en-US" sz="1000" dirty="0" err="1">
                <a:latin typeface="Lucida Console" panose="020B0609040504020204" pitchFamily="49" charset="0"/>
              </a:rPr>
              <a:t>ifndef</a:t>
            </a:r>
            <a:r>
              <a:rPr lang="en-US" sz="1000" dirty="0">
                <a:latin typeface="Lucida Console" panose="020B0609040504020204" pitchFamily="49" charset="0"/>
              </a:rPr>
              <a:t> OPENGL_HEADER_IS_INCLUDED</a:t>
            </a:r>
          </a:p>
          <a:p>
            <a:r>
              <a:rPr lang="en-US" sz="1000" dirty="0">
                <a:latin typeface="Lucida Console" panose="020B0609040504020204" pitchFamily="49" charset="0"/>
              </a:rPr>
              <a:t>#define OPENGL_HEADER_IS_INCLUDED</a:t>
            </a:r>
          </a:p>
          <a:p>
            <a:endParaRPr lang="en-US" sz="1000" dirty="0">
              <a:latin typeface="Lucida Console" panose="020B0609040504020204" pitchFamily="49" charset="0"/>
            </a:endParaRPr>
          </a:p>
          <a:p>
            <a:r>
              <a:rPr lang="en-US" sz="1000" dirty="0">
                <a:latin typeface="Lucida Console" panose="020B0609040504020204" pitchFamily="49" charset="0"/>
              </a:rPr>
              <a:t>#</a:t>
            </a:r>
            <a:r>
              <a:rPr lang="en-US" sz="1000" dirty="0" err="1">
                <a:latin typeface="Lucida Console" panose="020B0609040504020204" pitchFamily="49" charset="0"/>
              </a:rPr>
              <a:t>ifdef</a:t>
            </a:r>
            <a:r>
              <a:rPr lang="en-US" sz="1000" dirty="0">
                <a:latin typeface="Lucida Console" panose="020B0609040504020204" pitchFamily="49" charset="0"/>
              </a:rPr>
              <a:t> _WIN32</a:t>
            </a:r>
          </a:p>
          <a:p>
            <a:r>
              <a:rPr lang="en-US" sz="1000" dirty="0" smtClean="0">
                <a:latin typeface="Lucida Console" panose="020B0609040504020204" pitchFamily="49" charset="0"/>
              </a:rPr>
              <a:t>    #</a:t>
            </a:r>
            <a:r>
              <a:rPr lang="en-US" sz="1000" dirty="0" err="1">
                <a:latin typeface="Lucida Console" panose="020B0609040504020204" pitchFamily="49" charset="0"/>
              </a:rPr>
              <a:t>ifndef</a:t>
            </a:r>
            <a:r>
              <a:rPr lang="en-US" sz="1000" dirty="0">
                <a:latin typeface="Lucida Console" panose="020B0609040504020204" pitchFamily="49" charset="0"/>
              </a:rPr>
              <a:t> WIN32_LEAN_AND_MEAN</a:t>
            </a:r>
          </a:p>
          <a:p>
            <a:r>
              <a:rPr lang="en-US" sz="1000" dirty="0" smtClean="0">
                <a:latin typeface="Lucida Console" panose="020B0609040504020204" pitchFamily="49" charset="0"/>
              </a:rPr>
              <a:t>        // </a:t>
            </a:r>
            <a:r>
              <a:rPr lang="en-US" sz="1000" dirty="0">
                <a:latin typeface="Lucida Console" panose="020B0609040504020204" pitchFamily="49" charset="0"/>
              </a:rPr>
              <a:t>Prevent inclusion of </a:t>
            </a:r>
            <a:r>
              <a:rPr lang="en-US" sz="1000" dirty="0" err="1">
                <a:latin typeface="Lucida Console" panose="020B0609040504020204" pitchFamily="49" charset="0"/>
              </a:rPr>
              <a:t>winsock.h</a:t>
            </a:r>
            <a:endParaRPr lang="en-US" sz="1000" dirty="0">
              <a:latin typeface="Lucida Console" panose="020B0609040504020204" pitchFamily="49" charset="0"/>
            </a:endParaRPr>
          </a:p>
          <a:p>
            <a:r>
              <a:rPr lang="en-US" sz="1000" dirty="0" smtClean="0">
                <a:latin typeface="Lucida Console" panose="020B0609040504020204" pitchFamily="49" charset="0"/>
              </a:rPr>
              <a:t>        #</a:t>
            </a:r>
            <a:r>
              <a:rPr lang="en-US" sz="1000" dirty="0">
                <a:latin typeface="Lucida Console" panose="020B0609040504020204" pitchFamily="49" charset="0"/>
              </a:rPr>
              <a:t>define WIN32_LEAN_AND_MEAN</a:t>
            </a:r>
          </a:p>
          <a:p>
            <a:r>
              <a:rPr lang="en-US" sz="1000" dirty="0" smtClean="0">
                <a:latin typeface="Lucida Console" panose="020B0609040504020204" pitchFamily="49" charset="0"/>
              </a:rPr>
              <a:t>        #</a:t>
            </a:r>
            <a:r>
              <a:rPr lang="en-US" sz="1000" dirty="0">
                <a:latin typeface="Lucida Console" panose="020B0609040504020204" pitchFamily="49" charset="0"/>
              </a:rPr>
              <a:t>include &lt;</a:t>
            </a:r>
            <a:r>
              <a:rPr lang="en-US" sz="1000" dirty="0" err="1">
                <a:latin typeface="Lucida Console" panose="020B0609040504020204" pitchFamily="49" charset="0"/>
              </a:rPr>
              <a:t>windows.h</a:t>
            </a:r>
            <a:r>
              <a:rPr lang="en-US" sz="1000" dirty="0">
                <a:latin typeface="Lucida Console" panose="020B0609040504020204" pitchFamily="49" charset="0"/>
              </a:rPr>
              <a:t>&gt;</a:t>
            </a:r>
          </a:p>
          <a:p>
            <a:r>
              <a:rPr lang="en-US" sz="1000" dirty="0" smtClean="0">
                <a:latin typeface="Lucida Console" panose="020B0609040504020204" pitchFamily="49" charset="0"/>
              </a:rPr>
              <a:t>        #</a:t>
            </a:r>
            <a:r>
              <a:rPr lang="en-US" sz="1000" dirty="0" err="1">
                <a:latin typeface="Lucida Console" panose="020B0609040504020204" pitchFamily="49" charset="0"/>
              </a:rPr>
              <a:t>undef</a:t>
            </a:r>
            <a:r>
              <a:rPr lang="en-US" sz="1000" dirty="0">
                <a:latin typeface="Lucida Console" panose="020B0609040504020204" pitchFamily="49" charset="0"/>
              </a:rPr>
              <a:t> WIN32_LEAN_AND_MEAN</a:t>
            </a:r>
          </a:p>
          <a:p>
            <a:r>
              <a:rPr lang="en-US" sz="1000" dirty="0" smtClean="0">
                <a:latin typeface="Lucida Console" panose="020B0609040504020204" pitchFamily="49" charset="0"/>
              </a:rPr>
              <a:t>    #</a:t>
            </a:r>
            <a:r>
              <a:rPr lang="en-US" sz="1000" dirty="0">
                <a:latin typeface="Lucida Console" panose="020B0609040504020204" pitchFamily="49" charset="0"/>
              </a:rPr>
              <a:t>else</a:t>
            </a:r>
          </a:p>
          <a:p>
            <a:r>
              <a:rPr lang="en-US" sz="1000" dirty="0" smtClean="0">
                <a:latin typeface="Lucida Console" panose="020B0609040504020204" pitchFamily="49" charset="0"/>
              </a:rPr>
              <a:t>        // </a:t>
            </a:r>
            <a:r>
              <a:rPr lang="en-US" sz="1000" dirty="0">
                <a:latin typeface="Lucida Console" panose="020B0609040504020204" pitchFamily="49" charset="0"/>
              </a:rPr>
              <a:t>Too late.  Just include it.</a:t>
            </a:r>
          </a:p>
          <a:p>
            <a:r>
              <a:rPr lang="en-US" sz="1000" dirty="0" smtClean="0">
                <a:latin typeface="Lucida Console" panose="020B0609040504020204" pitchFamily="49" charset="0"/>
              </a:rPr>
              <a:t>        #</a:t>
            </a:r>
            <a:r>
              <a:rPr lang="en-US" sz="1000" dirty="0">
                <a:latin typeface="Lucida Console" panose="020B0609040504020204" pitchFamily="49" charset="0"/>
              </a:rPr>
              <a:t>include &lt;</a:t>
            </a:r>
            <a:r>
              <a:rPr lang="en-US" sz="1000" dirty="0" err="1">
                <a:latin typeface="Lucida Console" panose="020B0609040504020204" pitchFamily="49" charset="0"/>
              </a:rPr>
              <a:t>windows.h</a:t>
            </a:r>
            <a:r>
              <a:rPr lang="en-US" sz="1000" dirty="0">
                <a:latin typeface="Lucida Console" panose="020B0609040504020204" pitchFamily="49" charset="0"/>
              </a:rPr>
              <a:t>&gt;</a:t>
            </a:r>
          </a:p>
          <a:p>
            <a:r>
              <a:rPr lang="en-US" sz="1000" dirty="0" smtClean="0">
                <a:latin typeface="Lucida Console" panose="020B0609040504020204" pitchFamily="49" charset="0"/>
              </a:rPr>
              <a:t>    #</a:t>
            </a:r>
            <a:r>
              <a:rPr lang="en-US" sz="1000" dirty="0" err="1">
                <a:latin typeface="Lucida Console" panose="020B0609040504020204" pitchFamily="49" charset="0"/>
              </a:rPr>
              <a:t>endif</a:t>
            </a:r>
            <a:endParaRPr lang="en-US" sz="1000" dirty="0">
              <a:latin typeface="Lucida Console" panose="020B0609040504020204" pitchFamily="49" charset="0"/>
            </a:endParaRPr>
          </a:p>
          <a:p>
            <a:r>
              <a:rPr lang="en-US" sz="1000" dirty="0">
                <a:latin typeface="Lucida Console" panose="020B0609040504020204" pitchFamily="49" charset="0"/>
              </a:rPr>
              <a:t>#</a:t>
            </a:r>
            <a:r>
              <a:rPr lang="en-US" sz="1000" dirty="0" err="1">
                <a:latin typeface="Lucida Console" panose="020B0609040504020204" pitchFamily="49" charset="0"/>
              </a:rPr>
              <a:t>endif</a:t>
            </a:r>
            <a:endParaRPr lang="en-US" sz="1000" dirty="0">
              <a:latin typeface="Lucida Console" panose="020B0609040504020204" pitchFamily="49" charset="0"/>
            </a:endParaRPr>
          </a:p>
          <a:p>
            <a:endParaRPr lang="en-US" sz="1000" dirty="0">
              <a:latin typeface="Lucida Console" panose="020B0609040504020204" pitchFamily="49" charset="0"/>
            </a:endParaRPr>
          </a:p>
          <a:p>
            <a:r>
              <a:rPr lang="en-US" sz="1000" dirty="0">
                <a:latin typeface="Lucida Console" panose="020B0609040504020204" pitchFamily="49" charset="0"/>
              </a:rPr>
              <a:t>#</a:t>
            </a:r>
            <a:r>
              <a:rPr lang="en-US" sz="1000" dirty="0" err="1">
                <a:latin typeface="Lucida Console" panose="020B0609040504020204" pitchFamily="49" charset="0"/>
              </a:rPr>
              <a:t>ifndef</a:t>
            </a:r>
            <a:r>
              <a:rPr lang="en-US" sz="1000" dirty="0">
                <a:latin typeface="Lucida Console" panose="020B0609040504020204" pitchFamily="49" charset="0"/>
              </a:rPr>
              <a:t> GL_GLEXT_PROTOTYPES</a:t>
            </a:r>
          </a:p>
          <a:p>
            <a:r>
              <a:rPr lang="en-US" sz="1000" dirty="0" smtClean="0">
                <a:latin typeface="Lucida Console" panose="020B0609040504020204" pitchFamily="49" charset="0"/>
              </a:rPr>
              <a:t>    #</a:t>
            </a:r>
            <a:r>
              <a:rPr lang="en-US" sz="1000" dirty="0">
                <a:latin typeface="Lucida Console" panose="020B0609040504020204" pitchFamily="49" charset="0"/>
              </a:rPr>
              <a:t>define GL_GLEXT_PROTOTYPES</a:t>
            </a:r>
          </a:p>
          <a:p>
            <a:r>
              <a:rPr lang="en-US" sz="1000" dirty="0">
                <a:latin typeface="Lucida Console" panose="020B0609040504020204" pitchFamily="49" charset="0"/>
              </a:rPr>
              <a:t>#</a:t>
            </a:r>
            <a:r>
              <a:rPr lang="en-US" sz="1000" dirty="0" err="1">
                <a:latin typeface="Lucida Console" panose="020B0609040504020204" pitchFamily="49" charset="0"/>
              </a:rPr>
              <a:t>endif</a:t>
            </a:r>
            <a:endParaRPr lang="en-US" sz="1000" dirty="0">
              <a:latin typeface="Lucida Console" panose="020B0609040504020204" pitchFamily="49" charset="0"/>
            </a:endParaRPr>
          </a:p>
          <a:p>
            <a:endParaRPr lang="en-US" sz="1000" dirty="0">
              <a:latin typeface="Lucida Console" panose="020B0609040504020204" pitchFamily="49" charset="0"/>
            </a:endParaRPr>
          </a:p>
          <a:p>
            <a:r>
              <a:rPr lang="en-US" sz="1000" dirty="0">
                <a:latin typeface="Lucida Console" panose="020B0609040504020204" pitchFamily="49" charset="0"/>
              </a:rPr>
              <a:t>#</a:t>
            </a:r>
            <a:r>
              <a:rPr lang="en-US" sz="1000" dirty="0" err="1">
                <a:latin typeface="Lucida Console" panose="020B0609040504020204" pitchFamily="49" charset="0"/>
              </a:rPr>
              <a:t>ifndef</a:t>
            </a:r>
            <a:r>
              <a:rPr lang="en-US" sz="1000" dirty="0">
                <a:latin typeface="Lucida Console" panose="020B0609040504020204" pitchFamily="49" charset="0"/>
              </a:rPr>
              <a:t> __APPLE__</a:t>
            </a:r>
          </a:p>
          <a:p>
            <a:r>
              <a:rPr lang="en-US" sz="1000" dirty="0" smtClean="0">
                <a:latin typeface="Lucida Console" panose="020B0609040504020204" pitchFamily="49" charset="0"/>
              </a:rPr>
              <a:t>    #</a:t>
            </a:r>
            <a:r>
              <a:rPr lang="en-US" sz="1000" dirty="0">
                <a:latin typeface="Lucida Console" panose="020B0609040504020204" pitchFamily="49" charset="0"/>
              </a:rPr>
              <a:t>include &lt;GL/</a:t>
            </a:r>
            <a:r>
              <a:rPr lang="en-US" sz="1000" dirty="0" err="1">
                <a:latin typeface="Lucida Console" panose="020B0609040504020204" pitchFamily="49" charset="0"/>
              </a:rPr>
              <a:t>gl.h</a:t>
            </a:r>
            <a:r>
              <a:rPr lang="en-US" sz="1000" dirty="0">
                <a:latin typeface="Lucida Console" panose="020B0609040504020204" pitchFamily="49" charset="0"/>
              </a:rPr>
              <a:t>&gt;</a:t>
            </a:r>
          </a:p>
          <a:p>
            <a:r>
              <a:rPr lang="en-US" sz="1000" dirty="0" smtClean="0">
                <a:latin typeface="Lucida Console" panose="020B0609040504020204" pitchFamily="49" charset="0"/>
              </a:rPr>
              <a:t>    #</a:t>
            </a:r>
            <a:r>
              <a:rPr lang="en-US" sz="1000" dirty="0">
                <a:latin typeface="Lucida Console" panose="020B0609040504020204" pitchFamily="49" charset="0"/>
              </a:rPr>
              <a:t>include &lt;GL/</a:t>
            </a:r>
            <a:r>
              <a:rPr lang="en-US" sz="1000" dirty="0" err="1">
                <a:latin typeface="Lucida Console" panose="020B0609040504020204" pitchFamily="49" charset="0"/>
              </a:rPr>
              <a:t>glu.h</a:t>
            </a:r>
            <a:r>
              <a:rPr lang="en-US" sz="1000" dirty="0">
                <a:latin typeface="Lucida Console" panose="020B0609040504020204" pitchFamily="49" charset="0"/>
              </a:rPr>
              <a:t>&gt;</a:t>
            </a:r>
          </a:p>
          <a:p>
            <a:r>
              <a:rPr lang="en-US" sz="1000" dirty="0" smtClean="0">
                <a:latin typeface="Lucida Console" panose="020B0609040504020204" pitchFamily="49" charset="0"/>
              </a:rPr>
              <a:t>    #</a:t>
            </a:r>
            <a:r>
              <a:rPr lang="en-US" sz="1000" dirty="0">
                <a:latin typeface="Lucida Console" panose="020B0609040504020204" pitchFamily="49" charset="0"/>
              </a:rPr>
              <a:t>include &lt;GL/</a:t>
            </a:r>
            <a:r>
              <a:rPr lang="en-US" sz="1000" dirty="0" err="1">
                <a:latin typeface="Lucida Console" panose="020B0609040504020204" pitchFamily="49" charset="0"/>
              </a:rPr>
              <a:t>glext.h</a:t>
            </a:r>
            <a:r>
              <a:rPr lang="en-US" sz="1000" dirty="0">
                <a:latin typeface="Lucida Console" panose="020B0609040504020204" pitchFamily="49" charset="0"/>
              </a:rPr>
              <a:t>&gt;</a:t>
            </a:r>
          </a:p>
          <a:p>
            <a:r>
              <a:rPr lang="en-US" sz="1000" dirty="0">
                <a:latin typeface="Lucida Console" panose="020B0609040504020204" pitchFamily="49" charset="0"/>
              </a:rPr>
              <a:t>#else</a:t>
            </a:r>
          </a:p>
          <a:p>
            <a:r>
              <a:rPr lang="en-US" sz="1000" dirty="0">
                <a:latin typeface="Lucida Console" panose="020B0609040504020204" pitchFamily="49" charset="0"/>
              </a:rPr>
              <a:t>    #include &lt;</a:t>
            </a:r>
            <a:r>
              <a:rPr lang="en-US" sz="1000" dirty="0" err="1">
                <a:latin typeface="Lucida Console" panose="020B0609040504020204" pitchFamily="49" charset="0"/>
              </a:rPr>
              <a:t>TargetConditionals.h</a:t>
            </a:r>
            <a:r>
              <a:rPr lang="en-US" sz="1000" dirty="0">
                <a:latin typeface="Lucida Console" panose="020B0609040504020204" pitchFamily="49" charset="0"/>
              </a:rPr>
              <a:t>&gt;</a:t>
            </a:r>
          </a:p>
          <a:p>
            <a:r>
              <a:rPr lang="en-US" sz="1000" dirty="0">
                <a:latin typeface="Lucida Console" panose="020B0609040504020204" pitchFamily="49" charset="0"/>
              </a:rPr>
              <a:t>    #if TARGET_OS_EMBEDDED!=0 || TARGET_OS_IPHONE!=0 || TARGET_OS_IPHONE_SIMULATOR!=0</a:t>
            </a:r>
          </a:p>
          <a:p>
            <a:r>
              <a:rPr lang="en-US" sz="1000" dirty="0" smtClean="0">
                <a:latin typeface="Lucida Console" panose="020B0609040504020204" pitchFamily="49" charset="0"/>
              </a:rPr>
              <a:t>        #</a:t>
            </a:r>
            <a:r>
              <a:rPr lang="en-US" sz="1000" dirty="0">
                <a:latin typeface="Lucida Console" panose="020B0609040504020204" pitchFamily="49" charset="0"/>
              </a:rPr>
              <a:t>include &lt;</a:t>
            </a:r>
            <a:r>
              <a:rPr lang="en-US" sz="1000" dirty="0" err="1">
                <a:latin typeface="Lucida Console" panose="020B0609040504020204" pitchFamily="49" charset="0"/>
              </a:rPr>
              <a:t>OpenGLES</a:t>
            </a:r>
            <a:r>
              <a:rPr lang="en-US" sz="1000" dirty="0">
                <a:latin typeface="Lucida Console" panose="020B0609040504020204" pitchFamily="49" charset="0"/>
              </a:rPr>
              <a:t>/ES2/</a:t>
            </a:r>
            <a:r>
              <a:rPr lang="en-US" sz="1000" dirty="0" err="1">
                <a:latin typeface="Lucida Console" panose="020B0609040504020204" pitchFamily="49" charset="0"/>
              </a:rPr>
              <a:t>gl.h</a:t>
            </a:r>
            <a:r>
              <a:rPr lang="en-US" sz="1000" dirty="0">
                <a:latin typeface="Lucida Console" panose="020B0609040504020204" pitchFamily="49" charset="0"/>
              </a:rPr>
              <a:t>&gt;</a:t>
            </a:r>
          </a:p>
          <a:p>
            <a:r>
              <a:rPr lang="en-US" sz="1000" dirty="0" smtClean="0">
                <a:latin typeface="Lucida Console" panose="020B0609040504020204" pitchFamily="49" charset="0"/>
              </a:rPr>
              <a:t>        #</a:t>
            </a:r>
            <a:r>
              <a:rPr lang="en-US" sz="1000" dirty="0">
                <a:latin typeface="Lucida Console" panose="020B0609040504020204" pitchFamily="49" charset="0"/>
              </a:rPr>
              <a:t>include &lt;</a:t>
            </a:r>
            <a:r>
              <a:rPr lang="en-US" sz="1000" dirty="0" err="1">
                <a:latin typeface="Lucida Console" panose="020B0609040504020204" pitchFamily="49" charset="0"/>
              </a:rPr>
              <a:t>OpenGLES</a:t>
            </a:r>
            <a:r>
              <a:rPr lang="en-US" sz="1000" dirty="0">
                <a:latin typeface="Lucida Console" panose="020B0609040504020204" pitchFamily="49" charset="0"/>
              </a:rPr>
              <a:t>/ES2/</a:t>
            </a:r>
            <a:r>
              <a:rPr lang="en-US" sz="1000" dirty="0" err="1">
                <a:latin typeface="Lucida Console" panose="020B0609040504020204" pitchFamily="49" charset="0"/>
              </a:rPr>
              <a:t>glext.h</a:t>
            </a:r>
            <a:r>
              <a:rPr lang="en-US" sz="1000" dirty="0">
                <a:latin typeface="Lucida Console" panose="020B0609040504020204" pitchFamily="49" charset="0"/>
              </a:rPr>
              <a:t>&gt;</a:t>
            </a:r>
          </a:p>
          <a:p>
            <a:r>
              <a:rPr lang="en-US" sz="1000" dirty="0" smtClean="0">
                <a:latin typeface="Lucida Console" panose="020B0609040504020204" pitchFamily="49" charset="0"/>
              </a:rPr>
              <a:t>        </a:t>
            </a:r>
            <a:r>
              <a:rPr lang="en-US" sz="1000" dirty="0" err="1" smtClean="0">
                <a:latin typeface="Lucida Console" panose="020B0609040504020204" pitchFamily="49" charset="0"/>
              </a:rPr>
              <a:t>typedef</a:t>
            </a:r>
            <a:r>
              <a:rPr lang="en-US" sz="1000" dirty="0" smtClean="0">
                <a:latin typeface="Lucida Console" panose="020B0609040504020204" pitchFamily="49" charset="0"/>
              </a:rPr>
              <a:t> </a:t>
            </a:r>
            <a:r>
              <a:rPr lang="en-US" sz="1000" dirty="0">
                <a:latin typeface="Lucida Console" panose="020B0609040504020204" pitchFamily="49" charset="0"/>
              </a:rPr>
              <a:t>double </a:t>
            </a:r>
            <a:r>
              <a:rPr lang="en-US" sz="1000" dirty="0" err="1">
                <a:latin typeface="Lucida Console" panose="020B0609040504020204" pitchFamily="49" charset="0"/>
              </a:rPr>
              <a:t>GLdouble</a:t>
            </a:r>
            <a:r>
              <a:rPr lang="en-US" sz="1000" dirty="0">
                <a:latin typeface="Lucida Console" panose="020B0609040504020204" pitchFamily="49" charset="0"/>
              </a:rPr>
              <a:t>;</a:t>
            </a:r>
          </a:p>
          <a:p>
            <a:r>
              <a:rPr lang="en-US" sz="1000" dirty="0" smtClean="0">
                <a:latin typeface="Lucida Console" panose="020B0609040504020204" pitchFamily="49" charset="0"/>
              </a:rPr>
              <a:t>    #</a:t>
            </a:r>
            <a:r>
              <a:rPr lang="en-US" sz="1000" dirty="0">
                <a:latin typeface="Lucida Console" panose="020B0609040504020204" pitchFamily="49" charset="0"/>
              </a:rPr>
              <a:t>else</a:t>
            </a:r>
          </a:p>
          <a:p>
            <a:r>
              <a:rPr lang="en-US" sz="1000" dirty="0" smtClean="0">
                <a:latin typeface="Lucida Console" panose="020B0609040504020204" pitchFamily="49" charset="0"/>
              </a:rPr>
              <a:t>        #</a:t>
            </a:r>
            <a:r>
              <a:rPr lang="en-US" sz="1000" dirty="0">
                <a:latin typeface="Lucida Console" panose="020B0609040504020204" pitchFamily="49" charset="0"/>
              </a:rPr>
              <a:t>include &lt;OpenGL/</a:t>
            </a:r>
            <a:r>
              <a:rPr lang="en-US" sz="1000" dirty="0" err="1">
                <a:latin typeface="Lucida Console" panose="020B0609040504020204" pitchFamily="49" charset="0"/>
              </a:rPr>
              <a:t>gl.h</a:t>
            </a:r>
            <a:r>
              <a:rPr lang="en-US" sz="1000" dirty="0">
                <a:latin typeface="Lucida Console" panose="020B0609040504020204" pitchFamily="49" charset="0"/>
              </a:rPr>
              <a:t>&gt;</a:t>
            </a:r>
          </a:p>
          <a:p>
            <a:r>
              <a:rPr lang="en-US" sz="1000" dirty="0" smtClean="0">
                <a:latin typeface="Lucida Console" panose="020B0609040504020204" pitchFamily="49" charset="0"/>
              </a:rPr>
              <a:t>        #</a:t>
            </a:r>
            <a:r>
              <a:rPr lang="en-US" sz="1000" dirty="0">
                <a:latin typeface="Lucida Console" panose="020B0609040504020204" pitchFamily="49" charset="0"/>
              </a:rPr>
              <a:t>include &lt;OpenGL/</a:t>
            </a:r>
            <a:r>
              <a:rPr lang="en-US" sz="1000" dirty="0" err="1">
                <a:latin typeface="Lucida Console" panose="020B0609040504020204" pitchFamily="49" charset="0"/>
              </a:rPr>
              <a:t>glu.h</a:t>
            </a:r>
            <a:r>
              <a:rPr lang="en-US" sz="1000" dirty="0">
                <a:latin typeface="Lucida Console" panose="020B0609040504020204" pitchFamily="49" charset="0"/>
              </a:rPr>
              <a:t>&gt;</a:t>
            </a:r>
          </a:p>
          <a:p>
            <a:r>
              <a:rPr lang="en-US" sz="1000" dirty="0" smtClean="0">
                <a:latin typeface="Lucida Console" panose="020B0609040504020204" pitchFamily="49" charset="0"/>
              </a:rPr>
              <a:t>        #</a:t>
            </a:r>
            <a:r>
              <a:rPr lang="en-US" sz="1000" dirty="0">
                <a:latin typeface="Lucida Console" panose="020B0609040504020204" pitchFamily="49" charset="0"/>
              </a:rPr>
              <a:t>include &lt;OpenGL/</a:t>
            </a:r>
            <a:r>
              <a:rPr lang="en-US" sz="1000" dirty="0" err="1">
                <a:latin typeface="Lucida Console" panose="020B0609040504020204" pitchFamily="49" charset="0"/>
              </a:rPr>
              <a:t>glext.h</a:t>
            </a:r>
            <a:r>
              <a:rPr lang="en-US" sz="1000" dirty="0">
                <a:latin typeface="Lucida Console" panose="020B0609040504020204" pitchFamily="49" charset="0"/>
              </a:rPr>
              <a:t>&gt;</a:t>
            </a:r>
          </a:p>
          <a:p>
            <a:r>
              <a:rPr lang="en-US" sz="1000" dirty="0" smtClean="0">
                <a:latin typeface="Lucida Console" panose="020B0609040504020204" pitchFamily="49" charset="0"/>
              </a:rPr>
              <a:t>    #</a:t>
            </a:r>
            <a:r>
              <a:rPr lang="en-US" sz="1000" dirty="0" err="1">
                <a:latin typeface="Lucida Console" panose="020B0609040504020204" pitchFamily="49" charset="0"/>
              </a:rPr>
              <a:t>endif</a:t>
            </a:r>
            <a:endParaRPr lang="en-US" sz="1000" dirty="0">
              <a:latin typeface="Lucida Console" panose="020B0609040504020204" pitchFamily="49" charset="0"/>
            </a:endParaRPr>
          </a:p>
          <a:p>
            <a:r>
              <a:rPr lang="en-US" sz="1000" dirty="0">
                <a:latin typeface="Lucida Console" panose="020B0609040504020204" pitchFamily="49" charset="0"/>
              </a:rPr>
              <a:t>#</a:t>
            </a:r>
            <a:r>
              <a:rPr lang="en-US" sz="1000" dirty="0" err="1">
                <a:latin typeface="Lucida Console" panose="020B0609040504020204" pitchFamily="49" charset="0"/>
              </a:rPr>
              <a:t>endif</a:t>
            </a:r>
            <a:endParaRPr lang="en-US" sz="1000" dirty="0">
              <a:latin typeface="Lucida Console" panose="020B0609040504020204" pitchFamily="49" charset="0"/>
            </a:endParaRPr>
          </a:p>
          <a:p>
            <a:endParaRPr lang="en-US" sz="1000" dirty="0">
              <a:latin typeface="Lucida Console" panose="020B0609040504020204" pitchFamily="49" charset="0"/>
            </a:endParaRPr>
          </a:p>
          <a:p>
            <a:r>
              <a:rPr lang="en-US" sz="1000" dirty="0">
                <a:latin typeface="Lucida Console" panose="020B0609040504020204" pitchFamily="49" charset="0"/>
              </a:rPr>
              <a:t>#</a:t>
            </a:r>
            <a:r>
              <a:rPr lang="en-US" sz="1000" dirty="0" err="1" smtClean="0">
                <a:latin typeface="Lucida Console" panose="020B0609040504020204" pitchFamily="49" charset="0"/>
              </a:rPr>
              <a:t>endif</a:t>
            </a:r>
            <a:endParaRPr lang="en-US" sz="1000" dirty="0">
              <a:latin typeface="Lucida Console" panose="020B0609040504020204" pitchFamily="49" charset="0"/>
            </a:endParaRPr>
          </a:p>
        </p:txBody>
      </p:sp>
      <p:sp>
        <p:nvSpPr>
          <p:cNvPr id="2" name="Right Brace 1"/>
          <p:cNvSpPr/>
          <p:nvPr/>
        </p:nvSpPr>
        <p:spPr>
          <a:xfrm>
            <a:off x="3657600" y="813816"/>
            <a:ext cx="109728" cy="1517904"/>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TextBox 2"/>
          <p:cNvSpPr txBox="1"/>
          <p:nvPr/>
        </p:nvSpPr>
        <p:spPr>
          <a:xfrm>
            <a:off x="3858769" y="1261872"/>
            <a:ext cx="4261104" cy="646331"/>
          </a:xfrm>
          <a:prstGeom prst="rect">
            <a:avLst/>
          </a:prstGeom>
          <a:noFill/>
        </p:spPr>
        <p:txBody>
          <a:bodyPr wrap="square" rtlCol="0">
            <a:spAutoFit/>
          </a:bodyPr>
          <a:lstStyle/>
          <a:p>
            <a:r>
              <a:rPr lang="en-US" dirty="0" smtClean="0">
                <a:solidFill>
                  <a:srgbClr val="FF0000"/>
                </a:solidFill>
              </a:rPr>
              <a:t>Visual C++ wants </a:t>
            </a:r>
            <a:r>
              <a:rPr lang="en-US" dirty="0" err="1" smtClean="0">
                <a:solidFill>
                  <a:srgbClr val="FF0000"/>
                </a:solidFill>
              </a:rPr>
              <a:t>windows.h</a:t>
            </a:r>
            <a:r>
              <a:rPr lang="en-US" dirty="0" smtClean="0">
                <a:solidFill>
                  <a:srgbClr val="FF0000"/>
                </a:solidFill>
              </a:rPr>
              <a:t> be included before OpenGL headers.</a:t>
            </a:r>
            <a:endParaRPr lang="en-US" dirty="0">
              <a:solidFill>
                <a:srgbClr val="FF0000"/>
              </a:solidFill>
            </a:endParaRPr>
          </a:p>
        </p:txBody>
      </p:sp>
      <p:sp>
        <p:nvSpPr>
          <p:cNvPr id="5" name="Right Brace 4"/>
          <p:cNvSpPr/>
          <p:nvPr/>
        </p:nvSpPr>
        <p:spPr>
          <a:xfrm>
            <a:off x="2779776" y="2578608"/>
            <a:ext cx="64008" cy="521208"/>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TextBox 5"/>
          <p:cNvSpPr txBox="1"/>
          <p:nvPr/>
        </p:nvSpPr>
        <p:spPr>
          <a:xfrm>
            <a:off x="2968753" y="2305734"/>
            <a:ext cx="4261104" cy="923330"/>
          </a:xfrm>
          <a:prstGeom prst="rect">
            <a:avLst/>
          </a:prstGeom>
          <a:noFill/>
        </p:spPr>
        <p:txBody>
          <a:bodyPr wrap="square" rtlCol="0">
            <a:spAutoFit/>
          </a:bodyPr>
          <a:lstStyle/>
          <a:p>
            <a:r>
              <a:rPr lang="en-US" dirty="0" smtClean="0">
                <a:solidFill>
                  <a:srgbClr val="FF0000"/>
                </a:solidFill>
              </a:rPr>
              <a:t>This macro is needed for Visual C++, or OpenGL 2.x function prototypes are ignored.</a:t>
            </a:r>
            <a:endParaRPr lang="en-US" dirty="0">
              <a:solidFill>
                <a:srgbClr val="FF0000"/>
              </a:solidFill>
            </a:endParaRPr>
          </a:p>
        </p:txBody>
      </p:sp>
      <p:sp>
        <p:nvSpPr>
          <p:cNvPr id="7" name="Right Brace 6"/>
          <p:cNvSpPr/>
          <p:nvPr/>
        </p:nvSpPr>
        <p:spPr>
          <a:xfrm>
            <a:off x="2304288" y="3236976"/>
            <a:ext cx="82296" cy="713232"/>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p:cNvSpPr txBox="1"/>
          <p:nvPr/>
        </p:nvSpPr>
        <p:spPr>
          <a:xfrm>
            <a:off x="2386584" y="3229064"/>
            <a:ext cx="4261104" cy="646331"/>
          </a:xfrm>
          <a:prstGeom prst="rect">
            <a:avLst/>
          </a:prstGeom>
          <a:noFill/>
        </p:spPr>
        <p:txBody>
          <a:bodyPr wrap="square" rtlCol="0">
            <a:spAutoFit/>
          </a:bodyPr>
          <a:lstStyle/>
          <a:p>
            <a:r>
              <a:rPr lang="en-US" dirty="0" smtClean="0">
                <a:solidFill>
                  <a:srgbClr val="FF0000"/>
                </a:solidFill>
              </a:rPr>
              <a:t>This is the standard location.  Everyone should put these three files in here!</a:t>
            </a:r>
            <a:endParaRPr lang="en-US" dirty="0">
              <a:solidFill>
                <a:srgbClr val="FF0000"/>
              </a:solidFill>
            </a:endParaRPr>
          </a:p>
        </p:txBody>
      </p:sp>
      <p:sp>
        <p:nvSpPr>
          <p:cNvPr id="9" name="Right Brace 8"/>
          <p:cNvSpPr/>
          <p:nvPr/>
        </p:nvSpPr>
        <p:spPr>
          <a:xfrm>
            <a:off x="6839712" y="4034304"/>
            <a:ext cx="143771" cy="843943"/>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6992628" y="4248484"/>
            <a:ext cx="1639823" cy="369332"/>
          </a:xfrm>
          <a:prstGeom prst="rect">
            <a:avLst/>
          </a:prstGeom>
          <a:noFill/>
        </p:spPr>
        <p:txBody>
          <a:bodyPr wrap="square" rtlCol="0">
            <a:spAutoFit/>
          </a:bodyPr>
          <a:lstStyle/>
          <a:p>
            <a:r>
              <a:rPr lang="en-US" dirty="0" smtClean="0">
                <a:solidFill>
                  <a:srgbClr val="FF0000"/>
                </a:solidFill>
              </a:rPr>
              <a:t>OpenGL ES</a:t>
            </a:r>
            <a:endParaRPr lang="en-US" dirty="0">
              <a:solidFill>
                <a:srgbClr val="FF0000"/>
              </a:solidFill>
            </a:endParaRPr>
          </a:p>
        </p:txBody>
      </p:sp>
      <p:sp>
        <p:nvSpPr>
          <p:cNvPr id="11" name="Right Brace 10"/>
          <p:cNvSpPr/>
          <p:nvPr/>
        </p:nvSpPr>
        <p:spPr>
          <a:xfrm>
            <a:off x="2843784" y="4720982"/>
            <a:ext cx="124969" cy="856858"/>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p:cNvSpPr txBox="1"/>
          <p:nvPr/>
        </p:nvSpPr>
        <p:spPr>
          <a:xfrm>
            <a:off x="2987040" y="4789640"/>
            <a:ext cx="4261104" cy="646331"/>
          </a:xfrm>
          <a:prstGeom prst="rect">
            <a:avLst/>
          </a:prstGeom>
          <a:noFill/>
        </p:spPr>
        <p:txBody>
          <a:bodyPr wrap="square" rtlCol="0">
            <a:spAutoFit/>
          </a:bodyPr>
          <a:lstStyle/>
          <a:p>
            <a:r>
              <a:rPr lang="en-US" dirty="0" smtClean="0">
                <a:solidFill>
                  <a:srgbClr val="FF0000"/>
                </a:solidFill>
              </a:rPr>
              <a:t>Apple wanted to put these headers under OpenGL sub-directory, not GL.</a:t>
            </a:r>
            <a:endParaRPr lang="en-US" dirty="0">
              <a:solidFill>
                <a:srgbClr val="FF0000"/>
              </a:solidFill>
            </a:endParaRPr>
          </a:p>
        </p:txBody>
      </p:sp>
      <p:sp>
        <p:nvSpPr>
          <p:cNvPr id="13" name="TextBox 12"/>
          <p:cNvSpPr txBox="1"/>
          <p:nvPr/>
        </p:nvSpPr>
        <p:spPr>
          <a:xfrm>
            <a:off x="630936" y="6136332"/>
            <a:ext cx="7464544" cy="369332"/>
          </a:xfrm>
          <a:prstGeom prst="rect">
            <a:avLst/>
          </a:prstGeom>
          <a:noFill/>
        </p:spPr>
        <p:txBody>
          <a:bodyPr wrap="none" rtlCol="0">
            <a:spAutoFit/>
          </a:bodyPr>
          <a:lstStyle/>
          <a:p>
            <a:r>
              <a:rPr lang="en-US" dirty="0" err="1" smtClean="0">
                <a:solidFill>
                  <a:srgbClr val="FF0000"/>
                </a:solidFill>
              </a:rPr>
              <a:t>Aaaaagh</a:t>
            </a:r>
            <a:r>
              <a:rPr lang="en-US" dirty="0" smtClean="0">
                <a:solidFill>
                  <a:srgbClr val="FF0000"/>
                </a:solidFill>
              </a:rPr>
              <a:t>!  Why everyone makes cross-platform development difficult!!!!!</a:t>
            </a:r>
            <a:endParaRPr lang="en-US" dirty="0">
              <a:solidFill>
                <a:srgbClr val="FF0000"/>
              </a:solidFill>
            </a:endParaRPr>
          </a:p>
        </p:txBody>
      </p:sp>
    </p:spTree>
    <p:extLst>
      <p:ext uri="{BB962C8B-B14F-4D97-AF65-F5344CB8AC3E}">
        <p14:creationId xmlns:p14="http://schemas.microsoft.com/office/powerpoint/2010/main" val="35193001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smtClean="0"/>
              <a:t>If you are sick and tired of cutting &amp; pasting these lines just to enable OpenGL, it is written in </a:t>
            </a:r>
            <a:r>
              <a:rPr lang="en-US" dirty="0" err="1" smtClean="0"/>
              <a:t>ysglheader.h</a:t>
            </a:r>
            <a:r>
              <a:rPr lang="en-US" dirty="0" smtClean="0"/>
              <a:t> for you in public repository.</a:t>
            </a:r>
          </a:p>
          <a:p>
            <a:r>
              <a:rPr lang="en-US" dirty="0"/>
              <a:t>If you have public repository added from your top-level CMakeLists.txt</a:t>
            </a:r>
          </a:p>
          <a:p>
            <a:pPr lvl="1"/>
            <a:r>
              <a:rPr lang="en-US" dirty="0" smtClean="0"/>
              <a:t>Add in C++ code:</a:t>
            </a:r>
          </a:p>
          <a:p>
            <a:pPr marL="914400" lvl="2" indent="0">
              <a:buNone/>
            </a:pPr>
            <a:r>
              <a:rPr lang="en-US" dirty="0" smtClean="0"/>
              <a:t>#include &lt;</a:t>
            </a:r>
            <a:r>
              <a:rPr lang="en-US" dirty="0" err="1" smtClean="0"/>
              <a:t>ysgl.h</a:t>
            </a:r>
            <a:r>
              <a:rPr lang="en-US" dirty="0" smtClean="0"/>
              <a:t>&gt;   // This also includes </a:t>
            </a:r>
            <a:r>
              <a:rPr lang="en-US" dirty="0" err="1" smtClean="0"/>
              <a:t>ysglheader.h</a:t>
            </a:r>
            <a:endParaRPr lang="en-US" dirty="0" smtClean="0"/>
          </a:p>
          <a:p>
            <a:pPr lvl="1"/>
            <a:r>
              <a:rPr lang="en-US" dirty="0" smtClean="0"/>
              <a:t>Add in CMakeLists.txt</a:t>
            </a:r>
          </a:p>
          <a:p>
            <a:pPr marL="457200" lvl="1" indent="0">
              <a:buNone/>
            </a:pPr>
            <a:r>
              <a:rPr lang="en-US" dirty="0" smtClean="0"/>
              <a:t>	</a:t>
            </a:r>
            <a:r>
              <a:rPr lang="en-US" dirty="0" err="1" smtClean="0"/>
              <a:t>target_link_libraries</a:t>
            </a:r>
            <a:r>
              <a:rPr lang="en-US" dirty="0" smtClean="0"/>
              <a:t>(</a:t>
            </a:r>
            <a:r>
              <a:rPr lang="en-US" i="1" dirty="0" err="1" smtClean="0"/>
              <a:t>your_target_name</a:t>
            </a:r>
            <a:r>
              <a:rPr lang="en-US" dirty="0" smtClean="0"/>
              <a:t> </a:t>
            </a:r>
            <a:r>
              <a:rPr lang="en-US" dirty="0" err="1" smtClean="0"/>
              <a:t>ysgl</a:t>
            </a:r>
            <a:r>
              <a:rPr lang="en-US" dirty="0" smtClean="0"/>
              <a:t>)</a:t>
            </a:r>
          </a:p>
        </p:txBody>
      </p:sp>
    </p:spTree>
    <p:extLst>
      <p:ext uri="{BB962C8B-B14F-4D97-AF65-F5344CB8AC3E}">
        <p14:creationId xmlns:p14="http://schemas.microsoft.com/office/powerpoint/2010/main" val="42451365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Compiling the </a:t>
            </a:r>
            <a:r>
              <a:rPr lang="en-US" dirty="0" err="1" smtClean="0"/>
              <a:t>shaders</a:t>
            </a:r>
            <a:r>
              <a:rPr lang="en-US" dirty="0" smtClean="0"/>
              <a:t>.</a:t>
            </a:r>
            <a:endParaRPr lang="en-US" dirty="0"/>
          </a:p>
        </p:txBody>
      </p:sp>
      <p:sp>
        <p:nvSpPr>
          <p:cNvPr id="3" name="Content Placeholder 2"/>
          <p:cNvSpPr>
            <a:spLocks noGrp="1"/>
          </p:cNvSpPr>
          <p:nvPr>
            <p:ph idx="1"/>
          </p:nvPr>
        </p:nvSpPr>
        <p:spPr/>
        <p:txBody>
          <a:bodyPr/>
          <a:lstStyle/>
          <a:p>
            <a:r>
              <a:rPr lang="en-US" dirty="0" smtClean="0"/>
              <a:t>Once you are able to include OpenGL headers and to read </a:t>
            </a:r>
            <a:r>
              <a:rPr lang="en-US" dirty="0" err="1" smtClean="0"/>
              <a:t>shader</a:t>
            </a:r>
            <a:r>
              <a:rPr lang="en-US" dirty="0" smtClean="0"/>
              <a:t> programs, next step is to compile </a:t>
            </a:r>
            <a:r>
              <a:rPr lang="en-US" dirty="0" err="1" smtClean="0"/>
              <a:t>shader</a:t>
            </a:r>
            <a:r>
              <a:rPr lang="en-US" dirty="0" smtClean="0"/>
              <a:t> programs.</a:t>
            </a:r>
          </a:p>
          <a:p>
            <a:endParaRPr lang="en-US" dirty="0"/>
          </a:p>
          <a:p>
            <a:r>
              <a:rPr lang="en-US" dirty="0" smtClean="0"/>
              <a:t>You need three identifiers:</a:t>
            </a:r>
          </a:p>
          <a:p>
            <a:pPr lvl="1"/>
            <a:r>
              <a:rPr lang="en-US" dirty="0" smtClean="0"/>
              <a:t>Program (Vertex </a:t>
            </a:r>
            <a:r>
              <a:rPr lang="en-US" dirty="0" err="1" smtClean="0"/>
              <a:t>shader</a:t>
            </a:r>
            <a:r>
              <a:rPr lang="en-US" dirty="0" smtClean="0"/>
              <a:t> + Fragment </a:t>
            </a:r>
            <a:r>
              <a:rPr lang="en-US" dirty="0" err="1" smtClean="0"/>
              <a:t>shader</a:t>
            </a:r>
            <a:r>
              <a:rPr lang="en-US" dirty="0" smtClean="0"/>
              <a:t>)</a:t>
            </a:r>
          </a:p>
          <a:p>
            <a:pPr lvl="1"/>
            <a:r>
              <a:rPr lang="en-US" dirty="0" smtClean="0"/>
              <a:t>Vertex </a:t>
            </a:r>
            <a:r>
              <a:rPr lang="en-US" dirty="0" err="1" smtClean="0"/>
              <a:t>shader</a:t>
            </a:r>
            <a:endParaRPr lang="en-US" dirty="0" smtClean="0"/>
          </a:p>
          <a:p>
            <a:pPr lvl="1"/>
            <a:r>
              <a:rPr lang="en-US" dirty="0" smtClean="0"/>
              <a:t>Fragment </a:t>
            </a:r>
            <a:r>
              <a:rPr lang="en-US" dirty="0" err="1" smtClean="0"/>
              <a:t>shader</a:t>
            </a:r>
            <a:endParaRPr lang="en-US" dirty="0" smtClean="0"/>
          </a:p>
          <a:p>
            <a:r>
              <a:rPr lang="en-US" dirty="0" smtClean="0"/>
              <a:t>Also you need to cache identifiers for:</a:t>
            </a:r>
          </a:p>
          <a:p>
            <a:pPr lvl="1"/>
            <a:r>
              <a:rPr lang="en-US" dirty="0" smtClean="0"/>
              <a:t>Vertex Attributes (in this case, the attribute labeled as “vertex”)</a:t>
            </a:r>
          </a:p>
          <a:p>
            <a:pPr lvl="1"/>
            <a:r>
              <a:rPr lang="en-US" dirty="0" smtClean="0"/>
              <a:t>Uniforms (in this example, not used yet.)</a:t>
            </a:r>
            <a:endParaRPr lang="en-US" dirty="0"/>
          </a:p>
        </p:txBody>
      </p:sp>
    </p:spTree>
    <p:extLst>
      <p:ext uri="{BB962C8B-B14F-4D97-AF65-F5344CB8AC3E}">
        <p14:creationId xmlns:p14="http://schemas.microsoft.com/office/powerpoint/2010/main" val="354069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PassThroughRenderer</a:t>
            </a:r>
            <a:r>
              <a:rPr lang="en-US" dirty="0" smtClean="0"/>
              <a:t> class.</a:t>
            </a:r>
            <a:endParaRPr lang="en-US" dirty="0"/>
          </a:p>
        </p:txBody>
      </p:sp>
      <p:sp>
        <p:nvSpPr>
          <p:cNvPr id="3" name="Content Placeholder 2"/>
          <p:cNvSpPr>
            <a:spLocks noGrp="1"/>
          </p:cNvSpPr>
          <p:nvPr>
            <p:ph idx="1"/>
          </p:nvPr>
        </p:nvSpPr>
        <p:spPr/>
        <p:txBody>
          <a:bodyPr/>
          <a:lstStyle/>
          <a:p>
            <a:pPr marL="0" indent="0">
              <a:buNone/>
            </a:pPr>
            <a:r>
              <a:rPr lang="en-US" dirty="0" smtClean="0"/>
              <a:t>Add in </a:t>
            </a:r>
            <a:r>
              <a:rPr lang="en-US" dirty="0" err="1" smtClean="0"/>
              <a:t>renderer.h</a:t>
            </a:r>
            <a:r>
              <a:rPr lang="en-US" dirty="0" smtClean="0"/>
              <a:t>:</a:t>
            </a:r>
            <a:endParaRPr lang="en-US" dirty="0"/>
          </a:p>
        </p:txBody>
      </p:sp>
      <p:sp>
        <p:nvSpPr>
          <p:cNvPr id="4" name="TextBox 3"/>
          <p:cNvSpPr txBox="1"/>
          <p:nvPr/>
        </p:nvSpPr>
        <p:spPr>
          <a:xfrm>
            <a:off x="104270" y="1644218"/>
            <a:ext cx="8935459" cy="3477875"/>
          </a:xfrm>
          <a:prstGeom prst="rect">
            <a:avLst/>
          </a:prstGeom>
          <a:noFill/>
        </p:spPr>
        <p:txBody>
          <a:bodyPr wrap="none" rtlCol="0">
            <a:spAutoFit/>
          </a:bodyPr>
          <a:lstStyle/>
          <a:p>
            <a:r>
              <a:rPr lang="en-US" sz="1100" dirty="0">
                <a:latin typeface="Lucida Console" panose="020B0609040504020204" pitchFamily="49" charset="0"/>
              </a:rPr>
              <a:t>class </a:t>
            </a:r>
            <a:r>
              <a:rPr lang="en-US" sz="1100" dirty="0" err="1">
                <a:latin typeface="Lucida Console" panose="020B0609040504020204" pitchFamily="49" charset="0"/>
              </a:rPr>
              <a:t>RendererBase</a:t>
            </a:r>
            <a:endParaRPr lang="en-US" sz="1100" dirty="0">
              <a:latin typeface="Lucida Console" panose="020B0609040504020204" pitchFamily="49" charset="0"/>
            </a:endParaRPr>
          </a:p>
          <a:p>
            <a:r>
              <a:rPr lang="en-US" sz="1100" dirty="0">
                <a:latin typeface="Lucida Console" panose="020B0609040504020204" pitchFamily="49" charset="0"/>
              </a:rPr>
              <a:t>{</a:t>
            </a:r>
          </a:p>
          <a:p>
            <a:r>
              <a:rPr lang="en-US" sz="1100" dirty="0">
                <a:latin typeface="Lucida Console" panose="020B0609040504020204" pitchFamily="49" charset="0"/>
              </a:rPr>
              <a:t>public:</a:t>
            </a:r>
          </a:p>
          <a:p>
            <a:r>
              <a:rPr lang="en-US" sz="1100" dirty="0" smtClean="0">
                <a:latin typeface="Lucida Console" panose="020B0609040504020204" pitchFamily="49" charset="0"/>
              </a:rPr>
              <a:t>    </a:t>
            </a:r>
            <a:r>
              <a:rPr lang="en-US" sz="1100" dirty="0" err="1" smtClean="0">
                <a:latin typeface="Lucida Console" panose="020B0609040504020204" pitchFamily="49" charset="0"/>
              </a:rPr>
              <a:t>GLuint</a:t>
            </a:r>
            <a:r>
              <a:rPr lang="en-US" sz="1100" dirty="0" smtClean="0">
                <a:latin typeface="Lucida Console" panose="020B0609040504020204" pitchFamily="49" charset="0"/>
              </a:rPr>
              <a:t> </a:t>
            </a:r>
            <a:r>
              <a:rPr lang="en-US" sz="1100" dirty="0" err="1">
                <a:latin typeface="Lucida Console" panose="020B0609040504020204" pitchFamily="49" charset="0"/>
              </a:rPr>
              <a:t>programIdent</a:t>
            </a:r>
            <a:r>
              <a:rPr lang="en-US" sz="1100" dirty="0">
                <a:latin typeface="Lucida Console" panose="020B0609040504020204" pitchFamily="49" charset="0"/>
              </a:rPr>
              <a:t>;</a:t>
            </a:r>
          </a:p>
          <a:p>
            <a:r>
              <a:rPr lang="en-US" sz="1100" dirty="0" smtClean="0">
                <a:latin typeface="Lucida Console" panose="020B0609040504020204" pitchFamily="49" charset="0"/>
              </a:rPr>
              <a:t>    </a:t>
            </a:r>
            <a:r>
              <a:rPr lang="en-US" sz="1100" dirty="0" err="1" smtClean="0">
                <a:latin typeface="Lucida Console" panose="020B0609040504020204" pitchFamily="49" charset="0"/>
              </a:rPr>
              <a:t>GLuint</a:t>
            </a:r>
            <a:r>
              <a:rPr lang="en-US" sz="1100" dirty="0" smtClean="0">
                <a:latin typeface="Lucida Console" panose="020B0609040504020204" pitchFamily="49" charset="0"/>
              </a:rPr>
              <a:t> </a:t>
            </a:r>
            <a:r>
              <a:rPr lang="en-US" sz="1100" dirty="0" err="1">
                <a:latin typeface="Lucida Console" panose="020B0609040504020204" pitchFamily="49" charset="0"/>
              </a:rPr>
              <a:t>vertexShaderIdent,fragmentShaderIdent</a:t>
            </a:r>
            <a:r>
              <a:rPr lang="en-US" sz="1100" dirty="0">
                <a:latin typeface="Lucida Console" panose="020B0609040504020204" pitchFamily="49" charset="0"/>
              </a:rPr>
              <a:t>;</a:t>
            </a:r>
          </a:p>
          <a:p>
            <a:endParaRPr lang="en-US" sz="1100" dirty="0">
              <a:latin typeface="Lucida Console" panose="020B0609040504020204" pitchFamily="49" charset="0"/>
            </a:endParaRPr>
          </a:p>
          <a:p>
            <a:r>
              <a:rPr lang="en-US" sz="1100" dirty="0" smtClean="0">
                <a:latin typeface="Lucida Console" panose="020B0609040504020204" pitchFamily="49" charset="0"/>
              </a:rPr>
              <a:t>    bool </a:t>
            </a:r>
            <a:r>
              <a:rPr lang="en-US" sz="1100" dirty="0">
                <a:latin typeface="Lucida Console" panose="020B0609040504020204" pitchFamily="49" charset="0"/>
              </a:rPr>
              <a:t>Compile(</a:t>
            </a:r>
            <a:r>
              <a:rPr lang="en-US" sz="1100" dirty="0" err="1">
                <a:latin typeface="Lucida Console" panose="020B0609040504020204" pitchFamily="49" charset="0"/>
              </a:rPr>
              <a:t>const</a:t>
            </a:r>
            <a:r>
              <a:rPr lang="en-US" sz="1100" dirty="0">
                <a:latin typeface="Lucida Console" panose="020B0609040504020204" pitchFamily="49" charset="0"/>
              </a:rPr>
              <a:t> </a:t>
            </a:r>
            <a:r>
              <a:rPr lang="en-US" sz="1100" dirty="0" err="1">
                <a:latin typeface="Lucida Console" panose="020B0609040504020204" pitchFamily="49" charset="0"/>
              </a:rPr>
              <a:t>std</a:t>
            </a:r>
            <a:r>
              <a:rPr lang="en-US" sz="1100" dirty="0">
                <a:latin typeface="Lucida Console" panose="020B0609040504020204" pitchFamily="49" charset="0"/>
              </a:rPr>
              <a:t>::vector &lt;char&gt; &amp;</a:t>
            </a:r>
            <a:r>
              <a:rPr lang="en-US" sz="1100" dirty="0" err="1">
                <a:latin typeface="Lucida Console" panose="020B0609040504020204" pitchFamily="49" charset="0"/>
              </a:rPr>
              <a:t>vtxShaderSource,const</a:t>
            </a:r>
            <a:r>
              <a:rPr lang="en-US" sz="1100" dirty="0">
                <a:latin typeface="Lucida Console" panose="020B0609040504020204" pitchFamily="49" charset="0"/>
              </a:rPr>
              <a:t> </a:t>
            </a:r>
            <a:r>
              <a:rPr lang="en-US" sz="1100" dirty="0" err="1">
                <a:latin typeface="Lucida Console" panose="020B0609040504020204" pitchFamily="49" charset="0"/>
              </a:rPr>
              <a:t>std</a:t>
            </a:r>
            <a:r>
              <a:rPr lang="en-US" sz="1100" dirty="0">
                <a:latin typeface="Lucida Console" panose="020B0609040504020204" pitchFamily="49" charset="0"/>
              </a:rPr>
              <a:t>::vector &lt;char&gt; &amp;</a:t>
            </a:r>
            <a:r>
              <a:rPr lang="en-US" sz="1100" dirty="0" err="1">
                <a:latin typeface="Lucida Console" panose="020B0609040504020204" pitchFamily="49" charset="0"/>
              </a:rPr>
              <a:t>fragShaderSource</a:t>
            </a:r>
            <a:r>
              <a:rPr lang="en-US" sz="1100" dirty="0">
                <a:latin typeface="Lucida Console" panose="020B0609040504020204" pitchFamily="49" charset="0"/>
              </a:rPr>
              <a:t>);</a:t>
            </a:r>
          </a:p>
          <a:p>
            <a:r>
              <a:rPr lang="en-US" sz="1100" dirty="0">
                <a:latin typeface="Lucida Console" panose="020B0609040504020204" pitchFamily="49" charset="0"/>
              </a:rPr>
              <a:t>protected:</a:t>
            </a:r>
          </a:p>
          <a:p>
            <a:r>
              <a:rPr lang="en-US" sz="1100" dirty="0" smtClean="0">
                <a:latin typeface="Lucida Console" panose="020B0609040504020204" pitchFamily="49" charset="0"/>
              </a:rPr>
              <a:t>    bool </a:t>
            </a:r>
            <a:r>
              <a:rPr lang="en-US" sz="1100" dirty="0" err="1">
                <a:latin typeface="Lucida Console" panose="020B0609040504020204" pitchFamily="49" charset="0"/>
              </a:rPr>
              <a:t>CompileShader</a:t>
            </a:r>
            <a:r>
              <a:rPr lang="en-US" sz="1100" dirty="0">
                <a:latin typeface="Lucida Console" panose="020B0609040504020204" pitchFamily="49" charset="0"/>
              </a:rPr>
              <a:t>(</a:t>
            </a:r>
            <a:r>
              <a:rPr lang="en-US" sz="1100" dirty="0" err="1">
                <a:latin typeface="Lucida Console" panose="020B0609040504020204" pitchFamily="49" charset="0"/>
              </a:rPr>
              <a:t>int</a:t>
            </a:r>
            <a:r>
              <a:rPr lang="en-US" sz="1100" dirty="0">
                <a:latin typeface="Lucida Console" panose="020B0609040504020204" pitchFamily="49" charset="0"/>
              </a:rPr>
              <a:t> </a:t>
            </a:r>
            <a:r>
              <a:rPr lang="en-US" sz="1100" dirty="0" err="1">
                <a:latin typeface="Lucida Console" panose="020B0609040504020204" pitchFamily="49" charset="0"/>
              </a:rPr>
              <a:t>shaderIdent</a:t>
            </a:r>
            <a:r>
              <a:rPr lang="en-US" sz="1100" dirty="0">
                <a:latin typeface="Lucida Console" panose="020B0609040504020204" pitchFamily="49" charset="0"/>
              </a:rPr>
              <a:t>);</a:t>
            </a:r>
          </a:p>
          <a:p>
            <a:r>
              <a:rPr lang="en-US" sz="1100" dirty="0" smtClean="0">
                <a:latin typeface="Lucida Console" panose="020B0609040504020204" pitchFamily="49" charset="0"/>
              </a:rPr>
              <a:t>    bool </a:t>
            </a:r>
            <a:r>
              <a:rPr lang="en-US" sz="1100" dirty="0" err="1">
                <a:latin typeface="Lucida Console" panose="020B0609040504020204" pitchFamily="49" charset="0"/>
              </a:rPr>
              <a:t>LinkShader</a:t>
            </a:r>
            <a:r>
              <a:rPr lang="en-US" sz="1100" dirty="0">
                <a:latin typeface="Lucida Console" panose="020B0609040504020204" pitchFamily="49" charset="0"/>
              </a:rPr>
              <a:t>(void);</a:t>
            </a:r>
          </a:p>
          <a:p>
            <a:r>
              <a:rPr lang="en-US" sz="1100" dirty="0" smtClean="0">
                <a:latin typeface="Lucida Console" panose="020B0609040504020204" pitchFamily="49" charset="0"/>
              </a:rPr>
              <a:t>    virtual </a:t>
            </a:r>
            <a:r>
              <a:rPr lang="en-US" sz="1100" dirty="0">
                <a:latin typeface="Lucida Console" panose="020B0609040504020204" pitchFamily="49" charset="0"/>
              </a:rPr>
              <a:t>void </a:t>
            </a:r>
            <a:r>
              <a:rPr lang="en-US" sz="1100" dirty="0" err="1">
                <a:latin typeface="Lucida Console" panose="020B0609040504020204" pitchFamily="49" charset="0"/>
              </a:rPr>
              <a:t>CacheAttributeAndUniformIdent</a:t>
            </a:r>
            <a:r>
              <a:rPr lang="en-US" sz="1100" dirty="0">
                <a:latin typeface="Lucida Console" panose="020B0609040504020204" pitchFamily="49" charset="0"/>
              </a:rPr>
              <a:t>(void</a:t>
            </a:r>
            <a:r>
              <a:rPr lang="en-US" sz="1100" dirty="0" smtClean="0">
                <a:latin typeface="Lucida Console" panose="020B0609040504020204" pitchFamily="49" charset="0"/>
              </a:rPr>
              <a:t>)=0</a:t>
            </a:r>
            <a:r>
              <a:rPr lang="en-US" sz="1100" dirty="0">
                <a:latin typeface="Lucida Console" panose="020B0609040504020204" pitchFamily="49" charset="0"/>
              </a:rPr>
              <a:t>;</a:t>
            </a:r>
          </a:p>
          <a:p>
            <a:r>
              <a:rPr lang="en-US" sz="1100" dirty="0">
                <a:latin typeface="Lucida Console" panose="020B0609040504020204" pitchFamily="49" charset="0"/>
              </a:rPr>
              <a:t>};</a:t>
            </a:r>
          </a:p>
          <a:p>
            <a:endParaRPr lang="en-US" sz="1100" dirty="0">
              <a:latin typeface="Lucida Console" panose="020B0609040504020204" pitchFamily="49" charset="0"/>
            </a:endParaRPr>
          </a:p>
          <a:p>
            <a:r>
              <a:rPr lang="en-US" sz="1100" dirty="0">
                <a:latin typeface="Lucida Console" panose="020B0609040504020204" pitchFamily="49" charset="0"/>
              </a:rPr>
              <a:t>class </a:t>
            </a:r>
            <a:r>
              <a:rPr lang="en-US" sz="1100" dirty="0" err="1" smtClean="0">
                <a:latin typeface="Lucida Console" panose="020B0609040504020204" pitchFamily="49" charset="0"/>
              </a:rPr>
              <a:t>PassThroughRenderer</a:t>
            </a:r>
            <a:r>
              <a:rPr lang="en-US" sz="1100" dirty="0" smtClean="0">
                <a:latin typeface="Lucida Console" panose="020B0609040504020204" pitchFamily="49" charset="0"/>
              </a:rPr>
              <a:t> : public </a:t>
            </a:r>
            <a:r>
              <a:rPr lang="en-US" sz="1100" dirty="0" err="1" smtClean="0">
                <a:latin typeface="Lucida Console" panose="020B0609040504020204" pitchFamily="49" charset="0"/>
              </a:rPr>
              <a:t>RendererBase</a:t>
            </a:r>
            <a:endParaRPr lang="en-US" sz="1100" dirty="0">
              <a:latin typeface="Lucida Console" panose="020B0609040504020204" pitchFamily="49" charset="0"/>
            </a:endParaRPr>
          </a:p>
          <a:p>
            <a:r>
              <a:rPr lang="en-US" sz="1100" dirty="0">
                <a:latin typeface="Lucida Console" panose="020B0609040504020204" pitchFamily="49" charset="0"/>
              </a:rPr>
              <a:t>{</a:t>
            </a:r>
          </a:p>
          <a:p>
            <a:r>
              <a:rPr lang="en-US" sz="1100" dirty="0">
                <a:latin typeface="Lucida Console" panose="020B0609040504020204" pitchFamily="49" charset="0"/>
              </a:rPr>
              <a:t>public:</a:t>
            </a:r>
          </a:p>
          <a:p>
            <a:r>
              <a:rPr lang="en-US" sz="1100" dirty="0" smtClean="0">
                <a:latin typeface="Lucida Console" panose="020B0609040504020204" pitchFamily="49" charset="0"/>
              </a:rPr>
              <a:t>    </a:t>
            </a:r>
            <a:r>
              <a:rPr lang="en-US" sz="1100" dirty="0" err="1" smtClean="0">
                <a:latin typeface="Lucida Console" panose="020B0609040504020204" pitchFamily="49" charset="0"/>
              </a:rPr>
              <a:t>GLuint</a:t>
            </a:r>
            <a:r>
              <a:rPr lang="en-US" sz="1100" dirty="0" smtClean="0">
                <a:latin typeface="Lucida Console" panose="020B0609040504020204" pitchFamily="49" charset="0"/>
              </a:rPr>
              <a:t> </a:t>
            </a:r>
            <a:r>
              <a:rPr lang="en-US" sz="1100" dirty="0" err="1">
                <a:latin typeface="Lucida Console" panose="020B0609040504020204" pitchFamily="49" charset="0"/>
              </a:rPr>
              <a:t>attribVertexPos</a:t>
            </a:r>
            <a:r>
              <a:rPr lang="en-US" sz="1100" dirty="0">
                <a:latin typeface="Lucida Console" panose="020B0609040504020204" pitchFamily="49" charset="0"/>
              </a:rPr>
              <a:t>;</a:t>
            </a:r>
          </a:p>
          <a:p>
            <a:r>
              <a:rPr lang="en-US" sz="1100" dirty="0" smtClean="0">
                <a:latin typeface="Lucida Console" panose="020B0609040504020204" pitchFamily="49" charset="0"/>
              </a:rPr>
              <a:t>    virtual </a:t>
            </a:r>
            <a:r>
              <a:rPr lang="en-US" sz="1100" dirty="0">
                <a:latin typeface="Lucida Console" panose="020B0609040504020204" pitchFamily="49" charset="0"/>
              </a:rPr>
              <a:t>void </a:t>
            </a:r>
            <a:r>
              <a:rPr lang="en-US" sz="1100" dirty="0" err="1" smtClean="0">
                <a:latin typeface="Lucida Console" panose="020B0609040504020204" pitchFamily="49" charset="0"/>
              </a:rPr>
              <a:t>CacheAttributeAndUniformIdent</a:t>
            </a:r>
            <a:r>
              <a:rPr lang="en-US" sz="1100" dirty="0" smtClean="0">
                <a:latin typeface="Lucida Console" panose="020B0609040504020204" pitchFamily="49" charset="0"/>
              </a:rPr>
              <a:t>(void);</a:t>
            </a:r>
            <a:endParaRPr lang="en-US" sz="1100" dirty="0">
              <a:latin typeface="Lucida Console" panose="020B0609040504020204" pitchFamily="49" charset="0"/>
            </a:endParaRPr>
          </a:p>
          <a:p>
            <a:r>
              <a:rPr lang="en-US" sz="1100" dirty="0">
                <a:latin typeface="Lucida Console" panose="020B0609040504020204" pitchFamily="49" charset="0"/>
              </a:rPr>
              <a:t>};</a:t>
            </a:r>
          </a:p>
          <a:p>
            <a:endParaRPr lang="en-US" sz="1100" dirty="0">
              <a:latin typeface="Lucida Console" panose="020B0609040504020204" pitchFamily="49" charset="0"/>
            </a:endParaRPr>
          </a:p>
        </p:txBody>
      </p:sp>
    </p:spTree>
    <p:extLst>
      <p:ext uri="{BB962C8B-B14F-4D97-AF65-F5344CB8AC3E}">
        <p14:creationId xmlns:p14="http://schemas.microsoft.com/office/powerpoint/2010/main" val="19413420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Compiling and linking the </a:t>
            </a:r>
            <a:r>
              <a:rPr lang="en-US" dirty="0" err="1" smtClean="0"/>
              <a:t>shaders</a:t>
            </a:r>
            <a:r>
              <a:rPr lang="en-US" dirty="0" smtClean="0"/>
              <a:t>.</a:t>
            </a:r>
            <a:endParaRPr lang="en-US" dirty="0"/>
          </a:p>
        </p:txBody>
      </p:sp>
      <p:sp>
        <p:nvSpPr>
          <p:cNvPr id="4" name="TextBox 3"/>
          <p:cNvSpPr txBox="1"/>
          <p:nvPr/>
        </p:nvSpPr>
        <p:spPr>
          <a:xfrm>
            <a:off x="216054" y="914400"/>
            <a:ext cx="5961888" cy="5678478"/>
          </a:xfrm>
          <a:prstGeom prst="rect">
            <a:avLst/>
          </a:prstGeom>
          <a:noFill/>
        </p:spPr>
        <p:txBody>
          <a:bodyPr wrap="none" rtlCol="0">
            <a:spAutoFit/>
          </a:bodyPr>
          <a:lstStyle/>
          <a:p>
            <a:r>
              <a:rPr lang="en-US" sz="1100" dirty="0">
                <a:latin typeface="Lucida Console" panose="020B0609040504020204" pitchFamily="49" charset="0"/>
              </a:rPr>
              <a:t>bool </a:t>
            </a:r>
            <a:r>
              <a:rPr lang="en-US" sz="1100" dirty="0" err="1">
                <a:latin typeface="Lucida Console" panose="020B0609040504020204" pitchFamily="49" charset="0"/>
              </a:rPr>
              <a:t>RendererBase</a:t>
            </a:r>
            <a:r>
              <a:rPr lang="en-US" sz="1100" dirty="0">
                <a:latin typeface="Lucida Console" panose="020B0609040504020204" pitchFamily="49" charset="0"/>
              </a:rPr>
              <a:t>::Compile</a:t>
            </a:r>
            <a:r>
              <a:rPr lang="en-US" sz="1100" dirty="0" smtClean="0">
                <a:latin typeface="Lucida Console" panose="020B0609040504020204" pitchFamily="49" charset="0"/>
              </a:rPr>
              <a:t>(</a:t>
            </a:r>
          </a:p>
          <a:p>
            <a:r>
              <a:rPr lang="en-US" sz="1100" dirty="0">
                <a:latin typeface="Lucida Console" panose="020B0609040504020204" pitchFamily="49" charset="0"/>
              </a:rPr>
              <a:t> </a:t>
            </a:r>
            <a:r>
              <a:rPr lang="en-US" sz="1100" dirty="0" smtClean="0">
                <a:latin typeface="Lucida Console" panose="020B0609040504020204" pitchFamily="49" charset="0"/>
              </a:rPr>
              <a:t>   </a:t>
            </a:r>
            <a:r>
              <a:rPr lang="en-US" sz="1100" dirty="0" err="1" smtClean="0">
                <a:latin typeface="Lucida Console" panose="020B0609040504020204" pitchFamily="49" charset="0"/>
              </a:rPr>
              <a:t>const</a:t>
            </a:r>
            <a:r>
              <a:rPr lang="en-US" sz="1100" dirty="0" smtClean="0">
                <a:latin typeface="Lucida Console" panose="020B0609040504020204" pitchFamily="49" charset="0"/>
              </a:rPr>
              <a:t> </a:t>
            </a:r>
            <a:r>
              <a:rPr lang="en-US" sz="1100" dirty="0" err="1">
                <a:latin typeface="Lucida Console" panose="020B0609040504020204" pitchFamily="49" charset="0"/>
              </a:rPr>
              <a:t>std</a:t>
            </a:r>
            <a:r>
              <a:rPr lang="en-US" sz="1100" dirty="0">
                <a:latin typeface="Lucida Console" panose="020B0609040504020204" pitchFamily="49" charset="0"/>
              </a:rPr>
              <a:t>::vector &lt;char&gt; &amp;</a:t>
            </a:r>
            <a:r>
              <a:rPr lang="en-US" sz="1100" dirty="0" err="1">
                <a:latin typeface="Lucida Console" panose="020B0609040504020204" pitchFamily="49" charset="0"/>
              </a:rPr>
              <a:t>vtxShaderSource</a:t>
            </a:r>
            <a:r>
              <a:rPr lang="en-US" sz="1100" dirty="0" smtClean="0">
                <a:latin typeface="Lucida Console" panose="020B0609040504020204" pitchFamily="49" charset="0"/>
              </a:rPr>
              <a:t>,</a:t>
            </a:r>
          </a:p>
          <a:p>
            <a:r>
              <a:rPr lang="en-US" sz="1100" dirty="0">
                <a:latin typeface="Lucida Console" panose="020B0609040504020204" pitchFamily="49" charset="0"/>
              </a:rPr>
              <a:t> </a:t>
            </a:r>
            <a:r>
              <a:rPr lang="en-US" sz="1100" dirty="0" smtClean="0">
                <a:latin typeface="Lucida Console" panose="020B0609040504020204" pitchFamily="49" charset="0"/>
              </a:rPr>
              <a:t>   </a:t>
            </a:r>
            <a:r>
              <a:rPr lang="en-US" sz="1100" dirty="0" err="1" smtClean="0">
                <a:latin typeface="Lucida Console" panose="020B0609040504020204" pitchFamily="49" charset="0"/>
              </a:rPr>
              <a:t>const</a:t>
            </a:r>
            <a:r>
              <a:rPr lang="en-US" sz="1100" dirty="0" smtClean="0">
                <a:latin typeface="Lucida Console" panose="020B0609040504020204" pitchFamily="49" charset="0"/>
              </a:rPr>
              <a:t> </a:t>
            </a:r>
            <a:r>
              <a:rPr lang="en-US" sz="1100" dirty="0" err="1">
                <a:latin typeface="Lucida Console" panose="020B0609040504020204" pitchFamily="49" charset="0"/>
              </a:rPr>
              <a:t>std</a:t>
            </a:r>
            <a:r>
              <a:rPr lang="en-US" sz="1100" dirty="0">
                <a:latin typeface="Lucida Console" panose="020B0609040504020204" pitchFamily="49" charset="0"/>
              </a:rPr>
              <a:t>::vector &lt;char&gt; &amp;</a:t>
            </a:r>
            <a:r>
              <a:rPr lang="en-US" sz="1100" dirty="0" err="1">
                <a:latin typeface="Lucida Console" panose="020B0609040504020204" pitchFamily="49" charset="0"/>
              </a:rPr>
              <a:t>fragShaderSource</a:t>
            </a:r>
            <a:r>
              <a:rPr lang="en-US" sz="1100" dirty="0">
                <a:latin typeface="Lucida Console" panose="020B0609040504020204" pitchFamily="49" charset="0"/>
              </a:rPr>
              <a:t>)</a:t>
            </a:r>
          </a:p>
          <a:p>
            <a:r>
              <a:rPr lang="en-US" sz="1100" dirty="0">
                <a:latin typeface="Lucida Console" panose="020B0609040504020204" pitchFamily="49" charset="0"/>
              </a:rPr>
              <a:t>{</a:t>
            </a:r>
          </a:p>
          <a:p>
            <a:r>
              <a:rPr lang="en-US" sz="1100" dirty="0" smtClean="0">
                <a:latin typeface="Lucida Console" panose="020B0609040504020204" pitchFamily="49" charset="0"/>
              </a:rPr>
              <a:t>    bool </a:t>
            </a:r>
            <a:r>
              <a:rPr lang="en-US" sz="1100" dirty="0">
                <a:latin typeface="Lucida Console" panose="020B0609040504020204" pitchFamily="49" charset="0"/>
              </a:rPr>
              <a:t>res=true;</a:t>
            </a:r>
          </a:p>
          <a:p>
            <a:endParaRPr lang="en-US" sz="1100" dirty="0">
              <a:latin typeface="Lucida Console" panose="020B0609040504020204" pitchFamily="49" charset="0"/>
            </a:endParaRPr>
          </a:p>
          <a:p>
            <a:r>
              <a:rPr lang="en-US" sz="1100" dirty="0" smtClean="0">
                <a:latin typeface="Lucida Console" panose="020B0609040504020204" pitchFamily="49" charset="0"/>
              </a:rPr>
              <a:t>    </a:t>
            </a:r>
            <a:r>
              <a:rPr lang="en-US" sz="1100" dirty="0" err="1" smtClean="0">
                <a:latin typeface="Lucida Console" panose="020B0609040504020204" pitchFamily="49" charset="0"/>
              </a:rPr>
              <a:t>vertexShaderIdent</a:t>
            </a:r>
            <a:r>
              <a:rPr lang="en-US" sz="1100" dirty="0" smtClean="0">
                <a:latin typeface="Lucida Console" panose="020B0609040504020204" pitchFamily="49" charset="0"/>
              </a:rPr>
              <a:t>=</a:t>
            </a:r>
            <a:r>
              <a:rPr lang="en-US" sz="1100" dirty="0" err="1" smtClean="0">
                <a:latin typeface="Lucida Console" panose="020B0609040504020204" pitchFamily="49" charset="0"/>
              </a:rPr>
              <a:t>glCreateShader</a:t>
            </a:r>
            <a:r>
              <a:rPr lang="en-US" sz="1100" dirty="0" smtClean="0">
                <a:latin typeface="Lucida Console" panose="020B0609040504020204" pitchFamily="49" charset="0"/>
              </a:rPr>
              <a:t>(GL_VERTEX_SHADER</a:t>
            </a:r>
            <a:r>
              <a:rPr lang="en-US" sz="1100" dirty="0">
                <a:latin typeface="Lucida Console" panose="020B0609040504020204" pitchFamily="49" charset="0"/>
              </a:rPr>
              <a:t>);</a:t>
            </a:r>
          </a:p>
          <a:p>
            <a:r>
              <a:rPr lang="en-US" sz="1100" dirty="0" smtClean="0">
                <a:latin typeface="Lucida Console" panose="020B0609040504020204" pitchFamily="49" charset="0"/>
              </a:rPr>
              <a:t>    </a:t>
            </a:r>
            <a:r>
              <a:rPr lang="en-US" sz="1100" dirty="0" err="1" smtClean="0">
                <a:latin typeface="Lucida Console" panose="020B0609040504020204" pitchFamily="49" charset="0"/>
              </a:rPr>
              <a:t>fragmentShaderIdent</a:t>
            </a:r>
            <a:r>
              <a:rPr lang="en-US" sz="1100" dirty="0" smtClean="0">
                <a:latin typeface="Lucida Console" panose="020B0609040504020204" pitchFamily="49" charset="0"/>
              </a:rPr>
              <a:t>=</a:t>
            </a:r>
            <a:r>
              <a:rPr lang="en-US" sz="1100" dirty="0" err="1" smtClean="0">
                <a:latin typeface="Lucida Console" panose="020B0609040504020204" pitchFamily="49" charset="0"/>
              </a:rPr>
              <a:t>glCreateShader</a:t>
            </a:r>
            <a:r>
              <a:rPr lang="en-US" sz="1100" dirty="0" smtClean="0">
                <a:latin typeface="Lucida Console" panose="020B0609040504020204" pitchFamily="49" charset="0"/>
              </a:rPr>
              <a:t>(GL_FRAGMENT_SHADER</a:t>
            </a:r>
            <a:r>
              <a:rPr lang="en-US" sz="1100" dirty="0">
                <a:latin typeface="Lucida Console" panose="020B0609040504020204" pitchFamily="49" charset="0"/>
              </a:rPr>
              <a:t>);</a:t>
            </a:r>
          </a:p>
          <a:p>
            <a:r>
              <a:rPr lang="en-US" sz="1100" dirty="0" smtClean="0">
                <a:latin typeface="Lucida Console" panose="020B0609040504020204" pitchFamily="49" charset="0"/>
              </a:rPr>
              <a:t>    </a:t>
            </a:r>
            <a:r>
              <a:rPr lang="en-US" sz="1100" dirty="0" err="1" smtClean="0">
                <a:latin typeface="Lucida Console" panose="020B0609040504020204" pitchFamily="49" charset="0"/>
              </a:rPr>
              <a:t>programIdent</a:t>
            </a:r>
            <a:r>
              <a:rPr lang="en-US" sz="1100" dirty="0" smtClean="0">
                <a:latin typeface="Lucida Console" panose="020B0609040504020204" pitchFamily="49" charset="0"/>
              </a:rPr>
              <a:t>=</a:t>
            </a:r>
            <a:r>
              <a:rPr lang="en-US" sz="1100" dirty="0" err="1" smtClean="0">
                <a:latin typeface="Lucida Console" panose="020B0609040504020204" pitchFamily="49" charset="0"/>
              </a:rPr>
              <a:t>glCreateProgram</a:t>
            </a:r>
            <a:r>
              <a:rPr lang="en-US" sz="1100" dirty="0">
                <a:latin typeface="Lucida Console" panose="020B0609040504020204" pitchFamily="49" charset="0"/>
              </a:rPr>
              <a:t>();</a:t>
            </a:r>
          </a:p>
          <a:p>
            <a:endParaRPr lang="en-US" sz="1100" dirty="0">
              <a:latin typeface="Lucida Console" panose="020B0609040504020204" pitchFamily="49" charset="0"/>
            </a:endParaRPr>
          </a:p>
          <a:p>
            <a:r>
              <a:rPr lang="en-US" sz="1100" dirty="0" smtClean="0">
                <a:latin typeface="Lucida Console" panose="020B0609040504020204" pitchFamily="49" charset="0"/>
              </a:rPr>
              <a:t>    </a:t>
            </a:r>
            <a:r>
              <a:rPr lang="en-US" sz="1100" dirty="0" err="1" smtClean="0">
                <a:latin typeface="Lucida Console" panose="020B0609040504020204" pitchFamily="49" charset="0"/>
              </a:rPr>
              <a:t>const</a:t>
            </a:r>
            <a:r>
              <a:rPr lang="en-US" sz="1100" dirty="0" smtClean="0">
                <a:latin typeface="Lucida Console" panose="020B0609040504020204" pitchFamily="49" charset="0"/>
              </a:rPr>
              <a:t> </a:t>
            </a:r>
            <a:r>
              <a:rPr lang="en-US" sz="1100" dirty="0">
                <a:latin typeface="Lucida Console" panose="020B0609040504020204" pitchFamily="49" charset="0"/>
              </a:rPr>
              <a:t>char *</a:t>
            </a:r>
            <a:r>
              <a:rPr lang="en-US" sz="1100" dirty="0" err="1">
                <a:latin typeface="Lucida Console" panose="020B0609040504020204" pitchFamily="49" charset="0"/>
              </a:rPr>
              <a:t>vtxShaderSourcePtr</a:t>
            </a:r>
            <a:r>
              <a:rPr lang="en-US" sz="1100" dirty="0">
                <a:latin typeface="Lucida Console" panose="020B0609040504020204" pitchFamily="49" charset="0"/>
              </a:rPr>
              <a:t>=</a:t>
            </a:r>
            <a:r>
              <a:rPr lang="en-US" sz="1100" dirty="0" err="1">
                <a:latin typeface="Lucida Console" panose="020B0609040504020204" pitchFamily="49" charset="0"/>
              </a:rPr>
              <a:t>vtxShaderSource.data</a:t>
            </a:r>
            <a:r>
              <a:rPr lang="en-US" sz="1100" dirty="0">
                <a:latin typeface="Lucida Console" panose="020B0609040504020204" pitchFamily="49" charset="0"/>
              </a:rPr>
              <a:t>();</a:t>
            </a:r>
          </a:p>
          <a:p>
            <a:r>
              <a:rPr lang="en-US" sz="1100" dirty="0" smtClean="0">
                <a:latin typeface="Lucida Console" panose="020B0609040504020204" pitchFamily="49" charset="0"/>
              </a:rPr>
              <a:t>    </a:t>
            </a:r>
            <a:r>
              <a:rPr lang="en-US" sz="1100" dirty="0" err="1" smtClean="0">
                <a:latin typeface="Lucida Console" panose="020B0609040504020204" pitchFamily="49" charset="0"/>
              </a:rPr>
              <a:t>const</a:t>
            </a:r>
            <a:r>
              <a:rPr lang="en-US" sz="1100" dirty="0" smtClean="0">
                <a:latin typeface="Lucida Console" panose="020B0609040504020204" pitchFamily="49" charset="0"/>
              </a:rPr>
              <a:t> </a:t>
            </a:r>
            <a:r>
              <a:rPr lang="en-US" sz="1100" dirty="0">
                <a:latin typeface="Lucida Console" panose="020B0609040504020204" pitchFamily="49" charset="0"/>
              </a:rPr>
              <a:t>char *</a:t>
            </a:r>
            <a:r>
              <a:rPr lang="en-US" sz="1100" dirty="0" err="1">
                <a:latin typeface="Lucida Console" panose="020B0609040504020204" pitchFamily="49" charset="0"/>
              </a:rPr>
              <a:t>fragShaderSourcePtr</a:t>
            </a:r>
            <a:r>
              <a:rPr lang="en-US" sz="1100" dirty="0">
                <a:latin typeface="Lucida Console" panose="020B0609040504020204" pitchFamily="49" charset="0"/>
              </a:rPr>
              <a:t>=</a:t>
            </a:r>
            <a:r>
              <a:rPr lang="en-US" sz="1100" dirty="0" err="1">
                <a:latin typeface="Lucida Console" panose="020B0609040504020204" pitchFamily="49" charset="0"/>
              </a:rPr>
              <a:t>fragShaderSource.data</a:t>
            </a:r>
            <a:r>
              <a:rPr lang="en-US" sz="1100" dirty="0">
                <a:latin typeface="Lucida Console" panose="020B0609040504020204" pitchFamily="49" charset="0"/>
              </a:rPr>
              <a:t>();</a:t>
            </a:r>
          </a:p>
          <a:p>
            <a:r>
              <a:rPr lang="en-US" sz="1100" dirty="0" smtClean="0">
                <a:latin typeface="Lucida Console" panose="020B0609040504020204" pitchFamily="49" charset="0"/>
              </a:rPr>
              <a:t>    </a:t>
            </a:r>
            <a:r>
              <a:rPr lang="en-US" sz="1100" dirty="0" err="1" smtClean="0">
                <a:latin typeface="Lucida Console" panose="020B0609040504020204" pitchFamily="49" charset="0"/>
              </a:rPr>
              <a:t>glShaderSource</a:t>
            </a:r>
            <a:r>
              <a:rPr lang="en-US" sz="1100" dirty="0" smtClean="0">
                <a:latin typeface="Lucida Console" panose="020B0609040504020204" pitchFamily="49" charset="0"/>
              </a:rPr>
              <a:t>(vertexShaderIdent,1</a:t>
            </a:r>
            <a:r>
              <a:rPr lang="en-US" sz="1100" dirty="0">
                <a:latin typeface="Lucida Console" panose="020B0609040504020204" pitchFamily="49" charset="0"/>
              </a:rPr>
              <a:t>,&amp;vtxShaderSourcePtr,NULL);</a:t>
            </a:r>
          </a:p>
          <a:p>
            <a:r>
              <a:rPr lang="en-US" sz="1100" dirty="0" smtClean="0">
                <a:latin typeface="Lucida Console" panose="020B0609040504020204" pitchFamily="49" charset="0"/>
              </a:rPr>
              <a:t>    </a:t>
            </a:r>
            <a:r>
              <a:rPr lang="en-US" sz="1100" dirty="0" err="1" smtClean="0">
                <a:latin typeface="Lucida Console" panose="020B0609040504020204" pitchFamily="49" charset="0"/>
              </a:rPr>
              <a:t>glShaderSource</a:t>
            </a:r>
            <a:r>
              <a:rPr lang="en-US" sz="1100" dirty="0" smtClean="0">
                <a:latin typeface="Lucida Console" panose="020B0609040504020204" pitchFamily="49" charset="0"/>
              </a:rPr>
              <a:t>(fragmentShaderIdent,1</a:t>
            </a:r>
            <a:r>
              <a:rPr lang="en-US" sz="1100" dirty="0">
                <a:latin typeface="Lucida Console" panose="020B0609040504020204" pitchFamily="49" charset="0"/>
              </a:rPr>
              <a:t>,&amp;fragShaderSourcePtr,NULL);</a:t>
            </a:r>
          </a:p>
          <a:p>
            <a:endParaRPr lang="en-US" sz="1100" dirty="0">
              <a:latin typeface="Lucida Console" panose="020B0609040504020204" pitchFamily="49" charset="0"/>
            </a:endParaRPr>
          </a:p>
          <a:p>
            <a:r>
              <a:rPr lang="en-US" sz="1100" dirty="0" smtClean="0">
                <a:latin typeface="Lucida Console" panose="020B0609040504020204" pitchFamily="49" charset="0"/>
              </a:rPr>
              <a:t>    if(true</a:t>
            </a:r>
            <a:r>
              <a:rPr lang="en-US" sz="1100" dirty="0">
                <a:latin typeface="Lucida Console" panose="020B0609040504020204" pitchFamily="49" charset="0"/>
              </a:rPr>
              <a:t>!=</a:t>
            </a:r>
            <a:r>
              <a:rPr lang="en-US" sz="1100" dirty="0" err="1">
                <a:latin typeface="Lucida Console" panose="020B0609040504020204" pitchFamily="49" charset="0"/>
              </a:rPr>
              <a:t>CompileShader</a:t>
            </a:r>
            <a:r>
              <a:rPr lang="en-US" sz="1100" dirty="0">
                <a:latin typeface="Lucida Console" panose="020B0609040504020204" pitchFamily="49" charset="0"/>
              </a:rPr>
              <a:t>(</a:t>
            </a:r>
            <a:r>
              <a:rPr lang="en-US" sz="1100" dirty="0" err="1">
                <a:latin typeface="Lucida Console" panose="020B0609040504020204" pitchFamily="49" charset="0"/>
              </a:rPr>
              <a:t>vertexShaderIdent</a:t>
            </a:r>
            <a:r>
              <a:rPr lang="en-US" sz="1100" dirty="0">
                <a:latin typeface="Lucida Console" panose="020B0609040504020204" pitchFamily="49" charset="0"/>
              </a:rPr>
              <a:t>))</a:t>
            </a:r>
          </a:p>
          <a:p>
            <a:r>
              <a:rPr lang="en-US" sz="1100" dirty="0" smtClean="0">
                <a:latin typeface="Lucida Console" panose="020B0609040504020204" pitchFamily="49" charset="0"/>
              </a:rPr>
              <a:t>    {</a:t>
            </a:r>
            <a:endParaRPr lang="en-US" sz="1100" dirty="0">
              <a:latin typeface="Lucida Console" panose="020B0609040504020204" pitchFamily="49" charset="0"/>
            </a:endParaRPr>
          </a:p>
          <a:p>
            <a:r>
              <a:rPr lang="en-US" sz="1100" dirty="0" smtClean="0">
                <a:latin typeface="Lucida Console" panose="020B0609040504020204" pitchFamily="49" charset="0"/>
              </a:rPr>
              <a:t>        res=false</a:t>
            </a:r>
            <a:r>
              <a:rPr lang="en-US" sz="1100" dirty="0">
                <a:latin typeface="Lucida Console" panose="020B0609040504020204" pitchFamily="49" charset="0"/>
              </a:rPr>
              <a:t>;</a:t>
            </a:r>
          </a:p>
          <a:p>
            <a:r>
              <a:rPr lang="en-US" sz="1100" dirty="0" smtClean="0">
                <a:latin typeface="Lucida Console" panose="020B0609040504020204" pitchFamily="49" charset="0"/>
              </a:rPr>
              <a:t>    }</a:t>
            </a:r>
            <a:endParaRPr lang="en-US" sz="1100" dirty="0">
              <a:latin typeface="Lucida Console" panose="020B0609040504020204" pitchFamily="49" charset="0"/>
            </a:endParaRPr>
          </a:p>
          <a:p>
            <a:r>
              <a:rPr lang="en-US" sz="1100" dirty="0" smtClean="0">
                <a:latin typeface="Lucida Console" panose="020B0609040504020204" pitchFamily="49" charset="0"/>
              </a:rPr>
              <a:t>    if(true</a:t>
            </a:r>
            <a:r>
              <a:rPr lang="en-US" sz="1100" dirty="0">
                <a:latin typeface="Lucida Console" panose="020B0609040504020204" pitchFamily="49" charset="0"/>
              </a:rPr>
              <a:t>!=</a:t>
            </a:r>
            <a:r>
              <a:rPr lang="en-US" sz="1100" dirty="0" err="1">
                <a:latin typeface="Lucida Console" panose="020B0609040504020204" pitchFamily="49" charset="0"/>
              </a:rPr>
              <a:t>CompileShader</a:t>
            </a:r>
            <a:r>
              <a:rPr lang="en-US" sz="1100" dirty="0">
                <a:latin typeface="Lucida Console" panose="020B0609040504020204" pitchFamily="49" charset="0"/>
              </a:rPr>
              <a:t>(</a:t>
            </a:r>
            <a:r>
              <a:rPr lang="en-US" sz="1100" dirty="0" err="1">
                <a:latin typeface="Lucida Console" panose="020B0609040504020204" pitchFamily="49" charset="0"/>
              </a:rPr>
              <a:t>fragmentShaderIdent</a:t>
            </a:r>
            <a:r>
              <a:rPr lang="en-US" sz="1100" dirty="0">
                <a:latin typeface="Lucida Console" panose="020B0609040504020204" pitchFamily="49" charset="0"/>
              </a:rPr>
              <a:t>))</a:t>
            </a:r>
          </a:p>
          <a:p>
            <a:r>
              <a:rPr lang="en-US" sz="1100" dirty="0" smtClean="0">
                <a:latin typeface="Lucida Console" panose="020B0609040504020204" pitchFamily="49" charset="0"/>
              </a:rPr>
              <a:t>    {</a:t>
            </a:r>
            <a:endParaRPr lang="en-US" sz="1100" dirty="0">
              <a:latin typeface="Lucida Console" panose="020B0609040504020204" pitchFamily="49" charset="0"/>
            </a:endParaRPr>
          </a:p>
          <a:p>
            <a:r>
              <a:rPr lang="en-US" sz="1100" dirty="0" smtClean="0">
                <a:latin typeface="Lucida Console" panose="020B0609040504020204" pitchFamily="49" charset="0"/>
              </a:rPr>
              <a:t>        res=false</a:t>
            </a:r>
            <a:r>
              <a:rPr lang="en-US" sz="1100" dirty="0">
                <a:latin typeface="Lucida Console" panose="020B0609040504020204" pitchFamily="49" charset="0"/>
              </a:rPr>
              <a:t>;</a:t>
            </a:r>
          </a:p>
          <a:p>
            <a:r>
              <a:rPr lang="en-US" sz="1100" dirty="0" smtClean="0">
                <a:latin typeface="Lucida Console" panose="020B0609040504020204" pitchFamily="49" charset="0"/>
              </a:rPr>
              <a:t>    }</a:t>
            </a:r>
            <a:endParaRPr lang="en-US" sz="1100" dirty="0">
              <a:latin typeface="Lucida Console" panose="020B0609040504020204" pitchFamily="49" charset="0"/>
            </a:endParaRPr>
          </a:p>
          <a:p>
            <a:r>
              <a:rPr lang="en-US" sz="1100" dirty="0" smtClean="0">
                <a:latin typeface="Lucida Console" panose="020B0609040504020204" pitchFamily="49" charset="0"/>
              </a:rPr>
              <a:t>    if(true</a:t>
            </a:r>
            <a:r>
              <a:rPr lang="en-US" sz="1100" dirty="0">
                <a:latin typeface="Lucida Console" panose="020B0609040504020204" pitchFamily="49" charset="0"/>
              </a:rPr>
              <a:t>!=</a:t>
            </a:r>
            <a:r>
              <a:rPr lang="en-US" sz="1100" dirty="0" err="1">
                <a:latin typeface="Lucida Console" panose="020B0609040504020204" pitchFamily="49" charset="0"/>
              </a:rPr>
              <a:t>LinkShader</a:t>
            </a:r>
            <a:r>
              <a:rPr lang="en-US" sz="1100" dirty="0">
                <a:latin typeface="Lucida Console" panose="020B0609040504020204" pitchFamily="49" charset="0"/>
              </a:rPr>
              <a:t>())</a:t>
            </a:r>
          </a:p>
          <a:p>
            <a:r>
              <a:rPr lang="en-US" sz="1100" dirty="0" smtClean="0">
                <a:latin typeface="Lucida Console" panose="020B0609040504020204" pitchFamily="49" charset="0"/>
              </a:rPr>
              <a:t>    {</a:t>
            </a:r>
            <a:endParaRPr lang="en-US" sz="1100" dirty="0">
              <a:latin typeface="Lucida Console" panose="020B0609040504020204" pitchFamily="49" charset="0"/>
            </a:endParaRPr>
          </a:p>
          <a:p>
            <a:r>
              <a:rPr lang="en-US" sz="1100" dirty="0" smtClean="0">
                <a:latin typeface="Lucida Console" panose="020B0609040504020204" pitchFamily="49" charset="0"/>
              </a:rPr>
              <a:t>        res=false</a:t>
            </a:r>
            <a:r>
              <a:rPr lang="en-US" sz="1100" dirty="0">
                <a:latin typeface="Lucida Console" panose="020B0609040504020204" pitchFamily="49" charset="0"/>
              </a:rPr>
              <a:t>;</a:t>
            </a:r>
          </a:p>
          <a:p>
            <a:r>
              <a:rPr lang="en-US" sz="1100" dirty="0" smtClean="0">
                <a:latin typeface="Lucida Console" panose="020B0609040504020204" pitchFamily="49" charset="0"/>
              </a:rPr>
              <a:t>    }</a:t>
            </a:r>
            <a:endParaRPr lang="en-US" sz="1100" dirty="0">
              <a:latin typeface="Lucida Console" panose="020B0609040504020204" pitchFamily="49" charset="0"/>
            </a:endParaRPr>
          </a:p>
          <a:p>
            <a:endParaRPr lang="en-US" sz="1100" dirty="0">
              <a:latin typeface="Lucida Console" panose="020B0609040504020204" pitchFamily="49" charset="0"/>
            </a:endParaRPr>
          </a:p>
          <a:p>
            <a:r>
              <a:rPr lang="en-US" sz="1100" dirty="0" smtClean="0">
                <a:latin typeface="Lucida Console" panose="020B0609040504020204" pitchFamily="49" charset="0"/>
              </a:rPr>
              <a:t>    </a:t>
            </a:r>
            <a:r>
              <a:rPr lang="en-US" sz="1100" dirty="0" err="1" smtClean="0">
                <a:latin typeface="Lucida Console" panose="020B0609040504020204" pitchFamily="49" charset="0"/>
              </a:rPr>
              <a:t>CacheAttributeAndUniformIdent</a:t>
            </a:r>
            <a:r>
              <a:rPr lang="en-US" sz="1100" dirty="0">
                <a:latin typeface="Lucida Console" panose="020B0609040504020204" pitchFamily="49" charset="0"/>
              </a:rPr>
              <a:t>();</a:t>
            </a:r>
          </a:p>
          <a:p>
            <a:endParaRPr lang="en-US" sz="1100" dirty="0">
              <a:latin typeface="Lucida Console" panose="020B0609040504020204" pitchFamily="49" charset="0"/>
            </a:endParaRPr>
          </a:p>
          <a:p>
            <a:r>
              <a:rPr lang="en-US" sz="1100" dirty="0" smtClean="0">
                <a:latin typeface="Lucida Console" panose="020B0609040504020204" pitchFamily="49" charset="0"/>
              </a:rPr>
              <a:t>    return </a:t>
            </a:r>
            <a:r>
              <a:rPr lang="en-US" sz="1100" dirty="0">
                <a:latin typeface="Lucida Console" panose="020B0609040504020204" pitchFamily="49" charset="0"/>
              </a:rPr>
              <a:t>res;</a:t>
            </a:r>
          </a:p>
          <a:p>
            <a:r>
              <a:rPr lang="en-US" sz="1100" dirty="0">
                <a:latin typeface="Lucida Console" panose="020B0609040504020204" pitchFamily="49" charset="0"/>
              </a:rPr>
              <a:t>}</a:t>
            </a:r>
          </a:p>
          <a:p>
            <a:endParaRPr lang="en-US" sz="1100" dirty="0">
              <a:latin typeface="Lucida Console" panose="020B0609040504020204" pitchFamily="49" charset="0"/>
            </a:endParaRPr>
          </a:p>
        </p:txBody>
      </p:sp>
      <p:sp>
        <p:nvSpPr>
          <p:cNvPr id="3" name="Right Brace 2"/>
          <p:cNvSpPr/>
          <p:nvPr/>
        </p:nvSpPr>
        <p:spPr>
          <a:xfrm>
            <a:off x="5230368" y="1911096"/>
            <a:ext cx="128016" cy="557784"/>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p:cNvSpPr txBox="1"/>
          <p:nvPr/>
        </p:nvSpPr>
        <p:spPr>
          <a:xfrm>
            <a:off x="5486400" y="1947672"/>
            <a:ext cx="2095445" cy="369332"/>
          </a:xfrm>
          <a:prstGeom prst="rect">
            <a:avLst/>
          </a:prstGeom>
          <a:noFill/>
        </p:spPr>
        <p:txBody>
          <a:bodyPr wrap="none" rtlCol="0">
            <a:spAutoFit/>
          </a:bodyPr>
          <a:lstStyle/>
          <a:p>
            <a:r>
              <a:rPr lang="en-US" dirty="0" smtClean="0">
                <a:solidFill>
                  <a:srgbClr val="FF0000"/>
                </a:solidFill>
              </a:rPr>
              <a:t>Reserve identifiers</a:t>
            </a:r>
            <a:endParaRPr lang="en-US" dirty="0">
              <a:solidFill>
                <a:srgbClr val="FF0000"/>
              </a:solidFill>
            </a:endParaRPr>
          </a:p>
        </p:txBody>
      </p:sp>
      <p:sp>
        <p:nvSpPr>
          <p:cNvPr id="6" name="Right Brace 5"/>
          <p:cNvSpPr/>
          <p:nvPr/>
        </p:nvSpPr>
        <p:spPr>
          <a:xfrm>
            <a:off x="5934456" y="2606040"/>
            <a:ext cx="243486" cy="758952"/>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p:cNvSpPr txBox="1"/>
          <p:nvPr/>
        </p:nvSpPr>
        <p:spPr>
          <a:xfrm>
            <a:off x="6177942" y="2703945"/>
            <a:ext cx="2966058" cy="646331"/>
          </a:xfrm>
          <a:prstGeom prst="rect">
            <a:avLst/>
          </a:prstGeom>
          <a:noFill/>
        </p:spPr>
        <p:txBody>
          <a:bodyPr wrap="square" rtlCol="0">
            <a:spAutoFit/>
          </a:bodyPr>
          <a:lstStyle/>
          <a:p>
            <a:r>
              <a:rPr lang="en-US" dirty="0" smtClean="0">
                <a:solidFill>
                  <a:srgbClr val="FF0000"/>
                </a:solidFill>
              </a:rPr>
              <a:t>Connect </a:t>
            </a:r>
            <a:r>
              <a:rPr lang="en-US" dirty="0" err="1" smtClean="0">
                <a:solidFill>
                  <a:srgbClr val="FF0000"/>
                </a:solidFill>
              </a:rPr>
              <a:t>shader</a:t>
            </a:r>
            <a:r>
              <a:rPr lang="en-US" dirty="0" smtClean="0">
                <a:solidFill>
                  <a:srgbClr val="FF0000"/>
                </a:solidFill>
              </a:rPr>
              <a:t> identifier and source.</a:t>
            </a:r>
            <a:endParaRPr lang="en-US" dirty="0">
              <a:solidFill>
                <a:srgbClr val="FF0000"/>
              </a:solidFill>
            </a:endParaRPr>
          </a:p>
        </p:txBody>
      </p:sp>
    </p:spTree>
    <p:extLst>
      <p:ext uri="{BB962C8B-B14F-4D97-AF65-F5344CB8AC3E}">
        <p14:creationId xmlns:p14="http://schemas.microsoft.com/office/powerpoint/2010/main" val="40986569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30352" y="740664"/>
            <a:ext cx="7808548" cy="2677656"/>
          </a:xfrm>
          <a:prstGeom prst="rect">
            <a:avLst/>
          </a:prstGeom>
          <a:noFill/>
        </p:spPr>
        <p:txBody>
          <a:bodyPr wrap="none" rtlCol="0">
            <a:spAutoFit/>
          </a:bodyPr>
          <a:lstStyle/>
          <a:p>
            <a:r>
              <a:rPr lang="en-US" sz="1200" dirty="0">
                <a:latin typeface="Lucida Console" panose="020B0609040504020204" pitchFamily="49" charset="0"/>
              </a:rPr>
              <a:t>bool </a:t>
            </a:r>
            <a:r>
              <a:rPr lang="en-US" sz="1200" dirty="0" err="1">
                <a:latin typeface="Lucida Console" panose="020B0609040504020204" pitchFamily="49" charset="0"/>
              </a:rPr>
              <a:t>RendererBase</a:t>
            </a:r>
            <a:r>
              <a:rPr lang="en-US" sz="1200" dirty="0">
                <a:latin typeface="Lucida Console" panose="020B0609040504020204" pitchFamily="49" charset="0"/>
              </a:rPr>
              <a:t>::</a:t>
            </a:r>
            <a:r>
              <a:rPr lang="en-US" sz="1200" dirty="0" err="1">
                <a:latin typeface="Lucida Console" panose="020B0609040504020204" pitchFamily="49" charset="0"/>
              </a:rPr>
              <a:t>CompileFile</a:t>
            </a:r>
            <a:r>
              <a:rPr lang="en-US" sz="1200" dirty="0">
                <a:latin typeface="Lucida Console" panose="020B0609040504020204" pitchFamily="49" charset="0"/>
              </a:rPr>
              <a:t>(</a:t>
            </a:r>
            <a:r>
              <a:rPr lang="en-US" sz="1200" dirty="0" err="1">
                <a:latin typeface="Lucida Console" panose="020B0609040504020204" pitchFamily="49" charset="0"/>
              </a:rPr>
              <a:t>const</a:t>
            </a:r>
            <a:r>
              <a:rPr lang="en-US" sz="1200" dirty="0">
                <a:latin typeface="Lucida Console" panose="020B0609040504020204" pitchFamily="49" charset="0"/>
              </a:rPr>
              <a:t> char </a:t>
            </a:r>
            <a:r>
              <a:rPr lang="en-US" sz="1200" dirty="0" err="1">
                <a:latin typeface="Lucida Console" panose="020B0609040504020204" pitchFamily="49" charset="0"/>
              </a:rPr>
              <a:t>vtxShaderFn</a:t>
            </a:r>
            <a:r>
              <a:rPr lang="en-US" sz="1200" dirty="0">
                <a:latin typeface="Lucida Console" panose="020B0609040504020204" pitchFamily="49" charset="0"/>
              </a:rPr>
              <a:t>[],</a:t>
            </a:r>
            <a:r>
              <a:rPr lang="en-US" sz="1200" dirty="0" err="1">
                <a:latin typeface="Lucida Console" panose="020B0609040504020204" pitchFamily="49" charset="0"/>
              </a:rPr>
              <a:t>const</a:t>
            </a:r>
            <a:r>
              <a:rPr lang="en-US" sz="1200" dirty="0">
                <a:latin typeface="Lucida Console" panose="020B0609040504020204" pitchFamily="49" charset="0"/>
              </a:rPr>
              <a:t> char </a:t>
            </a:r>
            <a:r>
              <a:rPr lang="en-US" sz="1200" dirty="0" err="1">
                <a:latin typeface="Lucida Console" panose="020B0609040504020204" pitchFamily="49" charset="0"/>
              </a:rPr>
              <a:t>fragShaderFn</a:t>
            </a:r>
            <a:r>
              <a:rPr lang="en-US" sz="1200" dirty="0">
                <a:latin typeface="Lucida Console" panose="020B0609040504020204" pitchFamily="49" charset="0"/>
              </a:rPr>
              <a:t>[])</a:t>
            </a:r>
          </a:p>
          <a:p>
            <a:r>
              <a:rPr lang="en-US" sz="1200" dirty="0">
                <a:latin typeface="Lucida Console" panose="020B0609040504020204" pitchFamily="49" charset="0"/>
              </a:rPr>
              <a:t>{</a:t>
            </a:r>
          </a:p>
          <a:p>
            <a:r>
              <a:rPr lang="en-US" sz="1200" dirty="0" smtClean="0">
                <a:latin typeface="Lucida Console" panose="020B0609040504020204" pitchFamily="49" charset="0"/>
              </a:rPr>
              <a:t>    auto </a:t>
            </a:r>
            <a:r>
              <a:rPr lang="en-US" sz="1200" dirty="0" err="1">
                <a:latin typeface="Lucida Console" panose="020B0609040504020204" pitchFamily="49" charset="0"/>
              </a:rPr>
              <a:t>vtxShaderSource</a:t>
            </a:r>
            <a:r>
              <a:rPr lang="en-US" sz="1200" dirty="0">
                <a:latin typeface="Lucida Console" panose="020B0609040504020204" pitchFamily="49" charset="0"/>
              </a:rPr>
              <a:t>=</a:t>
            </a:r>
            <a:r>
              <a:rPr lang="en-US" sz="1200" dirty="0" err="1">
                <a:latin typeface="Lucida Console" panose="020B0609040504020204" pitchFamily="49" charset="0"/>
              </a:rPr>
              <a:t>ReadTextFile</a:t>
            </a:r>
            <a:r>
              <a:rPr lang="en-US" sz="1200" dirty="0">
                <a:latin typeface="Lucida Console" panose="020B0609040504020204" pitchFamily="49" charset="0"/>
              </a:rPr>
              <a:t>(</a:t>
            </a:r>
            <a:r>
              <a:rPr lang="en-US" sz="1200" dirty="0" err="1">
                <a:latin typeface="Lucida Console" panose="020B0609040504020204" pitchFamily="49" charset="0"/>
              </a:rPr>
              <a:t>vtxShaderFn</a:t>
            </a:r>
            <a:r>
              <a:rPr lang="en-US" sz="1200" dirty="0">
                <a:latin typeface="Lucida Console" panose="020B0609040504020204" pitchFamily="49" charset="0"/>
              </a:rPr>
              <a:t>);</a:t>
            </a:r>
          </a:p>
          <a:p>
            <a:r>
              <a:rPr lang="en-US" sz="1200" dirty="0" smtClean="0">
                <a:latin typeface="Lucida Console" panose="020B0609040504020204" pitchFamily="49" charset="0"/>
              </a:rPr>
              <a:t>    auto </a:t>
            </a:r>
            <a:r>
              <a:rPr lang="en-US" sz="1200" dirty="0" err="1">
                <a:latin typeface="Lucida Console" panose="020B0609040504020204" pitchFamily="49" charset="0"/>
              </a:rPr>
              <a:t>fragShaderSource</a:t>
            </a:r>
            <a:r>
              <a:rPr lang="en-US" sz="1200" dirty="0">
                <a:latin typeface="Lucida Console" panose="020B0609040504020204" pitchFamily="49" charset="0"/>
              </a:rPr>
              <a:t>=</a:t>
            </a:r>
            <a:r>
              <a:rPr lang="en-US" sz="1200" dirty="0" err="1">
                <a:latin typeface="Lucida Console" panose="020B0609040504020204" pitchFamily="49" charset="0"/>
              </a:rPr>
              <a:t>ReadTextFile</a:t>
            </a:r>
            <a:r>
              <a:rPr lang="en-US" sz="1200" dirty="0">
                <a:latin typeface="Lucida Console" panose="020B0609040504020204" pitchFamily="49" charset="0"/>
              </a:rPr>
              <a:t>(</a:t>
            </a:r>
            <a:r>
              <a:rPr lang="en-US" sz="1200" dirty="0" err="1">
                <a:latin typeface="Lucida Console" panose="020B0609040504020204" pitchFamily="49" charset="0"/>
              </a:rPr>
              <a:t>fragShaderFn</a:t>
            </a:r>
            <a:r>
              <a:rPr lang="en-US" sz="1200" dirty="0">
                <a:latin typeface="Lucida Console" panose="020B0609040504020204" pitchFamily="49" charset="0"/>
              </a:rPr>
              <a:t>);</a:t>
            </a:r>
          </a:p>
          <a:p>
            <a:endParaRPr lang="en-US" sz="1200" dirty="0">
              <a:latin typeface="Lucida Console" panose="020B0609040504020204" pitchFamily="49" charset="0"/>
            </a:endParaRPr>
          </a:p>
          <a:p>
            <a:r>
              <a:rPr lang="en-US" sz="1200" dirty="0" smtClean="0">
                <a:latin typeface="Lucida Console" panose="020B0609040504020204" pitchFamily="49" charset="0"/>
              </a:rPr>
              <a:t>    </a:t>
            </a:r>
            <a:r>
              <a:rPr lang="en-US" sz="1200" dirty="0" err="1" smtClean="0">
                <a:latin typeface="Lucida Console" panose="020B0609040504020204" pitchFamily="49" charset="0"/>
              </a:rPr>
              <a:t>printf</a:t>
            </a:r>
            <a:r>
              <a:rPr lang="en-US" sz="1200" dirty="0">
                <a:latin typeface="Lucida Console" panose="020B0609040504020204" pitchFamily="49" charset="0"/>
              </a:rPr>
              <a:t>("Vertex </a:t>
            </a:r>
            <a:r>
              <a:rPr lang="en-US" sz="1200" dirty="0" err="1">
                <a:latin typeface="Lucida Console" panose="020B0609040504020204" pitchFamily="49" charset="0"/>
              </a:rPr>
              <a:t>Shader</a:t>
            </a:r>
            <a:r>
              <a:rPr lang="en-US" sz="1200" dirty="0">
                <a:latin typeface="Lucida Console" panose="020B0609040504020204" pitchFamily="49" charset="0"/>
              </a:rPr>
              <a:t>\n");</a:t>
            </a:r>
          </a:p>
          <a:p>
            <a:r>
              <a:rPr lang="en-US" sz="1200" dirty="0" smtClean="0">
                <a:latin typeface="Lucida Console" panose="020B0609040504020204" pitchFamily="49" charset="0"/>
              </a:rPr>
              <a:t>    </a:t>
            </a:r>
            <a:r>
              <a:rPr lang="en-US" sz="1200" dirty="0" err="1" smtClean="0">
                <a:latin typeface="Lucida Console" panose="020B0609040504020204" pitchFamily="49" charset="0"/>
              </a:rPr>
              <a:t>printf</a:t>
            </a:r>
            <a:r>
              <a:rPr lang="en-US" sz="1200" dirty="0">
                <a:latin typeface="Lucida Console" panose="020B0609040504020204" pitchFamily="49" charset="0"/>
              </a:rPr>
              <a:t>("%s\n",</a:t>
            </a:r>
            <a:r>
              <a:rPr lang="en-US" sz="1200" dirty="0" err="1">
                <a:latin typeface="Lucida Console" panose="020B0609040504020204" pitchFamily="49" charset="0"/>
              </a:rPr>
              <a:t>vtxShaderSource.data</a:t>
            </a:r>
            <a:r>
              <a:rPr lang="en-US" sz="1200" dirty="0">
                <a:latin typeface="Lucida Console" panose="020B0609040504020204" pitchFamily="49" charset="0"/>
              </a:rPr>
              <a:t>());</a:t>
            </a:r>
          </a:p>
          <a:p>
            <a:endParaRPr lang="en-US" sz="1200" dirty="0">
              <a:latin typeface="Lucida Console" panose="020B0609040504020204" pitchFamily="49" charset="0"/>
            </a:endParaRPr>
          </a:p>
          <a:p>
            <a:r>
              <a:rPr lang="en-US" sz="1200" dirty="0" smtClean="0">
                <a:latin typeface="Lucida Console" panose="020B0609040504020204" pitchFamily="49" charset="0"/>
              </a:rPr>
              <a:t>    </a:t>
            </a:r>
            <a:r>
              <a:rPr lang="en-US" sz="1200" dirty="0" err="1" smtClean="0">
                <a:latin typeface="Lucida Console" panose="020B0609040504020204" pitchFamily="49" charset="0"/>
              </a:rPr>
              <a:t>printf</a:t>
            </a:r>
            <a:r>
              <a:rPr lang="en-US" sz="1200" dirty="0">
                <a:latin typeface="Lucida Console" panose="020B0609040504020204" pitchFamily="49" charset="0"/>
              </a:rPr>
              <a:t>("Fragment </a:t>
            </a:r>
            <a:r>
              <a:rPr lang="en-US" sz="1200" dirty="0" err="1">
                <a:latin typeface="Lucida Console" panose="020B0609040504020204" pitchFamily="49" charset="0"/>
              </a:rPr>
              <a:t>Shader</a:t>
            </a:r>
            <a:r>
              <a:rPr lang="en-US" sz="1200" dirty="0">
                <a:latin typeface="Lucida Console" panose="020B0609040504020204" pitchFamily="49" charset="0"/>
              </a:rPr>
              <a:t>\n");</a:t>
            </a:r>
          </a:p>
          <a:p>
            <a:r>
              <a:rPr lang="en-US" sz="1200" dirty="0" smtClean="0">
                <a:latin typeface="Lucida Console" panose="020B0609040504020204" pitchFamily="49" charset="0"/>
              </a:rPr>
              <a:t>    </a:t>
            </a:r>
            <a:r>
              <a:rPr lang="en-US" sz="1200" dirty="0" err="1" smtClean="0">
                <a:latin typeface="Lucida Console" panose="020B0609040504020204" pitchFamily="49" charset="0"/>
              </a:rPr>
              <a:t>printf</a:t>
            </a:r>
            <a:r>
              <a:rPr lang="en-US" sz="1200" dirty="0">
                <a:latin typeface="Lucida Console" panose="020B0609040504020204" pitchFamily="49" charset="0"/>
              </a:rPr>
              <a:t>("%s\n",</a:t>
            </a:r>
            <a:r>
              <a:rPr lang="en-US" sz="1200" dirty="0" err="1">
                <a:latin typeface="Lucida Console" panose="020B0609040504020204" pitchFamily="49" charset="0"/>
              </a:rPr>
              <a:t>fragShaderSource.data</a:t>
            </a:r>
            <a:r>
              <a:rPr lang="en-US" sz="1200" dirty="0">
                <a:latin typeface="Lucida Console" panose="020B0609040504020204" pitchFamily="49" charset="0"/>
              </a:rPr>
              <a:t>());</a:t>
            </a:r>
          </a:p>
          <a:p>
            <a:endParaRPr lang="en-US" sz="1200" dirty="0">
              <a:latin typeface="Lucida Console" panose="020B0609040504020204" pitchFamily="49" charset="0"/>
            </a:endParaRPr>
          </a:p>
          <a:p>
            <a:r>
              <a:rPr lang="en-US" sz="1200" dirty="0" smtClean="0">
                <a:latin typeface="Lucida Console" panose="020B0609040504020204" pitchFamily="49" charset="0"/>
              </a:rPr>
              <a:t>    return </a:t>
            </a:r>
            <a:r>
              <a:rPr lang="en-US" sz="1200" dirty="0">
                <a:latin typeface="Lucida Console" panose="020B0609040504020204" pitchFamily="49" charset="0"/>
              </a:rPr>
              <a:t>Compile(</a:t>
            </a:r>
            <a:r>
              <a:rPr lang="en-US" sz="1200" dirty="0" err="1">
                <a:latin typeface="Lucida Console" panose="020B0609040504020204" pitchFamily="49" charset="0"/>
              </a:rPr>
              <a:t>vtxShaderSource,fragShaderSource</a:t>
            </a:r>
            <a:r>
              <a:rPr lang="en-US" sz="1200" dirty="0">
                <a:latin typeface="Lucida Console" panose="020B0609040504020204" pitchFamily="49" charset="0"/>
              </a:rPr>
              <a:t>);</a:t>
            </a:r>
          </a:p>
          <a:p>
            <a:r>
              <a:rPr lang="en-US" sz="1200" dirty="0">
                <a:latin typeface="Lucida Console" panose="020B0609040504020204" pitchFamily="49" charset="0"/>
              </a:rPr>
              <a:t>}</a:t>
            </a:r>
          </a:p>
          <a:p>
            <a:endParaRPr lang="en-US" sz="1200" dirty="0">
              <a:latin typeface="Lucida Console" panose="020B0609040504020204" pitchFamily="49" charset="0"/>
            </a:endParaRPr>
          </a:p>
        </p:txBody>
      </p:sp>
    </p:spTree>
    <p:extLst>
      <p:ext uri="{BB962C8B-B14F-4D97-AF65-F5344CB8AC3E}">
        <p14:creationId xmlns:p14="http://schemas.microsoft.com/office/powerpoint/2010/main" val="11290916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3497" y="684949"/>
            <a:ext cx="7250703" cy="4524315"/>
          </a:xfrm>
          <a:prstGeom prst="rect">
            <a:avLst/>
          </a:prstGeom>
          <a:noFill/>
        </p:spPr>
        <p:txBody>
          <a:bodyPr wrap="none" rtlCol="0">
            <a:spAutoFit/>
          </a:bodyPr>
          <a:lstStyle/>
          <a:p>
            <a:r>
              <a:rPr lang="en-US" sz="1200" dirty="0">
                <a:latin typeface="Lucida Console" panose="020B0609040504020204" pitchFamily="49" charset="0"/>
              </a:rPr>
              <a:t>bool </a:t>
            </a:r>
            <a:r>
              <a:rPr lang="en-US" sz="1200" dirty="0" err="1">
                <a:latin typeface="Lucida Console" panose="020B0609040504020204" pitchFamily="49" charset="0"/>
              </a:rPr>
              <a:t>RendererBase</a:t>
            </a:r>
            <a:r>
              <a:rPr lang="en-US" sz="1200" dirty="0">
                <a:latin typeface="Lucida Console" panose="020B0609040504020204" pitchFamily="49" charset="0"/>
              </a:rPr>
              <a:t>::</a:t>
            </a:r>
            <a:r>
              <a:rPr lang="en-US" sz="1200" dirty="0" err="1">
                <a:latin typeface="Lucida Console" panose="020B0609040504020204" pitchFamily="49" charset="0"/>
              </a:rPr>
              <a:t>CompileShader</a:t>
            </a:r>
            <a:r>
              <a:rPr lang="en-US" sz="1200" dirty="0">
                <a:latin typeface="Lucida Console" panose="020B0609040504020204" pitchFamily="49" charset="0"/>
              </a:rPr>
              <a:t>(</a:t>
            </a:r>
            <a:r>
              <a:rPr lang="en-US" sz="1200" dirty="0" err="1">
                <a:latin typeface="Lucida Console" panose="020B0609040504020204" pitchFamily="49" charset="0"/>
              </a:rPr>
              <a:t>int</a:t>
            </a:r>
            <a:r>
              <a:rPr lang="en-US" sz="1200" dirty="0">
                <a:latin typeface="Lucida Console" panose="020B0609040504020204" pitchFamily="49" charset="0"/>
              </a:rPr>
              <a:t> </a:t>
            </a:r>
            <a:r>
              <a:rPr lang="en-US" sz="1200" dirty="0" err="1">
                <a:latin typeface="Lucida Console" panose="020B0609040504020204" pitchFamily="49" charset="0"/>
              </a:rPr>
              <a:t>shaderIdent</a:t>
            </a:r>
            <a:r>
              <a:rPr lang="en-US" sz="1200" dirty="0">
                <a:latin typeface="Lucida Console" panose="020B0609040504020204" pitchFamily="49" charset="0"/>
              </a:rPr>
              <a:t>)</a:t>
            </a:r>
          </a:p>
          <a:p>
            <a:r>
              <a:rPr lang="en-US" sz="1200" dirty="0">
                <a:latin typeface="Lucida Console" panose="020B0609040504020204" pitchFamily="49" charset="0"/>
              </a:rPr>
              <a:t>{</a:t>
            </a:r>
          </a:p>
          <a:p>
            <a:r>
              <a:rPr lang="en-US" sz="1200" dirty="0" smtClean="0">
                <a:latin typeface="Lucida Console" panose="020B0609040504020204" pitchFamily="49" charset="0"/>
              </a:rPr>
              <a:t>    </a:t>
            </a:r>
            <a:r>
              <a:rPr lang="en-US" sz="1200" dirty="0" err="1" smtClean="0">
                <a:latin typeface="Lucida Console" panose="020B0609040504020204" pitchFamily="49" charset="0"/>
              </a:rPr>
              <a:t>int</a:t>
            </a:r>
            <a:r>
              <a:rPr lang="en-US" sz="1200" dirty="0" smtClean="0">
                <a:latin typeface="Lucida Console" panose="020B0609040504020204" pitchFamily="49" charset="0"/>
              </a:rPr>
              <a:t> </a:t>
            </a:r>
            <a:r>
              <a:rPr lang="en-US" sz="1200" dirty="0" err="1">
                <a:latin typeface="Lucida Console" panose="020B0609040504020204" pitchFamily="49" charset="0"/>
              </a:rPr>
              <a:t>compileSta</a:t>
            </a:r>
            <a:r>
              <a:rPr lang="en-US" sz="1200" dirty="0">
                <a:latin typeface="Lucida Console" panose="020B0609040504020204" pitchFamily="49" charset="0"/>
              </a:rPr>
              <a:t>=99999,infoLogLength=99999,acquiredErrMsgLen=99999;</a:t>
            </a:r>
          </a:p>
          <a:p>
            <a:r>
              <a:rPr lang="en-US" sz="1200" dirty="0" smtClean="0">
                <a:latin typeface="Lucida Console" panose="020B0609040504020204" pitchFamily="49" charset="0"/>
              </a:rPr>
              <a:t>    </a:t>
            </a:r>
            <a:r>
              <a:rPr lang="en-US" sz="1200" dirty="0" err="1" smtClean="0">
                <a:latin typeface="Lucida Console" panose="020B0609040504020204" pitchFamily="49" charset="0"/>
              </a:rPr>
              <a:t>int</a:t>
            </a:r>
            <a:r>
              <a:rPr lang="en-US" sz="1200" dirty="0" smtClean="0">
                <a:latin typeface="Lucida Console" panose="020B0609040504020204" pitchFamily="49" charset="0"/>
              </a:rPr>
              <a:t> </a:t>
            </a:r>
            <a:r>
              <a:rPr lang="en-US" sz="1200" dirty="0" err="1">
                <a:latin typeface="Lucida Console" panose="020B0609040504020204" pitchFamily="49" charset="0"/>
              </a:rPr>
              <a:t>linkSta</a:t>
            </a:r>
            <a:r>
              <a:rPr lang="en-US" sz="1200" dirty="0">
                <a:latin typeface="Lucida Console" panose="020B0609040504020204" pitchFamily="49" charset="0"/>
              </a:rPr>
              <a:t>=99999;</a:t>
            </a:r>
          </a:p>
          <a:p>
            <a:r>
              <a:rPr lang="en-US" sz="1200" dirty="0" smtClean="0">
                <a:latin typeface="Lucida Console" panose="020B0609040504020204" pitchFamily="49" charset="0"/>
              </a:rPr>
              <a:t>    </a:t>
            </a:r>
            <a:r>
              <a:rPr lang="en-US" sz="1200" dirty="0" err="1" smtClean="0">
                <a:latin typeface="Lucida Console" panose="020B0609040504020204" pitchFamily="49" charset="0"/>
              </a:rPr>
              <a:t>const</a:t>
            </a:r>
            <a:r>
              <a:rPr lang="en-US" sz="1200" dirty="0" smtClean="0">
                <a:latin typeface="Lucida Console" panose="020B0609040504020204" pitchFamily="49" charset="0"/>
              </a:rPr>
              <a:t> </a:t>
            </a:r>
            <a:r>
              <a:rPr lang="en-US" sz="1200" dirty="0" err="1">
                <a:latin typeface="Lucida Console" panose="020B0609040504020204" pitchFamily="49" charset="0"/>
              </a:rPr>
              <a:t>int</a:t>
            </a:r>
            <a:r>
              <a:rPr lang="en-US" sz="1200" dirty="0">
                <a:latin typeface="Lucida Console" panose="020B0609040504020204" pitchFamily="49" charset="0"/>
              </a:rPr>
              <a:t> </a:t>
            </a:r>
            <a:r>
              <a:rPr lang="en-US" sz="1200" dirty="0" err="1">
                <a:latin typeface="Lucida Console" panose="020B0609040504020204" pitchFamily="49" charset="0"/>
              </a:rPr>
              <a:t>errMsgLen</a:t>
            </a:r>
            <a:r>
              <a:rPr lang="en-US" sz="1200" dirty="0">
                <a:latin typeface="Lucida Console" panose="020B0609040504020204" pitchFamily="49" charset="0"/>
              </a:rPr>
              <a:t>=1024;</a:t>
            </a:r>
          </a:p>
          <a:p>
            <a:r>
              <a:rPr lang="en-US" sz="1200" dirty="0" smtClean="0">
                <a:latin typeface="Lucida Console" panose="020B0609040504020204" pitchFamily="49" charset="0"/>
              </a:rPr>
              <a:t>    char </a:t>
            </a:r>
            <a:r>
              <a:rPr lang="en-US" sz="1200" dirty="0" err="1">
                <a:latin typeface="Lucida Console" panose="020B0609040504020204" pitchFamily="49" charset="0"/>
              </a:rPr>
              <a:t>errMsg</a:t>
            </a:r>
            <a:r>
              <a:rPr lang="en-US" sz="1200" dirty="0">
                <a:latin typeface="Lucida Console" panose="020B0609040504020204" pitchFamily="49" charset="0"/>
              </a:rPr>
              <a:t>[1024];</a:t>
            </a:r>
          </a:p>
          <a:p>
            <a:endParaRPr lang="en-US" sz="1200" dirty="0">
              <a:latin typeface="Lucida Console" panose="020B0609040504020204" pitchFamily="49" charset="0"/>
            </a:endParaRPr>
          </a:p>
          <a:p>
            <a:r>
              <a:rPr lang="en-US" sz="1200" dirty="0" smtClean="0">
                <a:latin typeface="Lucida Console" panose="020B0609040504020204" pitchFamily="49" charset="0"/>
              </a:rPr>
              <a:t>    </a:t>
            </a:r>
            <a:r>
              <a:rPr lang="en-US" sz="1200" dirty="0" err="1" smtClean="0">
                <a:latin typeface="Lucida Console" panose="020B0609040504020204" pitchFamily="49" charset="0"/>
              </a:rPr>
              <a:t>glCompileShader</a:t>
            </a:r>
            <a:r>
              <a:rPr lang="en-US" sz="1200" dirty="0" smtClean="0">
                <a:latin typeface="Lucida Console" panose="020B0609040504020204" pitchFamily="49" charset="0"/>
              </a:rPr>
              <a:t>(</a:t>
            </a:r>
            <a:r>
              <a:rPr lang="en-US" sz="1200" dirty="0" err="1" smtClean="0">
                <a:latin typeface="Lucida Console" panose="020B0609040504020204" pitchFamily="49" charset="0"/>
              </a:rPr>
              <a:t>shaderIdent</a:t>
            </a:r>
            <a:r>
              <a:rPr lang="en-US" sz="1200" dirty="0">
                <a:latin typeface="Lucida Console" panose="020B0609040504020204" pitchFamily="49" charset="0"/>
              </a:rPr>
              <a:t>);</a:t>
            </a:r>
          </a:p>
          <a:p>
            <a:endParaRPr lang="en-US" sz="1200" dirty="0">
              <a:latin typeface="Lucida Console" panose="020B0609040504020204" pitchFamily="49" charset="0"/>
            </a:endParaRPr>
          </a:p>
          <a:p>
            <a:r>
              <a:rPr lang="en-US" sz="1200" dirty="0" smtClean="0">
                <a:latin typeface="Lucida Console" panose="020B0609040504020204" pitchFamily="49" charset="0"/>
              </a:rPr>
              <a:t>    </a:t>
            </a:r>
            <a:r>
              <a:rPr lang="en-US" sz="1200" dirty="0" err="1" smtClean="0">
                <a:latin typeface="Lucida Console" panose="020B0609040504020204" pitchFamily="49" charset="0"/>
              </a:rPr>
              <a:t>glGetShaderiv</a:t>
            </a:r>
            <a:r>
              <a:rPr lang="en-US" sz="1200" dirty="0" smtClean="0">
                <a:latin typeface="Lucida Console" panose="020B0609040504020204" pitchFamily="49" charset="0"/>
              </a:rPr>
              <a:t>(shaderIdent,GL_COMPILE_STATUS</a:t>
            </a:r>
            <a:r>
              <a:rPr lang="en-US" sz="1200" dirty="0">
                <a:latin typeface="Lucida Console" panose="020B0609040504020204" pitchFamily="49" charset="0"/>
              </a:rPr>
              <a:t>,&amp;</a:t>
            </a:r>
            <a:r>
              <a:rPr lang="en-US" sz="1200" dirty="0" err="1">
                <a:latin typeface="Lucida Console" panose="020B0609040504020204" pitchFamily="49" charset="0"/>
              </a:rPr>
              <a:t>compileSta</a:t>
            </a:r>
            <a:r>
              <a:rPr lang="en-US" sz="1200" dirty="0">
                <a:latin typeface="Lucida Console" panose="020B0609040504020204" pitchFamily="49" charset="0"/>
              </a:rPr>
              <a:t>);</a:t>
            </a:r>
          </a:p>
          <a:p>
            <a:r>
              <a:rPr lang="en-US" sz="1200" dirty="0" smtClean="0">
                <a:latin typeface="Lucida Console" panose="020B0609040504020204" pitchFamily="49" charset="0"/>
              </a:rPr>
              <a:t>    </a:t>
            </a:r>
            <a:r>
              <a:rPr lang="en-US" sz="1200" dirty="0" err="1" smtClean="0">
                <a:latin typeface="Lucida Console" panose="020B0609040504020204" pitchFamily="49" charset="0"/>
              </a:rPr>
              <a:t>glGetShaderiv</a:t>
            </a:r>
            <a:r>
              <a:rPr lang="en-US" sz="1200" dirty="0" smtClean="0">
                <a:latin typeface="Lucida Console" panose="020B0609040504020204" pitchFamily="49" charset="0"/>
              </a:rPr>
              <a:t>(shaderIdent,GL_INFO_LOG_LENGTH</a:t>
            </a:r>
            <a:r>
              <a:rPr lang="en-US" sz="1200" dirty="0">
                <a:latin typeface="Lucida Console" panose="020B0609040504020204" pitchFamily="49" charset="0"/>
              </a:rPr>
              <a:t>,&amp;</a:t>
            </a:r>
            <a:r>
              <a:rPr lang="en-US" sz="1200" dirty="0" err="1">
                <a:latin typeface="Lucida Console" panose="020B0609040504020204" pitchFamily="49" charset="0"/>
              </a:rPr>
              <a:t>infoLogLength</a:t>
            </a:r>
            <a:r>
              <a:rPr lang="en-US" sz="1200" dirty="0">
                <a:latin typeface="Lucida Console" panose="020B0609040504020204" pitchFamily="49" charset="0"/>
              </a:rPr>
              <a:t>);</a:t>
            </a:r>
          </a:p>
          <a:p>
            <a:r>
              <a:rPr lang="en-US" sz="1200" dirty="0" smtClean="0">
                <a:latin typeface="Lucida Console" panose="020B0609040504020204" pitchFamily="49" charset="0"/>
              </a:rPr>
              <a:t>    </a:t>
            </a:r>
            <a:r>
              <a:rPr lang="en-US" sz="1200" dirty="0" err="1" smtClean="0">
                <a:latin typeface="Lucida Console" panose="020B0609040504020204" pitchFamily="49" charset="0"/>
              </a:rPr>
              <a:t>glGetShaderInfoLog</a:t>
            </a:r>
            <a:r>
              <a:rPr lang="en-US" sz="1200" dirty="0" smtClean="0">
                <a:latin typeface="Lucida Console" panose="020B0609040504020204" pitchFamily="49" charset="0"/>
              </a:rPr>
              <a:t>(shaderIdent,errMsgLen-1</a:t>
            </a:r>
            <a:r>
              <a:rPr lang="en-US" sz="1200" dirty="0">
                <a:latin typeface="Lucida Console" panose="020B0609040504020204" pitchFamily="49" charset="0"/>
              </a:rPr>
              <a:t>,&amp;acquiredErrMsgLen,errMsg);</a:t>
            </a:r>
          </a:p>
          <a:p>
            <a:r>
              <a:rPr lang="en-US" sz="1200" dirty="0" smtClean="0">
                <a:latin typeface="Lucida Console" panose="020B0609040504020204" pitchFamily="49" charset="0"/>
              </a:rPr>
              <a:t>    </a:t>
            </a:r>
            <a:r>
              <a:rPr lang="en-US" sz="1200" dirty="0" err="1" smtClean="0">
                <a:latin typeface="Lucida Console" panose="020B0609040504020204" pitchFamily="49" charset="0"/>
              </a:rPr>
              <a:t>printf</a:t>
            </a:r>
            <a:r>
              <a:rPr lang="en-US" sz="1200" dirty="0">
                <a:latin typeface="Lucida Console" panose="020B0609040504020204" pitchFamily="49" charset="0"/>
              </a:rPr>
              <a:t>("Compile Status %d Info Log Length %d Error Message Length %d\n</a:t>
            </a:r>
            <a:r>
              <a:rPr lang="en-US" sz="1200" dirty="0" smtClean="0">
                <a:latin typeface="Lucida Console" panose="020B0609040504020204" pitchFamily="49" charset="0"/>
              </a:rPr>
              <a:t>",</a:t>
            </a:r>
          </a:p>
          <a:p>
            <a:r>
              <a:rPr lang="en-US" sz="1200" dirty="0">
                <a:latin typeface="Lucida Console" panose="020B0609040504020204" pitchFamily="49" charset="0"/>
              </a:rPr>
              <a:t> </a:t>
            </a:r>
            <a:r>
              <a:rPr lang="en-US" sz="1200" dirty="0" smtClean="0">
                <a:latin typeface="Lucida Console" panose="020B0609040504020204" pitchFamily="49" charset="0"/>
              </a:rPr>
              <a:t>       </a:t>
            </a:r>
            <a:r>
              <a:rPr lang="en-US" sz="1200" dirty="0" err="1" smtClean="0">
                <a:latin typeface="Lucida Console" panose="020B0609040504020204" pitchFamily="49" charset="0"/>
              </a:rPr>
              <a:t>compileSta,infoLogLength,acquiredErrMsgLen</a:t>
            </a:r>
            <a:r>
              <a:rPr lang="en-US" sz="1200" dirty="0">
                <a:latin typeface="Lucida Console" panose="020B0609040504020204" pitchFamily="49" charset="0"/>
              </a:rPr>
              <a:t>);</a:t>
            </a:r>
          </a:p>
          <a:p>
            <a:endParaRPr lang="en-US" sz="1200" dirty="0">
              <a:latin typeface="Lucida Console" panose="020B0609040504020204" pitchFamily="49" charset="0"/>
            </a:endParaRPr>
          </a:p>
          <a:p>
            <a:r>
              <a:rPr lang="en-US" sz="1200" dirty="0" smtClean="0">
                <a:latin typeface="Lucida Console" panose="020B0609040504020204" pitchFamily="49" charset="0"/>
              </a:rPr>
              <a:t>    if(GL_TRUE</a:t>
            </a:r>
            <a:r>
              <a:rPr lang="en-US" sz="1200" dirty="0">
                <a:latin typeface="Lucida Console" panose="020B0609040504020204" pitchFamily="49" charset="0"/>
              </a:rPr>
              <a:t>!=</a:t>
            </a:r>
            <a:r>
              <a:rPr lang="en-US" sz="1200" dirty="0" err="1">
                <a:latin typeface="Lucida Console" panose="020B0609040504020204" pitchFamily="49" charset="0"/>
              </a:rPr>
              <a:t>compileSta</a:t>
            </a:r>
            <a:r>
              <a:rPr lang="en-US" sz="1200" dirty="0">
                <a:latin typeface="Lucida Console" panose="020B0609040504020204" pitchFamily="49" charset="0"/>
              </a:rPr>
              <a:t>)</a:t>
            </a:r>
          </a:p>
          <a:p>
            <a:r>
              <a:rPr lang="en-US" sz="1200" dirty="0" smtClean="0">
                <a:latin typeface="Lucida Console" panose="020B0609040504020204" pitchFamily="49" charset="0"/>
              </a:rPr>
              <a:t>    {</a:t>
            </a:r>
            <a:endParaRPr lang="en-US" sz="1200" dirty="0">
              <a:latin typeface="Lucida Console" panose="020B0609040504020204" pitchFamily="49" charset="0"/>
            </a:endParaRPr>
          </a:p>
          <a:p>
            <a:r>
              <a:rPr lang="en-US" sz="1200" dirty="0" smtClean="0">
                <a:latin typeface="Lucida Console" panose="020B0609040504020204" pitchFamily="49" charset="0"/>
              </a:rPr>
              <a:t>        </a:t>
            </a:r>
            <a:r>
              <a:rPr lang="en-US" sz="1200" dirty="0" err="1" smtClean="0">
                <a:latin typeface="Lucida Console" panose="020B0609040504020204" pitchFamily="49" charset="0"/>
              </a:rPr>
              <a:t>int</a:t>
            </a:r>
            <a:r>
              <a:rPr lang="en-US" sz="1200" dirty="0" smtClean="0">
                <a:latin typeface="Lucida Console" panose="020B0609040504020204" pitchFamily="49" charset="0"/>
              </a:rPr>
              <a:t> </a:t>
            </a:r>
            <a:r>
              <a:rPr lang="en-US" sz="1200" dirty="0" err="1">
                <a:latin typeface="Lucida Console" panose="020B0609040504020204" pitchFamily="49" charset="0"/>
              </a:rPr>
              <a:t>i</a:t>
            </a:r>
            <a:r>
              <a:rPr lang="en-US" sz="1200" dirty="0">
                <a:latin typeface="Lucida Console" panose="020B0609040504020204" pitchFamily="49" charset="0"/>
              </a:rPr>
              <a:t>;</a:t>
            </a:r>
          </a:p>
          <a:p>
            <a:r>
              <a:rPr lang="en-US" sz="1200" dirty="0" smtClean="0">
                <a:latin typeface="Lucida Console" panose="020B0609040504020204" pitchFamily="49" charset="0"/>
              </a:rPr>
              <a:t>        </a:t>
            </a:r>
            <a:r>
              <a:rPr lang="en-US" sz="1200" dirty="0" err="1" smtClean="0">
                <a:latin typeface="Lucida Console" panose="020B0609040504020204" pitchFamily="49" charset="0"/>
              </a:rPr>
              <a:t>printf</a:t>
            </a:r>
            <a:r>
              <a:rPr lang="en-US" sz="1200" dirty="0">
                <a:latin typeface="Lucida Console" panose="020B0609040504020204" pitchFamily="49" charset="0"/>
              </a:rPr>
              <a:t>("Error Message: \</a:t>
            </a:r>
            <a:r>
              <a:rPr lang="en-US" sz="1200" dirty="0" err="1">
                <a:latin typeface="Lucida Console" panose="020B0609040504020204" pitchFamily="49" charset="0"/>
              </a:rPr>
              <a:t>n%s</a:t>
            </a:r>
            <a:r>
              <a:rPr lang="en-US" sz="1200" dirty="0">
                <a:latin typeface="Lucida Console" panose="020B0609040504020204" pitchFamily="49" charset="0"/>
              </a:rPr>
              <a:t>\n",</a:t>
            </a:r>
            <a:r>
              <a:rPr lang="en-US" sz="1200" dirty="0" err="1">
                <a:latin typeface="Lucida Console" panose="020B0609040504020204" pitchFamily="49" charset="0"/>
              </a:rPr>
              <a:t>errMsg</a:t>
            </a:r>
            <a:r>
              <a:rPr lang="en-US" sz="1200" dirty="0">
                <a:latin typeface="Lucida Console" panose="020B0609040504020204" pitchFamily="49" charset="0"/>
              </a:rPr>
              <a:t>);</a:t>
            </a:r>
          </a:p>
          <a:p>
            <a:r>
              <a:rPr lang="en-US" sz="1200" dirty="0" smtClean="0">
                <a:latin typeface="Lucida Console" panose="020B0609040504020204" pitchFamily="49" charset="0"/>
              </a:rPr>
              <a:t>        return </a:t>
            </a:r>
            <a:r>
              <a:rPr lang="en-US" sz="1200" dirty="0">
                <a:latin typeface="Lucida Console" panose="020B0609040504020204" pitchFamily="49" charset="0"/>
              </a:rPr>
              <a:t>false;</a:t>
            </a:r>
          </a:p>
          <a:p>
            <a:r>
              <a:rPr lang="en-US" sz="1200" dirty="0" smtClean="0">
                <a:latin typeface="Lucida Console" panose="020B0609040504020204" pitchFamily="49" charset="0"/>
              </a:rPr>
              <a:t>    }</a:t>
            </a:r>
            <a:endParaRPr lang="en-US" sz="1200" dirty="0">
              <a:latin typeface="Lucida Console" panose="020B0609040504020204" pitchFamily="49" charset="0"/>
            </a:endParaRPr>
          </a:p>
          <a:p>
            <a:r>
              <a:rPr lang="en-US" sz="1200" dirty="0" smtClean="0">
                <a:latin typeface="Lucida Console" panose="020B0609040504020204" pitchFamily="49" charset="0"/>
              </a:rPr>
              <a:t>    return </a:t>
            </a:r>
            <a:r>
              <a:rPr lang="en-US" sz="1200" dirty="0">
                <a:latin typeface="Lucida Console" panose="020B0609040504020204" pitchFamily="49" charset="0"/>
              </a:rPr>
              <a:t>true;</a:t>
            </a:r>
          </a:p>
          <a:p>
            <a:r>
              <a:rPr lang="en-US" sz="1200" dirty="0">
                <a:latin typeface="Lucida Console" panose="020B0609040504020204" pitchFamily="49" charset="0"/>
              </a:rPr>
              <a:t>}</a:t>
            </a:r>
          </a:p>
          <a:p>
            <a:endParaRPr lang="en-US" sz="1200" dirty="0">
              <a:latin typeface="Lucida Console" panose="020B0609040504020204" pitchFamily="49" charset="0"/>
            </a:endParaRPr>
          </a:p>
        </p:txBody>
      </p:sp>
      <p:sp>
        <p:nvSpPr>
          <p:cNvPr id="2" name="Right Brace 1"/>
          <p:cNvSpPr/>
          <p:nvPr/>
        </p:nvSpPr>
        <p:spPr>
          <a:xfrm>
            <a:off x="7251192" y="2258568"/>
            <a:ext cx="210312" cy="2157984"/>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TextBox 2"/>
          <p:cNvSpPr txBox="1"/>
          <p:nvPr/>
        </p:nvSpPr>
        <p:spPr>
          <a:xfrm>
            <a:off x="7452360" y="3035808"/>
            <a:ext cx="1499616" cy="646331"/>
          </a:xfrm>
          <a:prstGeom prst="rect">
            <a:avLst/>
          </a:prstGeom>
          <a:noFill/>
        </p:spPr>
        <p:txBody>
          <a:bodyPr wrap="square" rtlCol="0">
            <a:spAutoFit/>
          </a:bodyPr>
          <a:lstStyle/>
          <a:p>
            <a:r>
              <a:rPr lang="en-US" dirty="0" smtClean="0">
                <a:solidFill>
                  <a:srgbClr val="FF0000"/>
                </a:solidFill>
              </a:rPr>
              <a:t>Were there errors?</a:t>
            </a:r>
            <a:endParaRPr lang="en-US" dirty="0">
              <a:solidFill>
                <a:srgbClr val="FF0000"/>
              </a:solidFill>
            </a:endParaRPr>
          </a:p>
        </p:txBody>
      </p:sp>
      <p:cxnSp>
        <p:nvCxnSpPr>
          <p:cNvPr id="6" name="Straight Arrow Connector 5"/>
          <p:cNvCxnSpPr/>
          <p:nvPr/>
        </p:nvCxnSpPr>
        <p:spPr>
          <a:xfrm flipH="1">
            <a:off x="3392424" y="1655064"/>
            <a:ext cx="1280160" cy="42976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4672584" y="1438501"/>
            <a:ext cx="1499616" cy="369332"/>
          </a:xfrm>
          <a:prstGeom prst="rect">
            <a:avLst/>
          </a:prstGeom>
          <a:noFill/>
        </p:spPr>
        <p:txBody>
          <a:bodyPr wrap="square" rtlCol="0">
            <a:spAutoFit/>
          </a:bodyPr>
          <a:lstStyle/>
          <a:p>
            <a:r>
              <a:rPr lang="en-US" dirty="0" smtClean="0">
                <a:solidFill>
                  <a:srgbClr val="FF0000"/>
                </a:solidFill>
              </a:rPr>
              <a:t>Compile</a:t>
            </a:r>
            <a:endParaRPr lang="en-US" dirty="0">
              <a:solidFill>
                <a:srgbClr val="FF0000"/>
              </a:solidFill>
            </a:endParaRPr>
          </a:p>
        </p:txBody>
      </p:sp>
    </p:spTree>
    <p:extLst>
      <p:ext uri="{BB962C8B-B14F-4D97-AF65-F5344CB8AC3E}">
        <p14:creationId xmlns:p14="http://schemas.microsoft.com/office/powerpoint/2010/main" val="29228784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85857" y="238169"/>
            <a:ext cx="7250703" cy="6001643"/>
          </a:xfrm>
          <a:prstGeom prst="rect">
            <a:avLst/>
          </a:prstGeom>
          <a:noFill/>
        </p:spPr>
        <p:txBody>
          <a:bodyPr wrap="none" rtlCol="0">
            <a:spAutoFit/>
          </a:bodyPr>
          <a:lstStyle/>
          <a:p>
            <a:r>
              <a:rPr lang="en-US" sz="1200" dirty="0">
                <a:latin typeface="Lucida Console" panose="020B0609040504020204" pitchFamily="49" charset="0"/>
              </a:rPr>
              <a:t>bool </a:t>
            </a:r>
            <a:r>
              <a:rPr lang="en-US" sz="1200" dirty="0" err="1">
                <a:latin typeface="Lucida Console" panose="020B0609040504020204" pitchFamily="49" charset="0"/>
              </a:rPr>
              <a:t>RendererBase</a:t>
            </a:r>
            <a:r>
              <a:rPr lang="en-US" sz="1200" dirty="0">
                <a:latin typeface="Lucida Console" panose="020B0609040504020204" pitchFamily="49" charset="0"/>
              </a:rPr>
              <a:t>::</a:t>
            </a:r>
            <a:r>
              <a:rPr lang="en-US" sz="1200" dirty="0" err="1">
                <a:latin typeface="Lucida Console" panose="020B0609040504020204" pitchFamily="49" charset="0"/>
              </a:rPr>
              <a:t>LinkShader</a:t>
            </a:r>
            <a:r>
              <a:rPr lang="en-US" sz="1200" dirty="0">
                <a:latin typeface="Lucida Console" panose="020B0609040504020204" pitchFamily="49" charset="0"/>
              </a:rPr>
              <a:t>(void)</a:t>
            </a:r>
          </a:p>
          <a:p>
            <a:r>
              <a:rPr lang="en-US" sz="1200" dirty="0">
                <a:latin typeface="Lucida Console" panose="020B0609040504020204" pitchFamily="49" charset="0"/>
              </a:rPr>
              <a:t>{</a:t>
            </a:r>
          </a:p>
          <a:p>
            <a:r>
              <a:rPr lang="en-US" sz="1200" dirty="0" smtClean="0">
                <a:latin typeface="Lucida Console" panose="020B0609040504020204" pitchFamily="49" charset="0"/>
              </a:rPr>
              <a:t>    </a:t>
            </a:r>
            <a:r>
              <a:rPr lang="en-US" sz="1200" dirty="0" err="1" smtClean="0">
                <a:latin typeface="Lucida Console" panose="020B0609040504020204" pitchFamily="49" charset="0"/>
              </a:rPr>
              <a:t>int</a:t>
            </a:r>
            <a:r>
              <a:rPr lang="en-US" sz="1200" dirty="0" smtClean="0">
                <a:latin typeface="Lucida Console" panose="020B0609040504020204" pitchFamily="49" charset="0"/>
              </a:rPr>
              <a:t> </a:t>
            </a:r>
            <a:r>
              <a:rPr lang="en-US" sz="1200" dirty="0" err="1">
                <a:latin typeface="Lucida Console" panose="020B0609040504020204" pitchFamily="49" charset="0"/>
              </a:rPr>
              <a:t>compileSta</a:t>
            </a:r>
            <a:r>
              <a:rPr lang="en-US" sz="1200" dirty="0">
                <a:latin typeface="Lucida Console" panose="020B0609040504020204" pitchFamily="49" charset="0"/>
              </a:rPr>
              <a:t>=99999,infoLogLength=99999,acquiredErrMsgLen=99999;</a:t>
            </a:r>
          </a:p>
          <a:p>
            <a:r>
              <a:rPr lang="en-US" sz="1200" dirty="0" smtClean="0">
                <a:latin typeface="Lucida Console" panose="020B0609040504020204" pitchFamily="49" charset="0"/>
              </a:rPr>
              <a:t>    </a:t>
            </a:r>
            <a:r>
              <a:rPr lang="en-US" sz="1200" dirty="0" err="1" smtClean="0">
                <a:latin typeface="Lucida Console" panose="020B0609040504020204" pitchFamily="49" charset="0"/>
              </a:rPr>
              <a:t>int</a:t>
            </a:r>
            <a:r>
              <a:rPr lang="en-US" sz="1200" dirty="0" smtClean="0">
                <a:latin typeface="Lucida Console" panose="020B0609040504020204" pitchFamily="49" charset="0"/>
              </a:rPr>
              <a:t> </a:t>
            </a:r>
            <a:r>
              <a:rPr lang="en-US" sz="1200" dirty="0" err="1">
                <a:latin typeface="Lucida Console" panose="020B0609040504020204" pitchFamily="49" charset="0"/>
              </a:rPr>
              <a:t>linkSta</a:t>
            </a:r>
            <a:r>
              <a:rPr lang="en-US" sz="1200" dirty="0">
                <a:latin typeface="Lucida Console" panose="020B0609040504020204" pitchFamily="49" charset="0"/>
              </a:rPr>
              <a:t>=99999;</a:t>
            </a:r>
          </a:p>
          <a:p>
            <a:r>
              <a:rPr lang="en-US" sz="1200" dirty="0" smtClean="0">
                <a:latin typeface="Lucida Console" panose="020B0609040504020204" pitchFamily="49" charset="0"/>
              </a:rPr>
              <a:t>    </a:t>
            </a:r>
            <a:r>
              <a:rPr lang="en-US" sz="1200" dirty="0" err="1" smtClean="0">
                <a:latin typeface="Lucida Console" panose="020B0609040504020204" pitchFamily="49" charset="0"/>
              </a:rPr>
              <a:t>const</a:t>
            </a:r>
            <a:r>
              <a:rPr lang="en-US" sz="1200" dirty="0" smtClean="0">
                <a:latin typeface="Lucida Console" panose="020B0609040504020204" pitchFamily="49" charset="0"/>
              </a:rPr>
              <a:t> </a:t>
            </a:r>
            <a:r>
              <a:rPr lang="en-US" sz="1200" dirty="0" err="1">
                <a:latin typeface="Lucida Console" panose="020B0609040504020204" pitchFamily="49" charset="0"/>
              </a:rPr>
              <a:t>int</a:t>
            </a:r>
            <a:r>
              <a:rPr lang="en-US" sz="1200" dirty="0">
                <a:latin typeface="Lucida Console" panose="020B0609040504020204" pitchFamily="49" charset="0"/>
              </a:rPr>
              <a:t> </a:t>
            </a:r>
            <a:r>
              <a:rPr lang="en-US" sz="1200" dirty="0" err="1">
                <a:latin typeface="Lucida Console" panose="020B0609040504020204" pitchFamily="49" charset="0"/>
              </a:rPr>
              <a:t>errMsgLen</a:t>
            </a:r>
            <a:r>
              <a:rPr lang="en-US" sz="1200" dirty="0">
                <a:latin typeface="Lucida Console" panose="020B0609040504020204" pitchFamily="49" charset="0"/>
              </a:rPr>
              <a:t>=1024;</a:t>
            </a:r>
          </a:p>
          <a:p>
            <a:r>
              <a:rPr lang="en-US" sz="1200" dirty="0" smtClean="0">
                <a:latin typeface="Lucida Console" panose="020B0609040504020204" pitchFamily="49" charset="0"/>
              </a:rPr>
              <a:t>    char </a:t>
            </a:r>
            <a:r>
              <a:rPr lang="en-US" sz="1200" dirty="0" err="1">
                <a:latin typeface="Lucida Console" panose="020B0609040504020204" pitchFamily="49" charset="0"/>
              </a:rPr>
              <a:t>errMsg</a:t>
            </a:r>
            <a:r>
              <a:rPr lang="en-US" sz="1200" dirty="0">
                <a:latin typeface="Lucida Console" panose="020B0609040504020204" pitchFamily="49" charset="0"/>
              </a:rPr>
              <a:t>[1024];</a:t>
            </a:r>
          </a:p>
          <a:p>
            <a:endParaRPr lang="en-US" sz="1200" dirty="0">
              <a:latin typeface="Lucida Console" panose="020B0609040504020204" pitchFamily="49" charset="0"/>
            </a:endParaRPr>
          </a:p>
          <a:p>
            <a:r>
              <a:rPr lang="en-US" sz="1200" dirty="0" smtClean="0">
                <a:latin typeface="Lucida Console" panose="020B0609040504020204" pitchFamily="49" charset="0"/>
              </a:rPr>
              <a:t>    </a:t>
            </a:r>
            <a:r>
              <a:rPr lang="en-US" sz="1200" dirty="0" err="1" smtClean="0">
                <a:latin typeface="Lucida Console" panose="020B0609040504020204" pitchFamily="49" charset="0"/>
              </a:rPr>
              <a:t>glAttachShader</a:t>
            </a:r>
            <a:r>
              <a:rPr lang="en-US" sz="1200" dirty="0" smtClean="0">
                <a:latin typeface="Lucida Console" panose="020B0609040504020204" pitchFamily="49" charset="0"/>
              </a:rPr>
              <a:t>(</a:t>
            </a:r>
            <a:r>
              <a:rPr lang="en-US" sz="1200" dirty="0" err="1" smtClean="0">
                <a:latin typeface="Lucida Console" panose="020B0609040504020204" pitchFamily="49" charset="0"/>
              </a:rPr>
              <a:t>programIdent,vertexShaderIdent</a:t>
            </a:r>
            <a:r>
              <a:rPr lang="en-US" sz="1200" dirty="0">
                <a:latin typeface="Lucida Console" panose="020B0609040504020204" pitchFamily="49" charset="0"/>
              </a:rPr>
              <a:t>);</a:t>
            </a:r>
          </a:p>
          <a:p>
            <a:r>
              <a:rPr lang="en-US" sz="1200" dirty="0" smtClean="0">
                <a:latin typeface="Lucida Console" panose="020B0609040504020204" pitchFamily="49" charset="0"/>
              </a:rPr>
              <a:t>    </a:t>
            </a:r>
            <a:r>
              <a:rPr lang="en-US" sz="1200" dirty="0" err="1" smtClean="0">
                <a:latin typeface="Lucida Console" panose="020B0609040504020204" pitchFamily="49" charset="0"/>
              </a:rPr>
              <a:t>glAttachShader</a:t>
            </a:r>
            <a:r>
              <a:rPr lang="en-US" sz="1200" dirty="0" smtClean="0">
                <a:latin typeface="Lucida Console" panose="020B0609040504020204" pitchFamily="49" charset="0"/>
              </a:rPr>
              <a:t>(</a:t>
            </a:r>
            <a:r>
              <a:rPr lang="en-US" sz="1200" dirty="0" err="1" smtClean="0">
                <a:latin typeface="Lucida Console" panose="020B0609040504020204" pitchFamily="49" charset="0"/>
              </a:rPr>
              <a:t>programIdent,fragmentShaderIdent</a:t>
            </a:r>
            <a:r>
              <a:rPr lang="en-US" sz="1200" dirty="0">
                <a:latin typeface="Lucida Console" panose="020B0609040504020204" pitchFamily="49" charset="0"/>
              </a:rPr>
              <a:t>);</a:t>
            </a:r>
          </a:p>
          <a:p>
            <a:r>
              <a:rPr lang="en-US" sz="1200" dirty="0" smtClean="0">
                <a:latin typeface="Lucida Console" panose="020B0609040504020204" pitchFamily="49" charset="0"/>
              </a:rPr>
              <a:t>    </a:t>
            </a:r>
            <a:r>
              <a:rPr lang="en-US" sz="1200" dirty="0" err="1" smtClean="0">
                <a:latin typeface="Lucida Console" panose="020B0609040504020204" pitchFamily="49" charset="0"/>
              </a:rPr>
              <a:t>glLinkProgram</a:t>
            </a:r>
            <a:r>
              <a:rPr lang="en-US" sz="1200" dirty="0" smtClean="0">
                <a:latin typeface="Lucida Console" panose="020B0609040504020204" pitchFamily="49" charset="0"/>
              </a:rPr>
              <a:t>(</a:t>
            </a:r>
            <a:r>
              <a:rPr lang="en-US" sz="1200" dirty="0" err="1" smtClean="0">
                <a:latin typeface="Lucida Console" panose="020B0609040504020204" pitchFamily="49" charset="0"/>
              </a:rPr>
              <a:t>programIdent</a:t>
            </a:r>
            <a:r>
              <a:rPr lang="en-US" sz="1200" dirty="0">
                <a:latin typeface="Lucida Console" panose="020B0609040504020204" pitchFamily="49" charset="0"/>
              </a:rPr>
              <a:t>);</a:t>
            </a:r>
          </a:p>
          <a:p>
            <a:r>
              <a:rPr lang="en-US" sz="1200" dirty="0" smtClean="0">
                <a:latin typeface="Lucida Console" panose="020B0609040504020204" pitchFamily="49" charset="0"/>
              </a:rPr>
              <a:t>    </a:t>
            </a:r>
            <a:r>
              <a:rPr lang="en-US" sz="1200" dirty="0" err="1" smtClean="0">
                <a:latin typeface="Lucida Console" panose="020B0609040504020204" pitchFamily="49" charset="0"/>
              </a:rPr>
              <a:t>glGetProgramiv</a:t>
            </a:r>
            <a:r>
              <a:rPr lang="en-US" sz="1200" dirty="0" smtClean="0">
                <a:latin typeface="Lucida Console" panose="020B0609040504020204" pitchFamily="49" charset="0"/>
              </a:rPr>
              <a:t>(programIdent,GL_LINK_STATUS</a:t>
            </a:r>
            <a:r>
              <a:rPr lang="en-US" sz="1200" dirty="0">
                <a:latin typeface="Lucida Console" panose="020B0609040504020204" pitchFamily="49" charset="0"/>
              </a:rPr>
              <a:t>,&amp;</a:t>
            </a:r>
            <a:r>
              <a:rPr lang="en-US" sz="1200" dirty="0" err="1">
                <a:latin typeface="Lucida Console" panose="020B0609040504020204" pitchFamily="49" charset="0"/>
              </a:rPr>
              <a:t>linkSta</a:t>
            </a:r>
            <a:r>
              <a:rPr lang="en-US" sz="1200" dirty="0">
                <a:latin typeface="Lucida Console" panose="020B0609040504020204" pitchFamily="49" charset="0"/>
              </a:rPr>
              <a:t>);</a:t>
            </a:r>
          </a:p>
          <a:p>
            <a:r>
              <a:rPr lang="en-US" sz="1200" dirty="0" smtClean="0">
                <a:latin typeface="Lucida Console" panose="020B0609040504020204" pitchFamily="49" charset="0"/>
              </a:rPr>
              <a:t>    </a:t>
            </a:r>
            <a:r>
              <a:rPr lang="en-US" sz="1200" dirty="0" err="1" smtClean="0">
                <a:latin typeface="Lucida Console" panose="020B0609040504020204" pitchFamily="49" charset="0"/>
              </a:rPr>
              <a:t>glGetProgramiv</a:t>
            </a:r>
            <a:r>
              <a:rPr lang="en-US" sz="1200" dirty="0" smtClean="0">
                <a:latin typeface="Lucida Console" panose="020B0609040504020204" pitchFamily="49" charset="0"/>
              </a:rPr>
              <a:t>(programIdent,GL_INFO_LOG_LENGTH</a:t>
            </a:r>
            <a:r>
              <a:rPr lang="en-US" sz="1200" dirty="0">
                <a:latin typeface="Lucida Console" panose="020B0609040504020204" pitchFamily="49" charset="0"/>
              </a:rPr>
              <a:t>,&amp;</a:t>
            </a:r>
            <a:r>
              <a:rPr lang="en-US" sz="1200" dirty="0" err="1">
                <a:latin typeface="Lucida Console" panose="020B0609040504020204" pitchFamily="49" charset="0"/>
              </a:rPr>
              <a:t>infoLogLength</a:t>
            </a:r>
            <a:r>
              <a:rPr lang="en-US" sz="1200" dirty="0">
                <a:latin typeface="Lucida Console" panose="020B0609040504020204" pitchFamily="49" charset="0"/>
              </a:rPr>
              <a:t>);</a:t>
            </a:r>
          </a:p>
          <a:p>
            <a:r>
              <a:rPr lang="en-US" sz="1200" dirty="0" smtClean="0">
                <a:latin typeface="Lucida Console" panose="020B0609040504020204" pitchFamily="49" charset="0"/>
              </a:rPr>
              <a:t>    </a:t>
            </a:r>
            <a:r>
              <a:rPr lang="en-US" sz="1200" dirty="0" err="1" smtClean="0">
                <a:latin typeface="Lucida Console" panose="020B0609040504020204" pitchFamily="49" charset="0"/>
              </a:rPr>
              <a:t>glGetProgramInfoLog</a:t>
            </a:r>
            <a:r>
              <a:rPr lang="en-US" sz="1200" dirty="0" smtClean="0">
                <a:latin typeface="Lucida Console" panose="020B0609040504020204" pitchFamily="49" charset="0"/>
              </a:rPr>
              <a:t>(programIdent,errMsgLen-1</a:t>
            </a:r>
            <a:r>
              <a:rPr lang="en-US" sz="1200" dirty="0">
                <a:latin typeface="Lucida Console" panose="020B0609040504020204" pitchFamily="49" charset="0"/>
              </a:rPr>
              <a:t>,&amp;acquiredErrMsgLen,errMsg);</a:t>
            </a:r>
          </a:p>
          <a:p>
            <a:r>
              <a:rPr lang="en-US" sz="1200" dirty="0" smtClean="0">
                <a:latin typeface="Lucida Console" panose="020B0609040504020204" pitchFamily="49" charset="0"/>
              </a:rPr>
              <a:t>    </a:t>
            </a:r>
            <a:r>
              <a:rPr lang="en-US" sz="1200" dirty="0" err="1" smtClean="0">
                <a:latin typeface="Lucida Console" panose="020B0609040504020204" pitchFamily="49" charset="0"/>
              </a:rPr>
              <a:t>printf</a:t>
            </a:r>
            <a:r>
              <a:rPr lang="en-US" sz="1200" dirty="0">
                <a:latin typeface="Lucida Console" panose="020B0609040504020204" pitchFamily="49" charset="0"/>
              </a:rPr>
              <a:t>("Link Status %d Info Log Length %d Error Message Length %d\n</a:t>
            </a:r>
            <a:r>
              <a:rPr lang="en-US" sz="1200" dirty="0" smtClean="0">
                <a:latin typeface="Lucida Console" panose="020B0609040504020204" pitchFamily="49" charset="0"/>
              </a:rPr>
              <a:t>",</a:t>
            </a:r>
          </a:p>
          <a:p>
            <a:r>
              <a:rPr lang="en-US" sz="1200" dirty="0">
                <a:latin typeface="Lucida Console" panose="020B0609040504020204" pitchFamily="49" charset="0"/>
              </a:rPr>
              <a:t> </a:t>
            </a:r>
            <a:r>
              <a:rPr lang="en-US" sz="1200" dirty="0" smtClean="0">
                <a:latin typeface="Lucida Console" panose="020B0609040504020204" pitchFamily="49" charset="0"/>
              </a:rPr>
              <a:t>       </a:t>
            </a:r>
            <a:r>
              <a:rPr lang="en-US" sz="1200" dirty="0" err="1" smtClean="0">
                <a:latin typeface="Lucida Console" panose="020B0609040504020204" pitchFamily="49" charset="0"/>
              </a:rPr>
              <a:t>linkSta,infoLogLength,acquiredErrMsgLen</a:t>
            </a:r>
            <a:r>
              <a:rPr lang="en-US" sz="1200" dirty="0">
                <a:latin typeface="Lucida Console" panose="020B0609040504020204" pitchFamily="49" charset="0"/>
              </a:rPr>
              <a:t>);</a:t>
            </a:r>
          </a:p>
          <a:p>
            <a:endParaRPr lang="en-US" sz="1200" dirty="0">
              <a:latin typeface="Lucida Console" panose="020B0609040504020204" pitchFamily="49" charset="0"/>
            </a:endParaRPr>
          </a:p>
          <a:p>
            <a:r>
              <a:rPr lang="en-US" sz="1200" dirty="0" smtClean="0">
                <a:latin typeface="Lucida Console" panose="020B0609040504020204" pitchFamily="49" charset="0"/>
              </a:rPr>
              <a:t>    if(GL_TRUE</a:t>
            </a:r>
            <a:r>
              <a:rPr lang="en-US" sz="1200" dirty="0">
                <a:latin typeface="Lucida Console" panose="020B0609040504020204" pitchFamily="49" charset="0"/>
              </a:rPr>
              <a:t>!=</a:t>
            </a:r>
            <a:r>
              <a:rPr lang="en-US" sz="1200" dirty="0" err="1">
                <a:latin typeface="Lucida Console" panose="020B0609040504020204" pitchFamily="49" charset="0"/>
              </a:rPr>
              <a:t>linkSta</a:t>
            </a:r>
            <a:r>
              <a:rPr lang="en-US" sz="1200" dirty="0">
                <a:latin typeface="Lucida Console" panose="020B0609040504020204" pitchFamily="49" charset="0"/>
              </a:rPr>
              <a:t>)</a:t>
            </a:r>
          </a:p>
          <a:p>
            <a:r>
              <a:rPr lang="en-US" sz="1200" dirty="0" smtClean="0">
                <a:latin typeface="Lucida Console" panose="020B0609040504020204" pitchFamily="49" charset="0"/>
              </a:rPr>
              <a:t>    {</a:t>
            </a:r>
            <a:endParaRPr lang="en-US" sz="1200" dirty="0">
              <a:latin typeface="Lucida Console" panose="020B0609040504020204" pitchFamily="49" charset="0"/>
            </a:endParaRPr>
          </a:p>
          <a:p>
            <a:r>
              <a:rPr lang="en-US" sz="1200" dirty="0" smtClean="0">
                <a:latin typeface="Lucida Console" panose="020B0609040504020204" pitchFamily="49" charset="0"/>
              </a:rPr>
              <a:t>        </a:t>
            </a:r>
            <a:r>
              <a:rPr lang="en-US" sz="1200" dirty="0" err="1" smtClean="0">
                <a:latin typeface="Lucida Console" panose="020B0609040504020204" pitchFamily="49" charset="0"/>
              </a:rPr>
              <a:t>printf</a:t>
            </a:r>
            <a:r>
              <a:rPr lang="en-US" sz="1200" dirty="0">
                <a:latin typeface="Lucida Console" panose="020B0609040504020204" pitchFamily="49" charset="0"/>
              </a:rPr>
              <a:t>("Error Message: \</a:t>
            </a:r>
            <a:r>
              <a:rPr lang="en-US" sz="1200" dirty="0" err="1">
                <a:latin typeface="Lucida Console" panose="020B0609040504020204" pitchFamily="49" charset="0"/>
              </a:rPr>
              <a:t>n%s</a:t>
            </a:r>
            <a:r>
              <a:rPr lang="en-US" sz="1200" dirty="0">
                <a:latin typeface="Lucida Console" panose="020B0609040504020204" pitchFamily="49" charset="0"/>
              </a:rPr>
              <a:t>\n",</a:t>
            </a:r>
            <a:r>
              <a:rPr lang="en-US" sz="1200" dirty="0" err="1">
                <a:latin typeface="Lucida Console" panose="020B0609040504020204" pitchFamily="49" charset="0"/>
              </a:rPr>
              <a:t>errMsg</a:t>
            </a:r>
            <a:r>
              <a:rPr lang="en-US" sz="1200" dirty="0">
                <a:latin typeface="Lucida Console" panose="020B0609040504020204" pitchFamily="49" charset="0"/>
              </a:rPr>
              <a:t>);</a:t>
            </a:r>
          </a:p>
          <a:p>
            <a:r>
              <a:rPr lang="en-US" sz="1200" dirty="0" smtClean="0">
                <a:latin typeface="Lucida Console" panose="020B0609040504020204" pitchFamily="49" charset="0"/>
              </a:rPr>
              <a:t>        return </a:t>
            </a:r>
            <a:r>
              <a:rPr lang="en-US" sz="1200" dirty="0">
                <a:latin typeface="Lucida Console" panose="020B0609040504020204" pitchFamily="49" charset="0"/>
              </a:rPr>
              <a:t>false;</a:t>
            </a:r>
          </a:p>
          <a:p>
            <a:r>
              <a:rPr lang="en-US" sz="1200" dirty="0" smtClean="0">
                <a:latin typeface="Lucida Console" panose="020B0609040504020204" pitchFamily="49" charset="0"/>
              </a:rPr>
              <a:t>    }</a:t>
            </a:r>
            <a:endParaRPr lang="en-US" sz="1200" dirty="0">
              <a:latin typeface="Lucida Console" panose="020B0609040504020204" pitchFamily="49" charset="0"/>
            </a:endParaRPr>
          </a:p>
          <a:p>
            <a:r>
              <a:rPr lang="en-US" sz="1200" dirty="0" smtClean="0">
                <a:latin typeface="Lucida Console" panose="020B0609040504020204" pitchFamily="49" charset="0"/>
              </a:rPr>
              <a:t>    return </a:t>
            </a:r>
            <a:r>
              <a:rPr lang="en-US" sz="1200" dirty="0">
                <a:latin typeface="Lucida Console" panose="020B0609040504020204" pitchFamily="49" charset="0"/>
              </a:rPr>
              <a:t>true;</a:t>
            </a:r>
          </a:p>
          <a:p>
            <a:r>
              <a:rPr lang="en-US" sz="1200" dirty="0">
                <a:latin typeface="Lucida Console" panose="020B0609040504020204" pitchFamily="49" charset="0"/>
              </a:rPr>
              <a:t>}</a:t>
            </a:r>
          </a:p>
          <a:p>
            <a:endParaRPr lang="en-US" sz="1200" dirty="0" smtClean="0">
              <a:latin typeface="Lucida Console" panose="020B0609040504020204" pitchFamily="49" charset="0"/>
            </a:endParaRPr>
          </a:p>
          <a:p>
            <a:r>
              <a:rPr lang="en-US" sz="1200" dirty="0">
                <a:latin typeface="Lucida Console" panose="020B0609040504020204" pitchFamily="49" charset="0"/>
              </a:rPr>
              <a:t>////////////////////////////////////////////////////////////</a:t>
            </a:r>
          </a:p>
          <a:p>
            <a:endParaRPr lang="en-US" sz="1200" dirty="0">
              <a:latin typeface="Lucida Console" panose="020B0609040504020204" pitchFamily="49" charset="0"/>
            </a:endParaRPr>
          </a:p>
          <a:p>
            <a:r>
              <a:rPr lang="en-US" sz="1200" dirty="0" smtClean="0">
                <a:latin typeface="Lucida Console" panose="020B0609040504020204" pitchFamily="49" charset="0"/>
              </a:rPr>
              <a:t>void </a:t>
            </a:r>
            <a:r>
              <a:rPr lang="en-US" sz="1200" dirty="0" err="1">
                <a:latin typeface="Lucida Console" panose="020B0609040504020204" pitchFamily="49" charset="0"/>
              </a:rPr>
              <a:t>PassThroughRenderer</a:t>
            </a:r>
            <a:r>
              <a:rPr lang="en-US" sz="1200" dirty="0">
                <a:latin typeface="Lucida Console" panose="020B0609040504020204" pitchFamily="49" charset="0"/>
              </a:rPr>
              <a:t>::</a:t>
            </a:r>
            <a:r>
              <a:rPr lang="en-US" sz="1200" dirty="0" err="1">
                <a:latin typeface="Lucida Console" panose="020B0609040504020204" pitchFamily="49" charset="0"/>
              </a:rPr>
              <a:t>CacheAttributeAndUniformIdent</a:t>
            </a:r>
            <a:r>
              <a:rPr lang="en-US" sz="1200" dirty="0">
                <a:latin typeface="Lucida Console" panose="020B0609040504020204" pitchFamily="49" charset="0"/>
              </a:rPr>
              <a:t>(void)</a:t>
            </a:r>
          </a:p>
          <a:p>
            <a:r>
              <a:rPr lang="en-US" sz="1200" dirty="0">
                <a:latin typeface="Lucida Console" panose="020B0609040504020204" pitchFamily="49" charset="0"/>
              </a:rPr>
              <a:t>{</a:t>
            </a:r>
          </a:p>
          <a:p>
            <a:r>
              <a:rPr lang="en-US" sz="1200" dirty="0" smtClean="0">
                <a:latin typeface="Lucida Console" panose="020B0609040504020204" pitchFamily="49" charset="0"/>
              </a:rPr>
              <a:t>    </a:t>
            </a:r>
            <a:r>
              <a:rPr lang="en-US" sz="1200" dirty="0" err="1" smtClean="0">
                <a:latin typeface="Lucida Console" panose="020B0609040504020204" pitchFamily="49" charset="0"/>
              </a:rPr>
              <a:t>attribVertexPos</a:t>
            </a:r>
            <a:r>
              <a:rPr lang="en-US" sz="1200" dirty="0" smtClean="0">
                <a:latin typeface="Lucida Console" panose="020B0609040504020204" pitchFamily="49" charset="0"/>
              </a:rPr>
              <a:t>=</a:t>
            </a:r>
            <a:r>
              <a:rPr lang="en-US" sz="1200" dirty="0" err="1" smtClean="0">
                <a:latin typeface="Lucida Console" panose="020B0609040504020204" pitchFamily="49" charset="0"/>
              </a:rPr>
              <a:t>glGetAttribLocation</a:t>
            </a:r>
            <a:r>
              <a:rPr lang="en-US" sz="1200" dirty="0" smtClean="0">
                <a:latin typeface="Lucida Console" panose="020B0609040504020204" pitchFamily="49" charset="0"/>
              </a:rPr>
              <a:t>(</a:t>
            </a:r>
            <a:r>
              <a:rPr lang="en-US" sz="1200" dirty="0" err="1" smtClean="0">
                <a:latin typeface="Lucida Console" panose="020B0609040504020204" pitchFamily="49" charset="0"/>
              </a:rPr>
              <a:t>programIdent</a:t>
            </a:r>
            <a:r>
              <a:rPr lang="en-US" sz="1200" dirty="0">
                <a:latin typeface="Lucida Console" panose="020B0609040504020204" pitchFamily="49" charset="0"/>
              </a:rPr>
              <a:t>,"vertex");</a:t>
            </a:r>
          </a:p>
          <a:p>
            <a:r>
              <a:rPr lang="en-US" sz="1200" dirty="0" smtClean="0">
                <a:latin typeface="Lucida Console" panose="020B0609040504020204" pitchFamily="49" charset="0"/>
              </a:rPr>
              <a:t>    </a:t>
            </a:r>
            <a:r>
              <a:rPr lang="en-US" sz="1200" dirty="0" err="1" smtClean="0">
                <a:latin typeface="Lucida Console" panose="020B0609040504020204" pitchFamily="49" charset="0"/>
              </a:rPr>
              <a:t>printf</a:t>
            </a:r>
            <a:r>
              <a:rPr lang="en-US" sz="1200" dirty="0">
                <a:latin typeface="Lucida Console" panose="020B0609040504020204" pitchFamily="49" charset="0"/>
              </a:rPr>
              <a:t>("Attribute Vertex Position=%d\n",</a:t>
            </a:r>
            <a:r>
              <a:rPr lang="en-US" sz="1200" dirty="0" err="1">
                <a:latin typeface="Lucida Console" panose="020B0609040504020204" pitchFamily="49" charset="0"/>
              </a:rPr>
              <a:t>attribVertexPos</a:t>
            </a:r>
            <a:r>
              <a:rPr lang="en-US" sz="1200" dirty="0">
                <a:latin typeface="Lucida Console" panose="020B0609040504020204" pitchFamily="49" charset="0"/>
              </a:rPr>
              <a:t>);</a:t>
            </a:r>
          </a:p>
          <a:p>
            <a:r>
              <a:rPr lang="en-US" sz="1200" dirty="0">
                <a:latin typeface="Lucida Console" panose="020B0609040504020204" pitchFamily="49" charset="0"/>
              </a:rPr>
              <a:t>}</a:t>
            </a:r>
          </a:p>
          <a:p>
            <a:endParaRPr lang="en-US" sz="1200" dirty="0">
              <a:latin typeface="Lucida Console" panose="020B0609040504020204" pitchFamily="49" charset="0"/>
            </a:endParaRPr>
          </a:p>
        </p:txBody>
      </p:sp>
      <p:sp>
        <p:nvSpPr>
          <p:cNvPr id="2" name="Right Brace 1"/>
          <p:cNvSpPr/>
          <p:nvPr/>
        </p:nvSpPr>
        <p:spPr>
          <a:xfrm>
            <a:off x="5129784" y="1563624"/>
            <a:ext cx="73152" cy="54864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p:cNvSpPr txBox="1"/>
          <p:nvPr/>
        </p:nvSpPr>
        <p:spPr>
          <a:xfrm>
            <a:off x="5166360" y="1514778"/>
            <a:ext cx="2871216" cy="646331"/>
          </a:xfrm>
          <a:prstGeom prst="rect">
            <a:avLst/>
          </a:prstGeom>
          <a:noFill/>
        </p:spPr>
        <p:txBody>
          <a:bodyPr wrap="square" rtlCol="0">
            <a:spAutoFit/>
          </a:bodyPr>
          <a:lstStyle/>
          <a:p>
            <a:r>
              <a:rPr lang="en-US" dirty="0" smtClean="0">
                <a:solidFill>
                  <a:srgbClr val="FF0000"/>
                </a:solidFill>
              </a:rPr>
              <a:t>Link=Assemble </a:t>
            </a:r>
            <a:r>
              <a:rPr lang="en-US" dirty="0" err="1" smtClean="0">
                <a:solidFill>
                  <a:srgbClr val="FF0000"/>
                </a:solidFill>
              </a:rPr>
              <a:t>shaders</a:t>
            </a:r>
            <a:r>
              <a:rPr lang="en-US" dirty="0" smtClean="0">
                <a:solidFill>
                  <a:srgbClr val="FF0000"/>
                </a:solidFill>
              </a:rPr>
              <a:t> into a program.</a:t>
            </a:r>
            <a:endParaRPr lang="en-US" dirty="0">
              <a:solidFill>
                <a:srgbClr val="FF0000"/>
              </a:solidFill>
            </a:endParaRPr>
          </a:p>
        </p:txBody>
      </p:sp>
    </p:spTree>
    <p:extLst>
      <p:ext uri="{BB962C8B-B14F-4D97-AF65-F5344CB8AC3E}">
        <p14:creationId xmlns:p14="http://schemas.microsoft.com/office/powerpoint/2010/main" val="40975593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Using the </a:t>
            </a:r>
            <a:r>
              <a:rPr lang="en-US" dirty="0" err="1" smtClean="0"/>
              <a:t>shader</a:t>
            </a:r>
            <a:r>
              <a:rPr lang="en-US" dirty="0" smtClean="0"/>
              <a:t> program.</a:t>
            </a:r>
            <a:endParaRPr lang="en-US" dirty="0"/>
          </a:p>
        </p:txBody>
      </p:sp>
      <p:sp>
        <p:nvSpPr>
          <p:cNvPr id="3" name="Content Placeholder 2"/>
          <p:cNvSpPr>
            <a:spLocks noGrp="1"/>
          </p:cNvSpPr>
          <p:nvPr>
            <p:ph idx="1"/>
          </p:nvPr>
        </p:nvSpPr>
        <p:spPr/>
        <p:txBody>
          <a:bodyPr/>
          <a:lstStyle/>
          <a:p>
            <a:r>
              <a:rPr lang="en-US" dirty="0" err="1" smtClean="0"/>
              <a:t>Shader</a:t>
            </a:r>
            <a:r>
              <a:rPr lang="en-US" dirty="0" smtClean="0"/>
              <a:t> program must be compiled once.</a:t>
            </a:r>
          </a:p>
          <a:p>
            <a:r>
              <a:rPr lang="en-US" dirty="0" smtClean="0"/>
              <a:t>You can compile same program multiple times, but it just wastes GPU memory.</a:t>
            </a:r>
          </a:p>
          <a:p>
            <a:r>
              <a:rPr lang="en-US" dirty="0" smtClean="0"/>
              <a:t>Good timing is immediately after when the OpenGL context is ready.</a:t>
            </a:r>
          </a:p>
          <a:p>
            <a:r>
              <a:rPr lang="en-US" dirty="0" smtClean="0"/>
              <a:t>Add header inclusion:</a:t>
            </a:r>
          </a:p>
          <a:p>
            <a:endParaRPr lang="en-US" dirty="0"/>
          </a:p>
          <a:p>
            <a:r>
              <a:rPr lang="en-US" dirty="0" smtClean="0"/>
              <a:t>Add a member variable:</a:t>
            </a:r>
          </a:p>
          <a:p>
            <a:endParaRPr lang="en-US" dirty="0"/>
          </a:p>
          <a:p>
            <a:r>
              <a:rPr lang="en-US" dirty="0" smtClean="0"/>
              <a:t>In Initialize function:</a:t>
            </a:r>
          </a:p>
          <a:p>
            <a:endParaRPr lang="en-US" dirty="0" smtClean="0"/>
          </a:p>
          <a:p>
            <a:endParaRPr lang="en-US" dirty="0"/>
          </a:p>
          <a:p>
            <a:endParaRPr lang="en-US" dirty="0"/>
          </a:p>
        </p:txBody>
      </p:sp>
      <p:sp>
        <p:nvSpPr>
          <p:cNvPr id="4" name="TextBox 3"/>
          <p:cNvSpPr txBox="1"/>
          <p:nvPr/>
        </p:nvSpPr>
        <p:spPr>
          <a:xfrm>
            <a:off x="1179576" y="3596481"/>
            <a:ext cx="2440092" cy="307777"/>
          </a:xfrm>
          <a:prstGeom prst="rect">
            <a:avLst/>
          </a:prstGeom>
          <a:noFill/>
        </p:spPr>
        <p:txBody>
          <a:bodyPr wrap="none" rtlCol="0">
            <a:spAutoFit/>
          </a:bodyPr>
          <a:lstStyle/>
          <a:p>
            <a:r>
              <a:rPr lang="en-US" sz="1400" dirty="0" smtClean="0">
                <a:latin typeface="Lucida Console" panose="020B0609040504020204" pitchFamily="49" charset="0"/>
              </a:rPr>
              <a:t>#include “</a:t>
            </a:r>
            <a:r>
              <a:rPr lang="en-US" sz="1400" dirty="0" err="1" smtClean="0">
                <a:latin typeface="Lucida Console" panose="020B0609040504020204" pitchFamily="49" charset="0"/>
              </a:rPr>
              <a:t>renderer.h</a:t>
            </a:r>
            <a:r>
              <a:rPr lang="en-US" sz="1400" dirty="0" smtClean="0">
                <a:latin typeface="Lucida Console" panose="020B0609040504020204" pitchFamily="49" charset="0"/>
              </a:rPr>
              <a:t>”</a:t>
            </a:r>
            <a:endParaRPr lang="en-US" sz="1400" dirty="0">
              <a:latin typeface="Lucida Console" panose="020B0609040504020204" pitchFamily="49" charset="0"/>
            </a:endParaRPr>
          </a:p>
        </p:txBody>
      </p:sp>
      <p:sp>
        <p:nvSpPr>
          <p:cNvPr id="5" name="TextBox 4"/>
          <p:cNvSpPr txBox="1"/>
          <p:nvPr/>
        </p:nvSpPr>
        <p:spPr>
          <a:xfrm>
            <a:off x="1179576" y="4452969"/>
            <a:ext cx="3621504" cy="307777"/>
          </a:xfrm>
          <a:prstGeom prst="rect">
            <a:avLst/>
          </a:prstGeom>
          <a:noFill/>
        </p:spPr>
        <p:txBody>
          <a:bodyPr wrap="none" rtlCol="0">
            <a:spAutoFit/>
          </a:bodyPr>
          <a:lstStyle/>
          <a:p>
            <a:r>
              <a:rPr lang="en-US" sz="1400" dirty="0" err="1" smtClean="0">
                <a:latin typeface="Lucida Console" panose="020B0609040504020204" pitchFamily="49" charset="0"/>
              </a:rPr>
              <a:t>PassThroughRenderer</a:t>
            </a:r>
            <a:r>
              <a:rPr lang="en-US" sz="1400" dirty="0" smtClean="0">
                <a:latin typeface="Lucida Console" panose="020B0609040504020204" pitchFamily="49" charset="0"/>
              </a:rPr>
              <a:t> </a:t>
            </a:r>
            <a:r>
              <a:rPr lang="en-US" sz="1400" dirty="0" err="1">
                <a:latin typeface="Lucida Console" panose="020B0609040504020204" pitchFamily="49" charset="0"/>
              </a:rPr>
              <a:t>passThrough</a:t>
            </a:r>
            <a:r>
              <a:rPr lang="en-US" sz="1400" dirty="0" smtClean="0">
                <a:latin typeface="Lucida Console" panose="020B0609040504020204" pitchFamily="49" charset="0"/>
              </a:rPr>
              <a:t>;</a:t>
            </a:r>
            <a:endParaRPr lang="en-US" sz="1400" dirty="0">
              <a:latin typeface="Lucida Console" panose="020B0609040504020204" pitchFamily="49" charset="0"/>
            </a:endParaRPr>
          </a:p>
        </p:txBody>
      </p:sp>
      <p:sp>
        <p:nvSpPr>
          <p:cNvPr id="6" name="TextBox 5"/>
          <p:cNvSpPr txBox="1"/>
          <p:nvPr/>
        </p:nvSpPr>
        <p:spPr>
          <a:xfrm>
            <a:off x="1185672" y="5364321"/>
            <a:ext cx="7595349" cy="738664"/>
          </a:xfrm>
          <a:prstGeom prst="rect">
            <a:avLst/>
          </a:prstGeom>
          <a:noFill/>
        </p:spPr>
        <p:txBody>
          <a:bodyPr wrap="none" rtlCol="0">
            <a:spAutoFit/>
          </a:bodyPr>
          <a:lstStyle/>
          <a:p>
            <a:r>
              <a:rPr lang="en-US" sz="1400" dirty="0" err="1" smtClean="0">
                <a:latin typeface="Lucida Console" panose="020B0609040504020204" pitchFamily="49" charset="0"/>
              </a:rPr>
              <a:t>FsChangeToProgramDir</a:t>
            </a:r>
            <a:r>
              <a:rPr lang="en-US" sz="1400" dirty="0">
                <a:latin typeface="Lucida Console" panose="020B0609040504020204" pitchFamily="49" charset="0"/>
              </a:rPr>
              <a:t>();</a:t>
            </a:r>
          </a:p>
          <a:p>
            <a:r>
              <a:rPr lang="en-US" sz="1400" dirty="0" err="1" smtClean="0">
                <a:latin typeface="Lucida Console" panose="020B0609040504020204" pitchFamily="49" charset="0"/>
              </a:rPr>
              <a:t>passThrough.CompileFile</a:t>
            </a:r>
            <a:r>
              <a:rPr lang="en-US" sz="1400" dirty="0">
                <a:latin typeface="Lucida Console" panose="020B0609040504020204" pitchFamily="49" charset="0"/>
              </a:rPr>
              <a:t>("vertex_shader.</a:t>
            </a:r>
            <a:r>
              <a:rPr lang="en-US" sz="1400" dirty="0" err="1">
                <a:latin typeface="Lucida Console" panose="020B0609040504020204" pitchFamily="49" charset="0"/>
              </a:rPr>
              <a:t>glsl</a:t>
            </a:r>
            <a:r>
              <a:rPr lang="en-US" sz="1400" dirty="0">
                <a:latin typeface="Lucida Console" panose="020B0609040504020204" pitchFamily="49" charset="0"/>
              </a:rPr>
              <a:t>","</a:t>
            </a:r>
            <a:r>
              <a:rPr lang="en-US" sz="1400" dirty="0" err="1">
                <a:latin typeface="Lucida Console" panose="020B0609040504020204" pitchFamily="49" charset="0"/>
              </a:rPr>
              <a:t>fragment_shader.glsl</a:t>
            </a:r>
            <a:r>
              <a:rPr lang="en-US" sz="1400" dirty="0">
                <a:latin typeface="Lucida Console" panose="020B0609040504020204" pitchFamily="49" charset="0"/>
              </a:rPr>
              <a:t>");</a:t>
            </a:r>
          </a:p>
          <a:p>
            <a:endParaRPr lang="en-US" sz="1400" dirty="0">
              <a:latin typeface="Lucida Console" panose="020B0609040504020204" pitchFamily="49" charset="0"/>
            </a:endParaRPr>
          </a:p>
        </p:txBody>
      </p:sp>
    </p:spTree>
    <p:extLst>
      <p:ext uri="{BB962C8B-B14F-4D97-AF65-F5344CB8AC3E}">
        <p14:creationId xmlns:p14="http://schemas.microsoft.com/office/powerpoint/2010/main" val="41495639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5488" y="445009"/>
            <a:ext cx="8229600" cy="1383792"/>
          </a:xfrm>
        </p:spPr>
        <p:txBody>
          <a:bodyPr/>
          <a:lstStyle/>
          <a:p>
            <a:r>
              <a:rPr lang="en-US" dirty="0" smtClean="0"/>
              <a:t>In Draw function:</a:t>
            </a:r>
            <a:endParaRPr lang="en-US" dirty="0"/>
          </a:p>
        </p:txBody>
      </p:sp>
      <p:sp>
        <p:nvSpPr>
          <p:cNvPr id="4" name="TextBox 3"/>
          <p:cNvSpPr txBox="1"/>
          <p:nvPr/>
        </p:nvSpPr>
        <p:spPr>
          <a:xfrm>
            <a:off x="612648" y="1225296"/>
            <a:ext cx="7715574" cy="4339650"/>
          </a:xfrm>
          <a:prstGeom prst="rect">
            <a:avLst/>
          </a:prstGeom>
          <a:noFill/>
        </p:spPr>
        <p:txBody>
          <a:bodyPr wrap="none" rtlCol="0">
            <a:spAutoFit/>
          </a:bodyPr>
          <a:lstStyle/>
          <a:p>
            <a:r>
              <a:rPr lang="en-US" sz="1200" dirty="0">
                <a:latin typeface="Lucida Console" panose="020B0609040504020204" pitchFamily="49" charset="0"/>
              </a:rPr>
              <a:t>/* virtual */ void </a:t>
            </a:r>
            <a:r>
              <a:rPr lang="en-US" sz="1200" dirty="0" err="1">
                <a:latin typeface="Lucida Console" panose="020B0609040504020204" pitchFamily="49" charset="0"/>
              </a:rPr>
              <a:t>FsLazyWindowApplication</a:t>
            </a:r>
            <a:r>
              <a:rPr lang="en-US" sz="1200" dirty="0">
                <a:latin typeface="Lucida Console" panose="020B0609040504020204" pitchFamily="49" charset="0"/>
              </a:rPr>
              <a:t>::Draw(void)</a:t>
            </a:r>
          </a:p>
          <a:p>
            <a:r>
              <a:rPr lang="en-US" sz="1200" dirty="0">
                <a:latin typeface="Lucida Console" panose="020B0609040504020204" pitchFamily="49" charset="0"/>
              </a:rPr>
              <a:t>{</a:t>
            </a:r>
          </a:p>
          <a:p>
            <a:r>
              <a:rPr lang="en-US" sz="1200" dirty="0" smtClean="0">
                <a:latin typeface="Lucida Console" panose="020B0609040504020204" pitchFamily="49" charset="0"/>
              </a:rPr>
              <a:t>    </a:t>
            </a:r>
            <a:r>
              <a:rPr lang="en-US" sz="1200" dirty="0" err="1" smtClean="0">
                <a:latin typeface="Lucida Console" panose="020B0609040504020204" pitchFamily="49" charset="0"/>
              </a:rPr>
              <a:t>glClear</a:t>
            </a:r>
            <a:r>
              <a:rPr lang="en-US" sz="1200" dirty="0" smtClean="0">
                <a:latin typeface="Lucida Console" panose="020B0609040504020204" pitchFamily="49" charset="0"/>
              </a:rPr>
              <a:t>(GL_COLOR_BUFFER_BIT|GL_DEPTH_BUFFER_BIT</a:t>
            </a:r>
            <a:r>
              <a:rPr lang="en-US" sz="1200" dirty="0">
                <a:latin typeface="Lucida Console" panose="020B0609040504020204" pitchFamily="49" charset="0"/>
              </a:rPr>
              <a:t>);</a:t>
            </a:r>
          </a:p>
          <a:p>
            <a:endParaRPr lang="en-US" sz="1200" dirty="0">
              <a:latin typeface="Lucida Console" panose="020B0609040504020204" pitchFamily="49" charset="0"/>
            </a:endParaRPr>
          </a:p>
          <a:p>
            <a:r>
              <a:rPr lang="en-US" sz="1200" dirty="0" smtClean="0">
                <a:latin typeface="Lucida Console" panose="020B0609040504020204" pitchFamily="49" charset="0"/>
              </a:rPr>
              <a:t>    </a:t>
            </a:r>
            <a:r>
              <a:rPr lang="en-US" sz="1200" dirty="0" err="1" smtClean="0">
                <a:latin typeface="Lucida Console" panose="020B0609040504020204" pitchFamily="49" charset="0"/>
              </a:rPr>
              <a:t>glUseProgram</a:t>
            </a:r>
            <a:r>
              <a:rPr lang="en-US" sz="1200" dirty="0" smtClean="0">
                <a:latin typeface="Lucida Console" panose="020B0609040504020204" pitchFamily="49" charset="0"/>
              </a:rPr>
              <a:t>(</a:t>
            </a:r>
            <a:r>
              <a:rPr lang="en-US" sz="1200" dirty="0" err="1" smtClean="0">
                <a:latin typeface="Lucida Console" panose="020B0609040504020204" pitchFamily="49" charset="0"/>
              </a:rPr>
              <a:t>passThrough.programIdent</a:t>
            </a:r>
            <a:r>
              <a:rPr lang="en-US" sz="1200" dirty="0">
                <a:latin typeface="Lucida Console" panose="020B0609040504020204" pitchFamily="49" charset="0"/>
              </a:rPr>
              <a:t>);</a:t>
            </a:r>
          </a:p>
          <a:p>
            <a:r>
              <a:rPr lang="en-US" sz="1200" dirty="0" smtClean="0">
                <a:latin typeface="Lucida Console" panose="020B0609040504020204" pitchFamily="49" charset="0"/>
              </a:rPr>
              <a:t>    </a:t>
            </a:r>
            <a:r>
              <a:rPr lang="en-US" sz="1200" dirty="0" err="1" smtClean="0">
                <a:latin typeface="Lucida Console" panose="020B0609040504020204" pitchFamily="49" charset="0"/>
              </a:rPr>
              <a:t>const</a:t>
            </a:r>
            <a:r>
              <a:rPr lang="en-US" sz="1200" dirty="0" smtClean="0">
                <a:latin typeface="Lucida Console" panose="020B0609040504020204" pitchFamily="49" charset="0"/>
              </a:rPr>
              <a:t> </a:t>
            </a:r>
            <a:r>
              <a:rPr lang="en-US" sz="1200" dirty="0" err="1">
                <a:latin typeface="Lucida Console" panose="020B0609040504020204" pitchFamily="49" charset="0"/>
              </a:rPr>
              <a:t>GLfloat</a:t>
            </a:r>
            <a:r>
              <a:rPr lang="en-US" sz="1200" dirty="0">
                <a:latin typeface="Lucida Console" panose="020B0609040504020204" pitchFamily="49" charset="0"/>
              </a:rPr>
              <a:t> </a:t>
            </a:r>
            <a:r>
              <a:rPr lang="en-US" sz="1200" dirty="0" err="1">
                <a:latin typeface="Lucida Console" panose="020B0609040504020204" pitchFamily="49" charset="0"/>
              </a:rPr>
              <a:t>vtx</a:t>
            </a:r>
            <a:r>
              <a:rPr lang="en-US" sz="1200" dirty="0">
                <a:latin typeface="Lucida Console" panose="020B0609040504020204" pitchFamily="49" charset="0"/>
              </a:rPr>
              <a:t>[12]=</a:t>
            </a:r>
          </a:p>
          <a:p>
            <a:r>
              <a:rPr lang="en-US" sz="1200" dirty="0" smtClean="0">
                <a:latin typeface="Lucida Console" panose="020B0609040504020204" pitchFamily="49" charset="0"/>
              </a:rPr>
              <a:t>    {</a:t>
            </a:r>
            <a:endParaRPr lang="en-US" sz="1200" dirty="0">
              <a:latin typeface="Lucida Console" panose="020B0609040504020204" pitchFamily="49" charset="0"/>
            </a:endParaRPr>
          </a:p>
          <a:p>
            <a:r>
              <a:rPr lang="en-US" sz="1200" dirty="0" smtClean="0">
                <a:latin typeface="Lucida Console" panose="020B0609040504020204" pitchFamily="49" charset="0"/>
              </a:rPr>
              <a:t>        -</a:t>
            </a:r>
            <a:r>
              <a:rPr lang="en-US" sz="1200" dirty="0">
                <a:latin typeface="Lucida Console" panose="020B0609040504020204" pitchFamily="49" charset="0"/>
              </a:rPr>
              <a:t>1,-1,0,</a:t>
            </a:r>
          </a:p>
          <a:p>
            <a:r>
              <a:rPr lang="en-US" sz="1200" dirty="0" smtClean="0">
                <a:latin typeface="Lucida Console" panose="020B0609040504020204" pitchFamily="49" charset="0"/>
              </a:rPr>
              <a:t>         </a:t>
            </a:r>
            <a:r>
              <a:rPr lang="en-US" sz="1200" dirty="0">
                <a:latin typeface="Lucida Console" panose="020B0609040504020204" pitchFamily="49" charset="0"/>
              </a:rPr>
              <a:t>1,-1,0,</a:t>
            </a:r>
          </a:p>
          <a:p>
            <a:r>
              <a:rPr lang="en-US" sz="1200" dirty="0" smtClean="0">
                <a:latin typeface="Lucida Console" panose="020B0609040504020204" pitchFamily="49" charset="0"/>
              </a:rPr>
              <a:t>         </a:t>
            </a:r>
            <a:r>
              <a:rPr lang="en-US" sz="1200" dirty="0">
                <a:latin typeface="Lucida Console" panose="020B0609040504020204" pitchFamily="49" charset="0"/>
              </a:rPr>
              <a:t>1, 1,0,</a:t>
            </a:r>
          </a:p>
          <a:p>
            <a:r>
              <a:rPr lang="en-US" sz="1200" dirty="0" smtClean="0">
                <a:latin typeface="Lucida Console" panose="020B0609040504020204" pitchFamily="49" charset="0"/>
              </a:rPr>
              <a:t>        -</a:t>
            </a:r>
            <a:r>
              <a:rPr lang="en-US" sz="1200" dirty="0">
                <a:latin typeface="Lucida Console" panose="020B0609040504020204" pitchFamily="49" charset="0"/>
              </a:rPr>
              <a:t>1, 1,0</a:t>
            </a:r>
          </a:p>
          <a:p>
            <a:r>
              <a:rPr lang="en-US" sz="1200" dirty="0" smtClean="0">
                <a:latin typeface="Lucida Console" panose="020B0609040504020204" pitchFamily="49" charset="0"/>
              </a:rPr>
              <a:t>    };</a:t>
            </a:r>
            <a:endParaRPr lang="en-US" sz="1200" dirty="0">
              <a:latin typeface="Lucida Console" panose="020B0609040504020204" pitchFamily="49" charset="0"/>
            </a:endParaRPr>
          </a:p>
          <a:p>
            <a:r>
              <a:rPr lang="en-US" sz="1200" dirty="0" smtClean="0">
                <a:latin typeface="Lucida Console" panose="020B0609040504020204" pitchFamily="49" charset="0"/>
              </a:rPr>
              <a:t>    </a:t>
            </a:r>
            <a:r>
              <a:rPr lang="en-US" sz="1200" dirty="0" err="1" smtClean="0">
                <a:latin typeface="Lucida Console" panose="020B0609040504020204" pitchFamily="49" charset="0"/>
              </a:rPr>
              <a:t>glEnableVertexAttribArray</a:t>
            </a:r>
            <a:r>
              <a:rPr lang="en-US" sz="1200" dirty="0" smtClean="0">
                <a:latin typeface="Lucida Console" panose="020B0609040504020204" pitchFamily="49" charset="0"/>
              </a:rPr>
              <a:t>(</a:t>
            </a:r>
            <a:r>
              <a:rPr lang="en-US" sz="1200" dirty="0" err="1" smtClean="0">
                <a:latin typeface="Lucida Console" panose="020B0609040504020204" pitchFamily="49" charset="0"/>
              </a:rPr>
              <a:t>passThrough.attribVertexPos</a:t>
            </a:r>
            <a:r>
              <a:rPr lang="en-US" sz="1200" dirty="0">
                <a:latin typeface="Lucida Console" panose="020B0609040504020204" pitchFamily="49" charset="0"/>
              </a:rPr>
              <a:t>);</a:t>
            </a:r>
          </a:p>
          <a:p>
            <a:r>
              <a:rPr lang="en-US" sz="1200" dirty="0" smtClean="0">
                <a:latin typeface="Lucida Console" panose="020B0609040504020204" pitchFamily="49" charset="0"/>
              </a:rPr>
              <a:t>    </a:t>
            </a:r>
            <a:r>
              <a:rPr lang="en-US" sz="1200" dirty="0" err="1" smtClean="0">
                <a:latin typeface="Lucida Console" panose="020B0609040504020204" pitchFamily="49" charset="0"/>
              </a:rPr>
              <a:t>glVertexAttribPointer</a:t>
            </a:r>
            <a:r>
              <a:rPr lang="en-US" sz="1200" dirty="0" smtClean="0">
                <a:latin typeface="Lucida Console" panose="020B0609040504020204" pitchFamily="49" charset="0"/>
              </a:rPr>
              <a:t>(passThrough.attribVertexPos,3,GL_FLOAT,GL_FALSE,0,vtx</a:t>
            </a:r>
            <a:r>
              <a:rPr lang="en-US" sz="1200" dirty="0">
                <a:latin typeface="Lucida Console" panose="020B0609040504020204" pitchFamily="49" charset="0"/>
              </a:rPr>
              <a:t>);</a:t>
            </a:r>
          </a:p>
          <a:p>
            <a:r>
              <a:rPr lang="en-US" sz="1200" dirty="0" smtClean="0">
                <a:latin typeface="Lucida Console" panose="020B0609040504020204" pitchFamily="49" charset="0"/>
              </a:rPr>
              <a:t>    </a:t>
            </a:r>
            <a:r>
              <a:rPr lang="en-US" sz="1200" dirty="0" err="1" smtClean="0">
                <a:latin typeface="Lucida Console" panose="020B0609040504020204" pitchFamily="49" charset="0"/>
              </a:rPr>
              <a:t>glDrawArrays</a:t>
            </a:r>
            <a:r>
              <a:rPr lang="en-US" sz="1200" dirty="0" smtClean="0">
                <a:latin typeface="Lucida Console" panose="020B0609040504020204" pitchFamily="49" charset="0"/>
              </a:rPr>
              <a:t>(GL_TRIANGLE_FAN,0,4</a:t>
            </a:r>
            <a:r>
              <a:rPr lang="en-US" sz="1200" dirty="0">
                <a:latin typeface="Lucida Console" panose="020B0609040504020204" pitchFamily="49" charset="0"/>
              </a:rPr>
              <a:t>);</a:t>
            </a:r>
          </a:p>
          <a:p>
            <a:r>
              <a:rPr lang="en-US" sz="1200" dirty="0" smtClean="0">
                <a:latin typeface="Lucida Console" panose="020B0609040504020204" pitchFamily="49" charset="0"/>
              </a:rPr>
              <a:t>    </a:t>
            </a:r>
            <a:r>
              <a:rPr lang="en-US" sz="1200" dirty="0" err="1" smtClean="0">
                <a:latin typeface="Lucida Console" panose="020B0609040504020204" pitchFamily="49" charset="0"/>
              </a:rPr>
              <a:t>glDisableVertexAttribArray</a:t>
            </a:r>
            <a:r>
              <a:rPr lang="en-US" sz="1200" dirty="0" smtClean="0">
                <a:latin typeface="Lucida Console" panose="020B0609040504020204" pitchFamily="49" charset="0"/>
              </a:rPr>
              <a:t>(</a:t>
            </a:r>
            <a:r>
              <a:rPr lang="en-US" sz="1200" dirty="0" err="1" smtClean="0">
                <a:latin typeface="Lucida Console" panose="020B0609040504020204" pitchFamily="49" charset="0"/>
              </a:rPr>
              <a:t>passThrough.attribVertexPos</a:t>
            </a:r>
            <a:r>
              <a:rPr lang="en-US" sz="1200" dirty="0">
                <a:latin typeface="Lucida Console" panose="020B0609040504020204" pitchFamily="49" charset="0"/>
              </a:rPr>
              <a:t>);</a:t>
            </a:r>
          </a:p>
          <a:p>
            <a:endParaRPr lang="en-US" sz="1200" dirty="0">
              <a:latin typeface="Lucida Console" panose="020B0609040504020204" pitchFamily="49" charset="0"/>
            </a:endParaRPr>
          </a:p>
          <a:p>
            <a:endParaRPr lang="en-US" sz="1200" dirty="0">
              <a:latin typeface="Lucida Console" panose="020B0609040504020204" pitchFamily="49" charset="0"/>
            </a:endParaRPr>
          </a:p>
          <a:p>
            <a:r>
              <a:rPr lang="en-US" sz="1200" dirty="0" smtClean="0">
                <a:latin typeface="Lucida Console" panose="020B0609040504020204" pitchFamily="49" charset="0"/>
              </a:rPr>
              <a:t>    </a:t>
            </a:r>
            <a:r>
              <a:rPr lang="en-US" sz="1200" dirty="0" err="1" smtClean="0">
                <a:latin typeface="Lucida Console" panose="020B0609040504020204" pitchFamily="49" charset="0"/>
              </a:rPr>
              <a:t>FsSwapBuffers</a:t>
            </a:r>
            <a:r>
              <a:rPr lang="en-US" sz="1200" dirty="0">
                <a:latin typeface="Lucida Console" panose="020B0609040504020204" pitchFamily="49" charset="0"/>
              </a:rPr>
              <a:t>();</a:t>
            </a:r>
          </a:p>
          <a:p>
            <a:endParaRPr lang="en-US" sz="1200" dirty="0">
              <a:latin typeface="Lucida Console" panose="020B0609040504020204" pitchFamily="49" charset="0"/>
            </a:endParaRPr>
          </a:p>
          <a:p>
            <a:r>
              <a:rPr lang="en-US" sz="1200" dirty="0" smtClean="0">
                <a:latin typeface="Lucida Console" panose="020B0609040504020204" pitchFamily="49" charset="0"/>
              </a:rPr>
              <a:t>    </a:t>
            </a:r>
            <a:r>
              <a:rPr lang="en-US" sz="1200" dirty="0" err="1" smtClean="0">
                <a:latin typeface="Lucida Console" panose="020B0609040504020204" pitchFamily="49" charset="0"/>
              </a:rPr>
              <a:t>needRedraw</a:t>
            </a:r>
            <a:r>
              <a:rPr lang="en-US" sz="1200" dirty="0" smtClean="0">
                <a:latin typeface="Lucida Console" panose="020B0609040504020204" pitchFamily="49" charset="0"/>
              </a:rPr>
              <a:t>=false</a:t>
            </a:r>
            <a:r>
              <a:rPr lang="en-US" sz="1200" dirty="0">
                <a:latin typeface="Lucida Console" panose="020B0609040504020204" pitchFamily="49" charset="0"/>
              </a:rPr>
              <a:t>;</a:t>
            </a:r>
          </a:p>
          <a:p>
            <a:r>
              <a:rPr lang="en-US" sz="1200" dirty="0">
                <a:latin typeface="Lucida Console" panose="020B0609040504020204" pitchFamily="49" charset="0"/>
              </a:rPr>
              <a:t>}</a:t>
            </a:r>
          </a:p>
          <a:p>
            <a:endParaRPr lang="en-US" sz="1200" dirty="0">
              <a:latin typeface="Lucida Console" panose="020B0609040504020204" pitchFamily="49" charset="0"/>
            </a:endParaRPr>
          </a:p>
        </p:txBody>
      </p:sp>
      <p:sp>
        <p:nvSpPr>
          <p:cNvPr id="2" name="Right Brace 1"/>
          <p:cNvSpPr/>
          <p:nvPr/>
        </p:nvSpPr>
        <p:spPr>
          <a:xfrm>
            <a:off x="2267712" y="2514600"/>
            <a:ext cx="91440" cy="813816"/>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p:cNvSpPr txBox="1"/>
          <p:nvPr/>
        </p:nvSpPr>
        <p:spPr>
          <a:xfrm>
            <a:off x="2560320" y="2560320"/>
            <a:ext cx="6519672" cy="646331"/>
          </a:xfrm>
          <a:prstGeom prst="rect">
            <a:avLst/>
          </a:prstGeom>
          <a:noFill/>
        </p:spPr>
        <p:txBody>
          <a:bodyPr wrap="square" rtlCol="0">
            <a:spAutoFit/>
          </a:bodyPr>
          <a:lstStyle/>
          <a:p>
            <a:r>
              <a:rPr lang="en-US" dirty="0" smtClean="0">
                <a:solidFill>
                  <a:srgbClr val="FF0000"/>
                </a:solidFill>
              </a:rPr>
              <a:t>These values are passed to the attribute called vertex in the vertex </a:t>
            </a:r>
            <a:r>
              <a:rPr lang="en-US" dirty="0" err="1" smtClean="0">
                <a:solidFill>
                  <a:srgbClr val="FF0000"/>
                </a:solidFill>
              </a:rPr>
              <a:t>shader</a:t>
            </a:r>
            <a:r>
              <a:rPr lang="en-US" dirty="0" smtClean="0">
                <a:solidFill>
                  <a:srgbClr val="FF0000"/>
                </a:solidFill>
              </a:rPr>
              <a:t>. </a:t>
            </a:r>
            <a:endParaRPr lang="en-US" dirty="0">
              <a:solidFill>
                <a:srgbClr val="FF0000"/>
              </a:solidFill>
            </a:endParaRPr>
          </a:p>
        </p:txBody>
      </p:sp>
    </p:spTree>
    <p:extLst>
      <p:ext uri="{BB962C8B-B14F-4D97-AF65-F5344CB8AC3E}">
        <p14:creationId xmlns:p14="http://schemas.microsoft.com/office/powerpoint/2010/main" val="31814814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Varying the color based on the screen coordinate</a:t>
            </a:r>
            <a:endParaRPr lang="en-US" dirty="0"/>
          </a:p>
        </p:txBody>
      </p:sp>
      <p:sp>
        <p:nvSpPr>
          <p:cNvPr id="3" name="Content Placeholder 2"/>
          <p:cNvSpPr>
            <a:spLocks noGrp="1"/>
          </p:cNvSpPr>
          <p:nvPr>
            <p:ph idx="1"/>
          </p:nvPr>
        </p:nvSpPr>
        <p:spPr/>
        <p:txBody>
          <a:bodyPr/>
          <a:lstStyle/>
          <a:p>
            <a:r>
              <a:rPr lang="en-US" dirty="0" smtClean="0"/>
              <a:t>In the previous example, no information is passed from the vertex </a:t>
            </a:r>
            <a:r>
              <a:rPr lang="en-US" dirty="0" err="1" smtClean="0"/>
              <a:t>shader</a:t>
            </a:r>
            <a:r>
              <a:rPr lang="en-US" dirty="0" smtClean="0"/>
              <a:t> to the fragment </a:t>
            </a:r>
            <a:r>
              <a:rPr lang="en-US" dirty="0" err="1" smtClean="0"/>
              <a:t>shader</a:t>
            </a:r>
            <a:r>
              <a:rPr lang="en-US" dirty="0" smtClean="0"/>
              <a:t>.</a:t>
            </a:r>
          </a:p>
          <a:p>
            <a:r>
              <a:rPr lang="en-US" dirty="0" smtClean="0"/>
              <a:t>Let’s pass the projected vertex position to the fragment </a:t>
            </a:r>
            <a:r>
              <a:rPr lang="en-US" dirty="0" err="1" smtClean="0"/>
              <a:t>shader</a:t>
            </a:r>
            <a:r>
              <a:rPr lang="en-US" dirty="0" smtClean="0"/>
              <a:t>, and assign color based on the position.</a:t>
            </a:r>
          </a:p>
          <a:p>
            <a:endParaRPr lang="en-US" dirty="0"/>
          </a:p>
          <a:p>
            <a:r>
              <a:rPr lang="en-US" dirty="0" smtClean="0"/>
              <a:t>(Fragment, or pixel, coordinate is available in </a:t>
            </a:r>
            <a:r>
              <a:rPr lang="en-US" dirty="0" err="1" smtClean="0"/>
              <a:t>gl_FragCoord</a:t>
            </a:r>
            <a:r>
              <a:rPr lang="en-US" dirty="0" smtClean="0"/>
              <a:t> in the fragment </a:t>
            </a:r>
            <a:r>
              <a:rPr lang="en-US" dirty="0" err="1" smtClean="0"/>
              <a:t>shader</a:t>
            </a:r>
            <a:r>
              <a:rPr lang="en-US" dirty="0" smtClean="0"/>
              <a:t> in newer version of GLSL, but may not supported in some devices.)</a:t>
            </a:r>
            <a:endParaRPr lang="en-US" dirty="0"/>
          </a:p>
        </p:txBody>
      </p:sp>
    </p:spTree>
    <p:extLst>
      <p:ext uri="{BB962C8B-B14F-4D97-AF65-F5344CB8AC3E}">
        <p14:creationId xmlns:p14="http://schemas.microsoft.com/office/powerpoint/2010/main" val="30155397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Copy </a:t>
            </a:r>
            <a:r>
              <a:rPr lang="en-US" dirty="0" err="1" smtClean="0"/>
              <a:t>vertx_shader.glsl</a:t>
            </a:r>
            <a:r>
              <a:rPr lang="en-US" dirty="0" smtClean="0"/>
              <a:t> and </a:t>
            </a:r>
            <a:r>
              <a:rPr lang="en-US" dirty="0" err="1" smtClean="0"/>
              <a:t>fragment_shader.glsl</a:t>
            </a:r>
            <a:r>
              <a:rPr lang="en-US" dirty="0" smtClean="0"/>
              <a:t> to:</a:t>
            </a:r>
          </a:p>
          <a:p>
            <a:pPr lvl="1"/>
            <a:r>
              <a:rPr lang="en-US" dirty="0" err="1" smtClean="0"/>
              <a:t>color_by_coord_vertex_shader.glsl</a:t>
            </a:r>
            <a:r>
              <a:rPr lang="en-US" dirty="0" smtClean="0"/>
              <a:t>, and</a:t>
            </a:r>
          </a:p>
          <a:p>
            <a:pPr lvl="1"/>
            <a:r>
              <a:rPr lang="en-US" dirty="0" err="1" smtClean="0"/>
              <a:t>color_by_coord_fragment_shader.glsl</a:t>
            </a:r>
            <a:endParaRPr lang="en-US" dirty="0"/>
          </a:p>
          <a:p>
            <a:endParaRPr lang="en-US" dirty="0"/>
          </a:p>
        </p:txBody>
      </p:sp>
      <p:sp>
        <p:nvSpPr>
          <p:cNvPr id="4" name="TextBox 3"/>
          <p:cNvSpPr txBox="1"/>
          <p:nvPr/>
        </p:nvSpPr>
        <p:spPr>
          <a:xfrm>
            <a:off x="164438" y="2450592"/>
            <a:ext cx="4265911" cy="1815882"/>
          </a:xfrm>
          <a:prstGeom prst="rect">
            <a:avLst/>
          </a:prstGeom>
          <a:noFill/>
        </p:spPr>
        <p:txBody>
          <a:bodyPr wrap="none" rtlCol="0">
            <a:spAutoFit/>
          </a:bodyPr>
          <a:lstStyle/>
          <a:p>
            <a:r>
              <a:rPr lang="en-US" sz="1400" dirty="0">
                <a:latin typeface="Lucida Console" panose="020B0609040504020204" pitchFamily="49" charset="0"/>
              </a:rPr>
              <a:t>attribute vec3 vertex;</a:t>
            </a:r>
          </a:p>
          <a:p>
            <a:r>
              <a:rPr lang="en-US" sz="1400" dirty="0" smtClean="0">
                <a:latin typeface="Lucida Console" panose="020B0609040504020204" pitchFamily="49" charset="0"/>
              </a:rPr>
              <a:t>varying </a:t>
            </a:r>
            <a:r>
              <a:rPr lang="en-US" sz="1400" dirty="0">
                <a:latin typeface="Lucida Console" panose="020B0609040504020204" pitchFamily="49" charset="0"/>
              </a:rPr>
              <a:t>vec4 </a:t>
            </a:r>
            <a:r>
              <a:rPr lang="en-US" sz="1400" dirty="0" err="1">
                <a:latin typeface="Lucida Console" panose="020B0609040504020204" pitchFamily="49" charset="0"/>
              </a:rPr>
              <a:t>projected_vertex</a:t>
            </a:r>
            <a:r>
              <a:rPr lang="en-US" sz="1400" dirty="0">
                <a:latin typeface="Lucida Console" panose="020B0609040504020204" pitchFamily="49" charset="0"/>
              </a:rPr>
              <a:t>;</a:t>
            </a:r>
          </a:p>
          <a:p>
            <a:r>
              <a:rPr lang="en-US" sz="1400" dirty="0" smtClean="0">
                <a:latin typeface="Lucida Console" panose="020B0609040504020204" pitchFamily="49" charset="0"/>
              </a:rPr>
              <a:t>void </a:t>
            </a:r>
            <a:r>
              <a:rPr lang="en-US" sz="1400" dirty="0">
                <a:latin typeface="Lucida Console" panose="020B0609040504020204" pitchFamily="49" charset="0"/>
              </a:rPr>
              <a:t>main()</a:t>
            </a:r>
          </a:p>
          <a:p>
            <a:r>
              <a:rPr lang="en-US" sz="1400" dirty="0">
                <a:latin typeface="Lucida Console" panose="020B0609040504020204" pitchFamily="49" charset="0"/>
              </a:rPr>
              <a:t>{</a:t>
            </a:r>
          </a:p>
          <a:p>
            <a:r>
              <a:rPr lang="en-US" sz="1400" dirty="0" smtClean="0">
                <a:latin typeface="Lucida Console" panose="020B0609040504020204" pitchFamily="49" charset="0"/>
              </a:rPr>
              <a:t>    </a:t>
            </a:r>
            <a:r>
              <a:rPr lang="en-US" sz="1400" dirty="0" err="1" smtClean="0">
                <a:latin typeface="Lucida Console" panose="020B0609040504020204" pitchFamily="49" charset="0"/>
              </a:rPr>
              <a:t>projected_vertex</a:t>
            </a:r>
            <a:r>
              <a:rPr lang="en-US" sz="1400" dirty="0" smtClean="0">
                <a:latin typeface="Lucida Console" panose="020B0609040504020204" pitchFamily="49" charset="0"/>
              </a:rPr>
              <a:t>=vec4(vertex,1.0</a:t>
            </a:r>
            <a:r>
              <a:rPr lang="en-US" sz="1400" dirty="0">
                <a:latin typeface="Lucida Console" panose="020B0609040504020204" pitchFamily="49" charset="0"/>
              </a:rPr>
              <a:t>);</a:t>
            </a:r>
          </a:p>
          <a:p>
            <a:r>
              <a:rPr lang="en-US" sz="1400" dirty="0" smtClean="0">
                <a:latin typeface="Lucida Console" panose="020B0609040504020204" pitchFamily="49" charset="0"/>
              </a:rPr>
              <a:t>    </a:t>
            </a:r>
            <a:r>
              <a:rPr lang="en-US" sz="1400" dirty="0" err="1" smtClean="0">
                <a:latin typeface="Lucida Console" panose="020B0609040504020204" pitchFamily="49" charset="0"/>
              </a:rPr>
              <a:t>gl_Position</a:t>
            </a:r>
            <a:r>
              <a:rPr lang="en-US" sz="1400" dirty="0" smtClean="0">
                <a:latin typeface="Lucida Console" panose="020B0609040504020204" pitchFamily="49" charset="0"/>
              </a:rPr>
              <a:t>=vec4(vertex,1.0</a:t>
            </a:r>
            <a:r>
              <a:rPr lang="en-US" sz="1400" dirty="0">
                <a:latin typeface="Lucida Console" panose="020B0609040504020204" pitchFamily="49" charset="0"/>
              </a:rPr>
              <a:t>);</a:t>
            </a:r>
          </a:p>
          <a:p>
            <a:r>
              <a:rPr lang="en-US" sz="1400" dirty="0">
                <a:latin typeface="Lucida Console" panose="020B0609040504020204" pitchFamily="49" charset="0"/>
              </a:rPr>
              <a:t>}</a:t>
            </a:r>
          </a:p>
          <a:p>
            <a:endParaRPr lang="en-US" sz="1400" dirty="0">
              <a:latin typeface="Lucida Console" panose="020B0609040504020204" pitchFamily="49" charset="0"/>
            </a:endParaRPr>
          </a:p>
        </p:txBody>
      </p:sp>
      <p:sp>
        <p:nvSpPr>
          <p:cNvPr id="5" name="TextBox 4"/>
          <p:cNvSpPr txBox="1"/>
          <p:nvPr/>
        </p:nvSpPr>
        <p:spPr>
          <a:xfrm>
            <a:off x="164438" y="4742325"/>
            <a:ext cx="4480714" cy="1815882"/>
          </a:xfrm>
          <a:prstGeom prst="rect">
            <a:avLst/>
          </a:prstGeom>
          <a:noFill/>
        </p:spPr>
        <p:txBody>
          <a:bodyPr wrap="none" rtlCol="0">
            <a:spAutoFit/>
          </a:bodyPr>
          <a:lstStyle/>
          <a:p>
            <a:r>
              <a:rPr lang="en-US" sz="1400" dirty="0">
                <a:latin typeface="Lucida Console" panose="020B0609040504020204" pitchFamily="49" charset="0"/>
              </a:rPr>
              <a:t>varying vec4 </a:t>
            </a:r>
            <a:r>
              <a:rPr lang="en-US" sz="1400" dirty="0" err="1">
                <a:latin typeface="Lucida Console" panose="020B0609040504020204" pitchFamily="49" charset="0"/>
              </a:rPr>
              <a:t>projected_vertex</a:t>
            </a:r>
            <a:r>
              <a:rPr lang="en-US" sz="1400" dirty="0">
                <a:latin typeface="Lucida Console" panose="020B0609040504020204" pitchFamily="49" charset="0"/>
              </a:rPr>
              <a:t>;</a:t>
            </a:r>
          </a:p>
          <a:p>
            <a:r>
              <a:rPr lang="en-US" sz="1400" dirty="0" smtClean="0">
                <a:latin typeface="Lucida Console" panose="020B0609040504020204" pitchFamily="49" charset="0"/>
              </a:rPr>
              <a:t>void </a:t>
            </a:r>
            <a:r>
              <a:rPr lang="en-US" sz="1400" dirty="0">
                <a:latin typeface="Lucida Console" panose="020B0609040504020204" pitchFamily="49" charset="0"/>
              </a:rPr>
              <a:t>main()</a:t>
            </a:r>
          </a:p>
          <a:p>
            <a:r>
              <a:rPr lang="en-US" sz="1400" dirty="0">
                <a:latin typeface="Lucida Console" panose="020B0609040504020204" pitchFamily="49" charset="0"/>
              </a:rPr>
              <a:t>{</a:t>
            </a:r>
          </a:p>
          <a:p>
            <a:r>
              <a:rPr lang="en-US" sz="1400" dirty="0" smtClean="0">
                <a:latin typeface="Lucida Console" panose="020B0609040504020204" pitchFamily="49" charset="0"/>
              </a:rPr>
              <a:t>    </a:t>
            </a:r>
            <a:r>
              <a:rPr lang="en-US" sz="1400" dirty="0" err="1" smtClean="0">
                <a:latin typeface="Lucida Console" panose="020B0609040504020204" pitchFamily="49" charset="0"/>
              </a:rPr>
              <a:t>gl_FragColor</a:t>
            </a:r>
            <a:r>
              <a:rPr lang="en-US" sz="1400" dirty="0" smtClean="0">
                <a:latin typeface="Lucida Console" panose="020B0609040504020204" pitchFamily="49" charset="0"/>
              </a:rPr>
              <a:t>=</a:t>
            </a:r>
            <a:r>
              <a:rPr lang="en-US" sz="1400" dirty="0" err="1" smtClean="0">
                <a:latin typeface="Lucida Console" panose="020B0609040504020204" pitchFamily="49" charset="0"/>
              </a:rPr>
              <a:t>projected_vertex</a:t>
            </a:r>
            <a:r>
              <a:rPr lang="en-US" sz="1400" dirty="0">
                <a:latin typeface="Lucida Console" panose="020B0609040504020204" pitchFamily="49" charset="0"/>
              </a:rPr>
              <a:t>;</a:t>
            </a:r>
          </a:p>
          <a:p>
            <a:r>
              <a:rPr lang="en-US" sz="1400" dirty="0" smtClean="0">
                <a:latin typeface="Lucida Console" panose="020B0609040504020204" pitchFamily="49" charset="0"/>
              </a:rPr>
              <a:t>    </a:t>
            </a:r>
            <a:r>
              <a:rPr lang="en-US" sz="1400" dirty="0" err="1" smtClean="0">
                <a:latin typeface="Lucida Console" panose="020B0609040504020204" pitchFamily="49" charset="0"/>
              </a:rPr>
              <a:t>gl_FragColor</a:t>
            </a:r>
            <a:r>
              <a:rPr lang="en-US" sz="1400" dirty="0">
                <a:latin typeface="Lucida Console" panose="020B0609040504020204" pitchFamily="49" charset="0"/>
              </a:rPr>
              <a:t>+=vec4(1.0,1.0,1.0,0.0);</a:t>
            </a:r>
          </a:p>
          <a:p>
            <a:r>
              <a:rPr lang="en-US" sz="1400" dirty="0" smtClean="0">
                <a:latin typeface="Lucida Console" panose="020B0609040504020204" pitchFamily="49" charset="0"/>
              </a:rPr>
              <a:t>    </a:t>
            </a:r>
            <a:r>
              <a:rPr lang="en-US" sz="1400" dirty="0" err="1" smtClean="0">
                <a:latin typeface="Lucida Console" panose="020B0609040504020204" pitchFamily="49" charset="0"/>
              </a:rPr>
              <a:t>gl_FragColor</a:t>
            </a:r>
            <a:r>
              <a:rPr lang="en-US" sz="1400" dirty="0">
                <a:latin typeface="Lucida Console" panose="020B0609040504020204" pitchFamily="49" charset="0"/>
              </a:rPr>
              <a:t>/=vec4(2.0,2.0,2.0,1.0</a:t>
            </a:r>
            <a:r>
              <a:rPr lang="en-US" sz="1400" dirty="0" smtClean="0">
                <a:latin typeface="Lucida Console" panose="020B0609040504020204" pitchFamily="49" charset="0"/>
              </a:rPr>
              <a:t>);</a:t>
            </a:r>
          </a:p>
          <a:p>
            <a:r>
              <a:rPr lang="en-US" sz="1400" dirty="0" smtClean="0">
                <a:latin typeface="Lucida Console" panose="020B0609040504020204" pitchFamily="49" charset="0"/>
              </a:rPr>
              <a:t>    </a:t>
            </a:r>
            <a:r>
              <a:rPr lang="en-US" sz="1400" dirty="0" err="1" smtClean="0">
                <a:latin typeface="Lucida Console" panose="020B0609040504020204" pitchFamily="49" charset="0"/>
              </a:rPr>
              <a:t>gl_FragColor.w</a:t>
            </a:r>
            <a:r>
              <a:rPr lang="en-US" sz="1400" dirty="0" smtClean="0">
                <a:latin typeface="Lucida Console" panose="020B0609040504020204" pitchFamily="49" charset="0"/>
              </a:rPr>
              <a:t>=1.0</a:t>
            </a:r>
            <a:r>
              <a:rPr lang="en-US" sz="1400" dirty="0">
                <a:latin typeface="Lucida Console" panose="020B0609040504020204" pitchFamily="49" charset="0"/>
              </a:rPr>
              <a:t>;</a:t>
            </a:r>
          </a:p>
          <a:p>
            <a:r>
              <a:rPr lang="en-US" sz="1400" dirty="0" smtClean="0">
                <a:latin typeface="Lucida Console" panose="020B0609040504020204" pitchFamily="49" charset="0"/>
              </a:rPr>
              <a:t>}</a:t>
            </a:r>
            <a:endParaRPr lang="en-US" sz="1400" dirty="0">
              <a:latin typeface="Lucida Console" panose="020B0609040504020204" pitchFamily="49" charset="0"/>
            </a:endParaRPr>
          </a:p>
        </p:txBody>
      </p:sp>
      <p:cxnSp>
        <p:nvCxnSpPr>
          <p:cNvPr id="7" name="Straight Arrow Connector 6"/>
          <p:cNvCxnSpPr>
            <a:endCxn id="4" idx="3"/>
          </p:cNvCxnSpPr>
          <p:nvPr/>
        </p:nvCxnSpPr>
        <p:spPr>
          <a:xfrm flipH="1">
            <a:off x="4430349" y="3118104"/>
            <a:ext cx="516555" cy="24042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flipV="1">
            <a:off x="3474720" y="2862072"/>
            <a:ext cx="1426464" cy="6400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093208" y="2752344"/>
            <a:ext cx="3781125" cy="646331"/>
          </a:xfrm>
          <a:prstGeom prst="rect">
            <a:avLst/>
          </a:prstGeom>
          <a:noFill/>
        </p:spPr>
        <p:txBody>
          <a:bodyPr wrap="square" rtlCol="0">
            <a:spAutoFit/>
          </a:bodyPr>
          <a:lstStyle/>
          <a:p>
            <a:r>
              <a:rPr lang="en-US" dirty="0" smtClean="0">
                <a:solidFill>
                  <a:srgbClr val="FF0000"/>
                </a:solidFill>
              </a:rPr>
              <a:t>Vertex </a:t>
            </a:r>
            <a:r>
              <a:rPr lang="en-US" dirty="0" err="1" smtClean="0">
                <a:solidFill>
                  <a:srgbClr val="FF0000"/>
                </a:solidFill>
              </a:rPr>
              <a:t>Shader</a:t>
            </a:r>
            <a:r>
              <a:rPr lang="en-US" dirty="0" smtClean="0">
                <a:solidFill>
                  <a:srgbClr val="FF0000"/>
                </a:solidFill>
              </a:rPr>
              <a:t>.  Output </a:t>
            </a:r>
            <a:r>
              <a:rPr lang="en-US" dirty="0" err="1" smtClean="0">
                <a:solidFill>
                  <a:srgbClr val="FF0000"/>
                </a:solidFill>
              </a:rPr>
              <a:t>gl_Position</a:t>
            </a:r>
            <a:r>
              <a:rPr lang="en-US" dirty="0" smtClean="0">
                <a:solidFill>
                  <a:srgbClr val="FF0000"/>
                </a:solidFill>
              </a:rPr>
              <a:t> and </a:t>
            </a:r>
            <a:r>
              <a:rPr lang="en-US" dirty="0" err="1" smtClean="0">
                <a:solidFill>
                  <a:srgbClr val="FF0000"/>
                </a:solidFill>
              </a:rPr>
              <a:t>projected_vertex</a:t>
            </a:r>
            <a:r>
              <a:rPr lang="en-US" dirty="0" smtClean="0">
                <a:solidFill>
                  <a:srgbClr val="FF0000"/>
                </a:solidFill>
              </a:rPr>
              <a:t>.</a:t>
            </a:r>
            <a:endParaRPr lang="en-US" dirty="0">
              <a:solidFill>
                <a:srgbClr val="FF0000"/>
              </a:solidFill>
            </a:endParaRPr>
          </a:p>
        </p:txBody>
      </p:sp>
      <p:sp>
        <p:nvSpPr>
          <p:cNvPr id="11" name="TextBox 10"/>
          <p:cNvSpPr txBox="1"/>
          <p:nvPr/>
        </p:nvSpPr>
        <p:spPr>
          <a:xfrm>
            <a:off x="5093208" y="5003935"/>
            <a:ext cx="3781125" cy="646331"/>
          </a:xfrm>
          <a:prstGeom prst="rect">
            <a:avLst/>
          </a:prstGeom>
          <a:noFill/>
        </p:spPr>
        <p:txBody>
          <a:bodyPr wrap="square" rtlCol="0">
            <a:spAutoFit/>
          </a:bodyPr>
          <a:lstStyle/>
          <a:p>
            <a:r>
              <a:rPr lang="en-US" dirty="0" smtClean="0">
                <a:solidFill>
                  <a:srgbClr val="FF0000"/>
                </a:solidFill>
              </a:rPr>
              <a:t>Fragment </a:t>
            </a:r>
            <a:r>
              <a:rPr lang="en-US" dirty="0" err="1" smtClean="0">
                <a:solidFill>
                  <a:srgbClr val="FF0000"/>
                </a:solidFill>
              </a:rPr>
              <a:t>Shader</a:t>
            </a:r>
            <a:r>
              <a:rPr lang="en-US" dirty="0" smtClean="0">
                <a:solidFill>
                  <a:srgbClr val="FF0000"/>
                </a:solidFill>
              </a:rPr>
              <a:t>.  Calculate pixel color based on </a:t>
            </a:r>
            <a:r>
              <a:rPr lang="en-US" dirty="0" err="1" smtClean="0">
                <a:solidFill>
                  <a:srgbClr val="FF0000"/>
                </a:solidFill>
              </a:rPr>
              <a:t>te</a:t>
            </a:r>
            <a:r>
              <a:rPr lang="en-US" dirty="0" smtClean="0">
                <a:solidFill>
                  <a:srgbClr val="FF0000"/>
                </a:solidFill>
              </a:rPr>
              <a:t> </a:t>
            </a:r>
            <a:r>
              <a:rPr lang="en-US" dirty="0" err="1" smtClean="0">
                <a:solidFill>
                  <a:srgbClr val="FF0000"/>
                </a:solidFill>
              </a:rPr>
              <a:t>projected_vertex</a:t>
            </a:r>
            <a:r>
              <a:rPr lang="en-US" dirty="0" smtClean="0">
                <a:solidFill>
                  <a:srgbClr val="FF0000"/>
                </a:solidFill>
              </a:rPr>
              <a:t>.</a:t>
            </a:r>
            <a:endParaRPr lang="en-US" dirty="0">
              <a:solidFill>
                <a:srgbClr val="FF0000"/>
              </a:solidFill>
            </a:endParaRPr>
          </a:p>
        </p:txBody>
      </p:sp>
      <p:sp>
        <p:nvSpPr>
          <p:cNvPr id="12" name="Right Brace 11"/>
          <p:cNvSpPr/>
          <p:nvPr/>
        </p:nvSpPr>
        <p:spPr>
          <a:xfrm>
            <a:off x="4572000" y="5385816"/>
            <a:ext cx="45719" cy="892747"/>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4" name="Straight Arrow Connector 13"/>
          <p:cNvCxnSpPr>
            <a:stCxn id="11" idx="1"/>
          </p:cNvCxnSpPr>
          <p:nvPr/>
        </p:nvCxnSpPr>
        <p:spPr>
          <a:xfrm flipH="1">
            <a:off x="4645152" y="5327101"/>
            <a:ext cx="448056" cy="56871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45447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In this case, since the input to the vertex </a:t>
            </a:r>
            <a:r>
              <a:rPr lang="en-US" dirty="0" err="1" smtClean="0"/>
              <a:t>shader</a:t>
            </a:r>
            <a:r>
              <a:rPr lang="en-US" dirty="0" smtClean="0"/>
              <a:t> is same as the pass-through renderer, only modification needed in the main.cpp is:</a:t>
            </a:r>
            <a:endParaRPr lang="en-US" dirty="0"/>
          </a:p>
        </p:txBody>
      </p:sp>
      <p:sp>
        <p:nvSpPr>
          <p:cNvPr id="4" name="TextBox 3"/>
          <p:cNvSpPr txBox="1"/>
          <p:nvPr/>
        </p:nvSpPr>
        <p:spPr>
          <a:xfrm>
            <a:off x="1517904" y="3596481"/>
            <a:ext cx="5492209" cy="1077218"/>
          </a:xfrm>
          <a:prstGeom prst="rect">
            <a:avLst/>
          </a:prstGeom>
          <a:noFill/>
        </p:spPr>
        <p:txBody>
          <a:bodyPr wrap="none" rtlCol="0">
            <a:spAutoFit/>
          </a:bodyPr>
          <a:lstStyle/>
          <a:p>
            <a:r>
              <a:rPr lang="en-US" sz="1600" dirty="0" err="1" smtClean="0">
                <a:latin typeface="Lucida Console" panose="020B0609040504020204" pitchFamily="49" charset="0"/>
              </a:rPr>
              <a:t>passThrough.CompileFile</a:t>
            </a:r>
            <a:r>
              <a:rPr lang="en-US" sz="1600" dirty="0" smtClean="0">
                <a:latin typeface="Lucida Console" panose="020B0609040504020204" pitchFamily="49" charset="0"/>
              </a:rPr>
              <a:t>(</a:t>
            </a:r>
          </a:p>
          <a:p>
            <a:r>
              <a:rPr lang="en-US" sz="1600" dirty="0">
                <a:latin typeface="Lucida Console" panose="020B0609040504020204" pitchFamily="49" charset="0"/>
              </a:rPr>
              <a:t> </a:t>
            </a:r>
            <a:r>
              <a:rPr lang="en-US" sz="1600" dirty="0" smtClean="0">
                <a:latin typeface="Lucida Console" panose="020B0609040504020204" pitchFamily="49" charset="0"/>
              </a:rPr>
              <a:t>   "</a:t>
            </a:r>
            <a:r>
              <a:rPr lang="en-US" sz="1600" dirty="0" err="1">
                <a:latin typeface="Lucida Console" panose="020B0609040504020204" pitchFamily="49" charset="0"/>
              </a:rPr>
              <a:t>color_by_coord_vertex_shader.glsl</a:t>
            </a:r>
            <a:r>
              <a:rPr lang="en-US" sz="1600" dirty="0" smtClean="0">
                <a:latin typeface="Lucida Console" panose="020B0609040504020204" pitchFamily="49" charset="0"/>
              </a:rPr>
              <a:t>",</a:t>
            </a:r>
          </a:p>
          <a:p>
            <a:r>
              <a:rPr lang="en-US" sz="1600" dirty="0">
                <a:latin typeface="Lucida Console" panose="020B0609040504020204" pitchFamily="49" charset="0"/>
              </a:rPr>
              <a:t> </a:t>
            </a:r>
            <a:r>
              <a:rPr lang="en-US" sz="1600" dirty="0" smtClean="0">
                <a:latin typeface="Lucida Console" panose="020B0609040504020204" pitchFamily="49" charset="0"/>
              </a:rPr>
              <a:t>   "</a:t>
            </a:r>
            <a:r>
              <a:rPr lang="en-US" sz="1600" dirty="0">
                <a:latin typeface="Lucida Console" panose="020B0609040504020204" pitchFamily="49" charset="0"/>
              </a:rPr>
              <a:t>color_by_coord_fragment_shader.glsl");</a:t>
            </a:r>
          </a:p>
          <a:p>
            <a:endParaRPr lang="en-US" sz="1600" dirty="0">
              <a:latin typeface="Lucida Console" panose="020B0609040504020204" pitchFamily="49" charset="0"/>
            </a:endParaRPr>
          </a:p>
        </p:txBody>
      </p:sp>
      <p:sp>
        <p:nvSpPr>
          <p:cNvPr id="5" name="TextBox 4"/>
          <p:cNvSpPr txBox="1"/>
          <p:nvPr/>
        </p:nvSpPr>
        <p:spPr>
          <a:xfrm>
            <a:off x="292608" y="2403378"/>
            <a:ext cx="8701421" cy="584775"/>
          </a:xfrm>
          <a:prstGeom prst="rect">
            <a:avLst/>
          </a:prstGeom>
          <a:noFill/>
        </p:spPr>
        <p:txBody>
          <a:bodyPr wrap="none" rtlCol="0">
            <a:spAutoFit/>
          </a:bodyPr>
          <a:lstStyle/>
          <a:p>
            <a:r>
              <a:rPr lang="en-US" sz="1600" dirty="0" err="1" smtClean="0">
                <a:latin typeface="Lucida Console" panose="020B0609040504020204" pitchFamily="49" charset="0"/>
              </a:rPr>
              <a:t>passThrough.CompileFile</a:t>
            </a:r>
            <a:r>
              <a:rPr lang="en-US" sz="1600" dirty="0" smtClean="0">
                <a:latin typeface="Lucida Console" panose="020B0609040504020204" pitchFamily="49" charset="0"/>
              </a:rPr>
              <a:t>("vertex_shader.</a:t>
            </a:r>
            <a:r>
              <a:rPr lang="en-US" sz="1600" dirty="0" err="1" smtClean="0">
                <a:latin typeface="Lucida Console" panose="020B0609040504020204" pitchFamily="49" charset="0"/>
              </a:rPr>
              <a:t>glsl</a:t>
            </a:r>
            <a:r>
              <a:rPr lang="en-US" sz="1600" dirty="0" smtClean="0">
                <a:latin typeface="Lucida Console" panose="020B0609040504020204" pitchFamily="49" charset="0"/>
              </a:rPr>
              <a:t>","</a:t>
            </a:r>
            <a:r>
              <a:rPr lang="en-US" sz="1600" dirty="0" err="1" smtClean="0">
                <a:latin typeface="Lucida Console" panose="020B0609040504020204" pitchFamily="49" charset="0"/>
              </a:rPr>
              <a:t>fragment_shader.glsl</a:t>
            </a:r>
            <a:r>
              <a:rPr lang="en-US" sz="1600" dirty="0">
                <a:latin typeface="Lucida Console" panose="020B0609040504020204" pitchFamily="49" charset="0"/>
              </a:rPr>
              <a:t>");</a:t>
            </a:r>
          </a:p>
          <a:p>
            <a:endParaRPr lang="en-US" sz="1600" dirty="0">
              <a:latin typeface="Lucida Console" panose="020B0609040504020204" pitchFamily="49" charset="0"/>
            </a:endParaRPr>
          </a:p>
        </p:txBody>
      </p:sp>
      <p:sp>
        <p:nvSpPr>
          <p:cNvPr id="6" name="Down Arrow 5"/>
          <p:cNvSpPr/>
          <p:nvPr/>
        </p:nvSpPr>
        <p:spPr>
          <a:xfrm>
            <a:off x="3785616" y="3145536"/>
            <a:ext cx="478392" cy="29854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933163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Color as Vertex Attribute</a:t>
            </a:r>
            <a:endParaRPr lang="en-US" dirty="0"/>
          </a:p>
        </p:txBody>
      </p:sp>
      <p:sp>
        <p:nvSpPr>
          <p:cNvPr id="3" name="Content Placeholder 2"/>
          <p:cNvSpPr>
            <a:spLocks noGrp="1"/>
          </p:cNvSpPr>
          <p:nvPr>
            <p:ph idx="1"/>
          </p:nvPr>
        </p:nvSpPr>
        <p:spPr/>
        <p:txBody>
          <a:bodyPr/>
          <a:lstStyle/>
          <a:p>
            <a:r>
              <a:rPr lang="en-US" dirty="0" smtClean="0"/>
              <a:t>In the previous example, a vertex had only one attribute, which is an xyz coordinate.</a:t>
            </a:r>
          </a:p>
          <a:p>
            <a:r>
              <a:rPr lang="en-US" dirty="0" smtClean="0"/>
              <a:t>In this example, a vertex has two attributes, an xyz coordinate and a </a:t>
            </a:r>
            <a:r>
              <a:rPr lang="en-US" dirty="0" err="1" smtClean="0"/>
              <a:t>rgba</a:t>
            </a:r>
            <a:r>
              <a:rPr lang="en-US" dirty="0" smtClean="0"/>
              <a:t> color.</a:t>
            </a:r>
            <a:endParaRPr lang="en-US" dirty="0"/>
          </a:p>
        </p:txBody>
      </p:sp>
    </p:spTree>
    <p:extLst>
      <p:ext uri="{BB962C8B-B14F-4D97-AF65-F5344CB8AC3E}">
        <p14:creationId xmlns:p14="http://schemas.microsoft.com/office/powerpoint/2010/main" val="9052031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Color as Vertex Attribute</a:t>
            </a:r>
            <a:endParaRPr lang="en-US" dirty="0"/>
          </a:p>
        </p:txBody>
      </p:sp>
      <p:sp>
        <p:nvSpPr>
          <p:cNvPr id="3" name="Content Placeholder 2"/>
          <p:cNvSpPr>
            <a:spLocks noGrp="1"/>
          </p:cNvSpPr>
          <p:nvPr>
            <p:ph idx="1"/>
          </p:nvPr>
        </p:nvSpPr>
        <p:spPr/>
        <p:txBody>
          <a:bodyPr/>
          <a:lstStyle/>
          <a:p>
            <a:r>
              <a:rPr lang="en-US" dirty="0" smtClean="0"/>
              <a:t>In the data directory, </a:t>
            </a:r>
            <a:r>
              <a:rPr lang="en-US" dirty="0" err="1" smtClean="0"/>
              <a:t>svn</a:t>
            </a:r>
            <a:r>
              <a:rPr lang="en-US" dirty="0" smtClean="0"/>
              <a:t>-copy </a:t>
            </a:r>
            <a:r>
              <a:rPr lang="en-US" dirty="0" err="1" smtClean="0"/>
              <a:t>fragment_shader.glsl</a:t>
            </a:r>
            <a:r>
              <a:rPr lang="en-US" dirty="0" smtClean="0"/>
              <a:t> and </a:t>
            </a:r>
            <a:r>
              <a:rPr lang="en-US" dirty="0" err="1" smtClean="0"/>
              <a:t>vertex_shader.glsl</a:t>
            </a:r>
            <a:r>
              <a:rPr lang="en-US" dirty="0" smtClean="0"/>
              <a:t> to:</a:t>
            </a:r>
          </a:p>
          <a:p>
            <a:pPr lvl="1"/>
            <a:r>
              <a:rPr lang="en-US" dirty="0" err="1" smtClean="0"/>
              <a:t>color_as_attribute_vertex_shader.glsl</a:t>
            </a:r>
            <a:r>
              <a:rPr lang="en-US" dirty="0" smtClean="0"/>
              <a:t>, and</a:t>
            </a:r>
          </a:p>
          <a:p>
            <a:pPr lvl="1"/>
            <a:r>
              <a:rPr lang="en-US" dirty="0" err="1" smtClean="0"/>
              <a:t>color_as_attribute_fragment_shader.glsl</a:t>
            </a:r>
            <a:r>
              <a:rPr lang="en-US" dirty="0" smtClean="0"/>
              <a:t>.</a:t>
            </a:r>
          </a:p>
          <a:p>
            <a:endParaRPr lang="en-US" dirty="0"/>
          </a:p>
          <a:p>
            <a:endParaRPr lang="en-US" dirty="0"/>
          </a:p>
        </p:txBody>
      </p:sp>
    </p:spTree>
    <p:extLst>
      <p:ext uri="{BB962C8B-B14F-4D97-AF65-F5344CB8AC3E}">
        <p14:creationId xmlns:p14="http://schemas.microsoft.com/office/powerpoint/2010/main" val="6029131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38912" y="868680"/>
            <a:ext cx="3252814" cy="2123658"/>
          </a:xfrm>
          <a:prstGeom prst="rect">
            <a:avLst/>
          </a:prstGeom>
          <a:noFill/>
        </p:spPr>
        <p:txBody>
          <a:bodyPr wrap="none" rtlCol="0">
            <a:spAutoFit/>
          </a:bodyPr>
          <a:lstStyle/>
          <a:p>
            <a:r>
              <a:rPr lang="en-US" sz="1200" dirty="0">
                <a:latin typeface="Lucida Console" panose="020B0609040504020204" pitchFamily="49" charset="0"/>
              </a:rPr>
              <a:t>attribute vec3 vertex;</a:t>
            </a:r>
          </a:p>
          <a:p>
            <a:r>
              <a:rPr lang="en-US" sz="1200" dirty="0">
                <a:latin typeface="Lucida Console" panose="020B0609040504020204" pitchFamily="49" charset="0"/>
              </a:rPr>
              <a:t>attribute vec4 color;</a:t>
            </a:r>
          </a:p>
          <a:p>
            <a:endParaRPr lang="en-US" sz="1200" dirty="0">
              <a:latin typeface="Lucida Console" panose="020B0609040504020204" pitchFamily="49" charset="0"/>
            </a:endParaRPr>
          </a:p>
          <a:p>
            <a:r>
              <a:rPr lang="en-US" sz="1200" dirty="0">
                <a:latin typeface="Lucida Console" panose="020B0609040504020204" pitchFamily="49" charset="0"/>
              </a:rPr>
              <a:t>varying vec4 </a:t>
            </a:r>
            <a:r>
              <a:rPr lang="en-US" sz="1200" dirty="0" err="1">
                <a:latin typeface="Lucida Console" panose="020B0609040504020204" pitchFamily="49" charset="0"/>
              </a:rPr>
              <a:t>colorOut</a:t>
            </a:r>
            <a:r>
              <a:rPr lang="en-US" sz="1200" dirty="0">
                <a:latin typeface="Lucida Console" panose="020B0609040504020204" pitchFamily="49" charset="0"/>
              </a:rPr>
              <a:t>;</a:t>
            </a:r>
          </a:p>
          <a:p>
            <a:endParaRPr lang="en-US" sz="1200" dirty="0">
              <a:latin typeface="Lucida Console" panose="020B0609040504020204" pitchFamily="49" charset="0"/>
            </a:endParaRPr>
          </a:p>
          <a:p>
            <a:r>
              <a:rPr lang="en-US" sz="1200" dirty="0">
                <a:latin typeface="Lucida Console" panose="020B0609040504020204" pitchFamily="49" charset="0"/>
              </a:rPr>
              <a:t>void main()</a:t>
            </a:r>
          </a:p>
          <a:p>
            <a:r>
              <a:rPr lang="en-US" sz="1200" dirty="0">
                <a:latin typeface="Lucida Console" panose="020B0609040504020204" pitchFamily="49" charset="0"/>
              </a:rPr>
              <a:t>{</a:t>
            </a:r>
          </a:p>
          <a:p>
            <a:r>
              <a:rPr lang="en-US" sz="1200" dirty="0" smtClean="0">
                <a:latin typeface="Lucida Console" panose="020B0609040504020204" pitchFamily="49" charset="0"/>
              </a:rPr>
              <a:t>    </a:t>
            </a:r>
            <a:r>
              <a:rPr lang="en-US" sz="1200" dirty="0" err="1" smtClean="0">
                <a:latin typeface="Lucida Console" panose="020B0609040504020204" pitchFamily="49" charset="0"/>
              </a:rPr>
              <a:t>colorOut</a:t>
            </a:r>
            <a:r>
              <a:rPr lang="en-US" sz="1200" dirty="0" smtClean="0">
                <a:latin typeface="Lucida Console" panose="020B0609040504020204" pitchFamily="49" charset="0"/>
              </a:rPr>
              <a:t>=color</a:t>
            </a:r>
            <a:r>
              <a:rPr lang="en-US" sz="1200" dirty="0">
                <a:latin typeface="Lucida Console" panose="020B0609040504020204" pitchFamily="49" charset="0"/>
              </a:rPr>
              <a:t>;</a:t>
            </a:r>
          </a:p>
          <a:p>
            <a:r>
              <a:rPr lang="en-US" sz="1200" dirty="0" smtClean="0">
                <a:latin typeface="Lucida Console" panose="020B0609040504020204" pitchFamily="49" charset="0"/>
              </a:rPr>
              <a:t>    </a:t>
            </a:r>
            <a:r>
              <a:rPr lang="en-US" sz="1200" dirty="0" err="1" smtClean="0">
                <a:latin typeface="Lucida Console" panose="020B0609040504020204" pitchFamily="49" charset="0"/>
              </a:rPr>
              <a:t>gl_Position</a:t>
            </a:r>
            <a:r>
              <a:rPr lang="en-US" sz="1200" dirty="0" smtClean="0">
                <a:latin typeface="Lucida Console" panose="020B0609040504020204" pitchFamily="49" charset="0"/>
              </a:rPr>
              <a:t>=vec4(vertex,1.0</a:t>
            </a:r>
            <a:r>
              <a:rPr lang="en-US" sz="1200" dirty="0">
                <a:latin typeface="Lucida Console" panose="020B0609040504020204" pitchFamily="49" charset="0"/>
              </a:rPr>
              <a:t>);</a:t>
            </a:r>
          </a:p>
          <a:p>
            <a:r>
              <a:rPr lang="en-US" sz="1200" dirty="0">
                <a:latin typeface="Lucida Console" panose="020B0609040504020204" pitchFamily="49" charset="0"/>
              </a:rPr>
              <a:t>}</a:t>
            </a:r>
          </a:p>
          <a:p>
            <a:endParaRPr lang="en-US" sz="1200" dirty="0">
              <a:latin typeface="Lucida Console" panose="020B0609040504020204" pitchFamily="49" charset="0"/>
            </a:endParaRPr>
          </a:p>
        </p:txBody>
      </p:sp>
      <p:sp>
        <p:nvSpPr>
          <p:cNvPr id="5" name="TextBox 4"/>
          <p:cNvSpPr txBox="1"/>
          <p:nvPr/>
        </p:nvSpPr>
        <p:spPr>
          <a:xfrm>
            <a:off x="438912" y="3813048"/>
            <a:ext cx="2601994" cy="1384995"/>
          </a:xfrm>
          <a:prstGeom prst="rect">
            <a:avLst/>
          </a:prstGeom>
          <a:noFill/>
        </p:spPr>
        <p:txBody>
          <a:bodyPr wrap="none" rtlCol="0">
            <a:spAutoFit/>
          </a:bodyPr>
          <a:lstStyle/>
          <a:p>
            <a:r>
              <a:rPr lang="en-US" sz="1200" dirty="0">
                <a:latin typeface="Lucida Console" panose="020B0609040504020204" pitchFamily="49" charset="0"/>
              </a:rPr>
              <a:t>varying vec4 </a:t>
            </a:r>
            <a:r>
              <a:rPr lang="en-US" sz="1200" dirty="0" err="1">
                <a:latin typeface="Lucida Console" panose="020B0609040504020204" pitchFamily="49" charset="0"/>
              </a:rPr>
              <a:t>colorOut</a:t>
            </a:r>
            <a:r>
              <a:rPr lang="en-US" sz="1200" dirty="0">
                <a:latin typeface="Lucida Console" panose="020B0609040504020204" pitchFamily="49" charset="0"/>
              </a:rPr>
              <a:t>;</a:t>
            </a:r>
          </a:p>
          <a:p>
            <a:endParaRPr lang="en-US" sz="1200" dirty="0">
              <a:latin typeface="Lucida Console" panose="020B0609040504020204" pitchFamily="49" charset="0"/>
            </a:endParaRPr>
          </a:p>
          <a:p>
            <a:r>
              <a:rPr lang="en-US" sz="1200" dirty="0">
                <a:latin typeface="Lucida Console" panose="020B0609040504020204" pitchFamily="49" charset="0"/>
              </a:rPr>
              <a:t>void main()</a:t>
            </a:r>
          </a:p>
          <a:p>
            <a:r>
              <a:rPr lang="en-US" sz="1200" dirty="0">
                <a:latin typeface="Lucida Console" panose="020B0609040504020204" pitchFamily="49" charset="0"/>
              </a:rPr>
              <a:t>{</a:t>
            </a:r>
          </a:p>
          <a:p>
            <a:r>
              <a:rPr lang="en-US" sz="1200" dirty="0" smtClean="0">
                <a:latin typeface="Lucida Console" panose="020B0609040504020204" pitchFamily="49" charset="0"/>
              </a:rPr>
              <a:t>    </a:t>
            </a:r>
            <a:r>
              <a:rPr lang="en-US" sz="1200" dirty="0" err="1" smtClean="0">
                <a:latin typeface="Lucida Console" panose="020B0609040504020204" pitchFamily="49" charset="0"/>
              </a:rPr>
              <a:t>gl_FragColor</a:t>
            </a:r>
            <a:r>
              <a:rPr lang="en-US" sz="1200" dirty="0" smtClean="0">
                <a:latin typeface="Lucida Console" panose="020B0609040504020204" pitchFamily="49" charset="0"/>
              </a:rPr>
              <a:t>=</a:t>
            </a:r>
            <a:r>
              <a:rPr lang="en-US" sz="1200" dirty="0" err="1" smtClean="0">
                <a:latin typeface="Lucida Console" panose="020B0609040504020204" pitchFamily="49" charset="0"/>
              </a:rPr>
              <a:t>colorOut</a:t>
            </a:r>
            <a:r>
              <a:rPr lang="en-US" sz="1200" dirty="0">
                <a:latin typeface="Lucida Console" panose="020B0609040504020204" pitchFamily="49" charset="0"/>
              </a:rPr>
              <a:t>;</a:t>
            </a:r>
          </a:p>
          <a:p>
            <a:r>
              <a:rPr lang="en-US" sz="1200" dirty="0">
                <a:latin typeface="Lucida Console" panose="020B0609040504020204" pitchFamily="49" charset="0"/>
              </a:rPr>
              <a:t>}</a:t>
            </a:r>
          </a:p>
          <a:p>
            <a:endParaRPr lang="en-US" sz="1200" dirty="0">
              <a:latin typeface="Lucida Console" panose="020B0609040504020204" pitchFamily="49" charset="0"/>
            </a:endParaRPr>
          </a:p>
        </p:txBody>
      </p:sp>
      <p:sp>
        <p:nvSpPr>
          <p:cNvPr id="6" name="TextBox 5"/>
          <p:cNvSpPr txBox="1"/>
          <p:nvPr/>
        </p:nvSpPr>
        <p:spPr>
          <a:xfrm>
            <a:off x="438912" y="429768"/>
            <a:ext cx="1608197" cy="369332"/>
          </a:xfrm>
          <a:prstGeom prst="rect">
            <a:avLst/>
          </a:prstGeom>
          <a:noFill/>
        </p:spPr>
        <p:txBody>
          <a:bodyPr wrap="none" rtlCol="0">
            <a:spAutoFit/>
          </a:bodyPr>
          <a:lstStyle/>
          <a:p>
            <a:r>
              <a:rPr lang="en-US" dirty="0" smtClean="0"/>
              <a:t>Vertex </a:t>
            </a:r>
            <a:r>
              <a:rPr lang="en-US" dirty="0" err="1" smtClean="0"/>
              <a:t>shader</a:t>
            </a:r>
            <a:endParaRPr lang="en-US" dirty="0"/>
          </a:p>
        </p:txBody>
      </p:sp>
      <p:sp>
        <p:nvSpPr>
          <p:cNvPr id="7" name="TextBox 6"/>
          <p:cNvSpPr txBox="1"/>
          <p:nvPr/>
        </p:nvSpPr>
        <p:spPr>
          <a:xfrm>
            <a:off x="438912" y="3352800"/>
            <a:ext cx="1941557" cy="369332"/>
          </a:xfrm>
          <a:prstGeom prst="rect">
            <a:avLst/>
          </a:prstGeom>
          <a:noFill/>
        </p:spPr>
        <p:txBody>
          <a:bodyPr wrap="none" rtlCol="0">
            <a:spAutoFit/>
          </a:bodyPr>
          <a:lstStyle/>
          <a:p>
            <a:r>
              <a:rPr lang="en-US" dirty="0" smtClean="0"/>
              <a:t>Fragment </a:t>
            </a:r>
            <a:r>
              <a:rPr lang="en-US" dirty="0" err="1" smtClean="0"/>
              <a:t>shader</a:t>
            </a:r>
            <a:endParaRPr lang="en-US" dirty="0"/>
          </a:p>
        </p:txBody>
      </p:sp>
      <p:sp>
        <p:nvSpPr>
          <p:cNvPr id="8" name="TextBox 7"/>
          <p:cNvSpPr txBox="1"/>
          <p:nvPr/>
        </p:nvSpPr>
        <p:spPr>
          <a:xfrm>
            <a:off x="3310128" y="4306824"/>
            <a:ext cx="4224528" cy="646331"/>
          </a:xfrm>
          <a:prstGeom prst="rect">
            <a:avLst/>
          </a:prstGeom>
          <a:noFill/>
        </p:spPr>
        <p:txBody>
          <a:bodyPr wrap="square" rtlCol="0">
            <a:spAutoFit/>
          </a:bodyPr>
          <a:lstStyle/>
          <a:p>
            <a:r>
              <a:rPr lang="en-US" dirty="0" smtClean="0">
                <a:solidFill>
                  <a:srgbClr val="FF0000"/>
                </a:solidFill>
              </a:rPr>
              <a:t>Just passing </a:t>
            </a:r>
            <a:r>
              <a:rPr lang="en-US" dirty="0" err="1" smtClean="0">
                <a:solidFill>
                  <a:srgbClr val="FF0000"/>
                </a:solidFill>
              </a:rPr>
              <a:t>colorOut</a:t>
            </a:r>
            <a:r>
              <a:rPr lang="en-US" dirty="0" smtClean="0">
                <a:solidFill>
                  <a:srgbClr val="FF0000"/>
                </a:solidFill>
              </a:rPr>
              <a:t> from the vertex </a:t>
            </a:r>
            <a:r>
              <a:rPr lang="en-US" dirty="0" err="1" smtClean="0">
                <a:solidFill>
                  <a:srgbClr val="FF0000"/>
                </a:solidFill>
              </a:rPr>
              <a:t>shader</a:t>
            </a:r>
            <a:r>
              <a:rPr lang="en-US" dirty="0" smtClean="0">
                <a:solidFill>
                  <a:srgbClr val="FF0000"/>
                </a:solidFill>
              </a:rPr>
              <a:t> to the pixel color</a:t>
            </a:r>
            <a:endParaRPr lang="en-US" dirty="0">
              <a:solidFill>
                <a:srgbClr val="FF0000"/>
              </a:solidFill>
            </a:endParaRPr>
          </a:p>
        </p:txBody>
      </p:sp>
      <p:sp>
        <p:nvSpPr>
          <p:cNvPr id="9" name="TextBox 8"/>
          <p:cNvSpPr txBox="1"/>
          <p:nvPr/>
        </p:nvSpPr>
        <p:spPr>
          <a:xfrm>
            <a:off x="3310128" y="1021080"/>
            <a:ext cx="4224528" cy="646331"/>
          </a:xfrm>
          <a:prstGeom prst="rect">
            <a:avLst/>
          </a:prstGeom>
          <a:noFill/>
        </p:spPr>
        <p:txBody>
          <a:bodyPr wrap="square" rtlCol="0">
            <a:spAutoFit/>
          </a:bodyPr>
          <a:lstStyle/>
          <a:p>
            <a:r>
              <a:rPr lang="en-US" dirty="0" smtClean="0">
                <a:solidFill>
                  <a:srgbClr val="FF0000"/>
                </a:solidFill>
              </a:rPr>
              <a:t>Just passing attribute color to the </a:t>
            </a:r>
            <a:r>
              <a:rPr lang="en-US" dirty="0" err="1" smtClean="0">
                <a:solidFill>
                  <a:srgbClr val="FF0000"/>
                </a:solidFill>
              </a:rPr>
              <a:t>colorOut</a:t>
            </a:r>
            <a:r>
              <a:rPr lang="en-US" dirty="0" smtClean="0">
                <a:solidFill>
                  <a:srgbClr val="FF0000"/>
                </a:solidFill>
              </a:rPr>
              <a:t>.</a:t>
            </a:r>
            <a:endParaRPr lang="en-US" dirty="0">
              <a:solidFill>
                <a:srgbClr val="FF0000"/>
              </a:solidFill>
            </a:endParaRPr>
          </a:p>
        </p:txBody>
      </p:sp>
    </p:spTree>
    <p:extLst>
      <p:ext uri="{BB962C8B-B14F-4D97-AF65-F5344CB8AC3E}">
        <p14:creationId xmlns:p14="http://schemas.microsoft.com/office/powerpoint/2010/main" val="13594779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In </a:t>
            </a:r>
            <a:r>
              <a:rPr lang="en-US" dirty="0" err="1" smtClean="0"/>
              <a:t>renderer.h</a:t>
            </a:r>
            <a:endParaRPr lang="en-US" dirty="0" smtClean="0"/>
          </a:p>
          <a:p>
            <a:endParaRPr lang="en-US" dirty="0"/>
          </a:p>
          <a:p>
            <a:endParaRPr lang="en-US" dirty="0" smtClean="0"/>
          </a:p>
          <a:p>
            <a:endParaRPr lang="en-US" dirty="0"/>
          </a:p>
          <a:p>
            <a:endParaRPr lang="en-US" dirty="0" smtClean="0"/>
          </a:p>
          <a:p>
            <a:r>
              <a:rPr lang="en-US" dirty="0" smtClean="0"/>
              <a:t>In renderer.cpp</a:t>
            </a:r>
            <a:endParaRPr lang="en-US" dirty="0"/>
          </a:p>
        </p:txBody>
      </p:sp>
      <p:sp>
        <p:nvSpPr>
          <p:cNvPr id="4" name="TextBox 3"/>
          <p:cNvSpPr txBox="1"/>
          <p:nvPr/>
        </p:nvSpPr>
        <p:spPr>
          <a:xfrm>
            <a:off x="896112" y="1545336"/>
            <a:ext cx="5876930" cy="1815882"/>
          </a:xfrm>
          <a:prstGeom prst="rect">
            <a:avLst/>
          </a:prstGeom>
          <a:noFill/>
        </p:spPr>
        <p:txBody>
          <a:bodyPr wrap="none" rtlCol="0">
            <a:spAutoFit/>
          </a:bodyPr>
          <a:lstStyle/>
          <a:p>
            <a:r>
              <a:rPr lang="en-US" sz="1400" dirty="0">
                <a:latin typeface="Lucida Console" panose="020B0609040504020204" pitchFamily="49" charset="0"/>
              </a:rPr>
              <a:t>class </a:t>
            </a:r>
            <a:r>
              <a:rPr lang="en-US" sz="1400" dirty="0" err="1">
                <a:latin typeface="Lucida Console" panose="020B0609040504020204" pitchFamily="49" charset="0"/>
              </a:rPr>
              <a:t>ColorAsAttributeRenderer</a:t>
            </a:r>
            <a:r>
              <a:rPr lang="en-US" sz="1400" dirty="0">
                <a:latin typeface="Lucida Console" panose="020B0609040504020204" pitchFamily="49" charset="0"/>
              </a:rPr>
              <a:t> : public </a:t>
            </a:r>
            <a:r>
              <a:rPr lang="en-US" sz="1400" dirty="0" err="1">
                <a:latin typeface="Lucida Console" panose="020B0609040504020204" pitchFamily="49" charset="0"/>
              </a:rPr>
              <a:t>RendererBase</a:t>
            </a:r>
            <a:endParaRPr lang="en-US" sz="1400" dirty="0">
              <a:latin typeface="Lucida Console" panose="020B0609040504020204" pitchFamily="49" charset="0"/>
            </a:endParaRPr>
          </a:p>
          <a:p>
            <a:r>
              <a:rPr lang="en-US" sz="1400" dirty="0">
                <a:latin typeface="Lucida Console" panose="020B0609040504020204" pitchFamily="49" charset="0"/>
              </a:rPr>
              <a:t>{</a:t>
            </a:r>
          </a:p>
          <a:p>
            <a:r>
              <a:rPr lang="en-US" sz="1400" dirty="0">
                <a:latin typeface="Lucida Console" panose="020B0609040504020204" pitchFamily="49" charset="0"/>
              </a:rPr>
              <a:t>public:</a:t>
            </a:r>
          </a:p>
          <a:p>
            <a:r>
              <a:rPr lang="en-US" sz="1400" dirty="0" smtClean="0">
                <a:latin typeface="Lucida Console" panose="020B0609040504020204" pitchFamily="49" charset="0"/>
              </a:rPr>
              <a:t>    </a:t>
            </a:r>
            <a:r>
              <a:rPr lang="en-US" sz="1400" dirty="0" err="1" smtClean="0">
                <a:latin typeface="Lucida Console" panose="020B0609040504020204" pitchFamily="49" charset="0"/>
              </a:rPr>
              <a:t>GLuint</a:t>
            </a:r>
            <a:r>
              <a:rPr lang="en-US" sz="1400" dirty="0" smtClean="0">
                <a:latin typeface="Lucida Console" panose="020B0609040504020204" pitchFamily="49" charset="0"/>
              </a:rPr>
              <a:t> </a:t>
            </a:r>
            <a:r>
              <a:rPr lang="en-US" sz="1400" dirty="0" err="1">
                <a:latin typeface="Lucida Console" panose="020B0609040504020204" pitchFamily="49" charset="0"/>
              </a:rPr>
              <a:t>attribVertexPos</a:t>
            </a:r>
            <a:r>
              <a:rPr lang="en-US" sz="1400" dirty="0">
                <a:latin typeface="Lucida Console" panose="020B0609040504020204" pitchFamily="49" charset="0"/>
              </a:rPr>
              <a:t>;</a:t>
            </a:r>
          </a:p>
          <a:p>
            <a:r>
              <a:rPr lang="en-US" sz="1400" dirty="0" smtClean="0">
                <a:latin typeface="Lucida Console" panose="020B0609040504020204" pitchFamily="49" charset="0"/>
              </a:rPr>
              <a:t>    </a:t>
            </a:r>
            <a:r>
              <a:rPr lang="en-US" sz="1400" dirty="0" err="1" smtClean="0">
                <a:latin typeface="Lucida Console" panose="020B0609040504020204" pitchFamily="49" charset="0"/>
              </a:rPr>
              <a:t>GLuint</a:t>
            </a:r>
            <a:r>
              <a:rPr lang="en-US" sz="1400" dirty="0" smtClean="0">
                <a:latin typeface="Lucida Console" panose="020B0609040504020204" pitchFamily="49" charset="0"/>
              </a:rPr>
              <a:t> </a:t>
            </a:r>
            <a:r>
              <a:rPr lang="en-US" sz="1400" dirty="0" err="1">
                <a:latin typeface="Lucida Console" panose="020B0609040504020204" pitchFamily="49" charset="0"/>
              </a:rPr>
              <a:t>attribColorPos</a:t>
            </a:r>
            <a:r>
              <a:rPr lang="en-US" sz="1400" dirty="0">
                <a:latin typeface="Lucida Console" panose="020B0609040504020204" pitchFamily="49" charset="0"/>
              </a:rPr>
              <a:t>;</a:t>
            </a:r>
          </a:p>
          <a:p>
            <a:r>
              <a:rPr lang="en-US" sz="1400" dirty="0" smtClean="0">
                <a:latin typeface="Lucida Console" panose="020B0609040504020204" pitchFamily="49" charset="0"/>
              </a:rPr>
              <a:t>    virtual </a:t>
            </a:r>
            <a:r>
              <a:rPr lang="en-US" sz="1400" dirty="0">
                <a:latin typeface="Lucida Console" panose="020B0609040504020204" pitchFamily="49" charset="0"/>
              </a:rPr>
              <a:t>void </a:t>
            </a:r>
            <a:r>
              <a:rPr lang="en-US" sz="1400" dirty="0" err="1">
                <a:latin typeface="Lucida Console" panose="020B0609040504020204" pitchFamily="49" charset="0"/>
              </a:rPr>
              <a:t>CacheAttributeAndUniformIdent</a:t>
            </a:r>
            <a:r>
              <a:rPr lang="en-US" sz="1400" dirty="0">
                <a:latin typeface="Lucida Console" panose="020B0609040504020204" pitchFamily="49" charset="0"/>
              </a:rPr>
              <a:t>(void);</a:t>
            </a:r>
          </a:p>
          <a:p>
            <a:r>
              <a:rPr lang="en-US" sz="1400" dirty="0">
                <a:latin typeface="Lucida Console" panose="020B0609040504020204" pitchFamily="49" charset="0"/>
              </a:rPr>
              <a:t>};</a:t>
            </a:r>
          </a:p>
          <a:p>
            <a:endParaRPr lang="en-US" sz="1400" dirty="0">
              <a:latin typeface="Lucida Console" panose="020B0609040504020204" pitchFamily="49" charset="0"/>
            </a:endParaRPr>
          </a:p>
        </p:txBody>
      </p:sp>
      <p:sp>
        <p:nvSpPr>
          <p:cNvPr id="5" name="TextBox 4"/>
          <p:cNvSpPr txBox="1"/>
          <p:nvPr/>
        </p:nvSpPr>
        <p:spPr>
          <a:xfrm>
            <a:off x="896112" y="3736848"/>
            <a:ext cx="7444667" cy="1815882"/>
          </a:xfrm>
          <a:prstGeom prst="rect">
            <a:avLst/>
          </a:prstGeom>
          <a:noFill/>
        </p:spPr>
        <p:txBody>
          <a:bodyPr wrap="none" rtlCol="0">
            <a:spAutoFit/>
          </a:bodyPr>
          <a:lstStyle/>
          <a:p>
            <a:r>
              <a:rPr lang="en-US" sz="1400" dirty="0">
                <a:latin typeface="Lucida Console" panose="020B0609040504020204" pitchFamily="49" charset="0"/>
              </a:rPr>
              <a:t>void </a:t>
            </a:r>
            <a:r>
              <a:rPr lang="en-US" sz="1400" dirty="0" err="1">
                <a:latin typeface="Lucida Console" panose="020B0609040504020204" pitchFamily="49" charset="0"/>
              </a:rPr>
              <a:t>ColorAsAttributeRenderer</a:t>
            </a:r>
            <a:r>
              <a:rPr lang="en-US" sz="1400" dirty="0">
                <a:latin typeface="Lucida Console" panose="020B0609040504020204" pitchFamily="49" charset="0"/>
              </a:rPr>
              <a:t>::</a:t>
            </a:r>
            <a:r>
              <a:rPr lang="en-US" sz="1400" dirty="0" err="1">
                <a:latin typeface="Lucida Console" panose="020B0609040504020204" pitchFamily="49" charset="0"/>
              </a:rPr>
              <a:t>CacheAttributeAndUniformIdent</a:t>
            </a:r>
            <a:r>
              <a:rPr lang="en-US" sz="1400" dirty="0">
                <a:latin typeface="Lucida Console" panose="020B0609040504020204" pitchFamily="49" charset="0"/>
              </a:rPr>
              <a:t>(void)</a:t>
            </a:r>
          </a:p>
          <a:p>
            <a:r>
              <a:rPr lang="en-US" sz="1400" dirty="0">
                <a:latin typeface="Lucida Console" panose="020B0609040504020204" pitchFamily="49" charset="0"/>
              </a:rPr>
              <a:t>{</a:t>
            </a:r>
          </a:p>
          <a:p>
            <a:r>
              <a:rPr lang="en-US" sz="1400" dirty="0" smtClean="0">
                <a:latin typeface="Lucida Console" panose="020B0609040504020204" pitchFamily="49" charset="0"/>
              </a:rPr>
              <a:t>    </a:t>
            </a:r>
            <a:r>
              <a:rPr lang="en-US" sz="1400" dirty="0" err="1" smtClean="0">
                <a:latin typeface="Lucida Console" panose="020B0609040504020204" pitchFamily="49" charset="0"/>
              </a:rPr>
              <a:t>attribVertexPos</a:t>
            </a:r>
            <a:r>
              <a:rPr lang="en-US" sz="1400" dirty="0" smtClean="0">
                <a:latin typeface="Lucida Console" panose="020B0609040504020204" pitchFamily="49" charset="0"/>
              </a:rPr>
              <a:t>=</a:t>
            </a:r>
            <a:r>
              <a:rPr lang="en-US" sz="1400" dirty="0" err="1" smtClean="0">
                <a:latin typeface="Lucida Console" panose="020B0609040504020204" pitchFamily="49" charset="0"/>
              </a:rPr>
              <a:t>glGetAttribLocation</a:t>
            </a:r>
            <a:r>
              <a:rPr lang="en-US" sz="1400" dirty="0" smtClean="0">
                <a:latin typeface="Lucida Console" panose="020B0609040504020204" pitchFamily="49" charset="0"/>
              </a:rPr>
              <a:t>(</a:t>
            </a:r>
            <a:r>
              <a:rPr lang="en-US" sz="1400" dirty="0" err="1" smtClean="0">
                <a:latin typeface="Lucida Console" panose="020B0609040504020204" pitchFamily="49" charset="0"/>
              </a:rPr>
              <a:t>programIdent</a:t>
            </a:r>
            <a:r>
              <a:rPr lang="en-US" sz="1400" dirty="0">
                <a:latin typeface="Lucida Console" panose="020B0609040504020204" pitchFamily="49" charset="0"/>
              </a:rPr>
              <a:t>,"vertex");</a:t>
            </a:r>
          </a:p>
          <a:p>
            <a:r>
              <a:rPr lang="en-US" sz="1400" dirty="0" smtClean="0">
                <a:latin typeface="Lucida Console" panose="020B0609040504020204" pitchFamily="49" charset="0"/>
              </a:rPr>
              <a:t>    </a:t>
            </a:r>
            <a:r>
              <a:rPr lang="en-US" sz="1400" dirty="0" err="1" smtClean="0">
                <a:latin typeface="Lucida Console" panose="020B0609040504020204" pitchFamily="49" charset="0"/>
              </a:rPr>
              <a:t>printf</a:t>
            </a:r>
            <a:r>
              <a:rPr lang="en-US" sz="1400" dirty="0">
                <a:latin typeface="Lucida Console" panose="020B0609040504020204" pitchFamily="49" charset="0"/>
              </a:rPr>
              <a:t>("Attribute Vertex Position=%d\n",</a:t>
            </a:r>
            <a:r>
              <a:rPr lang="en-US" sz="1400" dirty="0" err="1">
                <a:latin typeface="Lucida Console" panose="020B0609040504020204" pitchFamily="49" charset="0"/>
              </a:rPr>
              <a:t>attribVertexPos</a:t>
            </a:r>
            <a:r>
              <a:rPr lang="en-US" sz="1400" dirty="0">
                <a:latin typeface="Lucida Console" panose="020B0609040504020204" pitchFamily="49" charset="0"/>
              </a:rPr>
              <a:t>);</a:t>
            </a:r>
          </a:p>
          <a:p>
            <a:r>
              <a:rPr lang="en-US" sz="1400" dirty="0" smtClean="0">
                <a:latin typeface="Lucida Console" panose="020B0609040504020204" pitchFamily="49" charset="0"/>
              </a:rPr>
              <a:t>    </a:t>
            </a:r>
            <a:r>
              <a:rPr lang="en-US" sz="1400" dirty="0" err="1" smtClean="0">
                <a:latin typeface="Lucida Console" panose="020B0609040504020204" pitchFamily="49" charset="0"/>
              </a:rPr>
              <a:t>attribColorPos</a:t>
            </a:r>
            <a:r>
              <a:rPr lang="en-US" sz="1400" dirty="0" smtClean="0">
                <a:latin typeface="Lucida Console" panose="020B0609040504020204" pitchFamily="49" charset="0"/>
              </a:rPr>
              <a:t>=</a:t>
            </a:r>
            <a:r>
              <a:rPr lang="en-US" sz="1400" dirty="0" err="1" smtClean="0">
                <a:latin typeface="Lucida Console" panose="020B0609040504020204" pitchFamily="49" charset="0"/>
              </a:rPr>
              <a:t>glGetAttribLocation</a:t>
            </a:r>
            <a:r>
              <a:rPr lang="en-US" sz="1400" dirty="0" smtClean="0">
                <a:latin typeface="Lucida Console" panose="020B0609040504020204" pitchFamily="49" charset="0"/>
              </a:rPr>
              <a:t>(</a:t>
            </a:r>
            <a:r>
              <a:rPr lang="en-US" sz="1400" dirty="0" err="1" smtClean="0">
                <a:latin typeface="Lucida Console" panose="020B0609040504020204" pitchFamily="49" charset="0"/>
              </a:rPr>
              <a:t>programIdent</a:t>
            </a:r>
            <a:r>
              <a:rPr lang="en-US" sz="1400" dirty="0">
                <a:latin typeface="Lucida Console" panose="020B0609040504020204" pitchFamily="49" charset="0"/>
              </a:rPr>
              <a:t>,"color");</a:t>
            </a:r>
          </a:p>
          <a:p>
            <a:r>
              <a:rPr lang="en-US" sz="1400" dirty="0" smtClean="0">
                <a:latin typeface="Lucida Console" panose="020B0609040504020204" pitchFamily="49" charset="0"/>
              </a:rPr>
              <a:t>    </a:t>
            </a:r>
            <a:r>
              <a:rPr lang="en-US" sz="1400" dirty="0" err="1" smtClean="0">
                <a:latin typeface="Lucida Console" panose="020B0609040504020204" pitchFamily="49" charset="0"/>
              </a:rPr>
              <a:t>printf</a:t>
            </a:r>
            <a:r>
              <a:rPr lang="en-US" sz="1400" dirty="0">
                <a:latin typeface="Lucida Console" panose="020B0609040504020204" pitchFamily="49" charset="0"/>
              </a:rPr>
              <a:t>("Attribute Color Position=%d\n",</a:t>
            </a:r>
            <a:r>
              <a:rPr lang="en-US" sz="1400" dirty="0" err="1">
                <a:latin typeface="Lucida Console" panose="020B0609040504020204" pitchFamily="49" charset="0"/>
              </a:rPr>
              <a:t>attribColorPos</a:t>
            </a:r>
            <a:r>
              <a:rPr lang="en-US" sz="1400" dirty="0">
                <a:latin typeface="Lucida Console" panose="020B0609040504020204" pitchFamily="49" charset="0"/>
              </a:rPr>
              <a:t>);</a:t>
            </a:r>
          </a:p>
          <a:p>
            <a:r>
              <a:rPr lang="en-US" sz="1400" dirty="0">
                <a:latin typeface="Lucida Console" panose="020B0609040504020204" pitchFamily="49" charset="0"/>
              </a:rPr>
              <a:t>}</a:t>
            </a:r>
          </a:p>
          <a:p>
            <a:endParaRPr lang="en-US" sz="1400" dirty="0">
              <a:latin typeface="Lucida Console" panose="020B0609040504020204" pitchFamily="49" charset="0"/>
            </a:endParaRPr>
          </a:p>
        </p:txBody>
      </p:sp>
    </p:spTree>
    <p:extLst>
      <p:ext uri="{BB962C8B-B14F-4D97-AF65-F5344CB8AC3E}">
        <p14:creationId xmlns:p14="http://schemas.microsoft.com/office/powerpoint/2010/main" val="354980871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36645"/>
            <a:ext cx="8229600" cy="5059363"/>
          </a:xfrm>
        </p:spPr>
        <p:txBody>
          <a:bodyPr/>
          <a:lstStyle/>
          <a:p>
            <a:r>
              <a:rPr lang="en-US" dirty="0" smtClean="0"/>
              <a:t>Add a member variable:</a:t>
            </a:r>
          </a:p>
          <a:p>
            <a:pPr lvl="4"/>
            <a:endParaRPr lang="en-US" dirty="0" smtClean="0"/>
          </a:p>
          <a:p>
            <a:r>
              <a:rPr lang="en-US" dirty="0" smtClean="0"/>
              <a:t>In Initialize</a:t>
            </a:r>
          </a:p>
          <a:p>
            <a:pPr lvl="2"/>
            <a:endParaRPr lang="en-US" dirty="0" smtClean="0"/>
          </a:p>
          <a:p>
            <a:pPr lvl="3"/>
            <a:endParaRPr lang="en-US" dirty="0"/>
          </a:p>
          <a:p>
            <a:r>
              <a:rPr lang="en-US" dirty="0" smtClean="0"/>
              <a:t>In Draw</a:t>
            </a:r>
            <a:endParaRPr lang="en-US" dirty="0"/>
          </a:p>
        </p:txBody>
      </p:sp>
      <p:sp>
        <p:nvSpPr>
          <p:cNvPr id="4" name="TextBox 3"/>
          <p:cNvSpPr txBox="1"/>
          <p:nvPr/>
        </p:nvSpPr>
        <p:spPr>
          <a:xfrm>
            <a:off x="1042416" y="765367"/>
            <a:ext cx="4373313" cy="307777"/>
          </a:xfrm>
          <a:prstGeom prst="rect">
            <a:avLst/>
          </a:prstGeom>
          <a:noFill/>
        </p:spPr>
        <p:txBody>
          <a:bodyPr wrap="none" rtlCol="0">
            <a:spAutoFit/>
          </a:bodyPr>
          <a:lstStyle/>
          <a:p>
            <a:r>
              <a:rPr lang="en-US" sz="1400" dirty="0" err="1" smtClean="0">
                <a:latin typeface="Lucida Console" panose="020B0609040504020204" pitchFamily="49" charset="0"/>
              </a:rPr>
              <a:t>ColorAsAttributeRenderer</a:t>
            </a:r>
            <a:r>
              <a:rPr lang="en-US" sz="1400" dirty="0" smtClean="0">
                <a:latin typeface="Lucida Console" panose="020B0609040504020204" pitchFamily="49" charset="0"/>
              </a:rPr>
              <a:t> </a:t>
            </a:r>
            <a:r>
              <a:rPr lang="en-US" sz="1400" dirty="0" err="1">
                <a:latin typeface="Lucida Console" panose="020B0609040504020204" pitchFamily="49" charset="0"/>
              </a:rPr>
              <a:t>colorAsAttrib</a:t>
            </a:r>
            <a:r>
              <a:rPr lang="en-US" sz="1400" dirty="0">
                <a:latin typeface="Lucida Console" panose="020B0609040504020204" pitchFamily="49" charset="0"/>
              </a:rPr>
              <a:t>;</a:t>
            </a:r>
          </a:p>
        </p:txBody>
      </p:sp>
      <p:sp>
        <p:nvSpPr>
          <p:cNvPr id="5" name="TextBox 4"/>
          <p:cNvSpPr txBox="1"/>
          <p:nvPr/>
        </p:nvSpPr>
        <p:spPr>
          <a:xfrm>
            <a:off x="1042414" y="1443205"/>
            <a:ext cx="5232523" cy="738664"/>
          </a:xfrm>
          <a:prstGeom prst="rect">
            <a:avLst/>
          </a:prstGeom>
          <a:noFill/>
        </p:spPr>
        <p:txBody>
          <a:bodyPr wrap="none" rtlCol="0">
            <a:spAutoFit/>
          </a:bodyPr>
          <a:lstStyle/>
          <a:p>
            <a:r>
              <a:rPr lang="en-US" sz="1400" dirty="0" err="1" smtClean="0">
                <a:latin typeface="Lucida Console" panose="020B0609040504020204" pitchFamily="49" charset="0"/>
              </a:rPr>
              <a:t>colorAsAttrib.CompileFile</a:t>
            </a:r>
            <a:r>
              <a:rPr lang="en-US" sz="1400" dirty="0">
                <a:latin typeface="Lucida Console" panose="020B0609040504020204" pitchFamily="49" charset="0"/>
              </a:rPr>
              <a:t>(</a:t>
            </a:r>
          </a:p>
          <a:p>
            <a:r>
              <a:rPr lang="en-US" sz="1400" dirty="0" smtClean="0">
                <a:latin typeface="Lucida Console" panose="020B0609040504020204" pitchFamily="49" charset="0"/>
              </a:rPr>
              <a:t>    </a:t>
            </a:r>
            <a:r>
              <a:rPr lang="en-US" sz="1400" dirty="0">
                <a:latin typeface="Lucida Console" panose="020B0609040504020204" pitchFamily="49" charset="0"/>
              </a:rPr>
              <a:t>"</a:t>
            </a:r>
            <a:r>
              <a:rPr lang="en-US" sz="1400" dirty="0" err="1">
                <a:latin typeface="Lucida Console" panose="020B0609040504020204" pitchFamily="49" charset="0"/>
              </a:rPr>
              <a:t>color_as_attribute_vertex_shader.glsl</a:t>
            </a:r>
            <a:r>
              <a:rPr lang="en-US" sz="1400" dirty="0">
                <a:latin typeface="Lucida Console" panose="020B0609040504020204" pitchFamily="49" charset="0"/>
              </a:rPr>
              <a:t>",</a:t>
            </a:r>
          </a:p>
          <a:p>
            <a:r>
              <a:rPr lang="en-US" sz="1400" dirty="0" smtClean="0">
                <a:latin typeface="Lucida Console" panose="020B0609040504020204" pitchFamily="49" charset="0"/>
              </a:rPr>
              <a:t>    </a:t>
            </a:r>
            <a:r>
              <a:rPr lang="en-US" sz="1400" dirty="0">
                <a:latin typeface="Lucida Console" panose="020B0609040504020204" pitchFamily="49" charset="0"/>
              </a:rPr>
              <a:t>"</a:t>
            </a:r>
            <a:r>
              <a:rPr lang="en-US" sz="1400" dirty="0" err="1">
                <a:latin typeface="Lucida Console" panose="020B0609040504020204" pitchFamily="49" charset="0"/>
              </a:rPr>
              <a:t>color_as_attribute_fragment_shader.glsl</a:t>
            </a:r>
            <a:r>
              <a:rPr lang="en-US" sz="1400" dirty="0">
                <a:latin typeface="Lucida Console" panose="020B0609040504020204" pitchFamily="49" charset="0"/>
              </a:rPr>
              <a:t>");</a:t>
            </a:r>
            <a:endParaRPr lang="en-US" sz="1400" dirty="0" smtClean="0">
              <a:latin typeface="Lucida Console" panose="020B0609040504020204" pitchFamily="49" charset="0"/>
            </a:endParaRPr>
          </a:p>
        </p:txBody>
      </p:sp>
      <p:sp>
        <p:nvSpPr>
          <p:cNvPr id="6" name="TextBox 5"/>
          <p:cNvSpPr txBox="1"/>
          <p:nvPr/>
        </p:nvSpPr>
        <p:spPr>
          <a:xfrm>
            <a:off x="675562" y="2565779"/>
            <a:ext cx="7901522" cy="4154984"/>
          </a:xfrm>
          <a:prstGeom prst="rect">
            <a:avLst/>
          </a:prstGeom>
          <a:noFill/>
        </p:spPr>
        <p:txBody>
          <a:bodyPr wrap="none" rtlCol="0">
            <a:spAutoFit/>
          </a:bodyPr>
          <a:lstStyle/>
          <a:p>
            <a:r>
              <a:rPr lang="en-US" sz="1200" dirty="0" smtClean="0">
                <a:latin typeface="Lucida Console" panose="020B0609040504020204" pitchFamily="49" charset="0"/>
              </a:rPr>
              <a:t>    </a:t>
            </a:r>
            <a:r>
              <a:rPr lang="en-US" sz="1200" dirty="0" err="1" smtClean="0">
                <a:latin typeface="Lucida Console" panose="020B0609040504020204" pitchFamily="49" charset="0"/>
              </a:rPr>
              <a:t>glUseProgram</a:t>
            </a:r>
            <a:r>
              <a:rPr lang="en-US" sz="1200" dirty="0" smtClean="0">
                <a:latin typeface="Lucida Console" panose="020B0609040504020204" pitchFamily="49" charset="0"/>
              </a:rPr>
              <a:t>(</a:t>
            </a:r>
            <a:r>
              <a:rPr lang="en-US" sz="1200" dirty="0" err="1" smtClean="0">
                <a:latin typeface="Lucida Console" panose="020B0609040504020204" pitchFamily="49" charset="0"/>
              </a:rPr>
              <a:t>colorAsAttrib.programIdent</a:t>
            </a:r>
            <a:r>
              <a:rPr lang="en-US" sz="1200" dirty="0">
                <a:latin typeface="Lucida Console" panose="020B0609040504020204" pitchFamily="49" charset="0"/>
              </a:rPr>
              <a:t>);</a:t>
            </a:r>
          </a:p>
          <a:p>
            <a:r>
              <a:rPr lang="en-US" sz="1200" dirty="0" smtClean="0">
                <a:latin typeface="Lucida Console" panose="020B0609040504020204" pitchFamily="49" charset="0"/>
              </a:rPr>
              <a:t>    </a:t>
            </a:r>
            <a:r>
              <a:rPr lang="en-US" sz="1200" dirty="0" err="1" smtClean="0">
                <a:latin typeface="Lucida Console" panose="020B0609040504020204" pitchFamily="49" charset="0"/>
              </a:rPr>
              <a:t>const</a:t>
            </a:r>
            <a:r>
              <a:rPr lang="en-US" sz="1200" dirty="0" smtClean="0">
                <a:latin typeface="Lucida Console" panose="020B0609040504020204" pitchFamily="49" charset="0"/>
              </a:rPr>
              <a:t> </a:t>
            </a:r>
            <a:r>
              <a:rPr lang="en-US" sz="1200" dirty="0" err="1">
                <a:latin typeface="Lucida Console" panose="020B0609040504020204" pitchFamily="49" charset="0"/>
              </a:rPr>
              <a:t>GLfloat</a:t>
            </a:r>
            <a:r>
              <a:rPr lang="en-US" sz="1200" dirty="0">
                <a:latin typeface="Lucida Console" panose="020B0609040504020204" pitchFamily="49" charset="0"/>
              </a:rPr>
              <a:t> </a:t>
            </a:r>
            <a:r>
              <a:rPr lang="en-US" sz="1200" dirty="0" err="1">
                <a:latin typeface="Lucida Console" panose="020B0609040504020204" pitchFamily="49" charset="0"/>
              </a:rPr>
              <a:t>vtx</a:t>
            </a:r>
            <a:r>
              <a:rPr lang="en-US" sz="1200" dirty="0">
                <a:latin typeface="Lucida Console" panose="020B0609040504020204" pitchFamily="49" charset="0"/>
              </a:rPr>
              <a:t>[12]=</a:t>
            </a:r>
          </a:p>
          <a:p>
            <a:r>
              <a:rPr lang="en-US" sz="1200" dirty="0" smtClean="0">
                <a:latin typeface="Lucida Console" panose="020B0609040504020204" pitchFamily="49" charset="0"/>
              </a:rPr>
              <a:t>    {</a:t>
            </a:r>
            <a:endParaRPr lang="en-US" sz="1200" dirty="0">
              <a:latin typeface="Lucida Console" panose="020B0609040504020204" pitchFamily="49" charset="0"/>
            </a:endParaRPr>
          </a:p>
          <a:p>
            <a:r>
              <a:rPr lang="en-US" sz="1200" dirty="0" smtClean="0">
                <a:latin typeface="Lucida Console" panose="020B0609040504020204" pitchFamily="49" charset="0"/>
              </a:rPr>
              <a:t>        -</a:t>
            </a:r>
            <a:r>
              <a:rPr lang="en-US" sz="1200" dirty="0">
                <a:latin typeface="Lucida Console" panose="020B0609040504020204" pitchFamily="49" charset="0"/>
              </a:rPr>
              <a:t>1,-1,0,</a:t>
            </a:r>
          </a:p>
          <a:p>
            <a:r>
              <a:rPr lang="en-US" sz="1200" dirty="0" smtClean="0">
                <a:latin typeface="Lucida Console" panose="020B0609040504020204" pitchFamily="49" charset="0"/>
              </a:rPr>
              <a:t>         </a:t>
            </a:r>
            <a:r>
              <a:rPr lang="en-US" sz="1200" dirty="0">
                <a:latin typeface="Lucida Console" panose="020B0609040504020204" pitchFamily="49" charset="0"/>
              </a:rPr>
              <a:t>1,-1,0,</a:t>
            </a:r>
          </a:p>
          <a:p>
            <a:r>
              <a:rPr lang="en-US" sz="1200" dirty="0" smtClean="0">
                <a:latin typeface="Lucida Console" panose="020B0609040504020204" pitchFamily="49" charset="0"/>
              </a:rPr>
              <a:t>         </a:t>
            </a:r>
            <a:r>
              <a:rPr lang="en-US" sz="1200" dirty="0">
                <a:latin typeface="Lucida Console" panose="020B0609040504020204" pitchFamily="49" charset="0"/>
              </a:rPr>
              <a:t>1, 1,0,</a:t>
            </a:r>
          </a:p>
          <a:p>
            <a:r>
              <a:rPr lang="en-US" sz="1200" dirty="0" smtClean="0">
                <a:latin typeface="Lucida Console" panose="020B0609040504020204" pitchFamily="49" charset="0"/>
              </a:rPr>
              <a:t>        -</a:t>
            </a:r>
            <a:r>
              <a:rPr lang="en-US" sz="1200" dirty="0">
                <a:latin typeface="Lucida Console" panose="020B0609040504020204" pitchFamily="49" charset="0"/>
              </a:rPr>
              <a:t>1, 1,0</a:t>
            </a:r>
          </a:p>
          <a:p>
            <a:r>
              <a:rPr lang="en-US" sz="1200" dirty="0" smtClean="0">
                <a:latin typeface="Lucida Console" panose="020B0609040504020204" pitchFamily="49" charset="0"/>
              </a:rPr>
              <a:t>    };</a:t>
            </a:r>
            <a:endParaRPr lang="en-US" sz="1200" dirty="0">
              <a:latin typeface="Lucida Console" panose="020B0609040504020204" pitchFamily="49" charset="0"/>
            </a:endParaRPr>
          </a:p>
          <a:p>
            <a:r>
              <a:rPr lang="en-US" sz="1200" dirty="0" smtClean="0">
                <a:latin typeface="Lucida Console" panose="020B0609040504020204" pitchFamily="49" charset="0"/>
              </a:rPr>
              <a:t>    </a:t>
            </a:r>
            <a:r>
              <a:rPr lang="en-US" sz="1200" dirty="0" err="1" smtClean="0">
                <a:latin typeface="Lucida Console" panose="020B0609040504020204" pitchFamily="49" charset="0"/>
              </a:rPr>
              <a:t>const</a:t>
            </a:r>
            <a:r>
              <a:rPr lang="en-US" sz="1200" dirty="0" smtClean="0">
                <a:latin typeface="Lucida Console" panose="020B0609040504020204" pitchFamily="49" charset="0"/>
              </a:rPr>
              <a:t> </a:t>
            </a:r>
            <a:r>
              <a:rPr lang="en-US" sz="1200" dirty="0" err="1">
                <a:latin typeface="Lucida Console" panose="020B0609040504020204" pitchFamily="49" charset="0"/>
              </a:rPr>
              <a:t>GLfloat</a:t>
            </a:r>
            <a:r>
              <a:rPr lang="en-US" sz="1200" dirty="0">
                <a:latin typeface="Lucida Console" panose="020B0609040504020204" pitchFamily="49" charset="0"/>
              </a:rPr>
              <a:t> col[16]=</a:t>
            </a:r>
          </a:p>
          <a:p>
            <a:r>
              <a:rPr lang="en-US" sz="1200" dirty="0" smtClean="0">
                <a:latin typeface="Lucida Console" panose="020B0609040504020204" pitchFamily="49" charset="0"/>
              </a:rPr>
              <a:t>    {</a:t>
            </a:r>
            <a:endParaRPr lang="en-US" sz="1200" dirty="0">
              <a:latin typeface="Lucida Console" panose="020B0609040504020204" pitchFamily="49" charset="0"/>
            </a:endParaRPr>
          </a:p>
          <a:p>
            <a:r>
              <a:rPr lang="en-US" sz="1200" dirty="0" smtClean="0">
                <a:latin typeface="Lucida Console" panose="020B0609040504020204" pitchFamily="49" charset="0"/>
              </a:rPr>
              <a:t>        1,0,0,1</a:t>
            </a:r>
            <a:r>
              <a:rPr lang="en-US" sz="1200" dirty="0">
                <a:latin typeface="Lucida Console" panose="020B0609040504020204" pitchFamily="49" charset="0"/>
              </a:rPr>
              <a:t>,</a:t>
            </a:r>
          </a:p>
          <a:p>
            <a:r>
              <a:rPr lang="en-US" sz="1200" dirty="0" smtClean="0">
                <a:latin typeface="Lucida Console" panose="020B0609040504020204" pitchFamily="49" charset="0"/>
              </a:rPr>
              <a:t>        0,1,0,1</a:t>
            </a:r>
            <a:r>
              <a:rPr lang="en-US" sz="1200" dirty="0">
                <a:latin typeface="Lucida Console" panose="020B0609040504020204" pitchFamily="49" charset="0"/>
              </a:rPr>
              <a:t>,</a:t>
            </a:r>
          </a:p>
          <a:p>
            <a:r>
              <a:rPr lang="en-US" sz="1200" dirty="0" smtClean="0">
                <a:latin typeface="Lucida Console" panose="020B0609040504020204" pitchFamily="49" charset="0"/>
              </a:rPr>
              <a:t>        0,0,1,1</a:t>
            </a:r>
            <a:r>
              <a:rPr lang="en-US" sz="1200" dirty="0">
                <a:latin typeface="Lucida Console" panose="020B0609040504020204" pitchFamily="49" charset="0"/>
              </a:rPr>
              <a:t>,</a:t>
            </a:r>
          </a:p>
          <a:p>
            <a:r>
              <a:rPr lang="en-US" sz="1200" dirty="0" smtClean="0">
                <a:latin typeface="Lucida Console" panose="020B0609040504020204" pitchFamily="49" charset="0"/>
              </a:rPr>
              <a:t>        1,0,1,1</a:t>
            </a:r>
            <a:endParaRPr lang="en-US" sz="1200" dirty="0">
              <a:latin typeface="Lucida Console" panose="020B0609040504020204" pitchFamily="49" charset="0"/>
            </a:endParaRPr>
          </a:p>
          <a:p>
            <a:r>
              <a:rPr lang="en-US" sz="1200" dirty="0" smtClean="0">
                <a:latin typeface="Lucida Console" panose="020B0609040504020204" pitchFamily="49" charset="0"/>
              </a:rPr>
              <a:t>    };</a:t>
            </a:r>
            <a:endParaRPr lang="en-US" sz="1200" dirty="0">
              <a:latin typeface="Lucida Console" panose="020B0609040504020204" pitchFamily="49" charset="0"/>
            </a:endParaRPr>
          </a:p>
          <a:p>
            <a:r>
              <a:rPr lang="en-US" sz="1200" dirty="0" smtClean="0">
                <a:latin typeface="Lucida Console" panose="020B0609040504020204" pitchFamily="49" charset="0"/>
              </a:rPr>
              <a:t>    </a:t>
            </a:r>
            <a:r>
              <a:rPr lang="en-US" sz="1200" dirty="0" err="1" smtClean="0">
                <a:latin typeface="Lucida Console" panose="020B0609040504020204" pitchFamily="49" charset="0"/>
              </a:rPr>
              <a:t>glEnableVertexAttribArray</a:t>
            </a:r>
            <a:r>
              <a:rPr lang="en-US" sz="1200" dirty="0" smtClean="0">
                <a:latin typeface="Lucida Console" panose="020B0609040504020204" pitchFamily="49" charset="0"/>
              </a:rPr>
              <a:t>(</a:t>
            </a:r>
            <a:r>
              <a:rPr lang="en-US" sz="1200" dirty="0" err="1" smtClean="0">
                <a:latin typeface="Lucida Console" panose="020B0609040504020204" pitchFamily="49" charset="0"/>
              </a:rPr>
              <a:t>colorAsAttrib.attribVertexPos</a:t>
            </a:r>
            <a:r>
              <a:rPr lang="en-US" sz="1200" dirty="0">
                <a:latin typeface="Lucida Console" panose="020B0609040504020204" pitchFamily="49" charset="0"/>
              </a:rPr>
              <a:t>);</a:t>
            </a:r>
          </a:p>
          <a:p>
            <a:r>
              <a:rPr lang="en-US" sz="1200" dirty="0" smtClean="0">
                <a:latin typeface="Lucida Console" panose="020B0609040504020204" pitchFamily="49" charset="0"/>
              </a:rPr>
              <a:t>    </a:t>
            </a:r>
            <a:r>
              <a:rPr lang="en-US" sz="1200" dirty="0" err="1" smtClean="0">
                <a:latin typeface="Lucida Console" panose="020B0609040504020204" pitchFamily="49" charset="0"/>
              </a:rPr>
              <a:t>glVertexAttribPointer</a:t>
            </a:r>
            <a:r>
              <a:rPr lang="en-US" sz="1200" dirty="0" smtClean="0">
                <a:latin typeface="Lucida Console" panose="020B0609040504020204" pitchFamily="49" charset="0"/>
              </a:rPr>
              <a:t>(colorAsAttrib.attribVertexPos,3,GL_FLOAT,GL_FALSE,0,vtx</a:t>
            </a:r>
            <a:r>
              <a:rPr lang="en-US" sz="1200" dirty="0">
                <a:latin typeface="Lucida Console" panose="020B0609040504020204" pitchFamily="49" charset="0"/>
              </a:rPr>
              <a:t>);</a:t>
            </a:r>
          </a:p>
          <a:p>
            <a:r>
              <a:rPr lang="en-US" sz="1200" dirty="0" smtClean="0">
                <a:latin typeface="Lucida Console" panose="020B0609040504020204" pitchFamily="49" charset="0"/>
              </a:rPr>
              <a:t>    </a:t>
            </a:r>
            <a:r>
              <a:rPr lang="en-US" sz="1200" dirty="0" err="1" smtClean="0">
                <a:latin typeface="Lucida Console" panose="020B0609040504020204" pitchFamily="49" charset="0"/>
              </a:rPr>
              <a:t>glEnableVertexAttribArray</a:t>
            </a:r>
            <a:r>
              <a:rPr lang="en-US" sz="1200" dirty="0" smtClean="0">
                <a:latin typeface="Lucida Console" panose="020B0609040504020204" pitchFamily="49" charset="0"/>
              </a:rPr>
              <a:t>(</a:t>
            </a:r>
            <a:r>
              <a:rPr lang="en-US" sz="1200" dirty="0" err="1" smtClean="0">
                <a:latin typeface="Lucida Console" panose="020B0609040504020204" pitchFamily="49" charset="0"/>
              </a:rPr>
              <a:t>colorAsAttrib.attribColorPos</a:t>
            </a:r>
            <a:r>
              <a:rPr lang="en-US" sz="1200" dirty="0">
                <a:latin typeface="Lucida Console" panose="020B0609040504020204" pitchFamily="49" charset="0"/>
              </a:rPr>
              <a:t>);</a:t>
            </a:r>
          </a:p>
          <a:p>
            <a:r>
              <a:rPr lang="en-US" sz="1200" dirty="0" smtClean="0">
                <a:latin typeface="Lucida Console" panose="020B0609040504020204" pitchFamily="49" charset="0"/>
              </a:rPr>
              <a:t>    </a:t>
            </a:r>
            <a:r>
              <a:rPr lang="en-US" sz="1200" dirty="0" err="1" smtClean="0">
                <a:latin typeface="Lucida Console" panose="020B0609040504020204" pitchFamily="49" charset="0"/>
              </a:rPr>
              <a:t>glVertexAttribPointer</a:t>
            </a:r>
            <a:r>
              <a:rPr lang="en-US" sz="1200" dirty="0" smtClean="0">
                <a:latin typeface="Lucida Console" panose="020B0609040504020204" pitchFamily="49" charset="0"/>
              </a:rPr>
              <a:t>(colorAsAttrib.attribColorPos,4,GL_FLOAT,GL_FALSE,0,col</a:t>
            </a:r>
            <a:r>
              <a:rPr lang="en-US" sz="1200" dirty="0">
                <a:latin typeface="Lucida Console" panose="020B0609040504020204" pitchFamily="49" charset="0"/>
              </a:rPr>
              <a:t>);</a:t>
            </a:r>
          </a:p>
          <a:p>
            <a:r>
              <a:rPr lang="en-US" sz="1200" dirty="0" smtClean="0">
                <a:latin typeface="Lucida Console" panose="020B0609040504020204" pitchFamily="49" charset="0"/>
              </a:rPr>
              <a:t>    </a:t>
            </a:r>
            <a:r>
              <a:rPr lang="en-US" sz="1200" dirty="0" err="1" smtClean="0">
                <a:latin typeface="Lucida Console" panose="020B0609040504020204" pitchFamily="49" charset="0"/>
              </a:rPr>
              <a:t>glDrawArrays</a:t>
            </a:r>
            <a:r>
              <a:rPr lang="en-US" sz="1200" dirty="0" smtClean="0">
                <a:latin typeface="Lucida Console" panose="020B0609040504020204" pitchFamily="49" charset="0"/>
              </a:rPr>
              <a:t>(GL_TRIANGLE_FAN,0,4</a:t>
            </a:r>
            <a:r>
              <a:rPr lang="en-US" sz="1200" dirty="0">
                <a:latin typeface="Lucida Console" panose="020B0609040504020204" pitchFamily="49" charset="0"/>
              </a:rPr>
              <a:t>);</a:t>
            </a:r>
          </a:p>
          <a:p>
            <a:r>
              <a:rPr lang="en-US" sz="1200" dirty="0" smtClean="0">
                <a:latin typeface="Lucida Console" panose="020B0609040504020204" pitchFamily="49" charset="0"/>
              </a:rPr>
              <a:t>    </a:t>
            </a:r>
            <a:r>
              <a:rPr lang="en-US" sz="1200" dirty="0" err="1" smtClean="0">
                <a:latin typeface="Lucida Console" panose="020B0609040504020204" pitchFamily="49" charset="0"/>
              </a:rPr>
              <a:t>glDisableVertexAttribArray</a:t>
            </a:r>
            <a:r>
              <a:rPr lang="en-US" sz="1200" dirty="0" smtClean="0">
                <a:latin typeface="Lucida Console" panose="020B0609040504020204" pitchFamily="49" charset="0"/>
              </a:rPr>
              <a:t>(</a:t>
            </a:r>
            <a:r>
              <a:rPr lang="en-US" sz="1200" dirty="0" err="1" smtClean="0">
                <a:latin typeface="Lucida Console" panose="020B0609040504020204" pitchFamily="49" charset="0"/>
              </a:rPr>
              <a:t>colorAsAttrib.attribVertexPos</a:t>
            </a:r>
            <a:r>
              <a:rPr lang="en-US" sz="1200" dirty="0">
                <a:latin typeface="Lucida Console" panose="020B0609040504020204" pitchFamily="49" charset="0"/>
              </a:rPr>
              <a:t>);</a:t>
            </a:r>
          </a:p>
          <a:p>
            <a:r>
              <a:rPr lang="en-US" sz="1200" dirty="0" smtClean="0">
                <a:latin typeface="Lucida Console" panose="020B0609040504020204" pitchFamily="49" charset="0"/>
              </a:rPr>
              <a:t>    </a:t>
            </a:r>
            <a:r>
              <a:rPr lang="en-US" sz="1200" dirty="0" err="1" smtClean="0">
                <a:latin typeface="Lucida Console" panose="020B0609040504020204" pitchFamily="49" charset="0"/>
              </a:rPr>
              <a:t>glDisableVertexAttribArray</a:t>
            </a:r>
            <a:r>
              <a:rPr lang="en-US" sz="1200" dirty="0" smtClean="0">
                <a:latin typeface="Lucida Console" panose="020B0609040504020204" pitchFamily="49" charset="0"/>
              </a:rPr>
              <a:t>(</a:t>
            </a:r>
            <a:r>
              <a:rPr lang="en-US" sz="1200" dirty="0" err="1" smtClean="0">
                <a:latin typeface="Lucida Console" panose="020B0609040504020204" pitchFamily="49" charset="0"/>
              </a:rPr>
              <a:t>colorAsAttrib.attribColorPos</a:t>
            </a:r>
            <a:r>
              <a:rPr lang="en-US" sz="1200" dirty="0" smtClean="0">
                <a:latin typeface="Lucida Console" panose="020B0609040504020204" pitchFamily="49" charset="0"/>
              </a:rPr>
              <a:t>);</a:t>
            </a:r>
            <a:endParaRPr lang="en-US" sz="1200" dirty="0">
              <a:latin typeface="Lucida Console" panose="020B0609040504020204" pitchFamily="49" charset="0"/>
            </a:endParaRPr>
          </a:p>
        </p:txBody>
      </p:sp>
    </p:spTree>
    <p:extLst>
      <p:ext uri="{BB962C8B-B14F-4D97-AF65-F5344CB8AC3E}">
        <p14:creationId xmlns:p14="http://schemas.microsoft.com/office/powerpoint/2010/main" val="2631788810"/>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4316</TotalTime>
  <Words>4189</Words>
  <Application>Microsoft Office PowerPoint</Application>
  <PresentationFormat>On-screen Show (4:3)</PresentationFormat>
  <Paragraphs>744</Paragraphs>
  <Slides>59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굴림</vt:lpstr>
      <vt:lpstr>Arial</vt:lpstr>
      <vt:lpstr>Calibri</vt:lpstr>
      <vt:lpstr>Consolas</vt:lpstr>
      <vt:lpstr>Lucida Console</vt:lpstr>
      <vt:lpstr>Default Design</vt:lpstr>
      <vt:lpstr>24-783 Lecture 21</vt:lpstr>
      <vt:lpstr>Announcement</vt:lpstr>
      <vt:lpstr>PowerPoint Presentation</vt:lpstr>
      <vt:lpstr>My Homework</vt:lpstr>
      <vt:lpstr>Ready to implement QEMSimplifier class.</vt:lpstr>
      <vt:lpstr>Installing Data Files (Resources) to where the Application Can See</vt:lpstr>
      <vt:lpstr>Data File Location</vt:lpstr>
      <vt:lpstr>Change Current Working Directory to the Resources Directory in your Program</vt:lpstr>
      <vt:lpstr>Change Current Working Directory to the Resources Directory in your Program</vt:lpstr>
      <vt:lpstr>In FsSimpleWindow / FsLazyWindow frameworks</vt:lpstr>
      <vt:lpstr>Next question: How to deliver files to that directory?</vt:lpstr>
      <vt:lpstr>CMakeLists.txt example</vt:lpstr>
      <vt:lpstr>First Part</vt:lpstr>
      <vt:lpstr>Second Part</vt:lpstr>
      <vt:lpstr>Last Part</vt:lpstr>
      <vt:lpstr>If you want to support Universal Windows</vt:lpstr>
      <vt:lpstr>Last Part (UWP support)</vt:lpstr>
      <vt:lpstr>Programmable Shader</vt:lpstr>
      <vt:lpstr>What’s Programmable Shader?</vt:lpstr>
      <vt:lpstr>What’s Programmable Shader?</vt:lpstr>
      <vt:lpstr>What's Programmable Shader?</vt:lpstr>
      <vt:lpstr>GLSL – GL Shader Language </vt:lpstr>
      <vt:lpstr>Vertex Shader and Fragment Shader</vt:lpstr>
      <vt:lpstr>Vertex Shader and Fragment Shader</vt:lpstr>
      <vt:lpstr>Vertex Shader</vt:lpstr>
      <vt:lpstr>Fragment Shader</vt:lpstr>
      <vt:lpstr>Fragment Shader</vt:lpstr>
      <vt:lpstr>Essentially, shaders are call-back functions.</vt:lpstr>
      <vt:lpstr>What you need to prepare for GLSL program</vt:lpstr>
      <vt:lpstr>To use a GLSL program,</vt:lpstr>
      <vt:lpstr>Pass-Through GLSL Program</vt:lpstr>
      <vt:lpstr>Vertex Shader</vt:lpstr>
      <vt:lpstr>Vector calculation in GLSL</vt:lpstr>
      <vt:lpstr>PowerPoint Presentation</vt:lpstr>
      <vt:lpstr>Fragment Shader</vt:lpstr>
      <vt:lpstr>One thing to remember when writing a shader program</vt:lpstr>
      <vt:lpstr>How can the C++ program access these two files?</vt:lpstr>
      <vt:lpstr>Going step by step</vt:lpstr>
      <vt:lpstr>Reading in the renderer to std::vector &lt;char&gt;</vt:lpstr>
      <vt:lpstr>PowerPoint Presentation</vt:lpstr>
      <vt:lpstr>Problem in OpenGL header locations</vt:lpstr>
      <vt:lpstr>PowerPoint Presentation</vt:lpstr>
      <vt:lpstr>PowerPoint Presentation</vt:lpstr>
      <vt:lpstr>Compiling the shaders.</vt:lpstr>
      <vt:lpstr>PassThroughRenderer class.</vt:lpstr>
      <vt:lpstr>Compiling and linking the shaders.</vt:lpstr>
      <vt:lpstr>PowerPoint Presentation</vt:lpstr>
      <vt:lpstr>PowerPoint Presentation</vt:lpstr>
      <vt:lpstr>PowerPoint Presentation</vt:lpstr>
      <vt:lpstr>Using the shader program.</vt:lpstr>
      <vt:lpstr>PowerPoint Presentation</vt:lpstr>
      <vt:lpstr>Varying the color based on the screen coordinate</vt:lpstr>
      <vt:lpstr>PowerPoint Presentation</vt:lpstr>
      <vt:lpstr>PowerPoint Presentation</vt:lpstr>
      <vt:lpstr>Color as Vertex Attribute</vt:lpstr>
      <vt:lpstr>Color as Vertex Attribute</vt:lpstr>
      <vt:lpstr>PowerPoint Presentation</vt:lpstr>
      <vt:lpstr>PowerPoint Presentation</vt:lpstr>
      <vt:lpstr>PowerPoint Presentation</vt:lpstr>
    </vt:vector>
  </TitlesOfParts>
  <Company>CMU</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soji</dc:creator>
  <cp:lastModifiedBy>Soji Yamakawa</cp:lastModifiedBy>
  <cp:revision>685</cp:revision>
  <dcterms:created xsi:type="dcterms:W3CDTF">2009-08-19T14:18:47Z</dcterms:created>
  <dcterms:modified xsi:type="dcterms:W3CDTF">2017-04-05T20:22:08Z</dcterms:modified>
</cp:coreProperties>
</file>