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83" r:id="rId2"/>
    <p:sldId id="721" r:id="rId3"/>
    <p:sldId id="807" r:id="rId4"/>
    <p:sldId id="264" r:id="rId5"/>
    <p:sldId id="808" r:id="rId6"/>
    <p:sldId id="771" r:id="rId7"/>
    <p:sldId id="772" r:id="rId8"/>
    <p:sldId id="773" r:id="rId9"/>
    <p:sldId id="774" r:id="rId10"/>
    <p:sldId id="775" r:id="rId11"/>
    <p:sldId id="776" r:id="rId12"/>
    <p:sldId id="777" r:id="rId13"/>
    <p:sldId id="778" r:id="rId14"/>
    <p:sldId id="779" r:id="rId15"/>
    <p:sldId id="780" r:id="rId16"/>
    <p:sldId id="781" r:id="rId17"/>
    <p:sldId id="782" r:id="rId18"/>
    <p:sldId id="783" r:id="rId19"/>
    <p:sldId id="784" r:id="rId20"/>
    <p:sldId id="788" r:id="rId21"/>
    <p:sldId id="789" r:id="rId22"/>
    <p:sldId id="790" r:id="rId23"/>
    <p:sldId id="791" r:id="rId24"/>
    <p:sldId id="792" r:id="rId25"/>
    <p:sldId id="793" r:id="rId26"/>
    <p:sldId id="794" r:id="rId27"/>
    <p:sldId id="795" r:id="rId28"/>
    <p:sldId id="796" r:id="rId29"/>
    <p:sldId id="797" r:id="rId30"/>
    <p:sldId id="798" r:id="rId31"/>
    <p:sldId id="799" r:id="rId32"/>
    <p:sldId id="800" r:id="rId33"/>
    <p:sldId id="801" r:id="rId34"/>
    <p:sldId id="802" r:id="rId35"/>
    <p:sldId id="803" r:id="rId36"/>
    <p:sldId id="804" r:id="rId37"/>
    <p:sldId id="805" r:id="rId38"/>
    <p:sldId id="806" r:id="rId39"/>
    <p:sldId id="809" r:id="rId40"/>
    <p:sldId id="810" r:id="rId41"/>
    <p:sldId id="811" r:id="rId42"/>
    <p:sldId id="812" r:id="rId43"/>
    <p:sldId id="813" r:id="rId44"/>
    <p:sldId id="814" r:id="rId45"/>
    <p:sldId id="815" r:id="rId46"/>
    <p:sldId id="816" r:id="rId47"/>
    <p:sldId id="817" r:id="rId48"/>
    <p:sldId id="818" r:id="rId49"/>
    <p:sldId id="819" r:id="rId50"/>
    <p:sldId id="820" r:id="rId51"/>
    <p:sldId id="821" r:id="rId52"/>
    <p:sldId id="822" r:id="rId53"/>
    <p:sldId id="823" r:id="rId54"/>
    <p:sldId id="824" r:id="rId55"/>
    <p:sldId id="825" r:id="rId56"/>
    <p:sldId id="826" r:id="rId57"/>
    <p:sldId id="827" r:id="rId58"/>
    <p:sldId id="828" r:id="rId59"/>
    <p:sldId id="829" r:id="rId60"/>
    <p:sldId id="830" r:id="rId61"/>
    <p:sldId id="831" r:id="rId62"/>
    <p:sldId id="832" r:id="rId63"/>
    <p:sldId id="833" r:id="rId64"/>
    <p:sldId id="834" r:id="rId65"/>
    <p:sldId id="835" r:id="rId66"/>
    <p:sldId id="836" r:id="rId67"/>
    <p:sldId id="837" r:id="rId68"/>
    <p:sldId id="838" r:id="rId69"/>
    <p:sldId id="839" r:id="rId70"/>
    <p:sldId id="840" r:id="rId71"/>
    <p:sldId id="841" r:id="rId72"/>
    <p:sldId id="842" r:id="rId73"/>
    <p:sldId id="843" r:id="rId74"/>
    <p:sldId id="844" r:id="rId75"/>
    <p:sldId id="845" r:id="rId76"/>
    <p:sldId id="846" r:id="rId77"/>
    <p:sldId id="847" r:id="rId7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 showGuides="1">
      <p:cViewPr varScale="1">
        <p:scale>
          <a:sx n="145" d="100"/>
          <a:sy n="145" d="100"/>
        </p:scale>
        <p:origin x="132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4/12/2017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Lecture </a:t>
            </a:r>
            <a:r>
              <a:rPr lang="en-US" dirty="0" smtClean="0"/>
              <a:t>23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442" y="2944940"/>
            <a:ext cx="4047116" cy="269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class on 4/19 (Wed)</a:t>
            </a:r>
          </a:p>
          <a:p>
            <a:endParaRPr lang="en-US" dirty="0" smtClean="0"/>
          </a:p>
          <a:p>
            <a:r>
              <a:rPr lang="en-US" dirty="0" smtClean="0"/>
              <a:t>Office Hour Change This Week Only:  Friday 16:00-17:00 @ SH317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Project:  If your team picked non research paper option, please start user test.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5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Final-Goal Calibration Presentation Next Monday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5-minutes each team.</a:t>
            </a:r>
          </a:p>
          <a:p>
            <a:r>
              <a:rPr lang="en-US" dirty="0" smtClean="0"/>
              <a:t>Present what the final product will look like.</a:t>
            </a:r>
          </a:p>
          <a:p>
            <a:r>
              <a:rPr lang="en-US" dirty="0" smtClean="0"/>
              <a:t>Give a reasonable explanation if some part of the initial goal is not deliverable.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649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OpenGL </a:t>
            </a:r>
            <a:r>
              <a:rPr lang="en-US" dirty="0" err="1" smtClean="0"/>
              <a:t>Shader</a:t>
            </a:r>
            <a:r>
              <a:rPr lang="en-US" dirty="0" smtClean="0"/>
              <a:t> Language (GLSL)</a:t>
            </a:r>
          </a:p>
          <a:p>
            <a:r>
              <a:rPr lang="en-US" dirty="0" smtClean="0"/>
              <a:t>Texture </a:t>
            </a:r>
            <a:r>
              <a:rPr lang="en-US" dirty="0"/>
              <a:t>(sampler2D)</a:t>
            </a:r>
          </a:p>
          <a:p>
            <a:r>
              <a:rPr lang="en-US" dirty="0"/>
              <a:t>Plain 3D Renderer</a:t>
            </a:r>
          </a:p>
          <a:p>
            <a:r>
              <a:rPr lang="en-US" dirty="0"/>
              <a:t>Rainbow Color based on the vertex position</a:t>
            </a:r>
          </a:p>
          <a:p>
            <a:r>
              <a:rPr lang="en-US" dirty="0"/>
              <a:t>“discard” statement in the fragment </a:t>
            </a:r>
            <a:r>
              <a:rPr lang="en-US" dirty="0" err="1"/>
              <a:t>shader</a:t>
            </a:r>
            <a:endParaRPr lang="en-US" dirty="0"/>
          </a:p>
          <a:p>
            <a:r>
              <a:rPr lang="en-US" dirty="0" err="1"/>
              <a:t>Gouraud</a:t>
            </a:r>
            <a:r>
              <a:rPr lang="en-US" dirty="0"/>
              <a:t> Shading</a:t>
            </a:r>
          </a:p>
          <a:p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smtClean="0"/>
              <a:t>Shading</a:t>
            </a:r>
          </a:p>
          <a:p>
            <a:r>
              <a:rPr lang="en-US" dirty="0" err="1" smtClean="0"/>
              <a:t>Billboarding</a:t>
            </a:r>
            <a:endParaRPr lang="en-US" dirty="0" smtClean="0"/>
          </a:p>
          <a:p>
            <a:r>
              <a:rPr lang="en-US" dirty="0" smtClean="0"/>
              <a:t>Point Sprite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Recap: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is:</a:t>
            </a:r>
          </a:p>
          <a:p>
            <a:pPr lvl="1"/>
            <a:r>
              <a:rPr lang="en-US" dirty="0" smtClean="0"/>
              <a:t>Programmable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Attribute?</a:t>
            </a:r>
          </a:p>
          <a:p>
            <a:pPr lvl="1"/>
            <a:r>
              <a:rPr lang="en-US" dirty="0" smtClean="0"/>
              <a:t>Varying?</a:t>
            </a:r>
          </a:p>
          <a:p>
            <a:pPr lvl="1"/>
            <a:r>
              <a:rPr lang="en-US" dirty="0" smtClean="0"/>
              <a:t>Uniform?</a:t>
            </a:r>
          </a:p>
          <a:p>
            <a:r>
              <a:rPr lang="en-US" dirty="0" smtClean="0"/>
              <a:t>When is your </a:t>
            </a:r>
            <a:r>
              <a:rPr lang="en-US" dirty="0" err="1" smtClean="0"/>
              <a:t>shader</a:t>
            </a:r>
            <a:r>
              <a:rPr lang="en-US" dirty="0" smtClean="0"/>
              <a:t> compiled and linked?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84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texture.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bitmap texture is called as sampler2D.</a:t>
            </a:r>
          </a:p>
          <a:p>
            <a:r>
              <a:rPr lang="en-US" dirty="0" smtClean="0"/>
              <a:t>A sampler2D must be given as a uniform.</a:t>
            </a:r>
          </a:p>
          <a:p>
            <a:r>
              <a:rPr lang="en-US" dirty="0" smtClean="0"/>
              <a:t>You can sample a color within a </a:t>
            </a:r>
            <a:r>
              <a:rPr lang="en-US" dirty="0" err="1" smtClean="0"/>
              <a:t>shader</a:t>
            </a:r>
            <a:r>
              <a:rPr lang="en-US" dirty="0" smtClean="0"/>
              <a:t> program by using a function called </a:t>
            </a:r>
            <a:r>
              <a:rPr lang="en-US" i="1" dirty="0" smtClean="0"/>
              <a:t>texture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you want to give a texture coordinate per vertex (just like glTexCoord2), a texture coordinate must be given as an attribute.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94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checker.cpp and </a:t>
            </a:r>
            <a:r>
              <a:rPr lang="en-US" dirty="0" err="1" smtClean="0"/>
              <a:t>checker.h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9258" y="806335"/>
            <a:ext cx="818044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checker.h</a:t>
            </a:r>
            <a:endParaRPr lang="en-US" dirty="0" smtClean="0"/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ifndef</a:t>
            </a:r>
            <a:r>
              <a:rPr lang="en-US" sz="1200" dirty="0">
                <a:latin typeface="Lucida Console" panose="020B0609040504020204" pitchFamily="49" charset="0"/>
              </a:rPr>
              <a:t> CHECKER_IS_INCLUDED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#define CHECKER_IS_INCLUDED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// Note: OpenGL ES only takes 2^n times 2^n texture.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checker_pattern_wid</a:t>
            </a:r>
            <a:r>
              <a:rPr lang="en-US" sz="1200" dirty="0">
                <a:latin typeface="Lucida Console" panose="020B0609040504020204" pitchFamily="49" charset="0"/>
              </a:rPr>
              <a:t>=8;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checker_pattern_hei</a:t>
            </a:r>
            <a:r>
              <a:rPr lang="en-US" sz="1200" dirty="0">
                <a:latin typeface="Lucida Console" panose="020B0609040504020204" pitchFamily="49" charset="0"/>
              </a:rPr>
              <a:t>=8;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extern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unsigned char </a:t>
            </a:r>
            <a:r>
              <a:rPr lang="en-US" sz="1200" dirty="0" err="1">
                <a:latin typeface="Lucida Console" panose="020B0609040504020204" pitchFamily="49" charset="0"/>
              </a:rPr>
              <a:t>checker_pattern</a:t>
            </a:r>
            <a:r>
              <a:rPr lang="en-US" sz="1200" dirty="0"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latin typeface="Lucida Console" panose="020B0609040504020204" pitchFamily="49" charset="0"/>
              </a:rPr>
              <a:t>checker_pattern_wid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checker_pattern_hei</a:t>
            </a:r>
            <a:r>
              <a:rPr lang="en-US" sz="1200" dirty="0">
                <a:latin typeface="Lucida Console" panose="020B0609040504020204" pitchFamily="49" charset="0"/>
              </a:rPr>
              <a:t>*4];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258" y="3241964"/>
            <a:ext cx="8032968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checker.cpp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#include "</a:t>
            </a:r>
            <a:r>
              <a:rPr lang="en-US" sz="700" dirty="0" err="1">
                <a:latin typeface="Lucida Console" panose="020B0609040504020204" pitchFamily="49" charset="0"/>
              </a:rPr>
              <a:t>checker.h</a:t>
            </a:r>
            <a:r>
              <a:rPr lang="en-US" sz="700" dirty="0">
                <a:latin typeface="Lucida Console" panose="020B0609040504020204" pitchFamily="49" charset="0"/>
              </a:rPr>
              <a:t>"</a:t>
            </a:r>
          </a:p>
          <a:p>
            <a:endParaRPr lang="en-US" sz="700" dirty="0">
              <a:latin typeface="Lucida Console" panose="020B0609040504020204" pitchFamily="49" charset="0"/>
            </a:endParaRPr>
          </a:p>
          <a:p>
            <a:r>
              <a:rPr lang="en-US" sz="700" dirty="0" err="1">
                <a:latin typeface="Lucida Console" panose="020B0609040504020204" pitchFamily="49" charset="0"/>
              </a:rPr>
              <a:t>const</a:t>
            </a:r>
            <a:r>
              <a:rPr lang="en-US" sz="700" dirty="0">
                <a:latin typeface="Lucida Console" panose="020B0609040504020204" pitchFamily="49" charset="0"/>
              </a:rPr>
              <a:t> unsigned char </a:t>
            </a:r>
            <a:r>
              <a:rPr lang="en-US" sz="700" dirty="0" err="1">
                <a:latin typeface="Lucida Console" panose="020B0609040504020204" pitchFamily="49" charset="0"/>
              </a:rPr>
              <a:t>checker_pattern</a:t>
            </a:r>
            <a:r>
              <a:rPr lang="en-US" sz="700" dirty="0">
                <a:latin typeface="Lucida Console" panose="020B0609040504020204" pitchFamily="49" charset="0"/>
              </a:rPr>
              <a:t>[</a:t>
            </a:r>
            <a:r>
              <a:rPr lang="en-US" sz="700" dirty="0" err="1">
                <a:latin typeface="Lucida Console" panose="020B0609040504020204" pitchFamily="49" charset="0"/>
              </a:rPr>
              <a:t>checker_pattern_wid</a:t>
            </a:r>
            <a:r>
              <a:rPr lang="en-US" sz="700" dirty="0">
                <a:latin typeface="Lucida Console" panose="020B0609040504020204" pitchFamily="49" charset="0"/>
              </a:rPr>
              <a:t>*</a:t>
            </a:r>
            <a:r>
              <a:rPr lang="en-US" sz="700" dirty="0" err="1">
                <a:latin typeface="Lucida Console" panose="020B0609040504020204" pitchFamily="49" charset="0"/>
              </a:rPr>
              <a:t>checker_pattern_hei</a:t>
            </a:r>
            <a:r>
              <a:rPr lang="en-US" sz="700" dirty="0">
                <a:latin typeface="Lucida Console" panose="020B0609040504020204" pitchFamily="49" charset="0"/>
              </a:rPr>
              <a:t>*4]=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255</a:t>
            </a:r>
            <a:r>
              <a:rPr lang="en-US" sz="700" dirty="0">
                <a:latin typeface="Lucida Console" panose="020B0609040504020204" pitchFamily="49" charset="0"/>
              </a:rPr>
              <a:t>,  0,  0,255,    0,255,  0,255,    0,  0,255,255,  255,255,  0,255,  255,255,255,255,    0,  0,  0,255,  255,255,255,255,    0,  0,  0,255,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255,255</a:t>
            </a:r>
            <a:r>
              <a:rPr lang="en-US" sz="700" dirty="0">
                <a:latin typeface="Lucida Console" panose="020B0609040504020204" pitchFamily="49" charset="0"/>
              </a:rPr>
              <a:t>,  0,255,  255,  0,  0,255,    0,255,  0,255,    0,  0,255,255,    0,  0,  0,255,  255,255,255,255,    0,  0,  0,255,  255,255,255,255,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  </a:t>
            </a:r>
            <a:r>
              <a:rPr lang="en-US" sz="700" dirty="0">
                <a:latin typeface="Lucida Console" panose="020B0609040504020204" pitchFamily="49" charset="0"/>
              </a:rPr>
              <a:t>0,  0,255,255,  255,255,  0,255,  255,  0,  0,255,    0,255,  0,255,  255,255,255,255,    0,  0,  0,255,  255,255,255,255,    0,  0,  0,255,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  </a:t>
            </a:r>
            <a:r>
              <a:rPr lang="en-US" sz="700" dirty="0">
                <a:latin typeface="Lucida Console" panose="020B0609040504020204" pitchFamily="49" charset="0"/>
              </a:rPr>
              <a:t>0,255,  0,255,    0,  0,255,255,  255,255,  0,255,  255,  0,  0,255,    0,  0,  0,255,  255,255,255,255,    0,  0,  0,255,  255,255,255,255,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255,255,255,255</a:t>
            </a:r>
            <a:r>
              <a:rPr lang="en-US" sz="700" dirty="0">
                <a:latin typeface="Lucida Console" panose="020B0609040504020204" pitchFamily="49" charset="0"/>
              </a:rPr>
              <a:t>,    0,  0,  0,255,  255,255,255,255,    0,  0,  0,255,  255,  0,  0,255,    0,255,  0,255,    0,  0,255,255,  255,255,  0,255,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  </a:t>
            </a:r>
            <a:r>
              <a:rPr lang="en-US" sz="700" dirty="0">
                <a:latin typeface="Lucida Console" panose="020B0609040504020204" pitchFamily="49" charset="0"/>
              </a:rPr>
              <a:t>0,  0,  0,255,  255,255,255,255,    0,  0,  0,255,  255,255,255,255,  255,255,  0,255,  255,  0,  0,255,    0,255,  0,255,    0,  0,255,255,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255,255,255,255</a:t>
            </a:r>
            <a:r>
              <a:rPr lang="en-US" sz="700" dirty="0">
                <a:latin typeface="Lucida Console" panose="020B0609040504020204" pitchFamily="49" charset="0"/>
              </a:rPr>
              <a:t>,    0,  0,  0,255,  255,255,255,255,    0,  0,  0,255,    0,  0,255,255,  255,255,  0,255,  255,  0,  0,255,    0,255,  0,255,  </a:t>
            </a:r>
          </a:p>
          <a:p>
            <a:r>
              <a:rPr lang="en-US" sz="700" dirty="0" smtClean="0">
                <a:latin typeface="Lucida Console" panose="020B0609040504020204" pitchFamily="49" charset="0"/>
              </a:rPr>
              <a:t>  </a:t>
            </a:r>
            <a:r>
              <a:rPr lang="en-US" sz="700" dirty="0">
                <a:latin typeface="Lucida Console" panose="020B0609040504020204" pitchFamily="49" charset="0"/>
              </a:rPr>
              <a:t>0,  0,  0,255,  255,255,255,255,    0,  0,  0,255,  255,255,255,255,    0,255,  0,255,    0,  0,255,255,  255,255,  0,255,  255,  0,  0,255,  </a:t>
            </a:r>
          </a:p>
          <a:p>
            <a:r>
              <a:rPr lang="en-US" sz="7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4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510"/>
            <a:ext cx="8229600" cy="5793654"/>
          </a:xfrm>
        </p:spPr>
        <p:txBody>
          <a:bodyPr/>
          <a:lstStyle/>
          <a:p>
            <a:r>
              <a:rPr lang="en-US" dirty="0" smtClean="0"/>
              <a:t>Add a member variable:</a:t>
            </a:r>
          </a:p>
          <a:p>
            <a:endParaRPr lang="en-US" dirty="0"/>
          </a:p>
          <a:p>
            <a:r>
              <a:rPr lang="en-US" dirty="0" smtClean="0"/>
              <a:t>In Initialize(), make a texture as: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864523"/>
            <a:ext cx="1672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GLuint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73535"/>
            <a:ext cx="65069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>
                <a:latin typeface="Lucida Console" panose="020B0609040504020204" pitchFamily="49" charset="0"/>
              </a:rPr>
              <a:t>glGenTextures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,&amp;texIdent);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glTexImage2D(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GL_TEXTURE_2D,0,GL_RGBA,checker_pattern_wid,checker_pattern_hei,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          0,GL_RGBA,GL_UNSIGNED_BYTE,checker_pattern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9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7324"/>
            <a:ext cx="8229600" cy="5718839"/>
          </a:xfrm>
        </p:spPr>
        <p:txBody>
          <a:bodyPr/>
          <a:lstStyle/>
          <a:p>
            <a:r>
              <a:rPr lang="en-US" dirty="0" smtClean="0"/>
              <a:t>Add sampler2d_vertex_shader.glsl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Add sampler2d_fragment_shader.glsl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89214" y="897775"/>
            <a:ext cx="325281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214" y="3618808"/>
            <a:ext cx="47404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texture2D(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texIdent,texCoordOut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358342" y="1047404"/>
            <a:ext cx="1512916" cy="8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374967" y="1180407"/>
            <a:ext cx="1504604" cy="432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79571" y="881149"/>
            <a:ext cx="36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Just pass incoming </a:t>
            </a:r>
            <a:r>
              <a:rPr lang="en-US" dirty="0" err="1" smtClean="0">
                <a:solidFill>
                  <a:srgbClr val="FF0000"/>
                </a:solidFill>
              </a:rPr>
              <a:t>texCoord</a:t>
            </a:r>
            <a:r>
              <a:rPr lang="en-US" dirty="0" smtClean="0">
                <a:solidFill>
                  <a:srgbClr val="FF0000"/>
                </a:solidFill>
              </a:rPr>
              <a:t> to </a:t>
            </a:r>
            <a:r>
              <a:rPr lang="en-US" dirty="0" err="1" smtClean="0">
                <a:solidFill>
                  <a:srgbClr val="FF0000"/>
                </a:solidFill>
              </a:rPr>
              <a:t>texCoordOut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726873" y="3785063"/>
            <a:ext cx="1512916" cy="8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140200" y="4862514"/>
            <a:ext cx="822498" cy="42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48102" y="3618808"/>
            <a:ext cx="36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 texture identifier.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79571" y="5145349"/>
            <a:ext cx="36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is how a texture can be sampled.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83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about texture2D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function texture2D is deprecated at GLSL 1.3, and has been replaced with texture.</a:t>
            </a:r>
          </a:p>
          <a:p>
            <a:r>
              <a:rPr lang="en-US" dirty="0" smtClean="0"/>
              <a:t>Older GPUs don’t understand newer version GLSL.</a:t>
            </a:r>
          </a:p>
          <a:p>
            <a:r>
              <a:rPr lang="en-US" dirty="0" smtClean="0"/>
              <a:t>Obviously, GLSL is not as well designed as C/C++.  Rather, I say it is a very poorly designed programming language.</a:t>
            </a:r>
          </a:p>
          <a:p>
            <a:r>
              <a:rPr lang="en-US" dirty="0" smtClean="0"/>
              <a:t>Their excuse is that graphics technology is growing </a:t>
            </a:r>
            <a:r>
              <a:rPr lang="en-US" smtClean="0"/>
              <a:t>rapidly.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708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about texture2D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far, I haven’t seen any GPUs that does not recognize texture2D.</a:t>
            </a:r>
          </a:p>
          <a:p>
            <a:r>
              <a:rPr lang="en-US" dirty="0" smtClean="0"/>
              <a:t>If a GPU does not recognize it, you will need to put:</a:t>
            </a:r>
            <a:br>
              <a:rPr lang="en-US" dirty="0" smtClean="0"/>
            </a:br>
            <a:r>
              <a:rPr lang="en-US" dirty="0" smtClean="0"/>
              <a:t> 	#version 120</a:t>
            </a:r>
            <a:br>
              <a:rPr lang="en-US" dirty="0" smtClean="0"/>
            </a:br>
            <a:r>
              <a:rPr lang="en-US" dirty="0" smtClean="0"/>
              <a:t>and keep using texture2D, or change textu2D to texture.</a:t>
            </a:r>
          </a:p>
          <a:p>
            <a:r>
              <a:rPr lang="en-US" dirty="0" smtClean="0"/>
              <a:t>At this point, GLSL for OpenGL ES also only recognizes texture2D (tested on my Mac mini, first-generation iPad mini, and iPhone 5S).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6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"/>
            <a:ext cx="8229600" cy="5851843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r>
              <a:rPr lang="en-US" dirty="0" smtClean="0"/>
              <a:t>, add: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renderer.cpp, add: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Add a member variable: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89214" y="748146"/>
            <a:ext cx="51122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Sampler2dRenderer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uniformTexIdentPos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214" y="3042458"/>
            <a:ext cx="66864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Sampler2dRenderer::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attribTexCoordPos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uniformTexIdentPos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TexIdent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uniformTexIdentPos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7403" y="5602778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Sampler2dRenderer sampler2d;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20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8394"/>
            <a:ext cx="8229600" cy="5477770"/>
          </a:xfrm>
        </p:spPr>
        <p:txBody>
          <a:bodyPr/>
          <a:lstStyle/>
          <a:p>
            <a:r>
              <a:rPr lang="en-US" dirty="0" smtClean="0"/>
              <a:t>In Initialize(),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47898" y="1172095"/>
            <a:ext cx="4089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sampler2d.CompileFile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latin typeface="Lucida Console" panose="020B0609040504020204" pitchFamily="49" charset="0"/>
              </a:rPr>
              <a:t>"sampler2d_vertex_shader.glsl",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latin typeface="Lucida Console" panose="020B0609040504020204" pitchFamily="49" charset="0"/>
              </a:rPr>
              <a:t>"sampler2d_fragment_shader.glsl");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1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47" y="257696"/>
            <a:ext cx="8229600" cy="681642"/>
          </a:xfrm>
        </p:spPr>
        <p:txBody>
          <a:bodyPr/>
          <a:lstStyle/>
          <a:p>
            <a:r>
              <a:rPr lang="en-US" dirty="0" smtClean="0"/>
              <a:t>In Draw(),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5389" y="797746"/>
            <a:ext cx="7491153" cy="601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Lucida Console" panose="020B0609040504020204" pitchFamily="49" charset="0"/>
              </a:rPr>
              <a:t>void </a:t>
            </a:r>
            <a:r>
              <a:rPr lang="en-US" sz="11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100" dirty="0">
                <a:latin typeface="Lucida Console" panose="020B0609040504020204" pitchFamily="49" charset="0"/>
              </a:rPr>
              <a:t>::Draw(void)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glClear</a:t>
            </a:r>
            <a:r>
              <a:rPr lang="en-US" sz="1100" dirty="0" smtClean="0">
                <a:latin typeface="Lucida Console" panose="020B0609040504020204" pitchFamily="49" charset="0"/>
              </a:rPr>
              <a:t>(GL_COLOR_BUFFER_BIT|GL_DEPTH_BUFFER_BIT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100" dirty="0" smtClean="0">
                <a:latin typeface="Lucida Console" panose="020B0609040504020204" pitchFamily="49" charset="0"/>
              </a:rPr>
              <a:t>(sampler2d.programIdent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const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GLfloat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vtx</a:t>
            </a:r>
            <a:r>
              <a:rPr lang="en-US" sz="11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{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    -</a:t>
            </a:r>
            <a:r>
              <a:rPr lang="en-US" sz="1100" dirty="0">
                <a:latin typeface="Lucida Console" panose="020B0609040504020204" pitchFamily="49" charset="0"/>
              </a:rPr>
              <a:t>1,-1,0,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     </a:t>
            </a:r>
            <a:r>
              <a:rPr lang="en-US" sz="1100" dirty="0">
                <a:latin typeface="Lucida Console" panose="020B0609040504020204" pitchFamily="49" charset="0"/>
              </a:rPr>
              <a:t>1,-1,0,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     </a:t>
            </a:r>
            <a:r>
              <a:rPr lang="en-US" sz="1100" dirty="0">
                <a:latin typeface="Lucida Console" panose="020B0609040504020204" pitchFamily="49" charset="0"/>
              </a:rPr>
              <a:t>1, 1,0,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    -</a:t>
            </a:r>
            <a:r>
              <a:rPr lang="en-US" sz="1100" dirty="0">
                <a:latin typeface="Lucida Console" panose="020B0609040504020204" pitchFamily="49" charset="0"/>
              </a:rPr>
              <a:t>1, 1,0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const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GLfloat</a:t>
            </a:r>
            <a:r>
              <a:rPr lang="en-US" sz="1100" dirty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texCoord</a:t>
            </a:r>
            <a:r>
              <a:rPr lang="en-US" sz="1100" dirty="0">
                <a:latin typeface="Lucida Console" panose="020B0609040504020204" pitchFamily="49" charset="0"/>
              </a:rPr>
              <a:t>[8]=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{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    0,0</a:t>
            </a:r>
            <a:r>
              <a:rPr lang="en-US" sz="1100" dirty="0">
                <a:latin typeface="Lucida Console" panose="020B0609040504020204" pitchFamily="49" charset="0"/>
              </a:rPr>
              <a:t>, 0,1, 1,1, 1,0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};</a:t>
            </a:r>
            <a:endParaRPr lang="en-US" sz="1100" dirty="0">
              <a:latin typeface="Lucida Console" panose="020B0609040504020204" pitchFamily="49" charset="0"/>
            </a:endParaRP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100" dirty="0" smtClean="0">
                <a:latin typeface="Lucida Console" panose="020B0609040504020204" pitchFamily="49" charset="0"/>
              </a:rPr>
              <a:t>(GL_TEXTURE0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100" dirty="0" smtClean="0">
                <a:latin typeface="Lucida Console" panose="020B0609040504020204" pitchFamily="49" charset="0"/>
              </a:rPr>
              <a:t>(GL_TEXTURE_2D,texIdent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// </a:t>
            </a:r>
            <a:r>
              <a:rPr lang="en-US" sz="1100" dirty="0">
                <a:latin typeface="Lucida Console" panose="020B0609040504020204" pitchFamily="49" charset="0"/>
              </a:rPr>
              <a:t>GL_TEXTURE0 -&gt; 0.  Don't use GL_TEXTURE0! (Frequent confusion).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glUniform1i(sampler2d.uniformTexIdentPos,0</a:t>
            </a:r>
            <a:r>
              <a:rPr lang="en-US" sz="1100" dirty="0">
                <a:latin typeface="Lucida Console" panose="020B0609040504020204" pitchFamily="49" charset="0"/>
              </a:rPr>
              <a:t>); 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(sampler2d.attribVertexPos,3,GL_FLOAT,GL_FALSE,0,vtx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(sampler2d.attribTexCoordPos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(sampler2d.attribTexCoordPos,2,GL_FLOAT,GL_FALSE,0,texCoord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100" dirty="0" smtClean="0">
                <a:latin typeface="Lucida Console" panose="020B0609040504020204" pitchFamily="49" charset="0"/>
              </a:rPr>
              <a:t>(GL_TRIANGLE_FAN,0,4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(sampler2d.attribTexCoordPos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FsSwapBuffers</a:t>
            </a:r>
            <a:r>
              <a:rPr lang="en-US" sz="1100" dirty="0">
                <a:latin typeface="Lucida Console" panose="020B0609040504020204" pitchFamily="49" charset="0"/>
              </a:rPr>
              <a:t>();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needRedraw</a:t>
            </a:r>
            <a:r>
              <a:rPr lang="en-US" sz="1100" dirty="0" smtClean="0">
                <a:latin typeface="Lucida Console" panose="020B0609040504020204" pitchFamily="49" charset="0"/>
              </a:rPr>
              <a:t>=false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}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4081549" y="3640975"/>
            <a:ext cx="179416" cy="41563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260965" y="1332200"/>
            <a:ext cx="865562" cy="25415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6527" y="309684"/>
            <a:ext cx="3873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Setting up texture number 0.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 this case, making texture number 0 as a 2D texture, which is identified by </a:t>
            </a:r>
            <a:r>
              <a:rPr lang="en-US" dirty="0" err="1" smtClean="0">
                <a:solidFill>
                  <a:srgbClr val="FF0000"/>
                </a:solidFill>
              </a:rPr>
              <a:t>texIdent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06242" y="1735900"/>
            <a:ext cx="3394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Give 0 to use GL_TEXTURE0.  What’s confusing is GL_TEXTURE0 is not actually numeric value of 0 in OpenGL ES.  To make it work both in ES and full-spec OpenGL, use 0.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638502" y="2360815"/>
            <a:ext cx="2205702" cy="2125873"/>
          </a:xfrm>
          <a:custGeom>
            <a:avLst/>
            <a:gdLst>
              <a:gd name="connsiteX0" fmla="*/ 947651 w 2205702"/>
              <a:gd name="connsiteY0" fmla="*/ 0 h 2125873"/>
              <a:gd name="connsiteX1" fmla="*/ 473825 w 2205702"/>
              <a:gd name="connsiteY1" fmla="*/ 382385 h 2125873"/>
              <a:gd name="connsiteX2" fmla="*/ 2202873 w 2205702"/>
              <a:gd name="connsiteY2" fmla="*/ 1895301 h 2125873"/>
              <a:gd name="connsiteX3" fmla="*/ 0 w 2205702"/>
              <a:gd name="connsiteY3" fmla="*/ 2094807 h 212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5702" h="2125873">
                <a:moveTo>
                  <a:pt x="947651" y="0"/>
                </a:moveTo>
                <a:cubicBezTo>
                  <a:pt x="606136" y="33251"/>
                  <a:pt x="264621" y="66502"/>
                  <a:pt x="473825" y="382385"/>
                </a:cubicBezTo>
                <a:cubicBezTo>
                  <a:pt x="683029" y="698268"/>
                  <a:pt x="2281844" y="1609897"/>
                  <a:pt x="2202873" y="1895301"/>
                </a:cubicBezTo>
                <a:cubicBezTo>
                  <a:pt x="2123902" y="2180705"/>
                  <a:pt x="1061951" y="2137756"/>
                  <a:pt x="0" y="2094807"/>
                </a:cubicBezTo>
              </a:path>
            </a:pathLst>
          </a:custGeom>
          <a:noFill/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22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Plain 3D renderer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attributes</a:t>
            </a:r>
          </a:p>
          <a:p>
            <a:pPr lvl="1"/>
            <a:r>
              <a:rPr lang="en-US" dirty="0" smtClean="0"/>
              <a:t>Position (vec3)</a:t>
            </a:r>
          </a:p>
          <a:p>
            <a:pPr lvl="1"/>
            <a:r>
              <a:rPr lang="en-US" dirty="0" smtClean="0"/>
              <a:t>Color (vec4)</a:t>
            </a:r>
          </a:p>
          <a:p>
            <a:r>
              <a:rPr lang="en-US" dirty="0" smtClean="0"/>
              <a:t>Uniforms</a:t>
            </a:r>
          </a:p>
          <a:p>
            <a:pPr lvl="1"/>
            <a:r>
              <a:rPr lang="en-US" dirty="0" smtClean="0"/>
              <a:t>Projection matrix (mat4)</a:t>
            </a:r>
          </a:p>
          <a:p>
            <a:pPr lvl="1"/>
            <a:r>
              <a:rPr lang="en-US" dirty="0" err="1" smtClean="0"/>
              <a:t>ModelView</a:t>
            </a:r>
            <a:r>
              <a:rPr lang="en-US" dirty="0" smtClean="0"/>
              <a:t> matrix (mat4)</a:t>
            </a:r>
          </a:p>
          <a:p>
            <a:r>
              <a:rPr lang="en-US" dirty="0" smtClean="0"/>
              <a:t>Varying</a:t>
            </a:r>
          </a:p>
          <a:p>
            <a:pPr lvl="1"/>
            <a:r>
              <a:rPr lang="en-US" dirty="0" smtClean="0"/>
              <a:t>Color (Just pass color attribute to color varying in the vertex </a:t>
            </a:r>
            <a:r>
              <a:rPr lang="en-US" dirty="0" err="1" smtClean="0"/>
              <a:t>shader</a:t>
            </a:r>
            <a:r>
              <a:rPr lang="en-US" dirty="0" smtClean="0"/>
              <a:t>, and use it as is in the fragment </a:t>
            </a:r>
            <a:r>
              <a:rPr lang="en-US" dirty="0" err="1" smtClean="0"/>
              <a:t>shader</a:t>
            </a:r>
            <a:r>
              <a:rPr lang="en-US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5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uniform_color</a:t>
            </a:r>
            <a:r>
              <a:rPr lang="en-US" dirty="0" smtClean="0"/>
              <a:t> example</a:t>
            </a:r>
          </a:p>
          <a:p>
            <a:r>
              <a:rPr lang="en-US" dirty="0" smtClean="0"/>
              <a:t>Add plain3d_vertex_shader.glsl as: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Add plain3d_fragment_shader.glsl as: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399" y="1978925"/>
            <a:ext cx="520527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399" y="5138382"/>
            <a:ext cx="2601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97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6728"/>
            <a:ext cx="8229600" cy="5689435"/>
          </a:xfrm>
        </p:spPr>
        <p:txBody>
          <a:bodyPr/>
          <a:lstStyle/>
          <a:p>
            <a:r>
              <a:rPr lang="en-US" dirty="0" smtClean="0"/>
              <a:t>Add Plain3dRenderer class 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renderer.cpp, implement </a:t>
            </a:r>
            <a:r>
              <a:rPr lang="en-US" dirty="0" err="1" smtClean="0"/>
              <a:t>CacheAttributeAndUniformIdent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7104" y="880280"/>
            <a:ext cx="51122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Plain3dRenderer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7104" y="3568889"/>
            <a:ext cx="69717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Plain3dRenderer::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Color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Projection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1411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5314"/>
            <a:ext cx="8229600" cy="5750850"/>
          </a:xfrm>
        </p:spPr>
        <p:txBody>
          <a:bodyPr/>
          <a:lstStyle/>
          <a:p>
            <a:r>
              <a:rPr lang="en-US" dirty="0" smtClean="0"/>
              <a:t>In Initialize function,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CMakeLists.txt,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Add headers: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9212" y="859809"/>
            <a:ext cx="3903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plain3d.CompileFile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plain3d_vertex_shader.glsl",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plain3d_fragment_shader.glsl");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9212" y="2702257"/>
            <a:ext cx="6042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set(LIB_DEPENDENCY </a:t>
            </a:r>
            <a:r>
              <a:rPr lang="en-US" sz="1200" dirty="0" err="1">
                <a:latin typeface="Lucida Console" panose="020B0609040504020204" pitchFamily="49" charset="0"/>
              </a:rPr>
              <a:t>fslazywindow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ysclass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ysgl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ysport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geblkernel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212" y="4046561"/>
            <a:ext cx="2509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ysshellext.h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ysport.h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ysshellextio.h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725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Replacing the rendering part of the STL viewer with the plain3Drenderer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470" y="1526994"/>
            <a:ext cx="87503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glUseProgram</a:t>
            </a:r>
            <a:r>
              <a:rPr lang="en-US" sz="1200" dirty="0">
                <a:latin typeface="Lucida Console" panose="020B0609040504020204" pitchFamily="49" charset="0"/>
              </a:rPr>
              <a:t>(plain3d.programIdent);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glUniformMatrix4fv(plain3d.uniformProjectionPos,1,GL_FALSE,projMat);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glUniformMatrix4fv(plain3d.uniformModelViewPos,1,GL_FALSE,viewMat);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(plain3d.attribVertexPos,3,GL_FLOAT,GL_FALSE,0,vtx.data());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glEnableVertexAttribArray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(plain3d.attribColorPos);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glVertexAttribPointer</a:t>
            </a:r>
            <a:r>
              <a:rPr lang="en-US" sz="1200" dirty="0">
                <a:latin typeface="Lucida Console" panose="020B0609040504020204" pitchFamily="49" charset="0"/>
              </a:rPr>
              <a:t>(plain3d.attribColorPos,4,GL_FLOAT,GL_FALSE,0,col.data());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glDrawArrays</a:t>
            </a:r>
            <a:r>
              <a:rPr lang="en-US" sz="1200" dirty="0">
                <a:latin typeface="Lucida Console" panose="020B0609040504020204" pitchFamily="49" charset="0"/>
              </a:rPr>
              <a:t>(GL_TRIANGLES,0,vtx.size()/3);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(plain3d.attribVertexPos);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>
                <a:latin typeface="Lucida Console" panose="020B0609040504020204" pitchFamily="49" charset="0"/>
              </a:rPr>
              <a:t>(plain3d.attribColorPos);</a:t>
            </a:r>
            <a:endParaRPr lang="en-US" sz="1200" dirty="0" smtClean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19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based on the 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can make the color as a function of  raw-input xyz coordinate.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17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rainbow3d_vertex_shader.glsl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rainbow3d_fragment_shader.glsl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2263" y="4797189"/>
            <a:ext cx="8366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>
                <a:latin typeface="Lucida Console" panose="020B0609040504020204" pitchFamily="49" charset="0"/>
              </a:rPr>
              <a:t>pi=3.1415927;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=vec4(sin(</a:t>
            </a:r>
            <a:r>
              <a:rPr lang="en-US" sz="1200" dirty="0" err="1" smtClean="0">
                <a:latin typeface="Lucida Console" panose="020B0609040504020204" pitchFamily="49" charset="0"/>
              </a:rPr>
              <a:t>vertexOut.x</a:t>
            </a:r>
            <a:r>
              <a:rPr lang="en-US" sz="1200" dirty="0">
                <a:latin typeface="Lucida Console" panose="020B0609040504020204" pitchFamily="49" charset="0"/>
              </a:rPr>
              <a:t>),sin(pi/2.0+vertexOut.y),sin(</a:t>
            </a:r>
            <a:r>
              <a:rPr lang="en-US" sz="1200" dirty="0" err="1">
                <a:latin typeface="Lucida Console" panose="020B0609040504020204" pitchFamily="49" charset="0"/>
              </a:rPr>
              <a:t>pi+vertexOut.z</a:t>
            </a:r>
            <a:r>
              <a:rPr lang="en-US" sz="1200" dirty="0">
                <a:latin typeface="Lucida Console" panose="020B0609040504020204" pitchFamily="49" charset="0"/>
              </a:rPr>
              <a:t>),1.0);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263" y="1487606"/>
            <a:ext cx="52052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vertexOut</a:t>
            </a:r>
            <a:r>
              <a:rPr lang="en-US" sz="1200" dirty="0" smtClean="0">
                <a:latin typeface="Lucida Console" panose="020B0609040504020204" pitchFamily="49" charset="0"/>
              </a:rPr>
              <a:t>=vertex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8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Rainbow3dRenderer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renderer.cpp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6036" y="4360460"/>
            <a:ext cx="69717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Rainbow3dRenderer::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("Attribute Vertex Position=%d\n",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Projection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 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 Position=%d\n",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36" y="1624083"/>
            <a:ext cx="51122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Rainbow3dRenderer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45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Initialize()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2514" y="1603611"/>
            <a:ext cx="4089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rainbow3d.CompileFile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rainbow3d_vertex_shader.glsl",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rainbow3d_fragment_shader.glsl");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78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I do: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the fragment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 smtClean="0"/>
              <a:t>You can stop OpenGL from writing a color to the frame buffer by discarding a fragment.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6287" y="1610436"/>
            <a:ext cx="28809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if(length(</a:t>
            </a:r>
            <a:r>
              <a:rPr lang="en-US" sz="1200" dirty="0" err="1" smtClean="0">
                <a:latin typeface="Lucida Console" panose="020B0609040504020204" pitchFamily="49" charset="0"/>
              </a:rPr>
              <a:t>vertexOut</a:t>
            </a:r>
            <a:r>
              <a:rPr lang="en-US" sz="1200" dirty="0">
                <a:latin typeface="Lucida Console" panose="020B0609040504020204" pitchFamily="49" charset="0"/>
              </a:rPr>
              <a:t>)&lt;3.0)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discard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53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Light intensity is calculated per vertex and interpolated in the screen coordinate.</a:t>
            </a:r>
          </a:p>
          <a:p>
            <a:r>
              <a:rPr lang="en-US" dirty="0" smtClean="0"/>
              <a:t>Three light components (reflections):</a:t>
            </a:r>
          </a:p>
          <a:p>
            <a:pPr lvl="1"/>
            <a:r>
              <a:rPr lang="en-US" dirty="0" smtClean="0"/>
              <a:t>Ambient light</a:t>
            </a:r>
          </a:p>
          <a:p>
            <a:pPr lvl="1"/>
            <a:r>
              <a:rPr lang="en-US" dirty="0" smtClean="0"/>
              <a:t>Diffuse reflection</a:t>
            </a:r>
          </a:p>
          <a:p>
            <a:pPr lvl="1"/>
            <a:r>
              <a:rPr lang="en-US" dirty="0" smtClean="0"/>
              <a:t>Specular reflection</a:t>
            </a:r>
          </a:p>
        </p:txBody>
      </p:sp>
    </p:spTree>
    <p:extLst>
      <p:ext uri="{BB962C8B-B14F-4D97-AF65-F5344CB8AC3E}">
        <p14:creationId xmlns:p14="http://schemas.microsoft.com/office/powerpoint/2010/main" val="2321543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Additional vertex attribute:</a:t>
            </a:r>
          </a:p>
          <a:p>
            <a:pPr lvl="1"/>
            <a:r>
              <a:rPr lang="en-US" dirty="0" smtClean="0"/>
              <a:t>Normal vector</a:t>
            </a:r>
          </a:p>
          <a:p>
            <a:r>
              <a:rPr lang="en-US" dirty="0" smtClean="0"/>
              <a:t>Additional uniform:</a:t>
            </a:r>
          </a:p>
          <a:p>
            <a:pPr lvl="1"/>
            <a:r>
              <a:rPr lang="en-US" dirty="0" smtClean="0"/>
              <a:t>Direction to the light in the camera coordinate system.</a:t>
            </a:r>
          </a:p>
        </p:txBody>
      </p:sp>
    </p:spTree>
    <p:extLst>
      <p:ext uri="{BB962C8B-B14F-4D97-AF65-F5344CB8AC3E}">
        <p14:creationId xmlns:p14="http://schemas.microsoft.com/office/powerpoint/2010/main" val="1515228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80288"/>
          </a:xfrm>
        </p:spPr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1530020"/>
            <a:ext cx="84856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attribute </a:t>
            </a:r>
            <a:r>
              <a:rPr lang="en-US" sz="1200" dirty="0">
                <a:latin typeface="Lucida Console" panose="020B0609040504020204" pitchFamily="49" charset="0"/>
              </a:rPr>
              <a:t>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normal;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uniform </a:t>
            </a:r>
            <a:r>
              <a:rPr lang="en-US" sz="1200" dirty="0">
                <a:latin typeface="Lucida Console" panose="020B0609040504020204" pitchFamily="49" charset="0"/>
              </a:rPr>
              <a:t>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varying </a:t>
            </a:r>
            <a:r>
              <a:rPr lang="en-US" sz="1200" dirty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>
                <a:latin typeface="Lucida Console" panose="020B0609040504020204" pitchFamily="49" charset="0"/>
              </a:rPr>
              <a:t>nom=normalize((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*vec4(normal,0.0)).xyz);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>
                <a:latin typeface="Lucida Console" panose="020B0609040504020204" pitchFamily="49" charset="0"/>
              </a:rPr>
              <a:t>lit=normalize(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smtClean="0">
                <a:latin typeface="Lucida Console" panose="020B0609040504020204" pitchFamily="49" charset="0"/>
              </a:rPr>
              <a:t>diffuse=max(0.0,dot(</a:t>
            </a:r>
            <a:r>
              <a:rPr lang="en-US" sz="1200" dirty="0" err="1" smtClean="0">
                <a:latin typeface="Lucida Console" panose="020B0609040504020204" pitchFamily="49" charset="0"/>
              </a:rPr>
              <a:t>nom,lit</a:t>
            </a:r>
            <a:r>
              <a:rPr lang="en-US" sz="1200" dirty="0" smtClean="0">
                <a:latin typeface="Lucida Console" panose="020B0609040504020204" pitchFamily="49" charset="0"/>
              </a:rPr>
              <a:t>));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posInView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=-normalize(</a:t>
            </a:r>
            <a:r>
              <a:rPr lang="en-US" sz="1200" dirty="0" err="1">
                <a:latin typeface="Lucida Console" panose="020B0609040504020204" pitchFamily="49" charset="0"/>
              </a:rPr>
              <a:t>posInView.xyz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midDir</a:t>
            </a:r>
            <a:r>
              <a:rPr lang="en-US" sz="1200" dirty="0">
                <a:latin typeface="Lucida Console" panose="020B0609040504020204" pitchFamily="49" charset="0"/>
              </a:rPr>
              <a:t>=normalize(</a:t>
            </a:r>
            <a:r>
              <a:rPr lang="en-US" sz="1200" dirty="0" err="1">
                <a:latin typeface="Lucida Console" panose="020B0609040504020204" pitchFamily="49" charset="0"/>
              </a:rPr>
              <a:t>viewDir+lightDir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smtClean="0">
                <a:latin typeface="Lucida Console" panose="020B0609040504020204" pitchFamily="49" charset="0"/>
              </a:rPr>
              <a:t>specular=</a:t>
            </a:r>
            <a:r>
              <a:rPr lang="en-US" sz="1200" dirty="0" err="1" smtClean="0">
                <a:latin typeface="Lucida Console" panose="020B0609040504020204" pitchFamily="49" charset="0"/>
              </a:rPr>
              <a:t>specularIntensity</a:t>
            </a:r>
            <a:r>
              <a:rPr lang="en-US" sz="1200" dirty="0" smtClean="0">
                <a:latin typeface="Lucida Console" panose="020B0609040504020204" pitchFamily="49" charset="0"/>
              </a:rPr>
              <a:t>*pow(max(0.0,dot(</a:t>
            </a:r>
            <a:r>
              <a:rPr lang="en-US" sz="1200" dirty="0" err="1" smtClean="0">
                <a:latin typeface="Lucida Console" panose="020B0609040504020204" pitchFamily="49" charset="0"/>
              </a:rPr>
              <a:t>midDir,nom</a:t>
            </a:r>
            <a:r>
              <a:rPr lang="en-US" sz="1200" dirty="0" smtClean="0">
                <a:latin typeface="Lucida Console" panose="020B0609040504020204" pitchFamily="49" charset="0"/>
              </a:rPr>
              <a:t>)),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=vec4(</a:t>
            </a:r>
            <a:r>
              <a:rPr lang="en-US" sz="1200" dirty="0" err="1" smtClean="0">
                <a:latin typeface="Lucida Console" panose="020B0609040504020204" pitchFamily="49" charset="0"/>
              </a:rPr>
              <a:t>color.rgb</a:t>
            </a:r>
            <a:r>
              <a:rPr lang="en-US" sz="1200" dirty="0">
                <a:latin typeface="Lucida Console" panose="020B0609040504020204" pitchFamily="49" charset="0"/>
              </a:rPr>
              <a:t>*(</a:t>
            </a:r>
            <a:r>
              <a:rPr lang="en-US" sz="1200" dirty="0" err="1">
                <a:latin typeface="Lucida Console" panose="020B0609040504020204" pitchFamily="49" charset="0"/>
              </a:rPr>
              <a:t>ambient+diffuse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color.a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+vec4(specular,specular,specular,0.0);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679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780288"/>
          </a:xfrm>
        </p:spPr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 -  Since all calculations are done in the vertex </a:t>
            </a:r>
            <a:r>
              <a:rPr lang="en-US" dirty="0" err="1" smtClean="0"/>
              <a:t>shader</a:t>
            </a:r>
            <a:r>
              <a:rPr lang="en-US" dirty="0" smtClean="0"/>
              <a:t>, the fragment </a:t>
            </a:r>
            <a:r>
              <a:rPr lang="en-US" dirty="0" err="1" smtClean="0"/>
              <a:t>shader</a:t>
            </a:r>
            <a:r>
              <a:rPr lang="en-US" dirty="0" smtClean="0"/>
              <a:t> just need to pass color value from left to right.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43252"/>
            <a:ext cx="8485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varying </a:t>
            </a:r>
            <a:r>
              <a:rPr lang="en-US" sz="1200" dirty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83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39164"/>
            <a:ext cx="84856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class </a:t>
            </a:r>
            <a:r>
              <a:rPr lang="en-US" sz="1200" dirty="0">
                <a:latin typeface="Lucida Console" panose="020B0609040504020204" pitchFamily="49" charset="0"/>
              </a:rPr>
              <a:t>Gouraud3dRenderer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attribNormalPos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uniformLightDirPos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uniformAmbientPos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uniformSpecularIntensityPos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uniformSpecularExponentPos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19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renderer.cpp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656638"/>
            <a:ext cx="848563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Gouraud3dRenderer::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attribNormalPos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,"normal");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uniformLightDirPos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uniformAmbientPos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,"ambient");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uniformSpecularIntensityPos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uniformSpecularExponentPos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8729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Initialize() in main.cpp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39164"/>
            <a:ext cx="8485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gouraud3d.CompileFile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gouraud_vertex_shader.glsl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gouraud_fragment_shader.glsl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084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926592"/>
          </a:xfrm>
        </p:spPr>
        <p:txBody>
          <a:bodyPr/>
          <a:lstStyle/>
          <a:p>
            <a:r>
              <a:rPr lang="en-US" dirty="0" smtClean="0"/>
              <a:t>In Draw function: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1752" y="1993392"/>
            <a:ext cx="818044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200" dirty="0" smtClean="0">
                <a:latin typeface="Lucida Console" panose="020B0609040504020204" pitchFamily="49" charset="0"/>
              </a:rPr>
              <a:t>(gouraud3d.programIdent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glUniformMatrix4fv(gouraud3d.uniformProjectionPos,1,GL_FALSE,projMat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glUniformMatrix4fv(gouraud3d.uniformModelViewPos,1,GL_FALSE,viewMat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glUniform3f(gouraud3d.uniformLightDirPos,0,0,1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glUniform1f(gouraud3d.uniformAmbientPos,0.3f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glUniform1f(gouraud3d.uniformSpecularIntensityPos,1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glUniform1f(gouraud3d.uniformSpecularExponentPos,100.0f);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(gouraud3d.attribNormalPos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(gouraud3d.attribVertexPos,3,GL_FLOAT,GL_FALSE,0,vtx.data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(gouraud3d.attribNormalPos,3,GL_FLOAT,GL_FALSE,0,nom.data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(gouraud3d.attribColorPos,4,GL_FLOAT,GL_FALSE,0,col.data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(GL_TRIANGLES,0,vtx.size</a:t>
            </a:r>
            <a:r>
              <a:rPr lang="en-US" sz="1200" dirty="0">
                <a:latin typeface="Lucida Console" panose="020B0609040504020204" pitchFamily="49" charset="0"/>
              </a:rPr>
              <a:t>()/3);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(gouraud3d.attribNormalPos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(gouraud3d.attribColorPos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290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Same lighting model, but the light intensity is calculated per pixel, not per vertex.</a:t>
            </a:r>
          </a:p>
          <a:p>
            <a:r>
              <a:rPr lang="en-US" dirty="0" smtClean="0"/>
              <a:t>This really has been one thing that the OpenGL’s fixed-function pipeline could not (did not) do.</a:t>
            </a:r>
          </a:p>
          <a:p>
            <a:endParaRPr lang="en-US" dirty="0"/>
          </a:p>
          <a:p>
            <a:r>
              <a:rPr lang="en-US" dirty="0" smtClean="0"/>
              <a:t>Additional varying:</a:t>
            </a:r>
          </a:p>
          <a:p>
            <a:pPr lvl="1"/>
            <a:r>
              <a:rPr lang="en-US" smtClean="0"/>
              <a:t>Normal 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63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5577168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normal;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posInView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=-normalize(</a:t>
            </a:r>
            <a:r>
              <a:rPr lang="en-US" sz="1200" dirty="0" err="1">
                <a:latin typeface="Lucida Console" panose="020B0609040504020204" pitchFamily="49" charset="0"/>
              </a:rPr>
              <a:t>posInView.xyz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normalOut</a:t>
            </a:r>
            <a:r>
              <a:rPr lang="en-US" sz="1200" dirty="0" smtClean="0">
                <a:latin typeface="Lucida Console" panose="020B0609040504020204" pitchFamily="49" charset="0"/>
              </a:rPr>
              <a:t>=normalize</a:t>
            </a:r>
            <a:r>
              <a:rPr lang="en-US" sz="1200" dirty="0">
                <a:latin typeface="Lucida Console" panose="020B0609040504020204" pitchFamily="49" charset="0"/>
              </a:rPr>
              <a:t>((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*vec4(normal,0.0)).xyz);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75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855234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>
                <a:latin typeface="Lucida Console" panose="020B0609040504020204" pitchFamily="49" charset="0"/>
              </a:rPr>
              <a:t>lit=normalize(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smtClean="0">
                <a:latin typeface="Lucida Console" panose="020B0609040504020204" pitchFamily="49" charset="0"/>
              </a:rPr>
              <a:t>diffuse=max(0.0,dot(</a:t>
            </a:r>
            <a:r>
              <a:rPr lang="en-US" sz="1200" dirty="0" err="1" smtClean="0">
                <a:latin typeface="Lucida Console" panose="020B0609040504020204" pitchFamily="49" charset="0"/>
              </a:rPr>
              <a:t>normalOut,lit</a:t>
            </a:r>
            <a:r>
              <a:rPr lang="en-US" sz="1200" dirty="0" smtClean="0">
                <a:latin typeface="Lucida Console" panose="020B0609040504020204" pitchFamily="49" charset="0"/>
              </a:rPr>
              <a:t>));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midDir</a:t>
            </a:r>
            <a:r>
              <a:rPr lang="en-US" sz="1200" dirty="0">
                <a:latin typeface="Lucida Console" panose="020B0609040504020204" pitchFamily="49" charset="0"/>
              </a:rPr>
              <a:t>=normalize(</a:t>
            </a:r>
            <a:r>
              <a:rPr lang="en-US" sz="1200" dirty="0" err="1">
                <a:latin typeface="Lucida Console" panose="020B0609040504020204" pitchFamily="49" charset="0"/>
              </a:rPr>
              <a:t>viewDirOut+lightDir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smtClean="0">
                <a:latin typeface="Lucida Console" panose="020B0609040504020204" pitchFamily="49" charset="0"/>
              </a:rPr>
              <a:t>specular=</a:t>
            </a:r>
            <a:r>
              <a:rPr lang="en-US" sz="1200" dirty="0" err="1" smtClean="0">
                <a:latin typeface="Lucida Console" panose="020B0609040504020204" pitchFamily="49" charset="0"/>
              </a:rPr>
              <a:t>specularIntensity</a:t>
            </a:r>
            <a:r>
              <a:rPr lang="en-US" sz="1200" dirty="0" smtClean="0">
                <a:latin typeface="Lucida Console" panose="020B0609040504020204" pitchFamily="49" charset="0"/>
              </a:rPr>
              <a:t>*pow(max(0.0,dot(</a:t>
            </a:r>
            <a:r>
              <a:rPr lang="en-US" sz="1200" dirty="0" err="1" smtClean="0">
                <a:latin typeface="Lucida Console" panose="020B0609040504020204" pitchFamily="49" charset="0"/>
              </a:rPr>
              <a:t>midDir,normalOut</a:t>
            </a:r>
            <a:r>
              <a:rPr lang="en-US" sz="1200" dirty="0" smtClean="0">
                <a:latin typeface="Lucida Console" panose="020B0609040504020204" pitchFamily="49" charset="0"/>
              </a:rPr>
              <a:t>)),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=vec4(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colorOut.rgb</a:t>
            </a:r>
            <a:r>
              <a:rPr lang="en-US" sz="1200" dirty="0">
                <a:latin typeface="Lucida Console" panose="020B0609040504020204" pitchFamily="49" charset="0"/>
              </a:rPr>
              <a:t>*(</a:t>
            </a:r>
            <a:r>
              <a:rPr lang="en-US" sz="1200" dirty="0" err="1">
                <a:latin typeface="Lucida Console" panose="020B0609040504020204" pitchFamily="49" charset="0"/>
              </a:rPr>
              <a:t>ambient+diffuse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colorOut.a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+vec4(specular,specular,specular,0.0);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76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880872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fact, there is no change from the Gouraud3dRenderer.</a:t>
            </a:r>
          </a:p>
          <a:p>
            <a:r>
              <a:rPr lang="en-US" dirty="0" smtClean="0"/>
              <a:t>This program has exactly the same interface from the C++ program point of view.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4647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Phong3dRenderer : public Gouraud3dRenderer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47401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member variable:</a:t>
            </a:r>
          </a:p>
          <a:p>
            <a:endParaRPr lang="en-US" dirty="0"/>
          </a:p>
          <a:p>
            <a:r>
              <a:rPr lang="en-US" dirty="0" smtClean="0"/>
              <a:t>In Initialize function in main.cpp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Draw function in main.cpp</a:t>
            </a:r>
          </a:p>
          <a:p>
            <a:pPr marL="457200" lvl="1" indent="0">
              <a:buNone/>
            </a:pPr>
            <a:r>
              <a:rPr lang="en-US" dirty="0" smtClean="0"/>
              <a:t>Just replace gouraud3d with phong3d.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63624"/>
            <a:ext cx="2787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Phong3dRenderer </a:t>
            </a:r>
            <a:r>
              <a:rPr lang="en-US" sz="1200" dirty="0">
                <a:latin typeface="Lucida Console" panose="020B0609040504020204" pitchFamily="49" charset="0"/>
              </a:rPr>
              <a:t>phong3d;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49338"/>
            <a:ext cx="3717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phong3d.CompileFile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phong_vertex_shader.glsl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phong_fragment_shader.glsl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07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vs </a:t>
            </a:r>
            <a:r>
              <a:rPr lang="en-US" dirty="0" err="1" smtClean="0"/>
              <a:t>Gouraud</a:t>
            </a:r>
            <a:r>
              <a:rPr lang="en-US" dirty="0" smtClean="0"/>
              <a:t> shading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Difference is most visible if the object has a large or long polygon.  (Like the bottom face of a </a:t>
            </a:r>
            <a:r>
              <a:rPr lang="en-US" dirty="0" err="1" smtClean="0"/>
              <a:t>cone.stl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67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billboard is a </a:t>
            </a:r>
            <a:r>
              <a:rPr lang="en-US" dirty="0" err="1" smtClean="0"/>
              <a:t>pimitive</a:t>
            </a:r>
            <a:r>
              <a:rPr lang="en-US" dirty="0" smtClean="0"/>
              <a:t> that appears the same no matter what direction it is looked from.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Trees in a walk-through application.</a:t>
            </a:r>
          </a:p>
          <a:p>
            <a:pPr lvl="1"/>
            <a:r>
              <a:rPr lang="en-US" dirty="0" smtClean="0"/>
              <a:t>Annotation.</a:t>
            </a:r>
          </a:p>
          <a:p>
            <a:pPr lvl="1"/>
            <a:r>
              <a:rPr lang="en-US" dirty="0" smtClean="0"/>
              <a:t>An icon floating in the 3D space.</a:t>
            </a:r>
          </a:p>
          <a:p>
            <a:r>
              <a:rPr lang="en-US" dirty="0" smtClean="0"/>
              <a:t>This is another feature frustratingly missing in the fixed-function pipeline.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77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other words, the center (or a reference point) of the billboard may move depending on the view point and orientation.  </a:t>
            </a:r>
          </a:p>
          <a:p>
            <a:r>
              <a:rPr lang="en-US" dirty="0" smtClean="0"/>
              <a:t>But, the billboard will always face perpendicular to the view direction regardless of the view point and orientation.</a:t>
            </a:r>
          </a:p>
          <a:p>
            <a:r>
              <a:rPr lang="en-US" dirty="0" smtClean="0"/>
              <a:t>I.E., the shape is always the same in the camera’s local coordinate system.</a:t>
            </a:r>
          </a:p>
        </p:txBody>
      </p:sp>
    </p:spTree>
    <p:extLst>
      <p:ext uri="{BB962C8B-B14F-4D97-AF65-F5344CB8AC3E}">
        <p14:creationId xmlns:p14="http://schemas.microsoft.com/office/powerpoint/2010/main" val="933230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can be achieved by adding offsets to the vertex position in the camera-coordinate system, or in the screen coordinate system.</a:t>
            </a:r>
          </a:p>
          <a:p>
            <a:r>
              <a:rPr lang="en-US" dirty="0" smtClean="0"/>
              <a:t>Offset in the camera coordinate system:</a:t>
            </a:r>
          </a:p>
          <a:p>
            <a:pPr lvl="1"/>
            <a:r>
              <a:rPr lang="en-US" dirty="0" smtClean="0"/>
              <a:t>Offset applied after model-view matrix.</a:t>
            </a:r>
          </a:p>
          <a:p>
            <a:pPr lvl="1"/>
            <a:r>
              <a:rPr lang="en-US" dirty="0" smtClean="0"/>
              <a:t>Will change the size of the primitive depending on the distance from the view point.</a:t>
            </a:r>
            <a:endParaRPr lang="en-US" dirty="0"/>
          </a:p>
          <a:p>
            <a:r>
              <a:rPr lang="en-US" dirty="0" smtClean="0"/>
              <a:t>Offset in the screen coordinate system:</a:t>
            </a:r>
          </a:p>
          <a:p>
            <a:pPr lvl="1"/>
            <a:r>
              <a:rPr lang="en-US" dirty="0" smtClean="0"/>
              <a:t>Offset applied after model-view and projection matrices.</a:t>
            </a:r>
          </a:p>
          <a:p>
            <a:pPr lvl="1"/>
            <a:r>
              <a:rPr lang="en-US" dirty="0" smtClean="0"/>
              <a:t>Appears as the same size regardless of the distance from the view point.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97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Billboarding</a:t>
            </a:r>
            <a:r>
              <a:rPr lang="en-US" dirty="0" smtClean="0"/>
              <a:t> – Vertex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4385930" cy="5059363"/>
          </a:xfrm>
        </p:spPr>
        <p:txBody>
          <a:bodyPr/>
          <a:lstStyle/>
          <a:p>
            <a:r>
              <a:rPr lang="en-US" dirty="0" smtClean="0"/>
              <a:t>Vertex attributes:</a:t>
            </a:r>
          </a:p>
          <a:p>
            <a:pPr lvl="1"/>
            <a:r>
              <a:rPr lang="en-US" dirty="0" smtClean="0"/>
              <a:t>Position (</a:t>
            </a:r>
            <a:r>
              <a:rPr lang="en-US" dirty="0" err="1" smtClean="0"/>
              <a:t>x,y,z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Offset (</a:t>
            </a:r>
            <a:r>
              <a:rPr lang="en-US" dirty="0" err="1" smtClean="0"/>
              <a:t>dx,dy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Color</a:t>
            </a:r>
          </a:p>
          <a:p>
            <a:pPr lvl="1"/>
            <a:r>
              <a:rPr lang="en-US" dirty="0" smtClean="0"/>
              <a:t>Texture Coordinate</a:t>
            </a:r>
          </a:p>
          <a:p>
            <a:r>
              <a:rPr lang="en-US" dirty="0" smtClean="0"/>
              <a:t>When you draw a triangle, you repeat same (</a:t>
            </a:r>
            <a:r>
              <a:rPr lang="en-US" dirty="0" err="1" smtClean="0"/>
              <a:t>x,y,z</a:t>
            </a:r>
            <a:r>
              <a:rPr lang="en-US" dirty="0" smtClean="0"/>
              <a:t>) three times, but use different offset vectors.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0465" y="1068572"/>
            <a:ext cx="3327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Position        Offset</a:t>
            </a:r>
          </a:p>
          <a:p>
            <a:r>
              <a:rPr lang="en-US" dirty="0" smtClean="0"/>
              <a:t>(x0,y0,z0)      (-1,-1)</a:t>
            </a:r>
          </a:p>
          <a:p>
            <a:r>
              <a:rPr lang="en-US" dirty="0" smtClean="0"/>
              <a:t>(x0,y0,z0)    ( 3,-1)</a:t>
            </a:r>
          </a:p>
          <a:p>
            <a:r>
              <a:rPr lang="en-US" dirty="0" smtClean="0"/>
              <a:t>(x0,y0,z0)    (-1, 3)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805916" y="4226442"/>
            <a:ext cx="1850065" cy="118553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79535" y="3524693"/>
            <a:ext cx="10633" cy="935665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90168" y="4460358"/>
            <a:ext cx="95693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390168" y="3524693"/>
            <a:ext cx="956930" cy="935665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379535" y="3992525"/>
            <a:ext cx="489098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868633" y="3992525"/>
            <a:ext cx="0" cy="467833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727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r>
              <a:rPr lang="en-US" dirty="0" smtClean="0"/>
              <a:t> – 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8721" y="925033"/>
            <a:ext cx="850073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vec2 offset;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vec2 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uniform </a:t>
            </a:r>
            <a:r>
              <a:rPr lang="en-US" sz="1200" dirty="0">
                <a:latin typeface="Lucida Console" panose="020B0609040504020204" pitchFamily="49" charset="0"/>
              </a:rPr>
              <a:t>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offsetInView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offsetInPixel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viewportWidth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sampler2D texture2d;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varying </a:t>
            </a:r>
            <a:r>
              <a:rPr lang="en-US" sz="1200" dirty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pos.xy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pos.xy+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offsetInView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*offset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pos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offsetInScreen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offsetInScreen.x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offsetInPixel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offset.x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/(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viewportWidth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/2.0)/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pos.w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offsetInScreen.y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offsetInPixel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offset.y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/(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/2.0)/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pos.w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pos.xy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pos.xy+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offsetInScreen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texCoordOut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83841" y="4540102"/>
            <a:ext cx="903768" cy="568842"/>
          </a:xfrm>
          <a:prstGeom prst="round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61567" y="3648855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Why division by w?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stCxn id="5" idx="2"/>
            <a:endCxn id="3" idx="0"/>
          </p:cNvCxnSpPr>
          <p:nvPr/>
        </p:nvCxnSpPr>
        <p:spPr>
          <a:xfrm flipH="1">
            <a:off x="6735725" y="4018187"/>
            <a:ext cx="499213" cy="52191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71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r>
              <a:rPr lang="en-US" dirty="0" smtClean="0"/>
              <a:t> –Fragment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8720" y="925033"/>
            <a:ext cx="71663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uniform sampler2D texture2d;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if(0.0&lt;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texCoordOut.x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&amp;&amp; </a:t>
            </a:r>
            <a:r>
              <a:rPr lang="en-US" sz="1200" dirty="0" err="1">
                <a:latin typeface="Lucida Console" panose="020B0609040504020204" pitchFamily="49" charset="0"/>
              </a:rPr>
              <a:t>texCoordOut.x</a:t>
            </a:r>
            <a:r>
              <a:rPr lang="en-US" sz="1200" dirty="0">
                <a:latin typeface="Lucida Console" panose="020B0609040504020204" pitchFamily="49" charset="0"/>
              </a:rPr>
              <a:t>&lt;1.0 &amp;&amp; 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</a:t>
            </a:r>
            <a:r>
              <a:rPr lang="en-US" sz="1200" dirty="0">
                <a:latin typeface="Lucida Console" panose="020B0609040504020204" pitchFamily="49" charset="0"/>
              </a:rPr>
              <a:t>0.0&lt;</a:t>
            </a:r>
            <a:r>
              <a:rPr lang="en-US" sz="1200" dirty="0" err="1">
                <a:latin typeface="Lucida Console" panose="020B0609040504020204" pitchFamily="49" charset="0"/>
              </a:rPr>
              <a:t>texCoordOut.y</a:t>
            </a:r>
            <a:r>
              <a:rPr lang="en-US" sz="1200" dirty="0">
                <a:latin typeface="Lucida Console" panose="020B0609040504020204" pitchFamily="49" charset="0"/>
              </a:rPr>
              <a:t> &amp;&amp; </a:t>
            </a:r>
            <a:r>
              <a:rPr lang="en-US" sz="1200" dirty="0" err="1">
                <a:latin typeface="Lucida Console" panose="020B0609040504020204" pitchFamily="49" charset="0"/>
              </a:rPr>
              <a:t>texCoordOut.y</a:t>
            </a:r>
            <a:r>
              <a:rPr lang="en-US" sz="1200" dirty="0">
                <a:latin typeface="Lucida Console" panose="020B0609040504020204" pitchFamily="49" charset="0"/>
              </a:rPr>
              <a:t>&lt;1.0)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*texture(texture2d,texCoordOut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discard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67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r>
              <a:rPr lang="en-US" dirty="0" smtClean="0"/>
              <a:t> – In </a:t>
            </a:r>
            <a:r>
              <a:rPr lang="en-US" dirty="0" err="1" smtClean="0"/>
              <a:t>renderer.h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8721" y="925033"/>
            <a:ext cx="82136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Billboard3dRenderer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attribOffsetPos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uniformOffsetInViewPos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uniformOffsetInPixelPos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uniformViewportWidthPos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uniformTexture2dPos;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37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r>
              <a:rPr lang="en-US" dirty="0" smtClean="0"/>
              <a:t> – In renderer.cpp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8721" y="925033"/>
            <a:ext cx="89526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Billboard3dRenderer::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attribOffsetPos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,"offset");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attribOffsetPos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attribOffsetPos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attribTexCoordPos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attribTexCoordPos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uniformOffsetInViewPos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offsetInView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uniformOffsetInViewPos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uniformOffsetInViewPos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uniformOffsetInPixelPos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offsetInPixel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uniformOffsetInPixelPos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uniformOffsetInPixelPos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uniformViewportWidthPos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viewportWidth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uniformViewportWidthPos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uniformViewportWidthPos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uniformViewportHeightPos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uniformTexture2dPos=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(programIdent</a:t>
            </a:r>
            <a:r>
              <a:rPr lang="en-US" sz="1200" dirty="0">
                <a:latin typeface="Lucida Console" panose="020B0609040504020204" pitchFamily="49" charset="0"/>
              </a:rPr>
              <a:t>,"texture2d");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("uniformTexture2dPos=%d\n",uniformTexture2dPos);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Billboading</a:t>
            </a:r>
            <a:r>
              <a:rPr lang="en-US" dirty="0" smtClean="0"/>
              <a:t> – In main.cpp, Initialize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8721" y="925033"/>
            <a:ext cx="769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billboard3d.CompileFile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billboard3d_vertex_shader.glsl",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>
                <a:latin typeface="Lucida Console" panose="020B0609040504020204" pitchFamily="49" charset="0"/>
              </a:rPr>
              <a:t>billboard3d_fragment_shader.glsl");</a:t>
            </a:r>
          </a:p>
        </p:txBody>
      </p:sp>
    </p:spTree>
    <p:extLst>
      <p:ext uri="{BB962C8B-B14F-4D97-AF65-F5344CB8AC3E}">
        <p14:creationId xmlns:p14="http://schemas.microsoft.com/office/powerpoint/2010/main" val="9341994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Billboarding</a:t>
            </a:r>
            <a:r>
              <a:rPr lang="en-US" dirty="0" smtClean="0"/>
              <a:t> –Draw function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061" y="871870"/>
            <a:ext cx="2723823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cubeEdgeVtx</a:t>
            </a:r>
            <a:r>
              <a:rPr lang="en-US" sz="10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10,-10,-10,  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10,-10,-10,  10,-10,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10,-10, 10, -10,-10,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10,-10, 10, -10,-10,-10,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 10,-10,  10, 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 10,-10,  10, 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 10, 10, -10, 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 10, 10, -10, 10,-10,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 10,-10, -10,-10,-10,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 10,-10,  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10, 10, 10,  10,-10,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 10, 10, -10,-10, 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cubeEdgeColor</a:t>
            </a:r>
            <a:r>
              <a:rPr lang="en-US" sz="10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latin typeface="Lucida Console" panose="020B0609040504020204" pitchFamily="49" charset="0"/>
              </a:rPr>
              <a:t>, 0,0,0,1,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42138" y="4199046"/>
            <a:ext cx="68018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000" dirty="0" smtClean="0">
                <a:latin typeface="Lucida Console" panose="020B0609040504020204" pitchFamily="49" charset="0"/>
              </a:rPr>
              <a:t>(plain3d.programIdent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glUniformMatrix4fv(plain3d.uniformProjectionPos,1,GL_FALSE,projMat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glUniformMatrix4fv(plain3d.uniformModelViewPos,1,GL_FALSE,viewMat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(plain3d.attribVertexPos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(plain3d.attribColorPos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(plain3d.attribVertexPos,3,GL_FLOAT,GL_FALSE,0,cubeEdgeVtx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(plain3d.attribColorPos,4,GL_FLOAT,GL_FALSE,0,cubeEdgeColor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000" dirty="0" smtClean="0">
                <a:latin typeface="Lucida Console" panose="020B0609040504020204" pitchFamily="49" charset="0"/>
              </a:rPr>
              <a:t>(GL_LINES,0,24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(plain3d.attribVertexPos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(plain3d.attribColorPos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628" y="1116419"/>
            <a:ext cx="448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Drawing a wireframe-cube as a reference.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390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Billboarding</a:t>
            </a:r>
            <a:r>
              <a:rPr lang="en-US" dirty="0" smtClean="0"/>
              <a:t> –Draw function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847" y="1695579"/>
            <a:ext cx="2646878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billboardVtx</a:t>
            </a:r>
            <a:r>
              <a:rPr lang="en-US" sz="10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10,-10,-10,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billboardOffset</a:t>
            </a:r>
            <a:r>
              <a:rPr lang="en-US" sz="10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1.0,-1.0,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latin typeface="Lucida Console" panose="020B0609040504020204" pitchFamily="49" charset="0"/>
              </a:rPr>
              <a:t>3.0,-1.0,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latin typeface="Lucida Console" panose="020B0609040504020204" pitchFamily="49" charset="0"/>
              </a:rPr>
              <a:t>1.0, 3.0,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billboardTexCoord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1.0,-1.0,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3.0,-1.0,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-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1.0, 3.0,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GLfloat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billboardColor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[]=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0,0,0,1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80747" y="1695579"/>
            <a:ext cx="626325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000" dirty="0" smtClean="0">
                <a:latin typeface="Lucida Console" panose="020B0609040504020204" pitchFamily="49" charset="0"/>
              </a:rPr>
              <a:t>(billboard3d.programIdent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glUniformMatrix4fv(billboard3d.uniformProjectionPos,1,GL_FALSE,projMat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glUniformMatrix4fv(billboard3d.uniformModelViewPos,1,GL_FALSE,viewMat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glUniform1f(billboard3d.uniformOffsetInViewPos,1.0f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glUniform1f(billboard3d.uniformOffsetInPixelPos,0.0f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glUniform1f(billboard3d.uniformViewportWidthPos</a:t>
            </a:r>
            <a:r>
              <a:rPr lang="en-US" sz="1000" dirty="0">
                <a:latin typeface="Lucida Console" panose="020B0609040504020204" pitchFamily="49" charset="0"/>
              </a:rPr>
              <a:t>,(</a:t>
            </a:r>
            <a:r>
              <a:rPr lang="en-US" sz="1000" dirty="0" err="1">
                <a:latin typeface="Lucida Console" panose="020B0609040504020204" pitchFamily="49" charset="0"/>
              </a:rPr>
              <a:t>GLfloat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  <a:r>
              <a:rPr lang="en-US" sz="1000" dirty="0" err="1">
                <a:latin typeface="Lucida Console" panose="020B0609040504020204" pitchFamily="49" charset="0"/>
              </a:rPr>
              <a:t>wid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glUniform1f(billboard3d.uniformViewportHeightPos</a:t>
            </a:r>
            <a:r>
              <a:rPr lang="en-US" sz="1000" dirty="0">
                <a:latin typeface="Lucida Console" panose="020B0609040504020204" pitchFamily="49" charset="0"/>
              </a:rPr>
              <a:t>,(</a:t>
            </a:r>
            <a:r>
              <a:rPr lang="en-US" sz="1000" dirty="0" err="1">
                <a:latin typeface="Lucida Console" panose="020B0609040504020204" pitchFamily="49" charset="0"/>
              </a:rPr>
              <a:t>GLfloat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  <a:r>
              <a:rPr lang="en-US" sz="1000" dirty="0" err="1">
                <a:latin typeface="Lucida Console" panose="020B0609040504020204" pitchFamily="49" charset="0"/>
              </a:rPr>
              <a:t>hei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(billboard3d.attribVertexPos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(billboard3d.attribColorPos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(billboard3d.attribTexCoordPos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(billboard3d.attribOffsetPos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    billboard3d.attribVertexPos,3,GL_FLOAT,GL_FALSE,0,billboardVtx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    billboard3d.attribColorPos,4,GL_FLOAT,GL_FALSE,0,billboardColor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billboard3d.attribTexCoordPos,2,GL_FLOAT,GL_FALSE,0,billboardTexCoord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glVertexAttribPointer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billboard3d.attribOffsetPos,2,GL_FLOAT,GL_FALSE,0,billboardTexCoord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000" dirty="0" smtClean="0">
                <a:latin typeface="Lucida Console" panose="020B0609040504020204" pitchFamily="49" charset="0"/>
              </a:rPr>
              <a:t>(GL_TRIANGLES,0,3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(billboard3d.attribVertexPos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(billboard3d.attribColorPos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(billboard3d.attribTexCoordPos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000" dirty="0" smtClean="0">
                <a:latin typeface="Lucida Console" panose="020B0609040504020204" pitchFamily="49" charset="0"/>
              </a:rPr>
              <a:t>(billboard3d.attribOffsetPos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0451" y="871870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And then drawing a billboard.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8646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texture.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 BlueImpulse.png in the data directory.</a:t>
            </a:r>
          </a:p>
          <a:p>
            <a:r>
              <a:rPr lang="en-US" dirty="0" smtClean="0"/>
              <a:t>Add a member variable:</a:t>
            </a:r>
          </a:p>
          <a:p>
            <a:pPr marL="457200" lvl="1" indent="0">
              <a:buNone/>
            </a:pPr>
            <a:r>
              <a:rPr lang="en-US" dirty="0" err="1">
                <a:latin typeface="Lucida Console" panose="020B0609040504020204" pitchFamily="49" charset="0"/>
              </a:rPr>
              <a:t>GLuint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textureIdent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</a:p>
          <a:p>
            <a:r>
              <a:rPr lang="en-US" dirty="0" smtClean="0"/>
              <a:t>Add </a:t>
            </a:r>
            <a:r>
              <a:rPr lang="en-US" dirty="0" err="1" smtClean="0"/>
              <a:t>YsBitmap</a:t>
            </a:r>
            <a:r>
              <a:rPr lang="en-US" dirty="0" smtClean="0"/>
              <a:t> in the LIB_DEPENDENCY in CMakeLists.txt</a:t>
            </a:r>
          </a:p>
          <a:p>
            <a:r>
              <a:rPr lang="en-US" dirty="0" smtClean="0">
                <a:latin typeface="Lucida Console" panose="020B0609040504020204" pitchFamily="49" charset="0"/>
              </a:rPr>
              <a:t>#include &lt;</a:t>
            </a:r>
            <a:r>
              <a:rPr lang="en-US" dirty="0" err="1" smtClean="0">
                <a:latin typeface="Lucida Console" panose="020B0609040504020204" pitchFamily="49" charset="0"/>
              </a:rPr>
              <a:t>ysbitmap.h</a:t>
            </a:r>
            <a:r>
              <a:rPr lang="en-US" dirty="0" smtClean="0">
                <a:latin typeface="Lucida Console" panose="020B0609040504020204" pitchFamily="49" charset="0"/>
              </a:rPr>
              <a:t>&gt;</a:t>
            </a:r>
          </a:p>
          <a:p>
            <a:endParaRPr lang="en-US" dirty="0"/>
          </a:p>
        </p:txBody>
      </p:sp>
      <p:pic>
        <p:nvPicPr>
          <p:cNvPr id="1026" name="Picture 2" descr="E:\development\trunk\teaching\24783\LecturePrep\19-GLSL\billboard_texture\data\BlueImpuls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842" y="1057293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717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Initialize() function,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10093" y="1488558"/>
            <a:ext cx="687880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glGenTextures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,&amp;textureIdent);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YsBitmap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bmp;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if(YSOK</a:t>
            </a:r>
            <a:r>
              <a:rPr lang="en-US" sz="1200" dirty="0">
                <a:latin typeface="Lucida Console" panose="020B0609040504020204" pitchFamily="49" charset="0"/>
              </a:rPr>
              <a:t>==</a:t>
            </a:r>
            <a:r>
              <a:rPr lang="en-US" sz="1200" dirty="0" err="1">
                <a:latin typeface="Lucida Console" panose="020B0609040504020204" pitchFamily="49" charset="0"/>
              </a:rPr>
              <a:t>bmp.LoadPng</a:t>
            </a:r>
            <a:r>
              <a:rPr lang="en-US" sz="1200" dirty="0">
                <a:latin typeface="Lucida Console" panose="020B0609040504020204" pitchFamily="49" charset="0"/>
              </a:rPr>
              <a:t>("BlueImpulse.png"))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("Texture Loaded.\n");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(GL_TEXTURE_2D,textureIdent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glTexImage2D(GL_TEXTURE_2D,0,GL_RGBA,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bmp.GetWidth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bmp.GetHeight</a:t>
            </a:r>
            <a:r>
              <a:rPr lang="en-US" sz="1200" dirty="0">
                <a:latin typeface="Lucida Console" panose="020B0609040504020204" pitchFamily="49" charset="0"/>
              </a:rPr>
              <a:t>(),0</a:t>
            </a:r>
            <a:r>
              <a:rPr lang="en-US" sz="12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GL_RGBA,GL_UNSIGNED_BYTE,bmp.GetRGBABitmapPointer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700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 function,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Also change the billboard </a:t>
            </a:r>
            <a:r>
              <a:rPr lang="en-US" smtClean="0"/>
              <a:t>color from 0,0,0,1 to 1,1,1,1.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8330" y="1648046"/>
            <a:ext cx="4926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(GL_TEXTURE_2D,textureIdent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glUniform1i(billboard3d.uniformTexture2dPos,0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81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efficient way of drawing a billboard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GL_POINTS.</a:t>
            </a:r>
          </a:p>
          <a:p>
            <a:r>
              <a:rPr lang="en-US" dirty="0" smtClean="0"/>
              <a:t>Need to control point-size, and</a:t>
            </a:r>
          </a:p>
          <a:p>
            <a:r>
              <a:rPr lang="en-US" dirty="0" smtClean="0"/>
              <a:t>Paste texture on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0127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069507"/>
          </a:xfrm>
        </p:spPr>
        <p:txBody>
          <a:bodyPr/>
          <a:lstStyle/>
          <a:p>
            <a:r>
              <a:rPr lang="en-US" dirty="0" smtClean="0"/>
              <a:t>Another limitation of older version OpenGL:  Cannot specify point-size per vertex without closing a primitive with </a:t>
            </a:r>
            <a:r>
              <a:rPr lang="en-US" dirty="0" err="1" smtClean="0"/>
              <a:t>glEnd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You can control point sizes from the vertex </a:t>
            </a:r>
            <a:r>
              <a:rPr lang="en-US" dirty="0" err="1" smtClean="0"/>
              <a:t>shader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(*) For </a:t>
            </a:r>
            <a:r>
              <a:rPr lang="en-US" dirty="0" err="1" smtClean="0"/>
              <a:t>XCode</a:t>
            </a:r>
            <a:r>
              <a:rPr lang="en-US" dirty="0" smtClean="0"/>
              <a:t>, the following macro definition is needed.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8385" y="4238713"/>
            <a:ext cx="69717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#if !defined(GL_PROGRAM_POINT_SIZE) &amp;&amp; defined(GL_PROGRAM_POINT_SIZE_EXT)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#define GL_PROGRAM_POINT_SIZE GL_PROGRAM_POINT_SIZE_EXT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691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need to enable GL_PROGRAM_POINT_SIZE to use this functionality.  (In OpenGL ES, this functionality is always on.  Instead, there is no function called </a:t>
            </a:r>
            <a:r>
              <a:rPr lang="en-US" dirty="0" err="1" smtClean="0"/>
              <a:t>glPointSize</a:t>
            </a:r>
            <a:r>
              <a:rPr lang="en-US" dirty="0" smtClean="0"/>
              <a:t>.)</a:t>
            </a:r>
          </a:p>
          <a:p>
            <a:r>
              <a:rPr lang="en-US" dirty="0" smtClean="0"/>
              <a:t>Also, if you want to control a point size per vertex, you need an additional attribute.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5607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5256" y="1572768"/>
            <a:ext cx="52052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gl_PointSize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5256" y="5078234"/>
            <a:ext cx="2601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416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renderer.cpp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3816" y="1572768"/>
            <a:ext cx="520527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ProgramPointSize3dRenderer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0393" y="4139141"/>
            <a:ext cx="69717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ProgramPointSize3dRenderer::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attribPointSizePos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9592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Additional member variable</a:t>
            </a:r>
          </a:p>
          <a:p>
            <a:pPr marL="457200" lvl="1" indent="0">
              <a:buNone/>
            </a:pPr>
            <a:r>
              <a:rPr lang="en-US" dirty="0" smtClean="0">
                <a:latin typeface="Lucida Console" panose="020B0609040504020204" pitchFamily="49" charset="0"/>
              </a:rPr>
              <a:t>    ProgramPointSize3dRenderer </a:t>
            </a:r>
            <a:r>
              <a:rPr lang="en-US" dirty="0" err="1">
                <a:latin typeface="Lucida Console" panose="020B0609040504020204" pitchFamily="49" charset="0"/>
              </a:rPr>
              <a:t>programPointSize</a:t>
            </a:r>
            <a:r>
              <a:rPr lang="en-US" dirty="0" smtClean="0">
                <a:latin typeface="Lucida Console" panose="020B0609040504020204" pitchFamily="49" charset="0"/>
              </a:rPr>
              <a:t>;</a:t>
            </a:r>
            <a:endParaRPr lang="en-US" dirty="0" smtClean="0"/>
          </a:p>
          <a:p>
            <a:r>
              <a:rPr lang="en-US" dirty="0" smtClean="0"/>
              <a:t>In Initialize()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04672" y="2368296"/>
            <a:ext cx="51058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program_point_size_vertex_shader.glsl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program_point_size_fragment_shader.glsl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376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122555" y="1569582"/>
            <a:ext cx="9389109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quadVtx</a:t>
            </a:r>
            <a:r>
              <a:rPr lang="en-US" sz="1200" dirty="0">
                <a:latin typeface="Lucida Console" panose="020B0609040504020204" pitchFamily="49" charset="0"/>
              </a:rPr>
              <a:t>[12]=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{-</a:t>
            </a:r>
            <a:r>
              <a:rPr lang="en-US" sz="1200" dirty="0">
                <a:latin typeface="Lucida Console" panose="020B0609040504020204" pitchFamily="49" charset="0"/>
              </a:rPr>
              <a:t>10,-10,-10</a:t>
            </a:r>
            <a:r>
              <a:rPr lang="en-US" sz="1200" dirty="0" smtClean="0">
                <a:latin typeface="Lucida Console" panose="020B0609040504020204" pitchFamily="49" charset="0"/>
              </a:rPr>
              <a:t>,   </a:t>
            </a:r>
            <a:r>
              <a:rPr lang="en-US" sz="1200" dirty="0">
                <a:latin typeface="Lucida Console" panose="020B0609040504020204" pitchFamily="49" charset="0"/>
              </a:rPr>
              <a:t>10,-10,-10</a:t>
            </a:r>
            <a:r>
              <a:rPr lang="en-US" sz="1200" dirty="0" smtClean="0">
                <a:latin typeface="Lucida Console" panose="020B0609040504020204" pitchFamily="49" charset="0"/>
              </a:rPr>
              <a:t>,   </a:t>
            </a:r>
            <a:r>
              <a:rPr lang="en-US" sz="1200" dirty="0">
                <a:latin typeface="Lucida Console" panose="020B0609040504020204" pitchFamily="49" charset="0"/>
              </a:rPr>
              <a:t>10, 10,-10</a:t>
            </a:r>
            <a:r>
              <a:rPr lang="en-US" sz="1200" dirty="0" smtClean="0">
                <a:latin typeface="Lucida Console" panose="020B0609040504020204" pitchFamily="49" charset="0"/>
              </a:rPr>
              <a:t>,  -</a:t>
            </a:r>
            <a:r>
              <a:rPr lang="en-US" sz="1200" dirty="0">
                <a:latin typeface="Lucida Console" panose="020B0609040504020204" pitchFamily="49" charset="0"/>
              </a:rPr>
              <a:t>10, 10,-10</a:t>
            </a:r>
            <a:r>
              <a:rPr lang="en-US" sz="1200" dirty="0" smtClean="0">
                <a:latin typeface="Lucida Console" panose="020B0609040504020204" pitchFamily="49" charset="0"/>
              </a:rPr>
              <a:t>,};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quadCol</a:t>
            </a:r>
            <a:r>
              <a:rPr lang="en-US" sz="1200" dirty="0">
                <a:latin typeface="Lucida Console" panose="020B0609040504020204" pitchFamily="49" charset="0"/>
              </a:rPr>
              <a:t>[16]=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{1,0,0,1,  0,1,0,1,  0,0,1,1,  1,0,1,1};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quadPointSize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[4]=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{8,16,24,32};</a:t>
            </a:r>
            <a:endParaRPr lang="en-US" sz="12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glUniformMatrix4fv(programPointSize.uniformProjectionPos,1,GL_FALSE,projMat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glUniformMatrix4fv(programPointSize.uniformModelViewPos,1,GL_FALSE,viewMat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programPointSize.attribPointSizePos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(programPointSize.attribVertexPos,3,GL_FLOAT,GL_FALSE,0,quadVtx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(programPointSize.attribColorPos,4,GL_FLOAT,GL_FALSE,0,quadCol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(programPointSize.attribPointSizePos,1,GL_FLOAT,GL_FALSE,0,quadPointSize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2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(GL_POINTS,0,4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2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0175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Point Size – Point-Size in 3D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Problem: </a:t>
            </a:r>
            <a:r>
              <a:rPr lang="en-US" dirty="0" err="1" smtClean="0"/>
              <a:t>gl_PointSize</a:t>
            </a:r>
            <a:r>
              <a:rPr lang="en-US" dirty="0" smtClean="0"/>
              <a:t> is in pixels.  What if I want to say the point size must be 1.0x1.0 not in pixels, but in the size in the 3D space?</a:t>
            </a:r>
          </a:p>
          <a:p>
            <a:r>
              <a:rPr lang="en-US" dirty="0" smtClean="0"/>
              <a:t>Need to calculate point size in the vertex </a:t>
            </a:r>
            <a:r>
              <a:rPr lang="en-US" dirty="0" err="1" smtClean="0"/>
              <a:t>shader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be able to deal with different kinds of projections, the easiest way is: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Transform the vertex position by the model-view matrix, lets’ call it </a:t>
            </a:r>
            <a:r>
              <a:rPr lang="en-US" i="1" dirty="0" smtClean="0"/>
              <a:t>s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Add </a:t>
            </a:r>
            <a:r>
              <a:rPr lang="en-US" dirty="0" err="1" smtClean="0"/>
              <a:t>pointSize</a:t>
            </a:r>
            <a:r>
              <a:rPr lang="en-US" dirty="0" smtClean="0"/>
              <a:t>/2 to </a:t>
            </a:r>
            <a:r>
              <a:rPr lang="en-US" dirty="0" err="1" smtClean="0"/>
              <a:t>s.y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Transform </a:t>
            </a:r>
            <a:r>
              <a:rPr lang="en-US" i="1" dirty="0" smtClean="0"/>
              <a:t>s</a:t>
            </a:r>
            <a:r>
              <a:rPr lang="en-US" dirty="0" smtClean="0"/>
              <a:t> with the projection matrix.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Calculate difference between </a:t>
            </a:r>
            <a:r>
              <a:rPr lang="en-US" dirty="0" err="1" smtClean="0"/>
              <a:t>gl_Position.y</a:t>
            </a:r>
            <a:r>
              <a:rPr lang="en-US" dirty="0" smtClean="0"/>
              <a:t>/</a:t>
            </a:r>
            <a:r>
              <a:rPr lang="en-US" dirty="0" err="1" smtClean="0"/>
              <a:t>gl_Position</a:t>
            </a:r>
            <a:r>
              <a:rPr lang="en-US" dirty="0" err="1"/>
              <a:t>.</a:t>
            </a:r>
            <a:r>
              <a:rPr lang="en-US" dirty="0" err="1" smtClean="0"/>
              <a:t>w</a:t>
            </a:r>
            <a:r>
              <a:rPr lang="en-US" dirty="0" smtClean="0"/>
              <a:t> and </a:t>
            </a:r>
            <a:r>
              <a:rPr lang="en-US" dirty="0" err="1" smtClean="0"/>
              <a:t>s.y</a:t>
            </a:r>
            <a:r>
              <a:rPr lang="en-US" dirty="0" smtClean="0"/>
              <a:t>/</a:t>
            </a:r>
            <a:r>
              <a:rPr lang="en-US" dirty="0" err="1" smtClean="0"/>
              <a:t>s.w</a:t>
            </a:r>
            <a:r>
              <a:rPr lang="en-US" dirty="0" smtClean="0"/>
              <a:t>, let’s call it </a:t>
            </a:r>
            <a:r>
              <a:rPr lang="en-US" i="1" dirty="0" smtClean="0"/>
              <a:t>h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Multiply </a:t>
            </a:r>
            <a:r>
              <a:rPr lang="en-US" i="1" dirty="0" smtClean="0"/>
              <a:t>h</a:t>
            </a:r>
            <a:r>
              <a:rPr lang="en-US" dirty="0" smtClean="0"/>
              <a:t> by view-port height.  Then, </a:t>
            </a:r>
            <a:r>
              <a:rPr lang="en-US" i="1" dirty="0" smtClean="0"/>
              <a:t>h</a:t>
            </a:r>
            <a:r>
              <a:rPr lang="en-US" dirty="0" smtClean="0"/>
              <a:t> is the point size in pixels.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8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Point Size – Point-Size in 3D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69605"/>
          </a:xfrm>
        </p:spPr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6055" y="1573756"/>
            <a:ext cx="65069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attribute </a:t>
            </a:r>
            <a:r>
              <a:rPr lang="en-US" sz="1200" dirty="0">
                <a:latin typeface="Lucida Console" panose="020B0609040504020204" pitchFamily="49" charset="0"/>
              </a:rPr>
              <a:t>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float 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sizeIn3d;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vec4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shift;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shift=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shift.y+pointSize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/2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shift=projection*shift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float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heightInScreen,heightInPixel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heightInScreen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=abs(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shift.w-gl_Position.y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gl_Position.w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heightInPixel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=sizeIn3d*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viewportHeight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heightInScreen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gl_PointSize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sizeInPixel</a:t>
            </a:r>
            <a:r>
              <a:rPr lang="en-US" sz="1200" dirty="0" err="1" smtClean="0">
                <a:latin typeface="Lucida Console" panose="020B0609040504020204" pitchFamily="49" charset="0"/>
              </a:rPr>
              <a:t>+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heightInPixel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859509" y="2737277"/>
            <a:ext cx="90486" cy="334926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V="1">
            <a:off x="3949995" y="2369064"/>
            <a:ext cx="765545" cy="53567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15540" y="1669609"/>
            <a:ext cx="34024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rgbClr val="FF0000"/>
                </a:solidFill>
              </a:rPr>
              <a:t>sizeInPiexl</a:t>
            </a:r>
            <a:r>
              <a:rPr lang="en-US" sz="1600" dirty="0" smtClean="0">
                <a:solidFill>
                  <a:srgbClr val="FF0000"/>
                </a:solidFill>
              </a:rPr>
              <a:t>=1, sizeIn3d=0 :</a:t>
            </a:r>
            <a:br>
              <a:rPr lang="en-US" sz="1600" dirty="0" smtClean="0">
                <a:solidFill>
                  <a:srgbClr val="FF0000"/>
                </a:solidFill>
              </a:rPr>
            </a:br>
            <a:r>
              <a:rPr lang="en-US" sz="1600" dirty="0" smtClean="0">
                <a:solidFill>
                  <a:srgbClr val="FF0000"/>
                </a:solidFill>
              </a:rPr>
              <a:t>    </a:t>
            </a:r>
            <a:r>
              <a:rPr lang="en-US" sz="1600" dirty="0" err="1" smtClean="0">
                <a:solidFill>
                  <a:srgbClr val="FF0000"/>
                </a:solidFill>
              </a:rPr>
              <a:t>pointSize</a:t>
            </a:r>
            <a:r>
              <a:rPr lang="en-US" sz="1600" dirty="0" smtClean="0">
                <a:solidFill>
                  <a:srgbClr val="FF0000"/>
                </a:solidFill>
              </a:rPr>
              <a:t> is in pixels.</a:t>
            </a:r>
          </a:p>
          <a:p>
            <a:r>
              <a:rPr lang="en-US" sz="1600" dirty="0" err="1" smtClean="0">
                <a:solidFill>
                  <a:srgbClr val="FF0000"/>
                </a:solidFill>
              </a:rPr>
              <a:t>sizeInPiexl</a:t>
            </a:r>
            <a:r>
              <a:rPr lang="en-US" sz="1600" dirty="0" smtClean="0">
                <a:solidFill>
                  <a:srgbClr val="FF0000"/>
                </a:solidFill>
              </a:rPr>
              <a:t>=0, sizeIn3d=1 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FF0000"/>
                </a:solidFill>
              </a:rPr>
              <a:t>   </a:t>
            </a:r>
            <a:r>
              <a:rPr lang="en-US" sz="1600" dirty="0" err="1" smtClean="0">
                <a:solidFill>
                  <a:srgbClr val="FF0000"/>
                </a:solidFill>
              </a:rPr>
              <a:t>pointSize</a:t>
            </a:r>
            <a:r>
              <a:rPr lang="en-US" sz="1600" dirty="0" smtClean="0">
                <a:solidFill>
                  <a:srgbClr val="FF0000"/>
                </a:solidFill>
              </a:rPr>
              <a:t> is in 3D space.</a:t>
            </a:r>
          </a:p>
        </p:txBody>
      </p:sp>
      <p:sp>
        <p:nvSpPr>
          <p:cNvPr id="9" name="Right Brace 8"/>
          <p:cNvSpPr/>
          <p:nvPr/>
        </p:nvSpPr>
        <p:spPr>
          <a:xfrm>
            <a:off x="3859509" y="3125365"/>
            <a:ext cx="45719" cy="180754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905228" y="3215742"/>
            <a:ext cx="666772" cy="9037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3013731"/>
            <a:ext cx="3402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Viewport height is needed for calculate number of pixels.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1905712" y="1573756"/>
            <a:ext cx="76912" cy="229407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0" idx="1"/>
          </p:cNvCxnSpPr>
          <p:nvPr/>
        </p:nvCxnSpPr>
        <p:spPr>
          <a:xfrm flipV="1">
            <a:off x="1982624" y="1301602"/>
            <a:ext cx="2589376" cy="386858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934265"/>
            <a:ext cx="4443813" cy="649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Need #version 120, or your </a:t>
            </a:r>
            <a:r>
              <a:rPr lang="en-US" dirty="0" err="1" smtClean="0">
                <a:solidFill>
                  <a:srgbClr val="FF0000"/>
                </a:solidFill>
              </a:rPr>
              <a:t>Xcode</a:t>
            </a:r>
            <a:r>
              <a:rPr lang="en-US" dirty="0" smtClean="0">
                <a:solidFill>
                  <a:srgbClr val="FF0000"/>
                </a:solidFill>
              </a:rPr>
              <a:t> may complain division of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and float.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232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Point Size – Point-Size in 3D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1115" y="1616149"/>
            <a:ext cx="52052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ProgramPointSize3dRenderer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uniformSizeIn3dPos;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4324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Point Size – Point-Size in 3D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renderer.cpp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4883" y="1575782"/>
            <a:ext cx="7715574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ProgramPointSize3dRenderer::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attribPointSizePos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uniformSizeInPixelPos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uniformSizeIn3dPos=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(programIdent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,"sizeIn3d");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("uniformSizeIn3dPos=%d\n",uniformSizeIn3dPos);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uniformViewportHeightPos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2900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Point Size – Point-Size in 3D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122555" y="1493874"/>
            <a:ext cx="938910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quadVtx</a:t>
            </a:r>
            <a:r>
              <a:rPr lang="en-US" sz="1200" dirty="0">
                <a:latin typeface="Lucida Console" panose="020B0609040504020204" pitchFamily="49" charset="0"/>
              </a:rPr>
              <a:t>[12</a:t>
            </a:r>
            <a:r>
              <a:rPr lang="en-US" sz="1200" dirty="0" smtClean="0">
                <a:latin typeface="Lucida Console" panose="020B0609040504020204" pitchFamily="49" charset="0"/>
              </a:rPr>
              <a:t>]={ -10,-10,-10, 10,-</a:t>
            </a:r>
            <a:r>
              <a:rPr lang="en-US" sz="1200" dirty="0">
                <a:latin typeface="Lucida Console" panose="020B0609040504020204" pitchFamily="49" charset="0"/>
              </a:rPr>
              <a:t>10,-10</a:t>
            </a:r>
            <a:r>
              <a:rPr lang="en-US" sz="1200" dirty="0" smtClean="0">
                <a:latin typeface="Lucida Console" panose="020B0609040504020204" pitchFamily="49" charset="0"/>
              </a:rPr>
              <a:t>, </a:t>
            </a:r>
            <a:r>
              <a:rPr lang="en-US" sz="1200" dirty="0">
                <a:latin typeface="Lucida Console" panose="020B0609040504020204" pitchFamily="49" charset="0"/>
              </a:rPr>
              <a:t>10, 10,-10</a:t>
            </a:r>
            <a:r>
              <a:rPr lang="en-US" sz="1200" dirty="0" smtClean="0">
                <a:latin typeface="Lucida Console" panose="020B0609040504020204" pitchFamily="49" charset="0"/>
              </a:rPr>
              <a:t>, -</a:t>
            </a:r>
            <a:r>
              <a:rPr lang="en-US" sz="1200" dirty="0">
                <a:latin typeface="Lucida Console" panose="020B0609040504020204" pitchFamily="49" charset="0"/>
              </a:rPr>
              <a:t>10, 10,-10</a:t>
            </a:r>
            <a:r>
              <a:rPr lang="en-US" sz="1200" dirty="0" smtClean="0">
                <a:latin typeface="Lucida Console" panose="020B0609040504020204" pitchFamily="49" charset="0"/>
              </a:rPr>
              <a:t>,};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quadCol</a:t>
            </a:r>
            <a:r>
              <a:rPr lang="en-US" sz="1200" dirty="0">
                <a:latin typeface="Lucida Console" panose="020B0609040504020204" pitchFamily="49" charset="0"/>
              </a:rPr>
              <a:t>[16</a:t>
            </a:r>
            <a:r>
              <a:rPr lang="en-US" sz="1200" dirty="0" smtClean="0">
                <a:latin typeface="Lucida Console" panose="020B0609040504020204" pitchFamily="49" charset="0"/>
              </a:rPr>
              <a:t>]={ 1,0,0,1, 0,1,0,1, 0,0,1,1, 1,0,1,1};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quadPointSize</a:t>
            </a:r>
            <a:r>
              <a:rPr lang="en-US" sz="1200" dirty="0">
                <a:latin typeface="Lucida Console" panose="020B0609040504020204" pitchFamily="49" charset="0"/>
              </a:rPr>
              <a:t>[4</a:t>
            </a:r>
            <a:r>
              <a:rPr lang="en-US" sz="1200" dirty="0" smtClean="0">
                <a:latin typeface="Lucida Console" panose="020B0609040504020204" pitchFamily="49" charset="0"/>
              </a:rPr>
              <a:t>]={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1,1,2,2</a:t>
            </a:r>
            <a:r>
              <a:rPr lang="en-US" sz="1200" dirty="0" smtClean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glUniformMatrix4fv(programPointSize.uniformProjectionPos,1,GL_FALSE,projMat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glUniformMatrix4fv(programPointSize.uniformModelViewPos,1,GL_FALSE,viewMat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glUniform1f(programPointSize.uniformSizeInPixelPos,0.0f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glUniform1f(programPointSize.uniformSizeIn3dPos,1.0f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glUniform1f(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programPointSize.uniformViewportHeightPos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,(float)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hei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programPointSize.attribPointSizePos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(programPointSize.attribVertexPos,3,GL_FLOAT,GL_FALSE,0,quadVtx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(programPointSize.attribColorPos,4,GL_FLOAT,GL_FALSE,0,quadCol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(programPointSize.attribPointSizePos,1,GL_FLOAT,GL_FALSE,0,quadPointSize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2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(GL_POINTS,0,4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2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programPointSize.attribColorPos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0256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also </a:t>
            </a:r>
            <a:r>
              <a:rPr lang="en-US" dirty="0" err="1" smtClean="0"/>
              <a:t>looooong</a:t>
            </a:r>
            <a:r>
              <a:rPr lang="en-US" dirty="0" smtClean="0"/>
              <a:t> wanted feature that was missing in OpenGL 1.1.</a:t>
            </a:r>
          </a:p>
          <a:p>
            <a:r>
              <a:rPr lang="en-US" dirty="0" smtClean="0"/>
              <a:t>With point sprite, you can paste textures on GL_POINTS.</a:t>
            </a:r>
          </a:p>
          <a:p>
            <a:r>
              <a:rPr lang="en-US" dirty="0" smtClean="0"/>
              <a:t>Even you can paste a part of a texture.</a:t>
            </a:r>
          </a:p>
          <a:p>
            <a:r>
              <a:rPr lang="en-US" dirty="0" smtClean="0"/>
              <a:t>By making a texture atlas, you can draw different patterns for different points in one </a:t>
            </a:r>
            <a:r>
              <a:rPr lang="en-US" dirty="0" err="1" smtClean="0"/>
              <a:t>glDrawArrays</a:t>
            </a:r>
            <a:r>
              <a:rPr lang="en-US" dirty="0" smtClean="0"/>
              <a:t> call.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8706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fragment </a:t>
            </a:r>
            <a:r>
              <a:rPr lang="en-US" dirty="0" err="1" smtClean="0"/>
              <a:t>shader</a:t>
            </a:r>
            <a:r>
              <a:rPr lang="en-US" dirty="0" smtClean="0"/>
              <a:t>, coordinate within a point is given as </a:t>
            </a:r>
            <a:r>
              <a:rPr lang="en-US" dirty="0" err="1" smtClean="0"/>
              <a:t>gl_PointCoord</a:t>
            </a:r>
            <a:r>
              <a:rPr lang="en-US" dirty="0" smtClean="0"/>
              <a:t>.  </a:t>
            </a:r>
          </a:p>
          <a:p>
            <a:r>
              <a:rPr lang="en-US" dirty="0" smtClean="0"/>
              <a:t>Need GLSL version 120.</a:t>
            </a:r>
          </a:p>
          <a:p>
            <a:r>
              <a:rPr lang="en-US" dirty="0" smtClean="0"/>
              <a:t>Let’s first use coordinate as R and G values to see what we get.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027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is same as the one from program_point_size_in_3d example.</a:t>
            </a:r>
          </a:p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9858" y="2396152"/>
            <a:ext cx="4275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=vec4(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gl_PointCoord.xy</a:t>
            </a:r>
            <a:r>
              <a:rPr lang="en-US" sz="1200" dirty="0" smtClean="0">
                <a:latin typeface="Lucida Console" panose="020B0609040504020204" pitchFamily="49" charset="0"/>
              </a:rPr>
              <a:t>,0,1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858" y="4121724"/>
            <a:ext cx="511229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PointSprite3dRenderer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uniformSizeIn3dPos;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};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549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renderer.cpp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0393" y="1580972"/>
            <a:ext cx="77155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PointSprite3dRenderer::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attribPointSizePos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uniformSizeInPixelPos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uniformSizeIn3dPos=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(programIdent</a:t>
            </a:r>
            <a:r>
              <a:rPr lang="en-US" sz="1200" dirty="0">
                <a:latin typeface="Lucida Console" panose="020B0609040504020204" pitchFamily="49" charset="0"/>
              </a:rPr>
              <a:t>,"sizeIn3d");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("uniformSizeIn3dPos=%d\n",uniformSizeIn3dPos);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uniformViewportHeightPos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786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member variable:</a:t>
            </a:r>
          </a:p>
          <a:p>
            <a:pPr marL="914400" lvl="2" indent="0">
              <a:buNone/>
            </a:pPr>
            <a:r>
              <a:rPr lang="en-US" dirty="0" smtClean="0">
                <a:latin typeface="Lucida Console" panose="020B0609040504020204" pitchFamily="49" charset="0"/>
              </a:rPr>
              <a:t>    PointSprite3dRenderer </a:t>
            </a:r>
            <a:r>
              <a:rPr lang="en-US" dirty="0" err="1">
                <a:latin typeface="Lucida Console" panose="020B0609040504020204" pitchFamily="49" charset="0"/>
              </a:rPr>
              <a:t>pointSprite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</a:p>
          <a:p>
            <a:r>
              <a:rPr lang="en-US" dirty="0" smtClean="0"/>
              <a:t>In Initialize():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6031" y="2465083"/>
            <a:ext cx="4275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pointSprite.CompileFile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pointsprite_vertex_shader.glsl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pointsprite_fragment_shader.glsl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220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Draw(), replace </a:t>
            </a:r>
            <a:r>
              <a:rPr lang="en-US" dirty="0" err="1" smtClean="0"/>
              <a:t>programPointSize</a:t>
            </a:r>
            <a:r>
              <a:rPr lang="en-US" dirty="0" smtClean="0"/>
              <a:t> with </a:t>
            </a:r>
            <a:r>
              <a:rPr lang="en-US" dirty="0" err="1" smtClean="0"/>
              <a:t>pointSprite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401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 Atlas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Goal: Want to draw multiple patterns within one </a:t>
            </a:r>
            <a:r>
              <a:rPr lang="en-US" dirty="0" err="1" smtClean="0"/>
              <a:t>glDrawArrays</a:t>
            </a:r>
            <a:r>
              <a:rPr lang="en-US" dirty="0" smtClean="0"/>
              <a:t> call.</a:t>
            </a:r>
          </a:p>
          <a:p>
            <a:r>
              <a:rPr lang="en-US" dirty="0" smtClean="0"/>
              <a:t>Problem: Typical OpenGL can use up to two or three textures at a time.</a:t>
            </a:r>
          </a:p>
          <a:p>
            <a:r>
              <a:rPr lang="en-US" dirty="0" smtClean="0"/>
              <a:t>Solution: </a:t>
            </a:r>
            <a:r>
              <a:rPr lang="en-US" dirty="0" err="1" smtClean="0"/>
              <a:t>TextureAtlas</a:t>
            </a:r>
            <a:r>
              <a:rPr lang="en-US" dirty="0" smtClean="0"/>
              <a:t> put multiple patterns in one texture image.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606" y="3741568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674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Additional uniform:  sampler2D texture;</a:t>
            </a:r>
          </a:p>
          <a:p>
            <a:r>
              <a:rPr lang="en-US" dirty="0" smtClean="0"/>
              <a:t>Additional vertex attribute: vec4 </a:t>
            </a:r>
            <a:r>
              <a:rPr lang="en-US" dirty="0" err="1" smtClean="0"/>
              <a:t>texCoordRange</a:t>
            </a:r>
            <a:r>
              <a:rPr lang="en-US" dirty="0" smtClean="0"/>
              <a:t>;</a:t>
            </a:r>
          </a:p>
          <a:p>
            <a:r>
              <a:rPr lang="en-US" dirty="0" smtClean="0"/>
              <a:t>Additional varying: vec4 </a:t>
            </a:r>
            <a:r>
              <a:rPr lang="en-US" dirty="0" err="1" smtClean="0"/>
              <a:t>texCoordRangeOut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pass </a:t>
            </a:r>
            <a:r>
              <a:rPr lang="en-US" dirty="0" err="1" smtClean="0"/>
              <a:t>texCoordRange</a:t>
            </a:r>
            <a:r>
              <a:rPr lang="en-US" dirty="0" smtClean="0"/>
              <a:t> to </a:t>
            </a:r>
            <a:r>
              <a:rPr lang="en-US" dirty="0" err="1" smtClean="0"/>
              <a:t>texCoordRangeOut</a:t>
            </a:r>
            <a:r>
              <a:rPr lang="en-US" dirty="0" smtClean="0"/>
              <a:t>.</a:t>
            </a:r>
          </a:p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interpolates between </a:t>
            </a:r>
            <a:r>
              <a:rPr lang="en-US" dirty="0" err="1" smtClean="0"/>
              <a:t>texCoordRange.xy</a:t>
            </a:r>
            <a:r>
              <a:rPr lang="en-US" dirty="0" smtClean="0"/>
              <a:t> and texCoordRange.zw.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783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410355"/>
            <a:ext cx="763994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float 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uniform </a:t>
            </a:r>
            <a:r>
              <a:rPr lang="en-US" sz="1200" dirty="0">
                <a:latin typeface="Lucida Console" panose="020B0609040504020204" pitchFamily="49" charset="0"/>
              </a:rPr>
              <a:t>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sizeIn3d;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texture;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varying </a:t>
            </a:r>
            <a:r>
              <a:rPr lang="en-US" sz="1200" dirty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>
                <a:latin typeface="Lucida Console" panose="020B0609040504020204" pitchFamily="49" charset="0"/>
              </a:rPr>
              <a:t>shift;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shift=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shift.y+pointSize</a:t>
            </a:r>
            <a:r>
              <a:rPr lang="en-US" sz="1200" dirty="0" smtClean="0">
                <a:latin typeface="Lucida Console" panose="020B0609040504020204" pitchFamily="49" charset="0"/>
              </a:rPr>
              <a:t>/2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shift=projection*shift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err="1">
                <a:latin typeface="Lucida Console" panose="020B0609040504020204" pitchFamily="49" charset="0"/>
              </a:rPr>
              <a:t>heightInScreen,heightInPixel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heightInScreen</a:t>
            </a:r>
            <a:r>
              <a:rPr lang="en-US" sz="1200" dirty="0" smtClean="0">
                <a:latin typeface="Lucida Console" panose="020B0609040504020204" pitchFamily="49" charset="0"/>
              </a:rPr>
              <a:t>=abs(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shift.w-gl_Position.y</a:t>
            </a:r>
            <a:r>
              <a:rPr lang="en-US" sz="1200" dirty="0" smtClean="0"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gl_Position.w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heightInPixel</a:t>
            </a:r>
            <a:r>
              <a:rPr lang="en-US" sz="1200" dirty="0" smtClean="0">
                <a:latin typeface="Lucida Console" panose="020B0609040504020204" pitchFamily="49" charset="0"/>
              </a:rPr>
              <a:t>=sizeIn3d*</a:t>
            </a:r>
            <a:r>
              <a:rPr lang="en-US" sz="1200" dirty="0" err="1" smtClean="0">
                <a:latin typeface="Lucida Console" panose="020B0609040504020204" pitchFamily="49" charset="0"/>
              </a:rPr>
              <a:t>viewportHeight</a:t>
            </a:r>
            <a:r>
              <a:rPr lang="en-US" sz="1200" dirty="0" smtClean="0"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heightInScreen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gl_PointSize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latin typeface="Lucida Console" panose="020B0609040504020204" pitchFamily="49" charset="0"/>
              </a:rPr>
              <a:t>sizeInPixel+heightInPixel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239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29284"/>
            <a:ext cx="539121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texture;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texCoord.x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[0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]*(1.0-gl_PointCoord.x)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[2]*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gl_PointCoord.x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[1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]*(1.0-gl_PointCoord.y)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[3]*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gl_PointCoord.y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*texture2D(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texture,texCoord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398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Initialize() function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7469" y="1674976"/>
            <a:ext cx="74366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glGenTextures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,&amp;textureIdent);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YsBitmap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bmp;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if(YSOK</a:t>
            </a:r>
            <a:r>
              <a:rPr lang="en-US" sz="1200" dirty="0">
                <a:latin typeface="Lucida Console" panose="020B0609040504020204" pitchFamily="49" charset="0"/>
              </a:rPr>
              <a:t>==</a:t>
            </a:r>
            <a:r>
              <a:rPr lang="en-US" sz="1200" dirty="0" err="1">
                <a:latin typeface="Lucida Console" panose="020B0609040504020204" pitchFamily="49" charset="0"/>
              </a:rPr>
              <a:t>bmp.LoadPng</a:t>
            </a:r>
            <a:r>
              <a:rPr lang="en-US" sz="1200" dirty="0">
                <a:latin typeface="Lucida Console" panose="020B0609040504020204" pitchFamily="49" charset="0"/>
              </a:rPr>
              <a:t>("Hummingbird.png"))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("Texture Loaded.\n");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(GL_TEXTURE_2D,textureIdent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glTexImage2D(GL_TEXTURE_2D,0,GL_RGBA,bmp.GetWidth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bmp.GetHeight</a:t>
            </a:r>
            <a:r>
              <a:rPr lang="en-US" sz="1200" dirty="0">
                <a:latin typeface="Lucida Console" panose="020B0609040504020204" pitchFamily="49" charset="0"/>
              </a:rPr>
              <a:t>(),0</a:t>
            </a:r>
            <a:r>
              <a:rPr lang="en-US" sz="12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GL_RGBA,GL_UNSIGNED_BYTE,bmp.GetRGBABitmapPointer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2263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 function: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8923" y="1615155"/>
            <a:ext cx="689644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quadVtx</a:t>
            </a:r>
            <a:r>
              <a:rPr lang="en-US" sz="1100" dirty="0">
                <a:latin typeface="Lucida Console" panose="020B0609040504020204" pitchFamily="49" charset="0"/>
              </a:rPr>
              <a:t>[12</a:t>
            </a:r>
            <a:r>
              <a:rPr lang="en-US" sz="1100" dirty="0" smtClean="0">
                <a:latin typeface="Lucida Console" panose="020B0609040504020204" pitchFamily="49" charset="0"/>
              </a:rPr>
              <a:t>]=    {-</a:t>
            </a:r>
            <a:r>
              <a:rPr lang="en-US" sz="1100" dirty="0">
                <a:latin typeface="Lucida Console" panose="020B0609040504020204" pitchFamily="49" charset="0"/>
              </a:rPr>
              <a:t>10,-10,-10</a:t>
            </a:r>
            <a:r>
              <a:rPr lang="en-US" sz="1100" dirty="0" smtClean="0">
                <a:latin typeface="Lucida Console" panose="020B0609040504020204" pitchFamily="49" charset="0"/>
              </a:rPr>
              <a:t>, </a:t>
            </a:r>
            <a:r>
              <a:rPr lang="en-US" sz="1100" dirty="0">
                <a:latin typeface="Lucida Console" panose="020B0609040504020204" pitchFamily="49" charset="0"/>
              </a:rPr>
              <a:t>10,-10,-10</a:t>
            </a:r>
            <a:r>
              <a:rPr lang="en-US" sz="1100" dirty="0" smtClean="0">
                <a:latin typeface="Lucida Console" panose="020B0609040504020204" pitchFamily="49" charset="0"/>
              </a:rPr>
              <a:t>, </a:t>
            </a:r>
            <a:r>
              <a:rPr lang="en-US" sz="1100" dirty="0">
                <a:latin typeface="Lucida Console" panose="020B0609040504020204" pitchFamily="49" charset="0"/>
              </a:rPr>
              <a:t>10, 10,-10</a:t>
            </a:r>
            <a:r>
              <a:rPr lang="en-US" sz="1100" dirty="0" smtClean="0">
                <a:latin typeface="Lucida Console" panose="020B0609040504020204" pitchFamily="49" charset="0"/>
              </a:rPr>
              <a:t>,-</a:t>
            </a:r>
            <a:r>
              <a:rPr lang="en-US" sz="1100" dirty="0">
                <a:latin typeface="Lucida Console" panose="020B0609040504020204" pitchFamily="49" charset="0"/>
              </a:rPr>
              <a:t>10, 10,-10</a:t>
            </a:r>
            <a:r>
              <a:rPr lang="en-US" sz="1100" dirty="0" smtClean="0">
                <a:latin typeface="Lucida Console" panose="020B0609040504020204" pitchFamily="49" charset="0"/>
              </a:rPr>
              <a:t>,};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quadCol</a:t>
            </a:r>
            <a:r>
              <a:rPr lang="en-US" sz="1100" dirty="0">
                <a:latin typeface="Lucida Console" panose="020B0609040504020204" pitchFamily="49" charset="0"/>
              </a:rPr>
              <a:t>[16</a:t>
            </a:r>
            <a:r>
              <a:rPr lang="en-US" sz="1100" dirty="0" smtClean="0">
                <a:latin typeface="Lucida Console" panose="020B0609040504020204" pitchFamily="49" charset="0"/>
              </a:rPr>
              <a:t>]=    {1,1,1,1,1,1,1,1,1,1,1,1,1,1,1,1    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quadPointSize</a:t>
            </a:r>
            <a:r>
              <a:rPr lang="en-US" sz="1100" dirty="0">
                <a:latin typeface="Lucida Console" panose="020B0609040504020204" pitchFamily="49" charset="0"/>
              </a:rPr>
              <a:t>[4</a:t>
            </a:r>
            <a:r>
              <a:rPr lang="en-US" sz="1100" dirty="0" smtClean="0">
                <a:latin typeface="Lucida Console" panose="020B0609040504020204" pitchFamily="49" charset="0"/>
              </a:rPr>
              <a:t>]={1,1,2,2};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cubeTexCoordRange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[]={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0.0f,0.5f,  0.5f,0.0f,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0.5f,0.5f,  1.0f,0.0f,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0.0f,1.0f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,  0.5f,0.5f,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0.5f,1.0f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,  1.0f,0.5f,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11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pointSprite.programIdent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glUniformMatrix4fv(pointSprite.uniformProjectionPos,1,GL_FALSE,projMat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glUniformMatrix4fv(pointSprite.uniformModelViewPos,1,GL_FALSE,viewMat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glUniform1f(pointSprite.uniformSizeInPixelPos,0.0f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glUniform1f(pointSprite.uniformSizeIn3dPos,1.0f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pointSprite.uniformViewportHeightPos</a:t>
            </a:r>
            <a:r>
              <a:rPr lang="en-US" sz="1100" dirty="0">
                <a:latin typeface="Lucida Console" panose="020B0609040504020204" pitchFamily="49" charset="0"/>
              </a:rPr>
              <a:t>,(float)</a:t>
            </a:r>
            <a:r>
              <a:rPr lang="en-US" sz="1100" dirty="0" err="1">
                <a:latin typeface="Lucida Console" panose="020B0609040504020204" pitchFamily="49" charset="0"/>
              </a:rPr>
              <a:t>hei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endParaRPr lang="en-US" sz="1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950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 function (continued):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9282" y="1598063"/>
            <a:ext cx="8850500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glActiveTexture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(GL_TEXTURE0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glBindTexture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(GL_TEXTURE_2D,textureIdent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glUniform1f(pointSprite.uniformTexture2dPos,0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pointSprite.attribColorPos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pointSprite.attribPointSizePos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pointSprite.attribTexCoordRangePos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(pointSprite.attribVertexPos,3,GL_FLOAT,GL_FALSE,0,quadVtx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(pointSprite.attribColorPos,4,GL_FLOAT,GL_FALSE,0,quadCol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(pointSprite.attribPointSizePos,1,GL_FLOAT,GL_FALSE,0,quadPointSize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(pointSprite.attribTexCoordRangePos,4,GL_FLOAT,GL_FALSE,0,cubeTexCoordRange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100" dirty="0" smtClean="0">
                <a:latin typeface="Lucida Console" panose="020B0609040504020204" pitchFamily="49" charset="0"/>
              </a:rPr>
              <a:t>(GL_POINT_SPRITE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1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100" dirty="0" smtClean="0">
                <a:latin typeface="Lucida Console" panose="020B0609040504020204" pitchFamily="49" charset="0"/>
              </a:rPr>
              <a:t>(GL_POINTS,0,4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1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100" dirty="0" smtClean="0">
                <a:latin typeface="Lucida Console" panose="020B0609040504020204" pitchFamily="49" charset="0"/>
              </a:rPr>
              <a:t>(GL_POINT_SPRITE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pointSprite.attribColorPos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pointSprite.attribTexCoordRangePos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5125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4596</TotalTime>
  <Words>5134</Words>
  <Application>Microsoft Office PowerPoint</Application>
  <PresentationFormat>On-screen Show (4:3)</PresentationFormat>
  <Paragraphs>1226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굴림</vt:lpstr>
      <vt:lpstr>Arial</vt:lpstr>
      <vt:lpstr>Calibri</vt:lpstr>
      <vt:lpstr>Lucida Console</vt:lpstr>
      <vt:lpstr>Default Design</vt:lpstr>
      <vt:lpstr>24-783 Lecture 23</vt:lpstr>
      <vt:lpstr>Announcement</vt:lpstr>
      <vt:lpstr>Final-Goal Calibration Presentation Next Monday</vt:lpstr>
      <vt:lpstr>PowerPoint Presentation</vt:lpstr>
      <vt:lpstr>Quick Recap:</vt:lpstr>
      <vt:lpstr>Using texture.</vt:lpstr>
      <vt:lpstr>Add checker.cpp and checker.h</vt:lpstr>
      <vt:lpstr>PowerPoint Presentation</vt:lpstr>
      <vt:lpstr>PowerPoint Presentation</vt:lpstr>
      <vt:lpstr>Note about texture2D function</vt:lpstr>
      <vt:lpstr>Note about texture2D function</vt:lpstr>
      <vt:lpstr>PowerPoint Presentation</vt:lpstr>
      <vt:lpstr>PowerPoint Presentation</vt:lpstr>
      <vt:lpstr>PowerPoint Presentation</vt:lpstr>
      <vt:lpstr>Plain 3D renderer</vt:lpstr>
      <vt:lpstr>PowerPoint Presentation</vt:lpstr>
      <vt:lpstr>PowerPoint Presentation</vt:lpstr>
      <vt:lpstr>PowerPoint Presentation</vt:lpstr>
      <vt:lpstr>Replacing the rendering part of the STL viewer with the plain3Drenderer</vt:lpstr>
      <vt:lpstr>Color based on the location</vt:lpstr>
      <vt:lpstr>Shader programs</vt:lpstr>
      <vt:lpstr>Rainbow3dRenderer class</vt:lpstr>
      <vt:lpstr>PowerPoint Presentation</vt:lpstr>
      <vt:lpstr>Experiment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Gouraud Shading</vt:lpstr>
      <vt:lpstr>Phong shading</vt:lpstr>
      <vt:lpstr>Phong Shading</vt:lpstr>
      <vt:lpstr>Phong Shading</vt:lpstr>
      <vt:lpstr>Phong Shading</vt:lpstr>
      <vt:lpstr>Phong Shading</vt:lpstr>
      <vt:lpstr>Phong vs Gouraud shading</vt:lpstr>
      <vt:lpstr>Billboarding</vt:lpstr>
      <vt:lpstr>Billboading</vt:lpstr>
      <vt:lpstr>Billboarding</vt:lpstr>
      <vt:lpstr>Billboarding – Vertex Attributes</vt:lpstr>
      <vt:lpstr>Billboading – Vertex Shader</vt:lpstr>
      <vt:lpstr>Billboading –Fragment Shader</vt:lpstr>
      <vt:lpstr>Billboading – In renderer.h</vt:lpstr>
      <vt:lpstr>Billboading – In renderer.cpp</vt:lpstr>
      <vt:lpstr>Billboading – In main.cpp, Initialize</vt:lpstr>
      <vt:lpstr>Billboarding –Draw function</vt:lpstr>
      <vt:lpstr>Billboarding –Draw function</vt:lpstr>
      <vt:lpstr>Adding a texture.</vt:lpstr>
      <vt:lpstr>Adding a texture</vt:lpstr>
      <vt:lpstr>Adding a texture</vt:lpstr>
      <vt:lpstr>More efficient way of drawing a billboard</vt:lpstr>
      <vt:lpstr>Program Point Size</vt:lpstr>
      <vt:lpstr>Program Point Size</vt:lpstr>
      <vt:lpstr>Program Point Size</vt:lpstr>
      <vt:lpstr>Program Point Size</vt:lpstr>
      <vt:lpstr>Program Point Size</vt:lpstr>
      <vt:lpstr>Program Point Size</vt:lpstr>
      <vt:lpstr>Program Point Size – Point-Size in 3D space</vt:lpstr>
      <vt:lpstr>Program Point Size – Point-Size in 3D space</vt:lpstr>
      <vt:lpstr>Program Point Size – Point-Size in 3D space</vt:lpstr>
      <vt:lpstr>Program Point Size – Point-Size in 3D space</vt:lpstr>
      <vt:lpstr>Program Point Size – Point-Size in 3D space</vt:lpstr>
      <vt:lpstr>Point Sprite</vt:lpstr>
      <vt:lpstr>Point Sprite</vt:lpstr>
      <vt:lpstr>Point Sprite</vt:lpstr>
      <vt:lpstr>Point Sprite</vt:lpstr>
      <vt:lpstr>Point Sprite</vt:lpstr>
      <vt:lpstr>Point Sprite</vt:lpstr>
      <vt:lpstr>Point Sprite with Texture Atlas</vt:lpstr>
      <vt:lpstr>Point Sprite with Texture</vt:lpstr>
      <vt:lpstr>Point Sprite with Texture</vt:lpstr>
      <vt:lpstr>Point Sprite with Texture</vt:lpstr>
      <vt:lpstr>Point Sprite with Texture</vt:lpstr>
      <vt:lpstr>Point Sprite with Texture</vt:lpstr>
      <vt:lpstr>Point Sprite with Texture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703</cp:revision>
  <dcterms:created xsi:type="dcterms:W3CDTF">2009-08-19T14:18:47Z</dcterms:created>
  <dcterms:modified xsi:type="dcterms:W3CDTF">2017-04-12T18:41:34Z</dcterms:modified>
</cp:coreProperties>
</file>