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83" r:id="rId2"/>
    <p:sldId id="424" r:id="rId3"/>
    <p:sldId id="506" r:id="rId4"/>
    <p:sldId id="264" r:id="rId5"/>
    <p:sldId id="459" r:id="rId6"/>
    <p:sldId id="460" r:id="rId7"/>
    <p:sldId id="461" r:id="rId8"/>
    <p:sldId id="462" r:id="rId9"/>
    <p:sldId id="463" r:id="rId10"/>
    <p:sldId id="464" r:id="rId11"/>
    <p:sldId id="465" r:id="rId12"/>
    <p:sldId id="466" r:id="rId13"/>
    <p:sldId id="467" r:id="rId14"/>
    <p:sldId id="468" r:id="rId15"/>
    <p:sldId id="469" r:id="rId16"/>
    <p:sldId id="470" r:id="rId17"/>
    <p:sldId id="471" r:id="rId18"/>
    <p:sldId id="472" r:id="rId19"/>
    <p:sldId id="473"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491" r:id="rId38"/>
    <p:sldId id="492" r:id="rId39"/>
    <p:sldId id="493" r:id="rId40"/>
    <p:sldId id="494" r:id="rId41"/>
    <p:sldId id="495" r:id="rId42"/>
    <p:sldId id="496" r:id="rId43"/>
    <p:sldId id="497" r:id="rId44"/>
    <p:sldId id="498" r:id="rId45"/>
    <p:sldId id="499" r:id="rId46"/>
    <p:sldId id="500" r:id="rId47"/>
    <p:sldId id="501" r:id="rId48"/>
    <p:sldId id="502" r:id="rId49"/>
    <p:sldId id="503" r:id="rId50"/>
    <p:sldId id="504" r:id="rId51"/>
    <p:sldId id="505" r:id="rId5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51" d="100"/>
          <a:sy n="151" d="100"/>
        </p:scale>
        <p:origin x="222"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CB6D5-09E4-4610-88CA-DFB2CE3AAC59}" type="datetimeFigureOut">
              <a:rPr lang="en-US" smtClean="0"/>
              <a:t>2/20/2017</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EA0FF-337F-4458-917A-769BA419EB7C}" type="slidenum">
              <a:rPr lang="en-US" smtClean="0"/>
              <a:t>‹#›</a:t>
            </a:fld>
            <a:endParaRPr lang="en-US"/>
          </a:p>
        </p:txBody>
      </p:sp>
    </p:spTree>
    <p:extLst>
      <p:ext uri="{BB962C8B-B14F-4D97-AF65-F5344CB8AC3E}">
        <p14:creationId xmlns:p14="http://schemas.microsoft.com/office/powerpoint/2010/main" val="3431292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8CFA322-6F3F-4DC0-87DD-C2243BD40E52}" type="slidenum">
              <a:rPr lang="en-US" altLang="ko-KR"/>
              <a:pPr>
                <a:defRPr/>
              </a:pPr>
              <a:t>‹#›</a:t>
            </a:fld>
            <a:endParaRPr lang="en-US" altLang="ko-KR"/>
          </a:p>
        </p:txBody>
      </p:sp>
    </p:spTree>
    <p:extLst>
      <p:ext uri="{BB962C8B-B14F-4D97-AF65-F5344CB8AC3E}">
        <p14:creationId xmlns:p14="http://schemas.microsoft.com/office/powerpoint/2010/main" val="119357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BB2500B-4EAB-4352-950A-83638A46CB1F}" type="slidenum">
              <a:rPr lang="en-US" altLang="ko-KR"/>
              <a:pPr>
                <a:defRPr/>
              </a:pPr>
              <a:t>‹#›</a:t>
            </a:fld>
            <a:endParaRPr lang="en-US" altLang="ko-KR"/>
          </a:p>
        </p:txBody>
      </p:sp>
    </p:spTree>
    <p:extLst>
      <p:ext uri="{BB962C8B-B14F-4D97-AF65-F5344CB8AC3E}">
        <p14:creationId xmlns:p14="http://schemas.microsoft.com/office/powerpoint/2010/main" val="494370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A4AD067-94AF-4CC4-A3F4-94BC22933865}" type="slidenum">
              <a:rPr lang="en-US" altLang="ko-KR"/>
              <a:pPr>
                <a:defRPr/>
              </a:pPr>
              <a:t>‹#›</a:t>
            </a:fld>
            <a:endParaRPr lang="en-US" altLang="ko-KR"/>
          </a:p>
        </p:txBody>
      </p:sp>
    </p:spTree>
    <p:extLst>
      <p:ext uri="{BB962C8B-B14F-4D97-AF65-F5344CB8AC3E}">
        <p14:creationId xmlns:p14="http://schemas.microsoft.com/office/powerpoint/2010/main" val="3817544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AC5F1812-1DE0-4021-BADA-FFAFA5A10F0D}" type="slidenum">
              <a:rPr lang="en-US" altLang="ko-KR"/>
              <a:pPr>
                <a:defRPr/>
              </a:pPr>
              <a:t>‹#›</a:t>
            </a:fld>
            <a:endParaRPr lang="en-US" altLang="ko-KR"/>
          </a:p>
        </p:txBody>
      </p:sp>
    </p:spTree>
    <p:extLst>
      <p:ext uri="{BB962C8B-B14F-4D97-AF65-F5344CB8AC3E}">
        <p14:creationId xmlns:p14="http://schemas.microsoft.com/office/powerpoint/2010/main" val="1113088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8C83109A-EB99-4320-890D-5E8814322824}" type="slidenum">
              <a:rPr lang="en-US" altLang="ko-KR"/>
              <a:pPr>
                <a:defRPr/>
              </a:pPr>
              <a:t>‹#›</a:t>
            </a:fld>
            <a:endParaRPr lang="en-US" altLang="ko-KR"/>
          </a:p>
        </p:txBody>
      </p:sp>
    </p:spTree>
    <p:extLst>
      <p:ext uri="{BB962C8B-B14F-4D97-AF65-F5344CB8AC3E}">
        <p14:creationId xmlns:p14="http://schemas.microsoft.com/office/powerpoint/2010/main" val="1344151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6DC6F314-25DC-4377-AD01-A920945A2208}" type="slidenum">
              <a:rPr lang="en-US" altLang="ko-KR"/>
              <a:pPr>
                <a:defRPr/>
              </a:pPr>
              <a:t>‹#›</a:t>
            </a:fld>
            <a:endParaRPr lang="en-US" altLang="ko-KR"/>
          </a:p>
        </p:txBody>
      </p:sp>
    </p:spTree>
    <p:extLst>
      <p:ext uri="{BB962C8B-B14F-4D97-AF65-F5344CB8AC3E}">
        <p14:creationId xmlns:p14="http://schemas.microsoft.com/office/powerpoint/2010/main" val="3309913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2C10ED3A-E24C-4B6A-90A2-C196FD3C6786}" type="slidenum">
              <a:rPr lang="en-US" altLang="ko-KR"/>
              <a:pPr>
                <a:defRPr/>
              </a:pPr>
              <a:t>‹#›</a:t>
            </a:fld>
            <a:endParaRPr lang="en-US" altLang="ko-KR"/>
          </a:p>
        </p:txBody>
      </p:sp>
    </p:spTree>
    <p:extLst>
      <p:ext uri="{BB962C8B-B14F-4D97-AF65-F5344CB8AC3E}">
        <p14:creationId xmlns:p14="http://schemas.microsoft.com/office/powerpoint/2010/main" val="3833296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A6225BB-6760-4477-80E2-E9464DB153A4}" type="slidenum">
              <a:rPr lang="en-US" altLang="ko-KR"/>
              <a:pPr>
                <a:defRPr/>
              </a:pPr>
              <a:t>‹#›</a:t>
            </a:fld>
            <a:endParaRPr lang="en-US" altLang="ko-KR"/>
          </a:p>
        </p:txBody>
      </p:sp>
    </p:spTree>
    <p:extLst>
      <p:ext uri="{BB962C8B-B14F-4D97-AF65-F5344CB8AC3E}">
        <p14:creationId xmlns:p14="http://schemas.microsoft.com/office/powerpoint/2010/main" val="585166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2F79013F-5B2C-4E9D-9745-5981D3CFC251}" type="slidenum">
              <a:rPr lang="en-US" altLang="ko-KR"/>
              <a:pPr>
                <a:defRPr/>
              </a:pPr>
              <a:t>‹#›</a:t>
            </a:fld>
            <a:endParaRPr lang="en-US" altLang="ko-KR"/>
          </a:p>
        </p:txBody>
      </p:sp>
    </p:spTree>
    <p:extLst>
      <p:ext uri="{BB962C8B-B14F-4D97-AF65-F5344CB8AC3E}">
        <p14:creationId xmlns:p14="http://schemas.microsoft.com/office/powerpoint/2010/main" val="4230596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75F19005-ABF8-4206-A7D8-6B64D35F117C}" type="slidenum">
              <a:rPr lang="en-US" altLang="ko-KR"/>
              <a:pPr>
                <a:defRPr/>
              </a:pPr>
              <a:t>‹#›</a:t>
            </a:fld>
            <a:endParaRPr lang="en-US" altLang="ko-KR"/>
          </a:p>
        </p:txBody>
      </p:sp>
    </p:spTree>
    <p:extLst>
      <p:ext uri="{BB962C8B-B14F-4D97-AF65-F5344CB8AC3E}">
        <p14:creationId xmlns:p14="http://schemas.microsoft.com/office/powerpoint/2010/main" val="2814997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8911E539-E3A0-4ACA-8410-6BBB64C7316C}" type="slidenum">
              <a:rPr lang="en-US" altLang="ko-KR"/>
              <a:pPr>
                <a:defRPr/>
              </a:pPr>
              <a:t>‹#›</a:t>
            </a:fld>
            <a:endParaRPr lang="en-US" altLang="ko-KR"/>
          </a:p>
        </p:txBody>
      </p:sp>
    </p:spTree>
    <p:extLst>
      <p:ext uri="{BB962C8B-B14F-4D97-AF65-F5344CB8AC3E}">
        <p14:creationId xmlns:p14="http://schemas.microsoft.com/office/powerpoint/2010/main" val="2464055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066800"/>
            <a:ext cx="4038600" cy="50593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A2BEA70-0706-42DF-B69B-B92068D80B29}" type="slidenum">
              <a:rPr lang="en-US" altLang="ko-KR"/>
              <a:pPr>
                <a:defRPr/>
              </a:pPr>
              <a:t>‹#›</a:t>
            </a:fld>
            <a:endParaRPr lang="en-US" altLang="ko-KR"/>
          </a:p>
        </p:txBody>
      </p:sp>
    </p:spTree>
    <p:extLst>
      <p:ext uri="{BB962C8B-B14F-4D97-AF65-F5344CB8AC3E}">
        <p14:creationId xmlns:p14="http://schemas.microsoft.com/office/powerpoint/2010/main" val="394480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ko-KR" smtClean="0"/>
              <a:t>Click to edit Master title style</a:t>
            </a:r>
          </a:p>
        </p:txBody>
      </p:sp>
      <p:sp>
        <p:nvSpPr>
          <p:cNvPr id="1027" name="Rectangle 3"/>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smtClean="0"/>
              <a:t>Click to edit Master text styles</a:t>
            </a:r>
          </a:p>
          <a:p>
            <a:pPr lvl="1"/>
            <a:r>
              <a:rPr lang="en-US" altLang="ko-KR" smtClean="0"/>
              <a:t>Second level</a:t>
            </a:r>
          </a:p>
          <a:p>
            <a:pPr lvl="2"/>
            <a:r>
              <a:rPr lang="en-US" altLang="ko-KR" smtClean="0"/>
              <a:t>Third level</a:t>
            </a:r>
          </a:p>
          <a:p>
            <a:pPr lvl="3"/>
            <a:r>
              <a:rPr lang="en-US" altLang="ko-KR" smtClean="0"/>
              <a:t>Fourth level</a:t>
            </a:r>
          </a:p>
          <a:p>
            <a:pPr lvl="4"/>
            <a:r>
              <a:rPr lang="en-US" altLang="ko-KR"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굴림" charset="-127"/>
              </a:defRPr>
            </a:lvl1pPr>
          </a:lstStyle>
          <a:p>
            <a:pPr>
              <a:defRPr/>
            </a:pPr>
            <a:fld id="{E37565C6-0CEA-42B8-A9C2-60D46C6627E9}"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2000">
          <a:solidFill>
            <a:schemeClr val="tx2"/>
          </a:solidFill>
          <a:latin typeface="+mj-lt"/>
          <a:ea typeface="+mj-ea"/>
          <a:cs typeface="+mj-cs"/>
        </a:defRPr>
      </a:lvl1pPr>
      <a:lvl2pPr algn="ctr" rtl="0" eaLnBrk="0" fontAlgn="base" hangingPunct="0">
        <a:spcBef>
          <a:spcPct val="0"/>
        </a:spcBef>
        <a:spcAft>
          <a:spcPct val="0"/>
        </a:spcAft>
        <a:defRPr sz="2000">
          <a:solidFill>
            <a:schemeClr val="tx2"/>
          </a:solidFill>
          <a:latin typeface="Arial" charset="0"/>
        </a:defRPr>
      </a:lvl2pPr>
      <a:lvl3pPr algn="ctr" rtl="0" eaLnBrk="0" fontAlgn="base" hangingPunct="0">
        <a:spcBef>
          <a:spcPct val="0"/>
        </a:spcBef>
        <a:spcAft>
          <a:spcPct val="0"/>
        </a:spcAft>
        <a:defRPr sz="2000">
          <a:solidFill>
            <a:schemeClr val="tx2"/>
          </a:solidFill>
          <a:latin typeface="Arial" charset="0"/>
        </a:defRPr>
      </a:lvl3pPr>
      <a:lvl4pPr algn="ctr" rtl="0" eaLnBrk="0" fontAlgn="base" hangingPunct="0">
        <a:spcBef>
          <a:spcPct val="0"/>
        </a:spcBef>
        <a:spcAft>
          <a:spcPct val="0"/>
        </a:spcAft>
        <a:defRPr sz="2000">
          <a:solidFill>
            <a:schemeClr val="tx2"/>
          </a:solidFill>
          <a:latin typeface="Arial" charset="0"/>
        </a:defRPr>
      </a:lvl4pPr>
      <a:lvl5pPr algn="ctr" rtl="0" eaLnBrk="0" fontAlgn="base" hangingPunct="0">
        <a:spcBef>
          <a:spcPct val="0"/>
        </a:spcBef>
        <a:spcAft>
          <a:spcPct val="0"/>
        </a:spcAft>
        <a:defRPr sz="2000">
          <a:solidFill>
            <a:schemeClr val="tx2"/>
          </a:solidFill>
          <a:latin typeface="Arial" charset="0"/>
        </a:defRPr>
      </a:lvl5pPr>
      <a:lvl6pPr marL="457200" algn="ctr" rtl="0" fontAlgn="base">
        <a:spcBef>
          <a:spcPct val="0"/>
        </a:spcBef>
        <a:spcAft>
          <a:spcPct val="0"/>
        </a:spcAft>
        <a:defRPr sz="2000">
          <a:solidFill>
            <a:schemeClr val="tx2"/>
          </a:solidFill>
          <a:latin typeface="Arial" charset="0"/>
        </a:defRPr>
      </a:lvl6pPr>
      <a:lvl7pPr marL="914400" algn="ctr" rtl="0" fontAlgn="base">
        <a:spcBef>
          <a:spcPct val="0"/>
        </a:spcBef>
        <a:spcAft>
          <a:spcPct val="0"/>
        </a:spcAft>
        <a:defRPr sz="2000">
          <a:solidFill>
            <a:schemeClr val="tx2"/>
          </a:solidFill>
          <a:latin typeface="Arial" charset="0"/>
        </a:defRPr>
      </a:lvl7pPr>
      <a:lvl8pPr marL="1371600" algn="ctr" rtl="0" fontAlgn="base">
        <a:spcBef>
          <a:spcPct val="0"/>
        </a:spcBef>
        <a:spcAft>
          <a:spcPct val="0"/>
        </a:spcAft>
        <a:defRPr sz="2000">
          <a:solidFill>
            <a:schemeClr val="tx2"/>
          </a:solidFill>
          <a:latin typeface="Arial" charset="0"/>
        </a:defRPr>
      </a:lvl8pPr>
      <a:lvl9pPr marL="1828800" algn="ctr" rtl="0" fontAlgn="base">
        <a:spcBef>
          <a:spcPct val="0"/>
        </a:spcBef>
        <a:spcAft>
          <a:spcPct val="0"/>
        </a:spcAft>
        <a:defRPr sz="2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google.com/a/andrew.cmu.edu/spreadsheets/d/1PA0xfZ1UscQYPaX9OmEYQirbAXgnpp7fq5NodGtLnio/edit?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en.wikipedia.org/wiki/Day%E2%80%93Stout%E2%80%93Warren_algorithm" TargetMode="External"/><Relationship Id="rId2" Type="http://schemas.openxmlformats.org/officeDocument/2006/relationships/hyperlink" Target="http://web.eecs.umich.edu/~qstout/pap/CACM86.pdf"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68521"/>
            <a:ext cx="7772400" cy="1470025"/>
          </a:xfrm>
        </p:spPr>
        <p:txBody>
          <a:bodyPr/>
          <a:lstStyle/>
          <a:p>
            <a:r>
              <a:rPr lang="en-US" dirty="0" smtClean="0"/>
              <a:t>24-783 </a:t>
            </a:r>
            <a:r>
              <a:rPr lang="en-US" smtClean="0"/>
              <a:t>Lecture </a:t>
            </a:r>
            <a:r>
              <a:rPr lang="en-US" smtClean="0"/>
              <a:t>10</a:t>
            </a:r>
            <a:endParaRPr lang="en-US"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8473" y="2603506"/>
            <a:ext cx="4047054" cy="3035294"/>
          </a:xfrm>
          <a:prstGeom prst="rect">
            <a:avLst/>
          </a:prstGeom>
        </p:spPr>
      </p:pic>
    </p:spTree>
    <p:extLst>
      <p:ext uri="{BB962C8B-B14F-4D97-AF65-F5344CB8AC3E}">
        <p14:creationId xmlns:p14="http://schemas.microsoft.com/office/powerpoint/2010/main" val="3601743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Finalizing Project Topic</a:t>
            </a:r>
            <a:endParaRPr lang="en-US" dirty="0"/>
          </a:p>
        </p:txBody>
      </p:sp>
      <p:sp>
        <p:nvSpPr>
          <p:cNvPr id="3" name="Content Placeholder 2"/>
          <p:cNvSpPr>
            <a:spLocks noGrp="1"/>
          </p:cNvSpPr>
          <p:nvPr>
            <p:ph idx="1"/>
          </p:nvPr>
        </p:nvSpPr>
        <p:spPr/>
        <p:txBody>
          <a:bodyPr/>
          <a:lstStyle/>
          <a:p>
            <a:r>
              <a:rPr lang="en-US" dirty="0" smtClean="0"/>
              <a:t>Please pick a time slot on </a:t>
            </a:r>
            <a:r>
              <a:rPr lang="en-US" dirty="0"/>
              <a:t>the Google Doc:</a:t>
            </a:r>
            <a:br>
              <a:rPr lang="en-US" dirty="0"/>
            </a:br>
            <a:r>
              <a:rPr lang="en-US" dirty="0">
                <a:hlinkClick r:id="rId2"/>
              </a:rPr>
              <a:t>https://</a:t>
            </a:r>
            <a:r>
              <a:rPr lang="en-US" dirty="0" smtClean="0">
                <a:hlinkClick r:id="rId2"/>
              </a:rPr>
              <a:t>docs.google.com/a/andrew.cmu.edu/spreadsheets/d/1PA0xfZ1UscQYPaX9OmEYQirbAXgnpp7fq5NodGtLnio/edit?usp=sharing</a:t>
            </a:r>
            <a:endParaRPr lang="en-US" dirty="0" smtClean="0"/>
          </a:p>
          <a:p>
            <a:endParaRPr lang="en-US" dirty="0" smtClean="0"/>
          </a:p>
          <a:p>
            <a:r>
              <a:rPr lang="en-US" dirty="0" smtClean="0"/>
              <a:t>to discuss about project topic.</a:t>
            </a:r>
          </a:p>
          <a:p>
            <a:r>
              <a:rPr lang="en-US" dirty="0" smtClean="0"/>
              <a:t>Location: HH </a:t>
            </a:r>
            <a:r>
              <a:rPr lang="en-US" dirty="0" err="1" smtClean="0"/>
              <a:t>Ph.D</a:t>
            </a:r>
            <a:r>
              <a:rPr lang="en-US" dirty="0" smtClean="0"/>
              <a:t> Suite except Friday morning.  SH317 in Friday morning.</a:t>
            </a:r>
          </a:p>
          <a:p>
            <a:r>
              <a:rPr lang="en-US" dirty="0" smtClean="0"/>
              <a:t>Ideally, everyone in your team should come to the meeting, but if it is not possible, at least majority of the team members should join the discussion.</a:t>
            </a:r>
            <a:endParaRPr lang="en-US" dirty="0"/>
          </a:p>
          <a:p>
            <a:endParaRPr lang="en-US" dirty="0"/>
          </a:p>
        </p:txBody>
      </p:sp>
    </p:spTree>
    <p:extLst>
      <p:ext uri="{BB962C8B-B14F-4D97-AF65-F5344CB8AC3E}">
        <p14:creationId xmlns:p14="http://schemas.microsoft.com/office/powerpoint/2010/main" val="1390898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Set 4 is in the server</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95151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Binary Tree</a:t>
            </a:r>
          </a:p>
          <a:p>
            <a:endParaRPr lang="en-US" dirty="0"/>
          </a:p>
        </p:txBody>
      </p:sp>
    </p:spTree>
    <p:extLst>
      <p:ext uri="{BB962C8B-B14F-4D97-AF65-F5344CB8AC3E}">
        <p14:creationId xmlns:p14="http://schemas.microsoft.com/office/powerpoint/2010/main" val="1708131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Problem: Want to delete one node from the binary tree </a:t>
            </a:r>
            <a:r>
              <a:rPr lang="en-US" u="sng" dirty="0" smtClean="0"/>
              <a:t>without breaking the order in the tree.</a:t>
            </a:r>
            <a:endParaRPr lang="en-US" u="sng" dirty="0"/>
          </a:p>
        </p:txBody>
      </p:sp>
      <p:sp>
        <p:nvSpPr>
          <p:cNvPr id="4" name="Oval 3"/>
          <p:cNvSpPr/>
          <p:nvPr/>
        </p:nvSpPr>
        <p:spPr>
          <a:xfrm>
            <a:off x="4260707" y="2228847"/>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3451259"/>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772986" y="3451259"/>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4575361"/>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4588807"/>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3995796" y="2760257"/>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4792117" y="2760257"/>
            <a:ext cx="182383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5992935" y="3900423"/>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6615954" y="3900423"/>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171220" y="5617509"/>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248430" y="5617509"/>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5608092" y="5207373"/>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5992935" y="5207373"/>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961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Sloppy method.  (1) Connecting the right sub-tree to the right-most node of the left-sub-tree, and then (2) put left sub-tree in position for the node to be deleted.</a:t>
            </a:r>
            <a:endParaRPr lang="en-US" dirty="0"/>
          </a:p>
        </p:txBody>
      </p:sp>
      <p:sp>
        <p:nvSpPr>
          <p:cNvPr id="4" name="Oval 3"/>
          <p:cNvSpPr/>
          <p:nvPr/>
        </p:nvSpPr>
        <p:spPr>
          <a:xfrm>
            <a:off x="783976" y="233642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901006" y="3558835"/>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96255" y="3558835"/>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2200198" y="4682937"/>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3752407" y="4696383"/>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519065" y="2867833"/>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1315386" y="2867833"/>
            <a:ext cx="182383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2516204" y="4007999"/>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694489" y="5725085"/>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771699" y="5725085"/>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2131361" y="5314949"/>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2516204" y="5314949"/>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gular Pentagon 18"/>
          <p:cNvSpPr/>
          <p:nvPr/>
        </p:nvSpPr>
        <p:spPr>
          <a:xfrm>
            <a:off x="3318740" y="6301065"/>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a:stCxn id="14" idx="1"/>
            <a:endCxn id="19" idx="0"/>
          </p:cNvCxnSpPr>
          <p:nvPr/>
        </p:nvCxnSpPr>
        <p:spPr>
          <a:xfrm>
            <a:off x="3039505" y="6101603"/>
            <a:ext cx="533385" cy="1994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Freeform 21"/>
          <p:cNvSpPr/>
          <p:nvPr/>
        </p:nvSpPr>
        <p:spPr>
          <a:xfrm>
            <a:off x="3738282" y="5197288"/>
            <a:ext cx="331447" cy="1190065"/>
          </a:xfrm>
          <a:custGeom>
            <a:avLst/>
            <a:gdLst>
              <a:gd name="connsiteX0" fmla="*/ 282389 w 331447"/>
              <a:gd name="connsiteY0" fmla="*/ 0 h 1190065"/>
              <a:gd name="connsiteX1" fmla="*/ 309283 w 331447"/>
              <a:gd name="connsiteY1" fmla="*/ 463924 h 1190065"/>
              <a:gd name="connsiteX2" fmla="*/ 0 w 331447"/>
              <a:gd name="connsiteY2" fmla="*/ 1190065 h 1190065"/>
            </a:gdLst>
            <a:ahLst/>
            <a:cxnLst>
              <a:cxn ang="0">
                <a:pos x="connsiteX0" y="connsiteY0"/>
              </a:cxn>
              <a:cxn ang="0">
                <a:pos x="connsiteX1" y="connsiteY1"/>
              </a:cxn>
              <a:cxn ang="0">
                <a:pos x="connsiteX2" y="connsiteY2"/>
              </a:cxn>
            </a:cxnLst>
            <a:rect l="l" t="t" r="r" b="b"/>
            <a:pathLst>
              <a:path w="331447" h="1190065">
                <a:moveTo>
                  <a:pt x="282389" y="0"/>
                </a:moveTo>
                <a:cubicBezTo>
                  <a:pt x="319368" y="132790"/>
                  <a:pt x="356348" y="265580"/>
                  <a:pt x="309283" y="463924"/>
                </a:cubicBezTo>
                <a:cubicBezTo>
                  <a:pt x="262218" y="662268"/>
                  <a:pt x="131109" y="926166"/>
                  <a:pt x="0" y="1190065"/>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a:off x="4632512" y="4403911"/>
            <a:ext cx="598394" cy="59503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4175312" y="5725085"/>
            <a:ext cx="618564" cy="369332"/>
          </a:xfrm>
          <a:prstGeom prst="rect">
            <a:avLst/>
          </a:prstGeom>
          <a:noFill/>
        </p:spPr>
        <p:txBody>
          <a:bodyPr wrap="square" rtlCol="0">
            <a:spAutoFit/>
          </a:bodyPr>
          <a:lstStyle/>
          <a:p>
            <a:r>
              <a:rPr lang="en-US" dirty="0" smtClean="0"/>
              <a:t>(1)</a:t>
            </a:r>
            <a:endParaRPr lang="en-US" dirty="0"/>
          </a:p>
        </p:txBody>
      </p:sp>
      <p:sp>
        <p:nvSpPr>
          <p:cNvPr id="25" name="TextBox 24"/>
          <p:cNvSpPr txBox="1"/>
          <p:nvPr/>
        </p:nvSpPr>
        <p:spPr>
          <a:xfrm>
            <a:off x="1623735" y="4034579"/>
            <a:ext cx="618564" cy="369332"/>
          </a:xfrm>
          <a:prstGeom prst="rect">
            <a:avLst/>
          </a:prstGeom>
          <a:noFill/>
        </p:spPr>
        <p:txBody>
          <a:bodyPr wrap="square" rtlCol="0">
            <a:spAutoFit/>
          </a:bodyPr>
          <a:lstStyle/>
          <a:p>
            <a:r>
              <a:rPr lang="en-US" dirty="0" smtClean="0"/>
              <a:t>(2)</a:t>
            </a:r>
            <a:endParaRPr lang="en-US" dirty="0"/>
          </a:p>
        </p:txBody>
      </p:sp>
      <p:sp>
        <p:nvSpPr>
          <p:cNvPr id="26" name="Freeform 25"/>
          <p:cNvSpPr/>
          <p:nvPr/>
        </p:nvSpPr>
        <p:spPr>
          <a:xfrm>
            <a:off x="2312355" y="3839135"/>
            <a:ext cx="545145" cy="968189"/>
          </a:xfrm>
          <a:custGeom>
            <a:avLst/>
            <a:gdLst>
              <a:gd name="connsiteX0" fmla="*/ 34157 w 545145"/>
              <a:gd name="connsiteY0" fmla="*/ 968189 h 968189"/>
              <a:gd name="connsiteX1" fmla="*/ 54327 w 545145"/>
              <a:gd name="connsiteY1" fmla="*/ 463924 h 968189"/>
              <a:gd name="connsiteX2" fmla="*/ 545145 w 545145"/>
              <a:gd name="connsiteY2" fmla="*/ 0 h 968189"/>
            </a:gdLst>
            <a:ahLst/>
            <a:cxnLst>
              <a:cxn ang="0">
                <a:pos x="connsiteX0" y="connsiteY0"/>
              </a:cxn>
              <a:cxn ang="0">
                <a:pos x="connsiteX1" y="connsiteY1"/>
              </a:cxn>
              <a:cxn ang="0">
                <a:pos x="connsiteX2" y="connsiteY2"/>
              </a:cxn>
            </a:cxnLst>
            <a:rect l="l" t="t" r="r" b="b"/>
            <a:pathLst>
              <a:path w="545145" h="968189">
                <a:moveTo>
                  <a:pt x="34157" y="968189"/>
                </a:moveTo>
                <a:cubicBezTo>
                  <a:pt x="1659" y="796739"/>
                  <a:pt x="-30838" y="625289"/>
                  <a:pt x="54327" y="463924"/>
                </a:cubicBezTo>
                <a:cubicBezTo>
                  <a:pt x="139492" y="302559"/>
                  <a:pt x="342318" y="151279"/>
                  <a:pt x="545145"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5891278" y="2854535"/>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5403557" y="407694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mond 29"/>
          <p:cNvSpPr/>
          <p:nvPr/>
        </p:nvSpPr>
        <p:spPr>
          <a:xfrm>
            <a:off x="7082364" y="4066614"/>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7" idx="3"/>
            <a:endCxn id="29" idx="0"/>
          </p:cNvCxnSpPr>
          <p:nvPr/>
        </p:nvCxnSpPr>
        <p:spPr>
          <a:xfrm flipH="1">
            <a:off x="5626367" y="3385945"/>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7" idx="5"/>
            <a:endCxn id="30" idx="0"/>
          </p:cNvCxnSpPr>
          <p:nvPr/>
        </p:nvCxnSpPr>
        <p:spPr>
          <a:xfrm>
            <a:off x="6422688" y="3385945"/>
            <a:ext cx="975682" cy="6806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Hexagon 33"/>
          <p:cNvSpPr/>
          <p:nvPr/>
        </p:nvSpPr>
        <p:spPr>
          <a:xfrm>
            <a:off x="6576655" y="5108762"/>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ound Diagonal Corner Rectangle 34"/>
          <p:cNvSpPr/>
          <p:nvPr/>
        </p:nvSpPr>
        <p:spPr>
          <a:xfrm>
            <a:off x="7653865" y="510876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p:cNvCxnSpPr>
            <a:stCxn id="30" idx="2"/>
            <a:endCxn id="34" idx="5"/>
          </p:cNvCxnSpPr>
          <p:nvPr/>
        </p:nvCxnSpPr>
        <p:spPr>
          <a:xfrm flipH="1">
            <a:off x="7013527" y="4698626"/>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endCxn id="35" idx="3"/>
          </p:cNvCxnSpPr>
          <p:nvPr/>
        </p:nvCxnSpPr>
        <p:spPr>
          <a:xfrm>
            <a:off x="7398370" y="4698626"/>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gular Pentagon 37"/>
          <p:cNvSpPr/>
          <p:nvPr/>
        </p:nvSpPr>
        <p:spPr>
          <a:xfrm>
            <a:off x="8200906" y="568474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5" idx="1"/>
            <a:endCxn id="38" idx="0"/>
          </p:cNvCxnSpPr>
          <p:nvPr/>
        </p:nvCxnSpPr>
        <p:spPr>
          <a:xfrm>
            <a:off x="7921671" y="5485280"/>
            <a:ext cx="533385" cy="1994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6899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of the sloppy method</a:t>
            </a:r>
            <a:endParaRPr lang="en-US" dirty="0"/>
          </a:p>
        </p:txBody>
      </p:sp>
      <p:sp>
        <p:nvSpPr>
          <p:cNvPr id="3" name="Content Placeholder 2"/>
          <p:cNvSpPr>
            <a:spLocks noGrp="1"/>
          </p:cNvSpPr>
          <p:nvPr>
            <p:ph idx="1"/>
          </p:nvPr>
        </p:nvSpPr>
        <p:spPr/>
        <p:txBody>
          <a:bodyPr/>
          <a:lstStyle/>
          <a:p>
            <a:r>
              <a:rPr lang="en-US" dirty="0" smtClean="0"/>
              <a:t>The height of the tree may increase after deletion.</a:t>
            </a:r>
          </a:p>
          <a:p>
            <a:r>
              <a:rPr lang="en-US" dirty="0" smtClean="0"/>
              <a:t>We are deleting a node.  Want to keep the tree height same or even shorter.</a:t>
            </a:r>
            <a:endParaRPr lang="en-US" dirty="0"/>
          </a:p>
        </p:txBody>
      </p:sp>
    </p:spTree>
    <p:extLst>
      <p:ext uri="{BB962C8B-B14F-4D97-AF65-F5344CB8AC3E}">
        <p14:creationId xmlns:p14="http://schemas.microsoft.com/office/powerpoint/2010/main" val="1677156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binary-tree node</a:t>
            </a:r>
            <a:endParaRPr lang="en-US" dirty="0"/>
          </a:p>
        </p:txBody>
      </p:sp>
      <p:sp>
        <p:nvSpPr>
          <p:cNvPr id="3" name="Content Placeholder 2"/>
          <p:cNvSpPr>
            <a:spLocks noGrp="1"/>
          </p:cNvSpPr>
          <p:nvPr>
            <p:ph idx="1"/>
          </p:nvPr>
        </p:nvSpPr>
        <p:spPr/>
        <p:txBody>
          <a:bodyPr/>
          <a:lstStyle/>
          <a:p>
            <a:r>
              <a:rPr lang="en-US" dirty="0" smtClean="0"/>
              <a:t>Good method.</a:t>
            </a:r>
          </a:p>
          <a:p>
            <a:r>
              <a:rPr lang="en-US" dirty="0" smtClean="0"/>
              <a:t>Want to delete a square in the binary-tree below.</a:t>
            </a:r>
          </a:p>
          <a:p>
            <a:r>
              <a:rPr lang="en-US" dirty="0" smtClean="0"/>
              <a:t>Easiest case: The node to be deleted has null left or right.</a:t>
            </a:r>
          </a:p>
          <a:p>
            <a:r>
              <a:rPr lang="en-US" dirty="0" smtClean="0"/>
              <a:t>General case.</a:t>
            </a:r>
          </a:p>
          <a:p>
            <a:endParaRPr lang="en-US" dirty="0"/>
          </a:p>
        </p:txBody>
      </p:sp>
      <p:sp>
        <p:nvSpPr>
          <p:cNvPr id="4" name="Oval 3"/>
          <p:cNvSpPr/>
          <p:nvPr/>
        </p:nvSpPr>
        <p:spPr>
          <a:xfrm>
            <a:off x="5719030" y="2877668"/>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4100080"/>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5231309" y="4100080"/>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5224182"/>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523762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a:stCxn id="4" idx="3"/>
            <a:endCxn id="6" idx="0"/>
          </p:cNvCxnSpPr>
          <p:nvPr/>
        </p:nvCxnSpPr>
        <p:spPr>
          <a:xfrm flipH="1">
            <a:off x="5454119" y="3409078"/>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4" idx="5"/>
            <a:endCxn id="5" idx="0"/>
          </p:cNvCxnSpPr>
          <p:nvPr/>
        </p:nvCxnSpPr>
        <p:spPr>
          <a:xfrm>
            <a:off x="6250440" y="3409078"/>
            <a:ext cx="365514"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5" idx="2"/>
            <a:endCxn id="7" idx="0"/>
          </p:cNvCxnSpPr>
          <p:nvPr/>
        </p:nvCxnSpPr>
        <p:spPr>
          <a:xfrm flipH="1">
            <a:off x="5992935" y="4549244"/>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endCxn id="8" idx="0"/>
          </p:cNvCxnSpPr>
          <p:nvPr/>
        </p:nvCxnSpPr>
        <p:spPr>
          <a:xfrm>
            <a:off x="6615954" y="4549244"/>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Hexagon 18"/>
          <p:cNvSpPr/>
          <p:nvPr/>
        </p:nvSpPr>
        <p:spPr>
          <a:xfrm>
            <a:off x="5171220" y="626633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 Diagonal Corner Rectangle 19"/>
          <p:cNvSpPr/>
          <p:nvPr/>
        </p:nvSpPr>
        <p:spPr>
          <a:xfrm>
            <a:off x="6248430" y="6266330"/>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a:stCxn id="7" idx="2"/>
            <a:endCxn id="19" idx="5"/>
          </p:cNvCxnSpPr>
          <p:nvPr/>
        </p:nvCxnSpPr>
        <p:spPr>
          <a:xfrm flipH="1">
            <a:off x="5608092" y="5856194"/>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20" idx="3"/>
          </p:cNvCxnSpPr>
          <p:nvPr/>
        </p:nvCxnSpPr>
        <p:spPr>
          <a:xfrm>
            <a:off x="5992935" y="5856194"/>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6928130" y="3955330"/>
            <a:ext cx="2061229" cy="369332"/>
          </a:xfrm>
          <a:prstGeom prst="rect">
            <a:avLst/>
          </a:prstGeom>
          <a:noFill/>
        </p:spPr>
        <p:txBody>
          <a:bodyPr wrap="square" rtlCol="0">
            <a:spAutoFit/>
          </a:bodyPr>
          <a:lstStyle/>
          <a:p>
            <a:r>
              <a:rPr lang="en-US" dirty="0" smtClean="0"/>
              <a:t>Delete this!</a:t>
            </a:r>
            <a:endParaRPr lang="en-US" dirty="0"/>
          </a:p>
        </p:txBody>
      </p:sp>
    </p:spTree>
    <p:extLst>
      <p:ext uri="{BB962C8B-B14F-4D97-AF65-F5344CB8AC3E}">
        <p14:creationId xmlns:p14="http://schemas.microsoft.com/office/powerpoint/2010/main" val="3664329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Easiest case:  If the node to be deleted has null left or right, then…</a:t>
            </a:r>
          </a:p>
          <a:p>
            <a:r>
              <a:rPr lang="en-US" dirty="0" smtClean="0"/>
              <a:t>Put non-null leaf in place for the deleted node.</a:t>
            </a:r>
            <a:endParaRPr lang="en-US" dirty="0"/>
          </a:p>
        </p:txBody>
      </p:sp>
      <p:sp>
        <p:nvSpPr>
          <p:cNvPr id="4" name="Oval 3"/>
          <p:cNvSpPr/>
          <p:nvPr/>
        </p:nvSpPr>
        <p:spPr>
          <a:xfrm>
            <a:off x="743619" y="259823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639455" y="3911821"/>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55898" y="3820645"/>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1938647" y="5035923"/>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78708" y="3129643"/>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1275029" y="3129643"/>
            <a:ext cx="1602643" cy="782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2254653" y="4360985"/>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432938" y="6078071"/>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510148" y="6078071"/>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1869810" y="5667935"/>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2254653" y="5667935"/>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189848" y="3767071"/>
            <a:ext cx="2061229" cy="369332"/>
          </a:xfrm>
          <a:prstGeom prst="rect">
            <a:avLst/>
          </a:prstGeom>
          <a:noFill/>
        </p:spPr>
        <p:txBody>
          <a:bodyPr wrap="square" rtlCol="0">
            <a:spAutoFit/>
          </a:bodyPr>
          <a:lstStyle/>
          <a:p>
            <a:r>
              <a:rPr lang="en-US" dirty="0" smtClean="0"/>
              <a:t>Delete this!</a:t>
            </a:r>
            <a:endParaRPr lang="en-US" dirty="0"/>
          </a:p>
        </p:txBody>
      </p:sp>
      <p:sp>
        <p:nvSpPr>
          <p:cNvPr id="18" name="Right Arrow 17"/>
          <p:cNvSpPr/>
          <p:nvPr/>
        </p:nvSpPr>
        <p:spPr>
          <a:xfrm>
            <a:off x="4296335" y="4360985"/>
            <a:ext cx="537883" cy="49340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284193" y="4914900"/>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592282" y="2689409"/>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5104561" y="3911821"/>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p:cNvSpPr/>
          <p:nvPr/>
        </p:nvSpPr>
        <p:spPr>
          <a:xfrm>
            <a:off x="6891647" y="3911821"/>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p:cNvCxnSpPr>
            <a:stCxn id="20" idx="3"/>
            <a:endCxn id="22" idx="0"/>
          </p:cNvCxnSpPr>
          <p:nvPr/>
        </p:nvCxnSpPr>
        <p:spPr>
          <a:xfrm flipH="1">
            <a:off x="5327371" y="3220819"/>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0" idx="5"/>
          </p:cNvCxnSpPr>
          <p:nvPr/>
        </p:nvCxnSpPr>
        <p:spPr>
          <a:xfrm>
            <a:off x="6123692" y="3220819"/>
            <a:ext cx="1074968"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Hexagon 26"/>
          <p:cNvSpPr/>
          <p:nvPr/>
        </p:nvSpPr>
        <p:spPr>
          <a:xfrm>
            <a:off x="6385938" y="4953969"/>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 Diagonal Corner Rectangle 27"/>
          <p:cNvSpPr/>
          <p:nvPr/>
        </p:nvSpPr>
        <p:spPr>
          <a:xfrm>
            <a:off x="7463148" y="4953969"/>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a:stCxn id="23" idx="2"/>
            <a:endCxn id="27" idx="5"/>
          </p:cNvCxnSpPr>
          <p:nvPr/>
        </p:nvCxnSpPr>
        <p:spPr>
          <a:xfrm flipH="1">
            <a:off x="6822810" y="4543833"/>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28" idx="3"/>
          </p:cNvCxnSpPr>
          <p:nvPr/>
        </p:nvCxnSpPr>
        <p:spPr>
          <a:xfrm>
            <a:off x="7207653" y="4543833"/>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6237193" y="3790798"/>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2510148" y="3820645"/>
            <a:ext cx="754345" cy="62316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2510148" y="3820645"/>
            <a:ext cx="754345" cy="53679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459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General case:  If both left and right of the node to be deleted are non-null, then…</a:t>
            </a:r>
          </a:p>
          <a:p>
            <a:r>
              <a:rPr lang="en-US" dirty="0" smtClean="0"/>
              <a:t>The right-most of the left sub-tree need to take position for the deleted node.  (Or, left-most of the right-sub-tree. </a:t>
            </a:r>
            <a:r>
              <a:rPr lang="en-US" dirty="0"/>
              <a:t> </a:t>
            </a:r>
            <a:r>
              <a:rPr lang="en-US" dirty="0" smtClean="0"/>
              <a:t>It is symmetric.)</a:t>
            </a:r>
            <a:endParaRPr lang="en-US" dirty="0"/>
          </a:p>
        </p:txBody>
      </p:sp>
      <p:sp>
        <p:nvSpPr>
          <p:cNvPr id="4" name="Oval 3"/>
          <p:cNvSpPr/>
          <p:nvPr/>
        </p:nvSpPr>
        <p:spPr>
          <a:xfrm>
            <a:off x="4300365" y="2877668"/>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377737" y="4100080"/>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812644" y="4100080"/>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5676929" y="5224182"/>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229138" y="523762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035454" y="3409078"/>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4831775" y="3409078"/>
            <a:ext cx="1784179"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5992935" y="4549244"/>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6615954" y="4549244"/>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171220" y="626633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248430" y="6266330"/>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5608092" y="5856194"/>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5992935" y="5856194"/>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928130" y="3955330"/>
            <a:ext cx="2061229" cy="369332"/>
          </a:xfrm>
          <a:prstGeom prst="rect">
            <a:avLst/>
          </a:prstGeom>
          <a:noFill/>
        </p:spPr>
        <p:txBody>
          <a:bodyPr wrap="square" rtlCol="0">
            <a:spAutoFit/>
          </a:bodyPr>
          <a:lstStyle/>
          <a:p>
            <a:r>
              <a:rPr lang="en-US" dirty="0" smtClean="0"/>
              <a:t>Delete this!</a:t>
            </a:r>
            <a:endParaRPr lang="en-US" dirty="0"/>
          </a:p>
        </p:txBody>
      </p:sp>
      <p:sp>
        <p:nvSpPr>
          <p:cNvPr id="20" name="Freeform 19"/>
          <p:cNvSpPr/>
          <p:nvPr/>
        </p:nvSpPr>
        <p:spPr>
          <a:xfrm>
            <a:off x="6763871" y="4565276"/>
            <a:ext cx="316054" cy="1858408"/>
          </a:xfrm>
          <a:custGeom>
            <a:avLst/>
            <a:gdLst>
              <a:gd name="connsiteX0" fmla="*/ 20170 w 275728"/>
              <a:gd name="connsiteY0" fmla="*/ 1855695 h 1886449"/>
              <a:gd name="connsiteX1" fmla="*/ 275664 w 275728"/>
              <a:gd name="connsiteY1" fmla="*/ 1633818 h 1886449"/>
              <a:gd name="connsiteX2" fmla="*/ 0 w 275728"/>
              <a:gd name="connsiteY2" fmla="*/ 0 h 1886449"/>
              <a:gd name="connsiteX0" fmla="*/ 20170 w 316054"/>
              <a:gd name="connsiteY0" fmla="*/ 1855695 h 1858408"/>
              <a:gd name="connsiteX1" fmla="*/ 316005 w 316054"/>
              <a:gd name="connsiteY1" fmla="*/ 1095936 h 1858408"/>
              <a:gd name="connsiteX2" fmla="*/ 0 w 316054"/>
              <a:gd name="connsiteY2" fmla="*/ 0 h 1858408"/>
            </a:gdLst>
            <a:ahLst/>
            <a:cxnLst>
              <a:cxn ang="0">
                <a:pos x="connsiteX0" y="connsiteY0"/>
              </a:cxn>
              <a:cxn ang="0">
                <a:pos x="connsiteX1" y="connsiteY1"/>
              </a:cxn>
              <a:cxn ang="0">
                <a:pos x="connsiteX2" y="connsiteY2"/>
              </a:cxn>
            </a:cxnLst>
            <a:rect l="l" t="t" r="r" b="b"/>
            <a:pathLst>
              <a:path w="316054" h="1858408">
                <a:moveTo>
                  <a:pt x="20170" y="1855695"/>
                </a:moveTo>
                <a:cubicBezTo>
                  <a:pt x="149598" y="1899397"/>
                  <a:pt x="319367" y="1405218"/>
                  <a:pt x="316005" y="1095936"/>
                </a:cubicBezTo>
                <a:cubicBezTo>
                  <a:pt x="312643" y="786654"/>
                  <a:pt x="136151" y="662268"/>
                  <a:pt x="0"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p:nvSpPr>
        <p:spPr>
          <a:xfrm>
            <a:off x="5040107" y="5096435"/>
            <a:ext cx="1905655" cy="1701053"/>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529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066800"/>
            <a:ext cx="3926541" cy="5059363"/>
          </a:xfrm>
        </p:spPr>
        <p:txBody>
          <a:bodyPr/>
          <a:lstStyle/>
          <a:p>
            <a:r>
              <a:rPr lang="en-US" dirty="0" smtClean="0"/>
              <a:t>The right-most of the left sub-tree may have its left node.</a:t>
            </a:r>
          </a:p>
          <a:p>
            <a:r>
              <a:rPr lang="en-US" dirty="0" smtClean="0"/>
              <a:t>So, first detach the right-most of the left sub-tree safely, and then replace.</a:t>
            </a:r>
            <a:endParaRPr lang="en-US" dirty="0"/>
          </a:p>
        </p:txBody>
      </p:sp>
      <p:sp>
        <p:nvSpPr>
          <p:cNvPr id="4" name="Oval 3"/>
          <p:cNvSpPr/>
          <p:nvPr/>
        </p:nvSpPr>
        <p:spPr>
          <a:xfrm>
            <a:off x="5115095" y="1801904"/>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192467" y="3024316"/>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4627374" y="3024316"/>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491659" y="4148418"/>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8043868" y="416186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850184" y="2333314"/>
            <a:ext cx="356087"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646505" y="2333314"/>
            <a:ext cx="1784179" cy="691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807665" y="3473480"/>
            <a:ext cx="623019" cy="6749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0"/>
          </p:cNvCxnSpPr>
          <p:nvPr/>
        </p:nvCxnSpPr>
        <p:spPr>
          <a:xfrm>
            <a:off x="7430684" y="3473480"/>
            <a:ext cx="867334" cy="6883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985950" y="5190566"/>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7063160" y="5190566"/>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422822" y="4780430"/>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807665" y="4780430"/>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reeform 16"/>
          <p:cNvSpPr/>
          <p:nvPr/>
        </p:nvSpPr>
        <p:spPr>
          <a:xfrm>
            <a:off x="7578601" y="3489512"/>
            <a:ext cx="316054" cy="1858408"/>
          </a:xfrm>
          <a:custGeom>
            <a:avLst/>
            <a:gdLst>
              <a:gd name="connsiteX0" fmla="*/ 20170 w 275728"/>
              <a:gd name="connsiteY0" fmla="*/ 1855695 h 1886449"/>
              <a:gd name="connsiteX1" fmla="*/ 275664 w 275728"/>
              <a:gd name="connsiteY1" fmla="*/ 1633818 h 1886449"/>
              <a:gd name="connsiteX2" fmla="*/ 0 w 275728"/>
              <a:gd name="connsiteY2" fmla="*/ 0 h 1886449"/>
              <a:gd name="connsiteX0" fmla="*/ 20170 w 316054"/>
              <a:gd name="connsiteY0" fmla="*/ 1855695 h 1858408"/>
              <a:gd name="connsiteX1" fmla="*/ 316005 w 316054"/>
              <a:gd name="connsiteY1" fmla="*/ 1095936 h 1858408"/>
              <a:gd name="connsiteX2" fmla="*/ 0 w 316054"/>
              <a:gd name="connsiteY2" fmla="*/ 0 h 1858408"/>
            </a:gdLst>
            <a:ahLst/>
            <a:cxnLst>
              <a:cxn ang="0">
                <a:pos x="connsiteX0" y="connsiteY0"/>
              </a:cxn>
              <a:cxn ang="0">
                <a:pos x="connsiteX1" y="connsiteY1"/>
              </a:cxn>
              <a:cxn ang="0">
                <a:pos x="connsiteX2" y="connsiteY2"/>
              </a:cxn>
            </a:cxnLst>
            <a:rect l="l" t="t" r="r" b="b"/>
            <a:pathLst>
              <a:path w="316054" h="1858408">
                <a:moveTo>
                  <a:pt x="20170" y="1855695"/>
                </a:moveTo>
                <a:cubicBezTo>
                  <a:pt x="149598" y="1899397"/>
                  <a:pt x="319367" y="1405218"/>
                  <a:pt x="316005" y="1095936"/>
                </a:cubicBezTo>
                <a:cubicBezTo>
                  <a:pt x="312643" y="786654"/>
                  <a:pt x="136151" y="662268"/>
                  <a:pt x="0" y="0"/>
                </a:cubicBezTo>
              </a:path>
            </a:pathLst>
          </a:custGeom>
          <a:noFill/>
          <a:ln>
            <a:solidFill>
              <a:srgbClr val="FF33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p:cNvSpPr/>
          <p:nvPr/>
        </p:nvSpPr>
        <p:spPr>
          <a:xfrm>
            <a:off x="5854837" y="4020671"/>
            <a:ext cx="1905655" cy="2602005"/>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p:cNvSpPr/>
          <p:nvPr/>
        </p:nvSpPr>
        <p:spPr>
          <a:xfrm>
            <a:off x="6871447" y="6098241"/>
            <a:ext cx="459518" cy="383241"/>
          </a:xfrm>
          <a:prstGeom prst="triangl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a:stCxn id="14" idx="1"/>
            <a:endCxn id="19" idx="0"/>
          </p:cNvCxnSpPr>
          <p:nvPr/>
        </p:nvCxnSpPr>
        <p:spPr>
          <a:xfrm flipH="1">
            <a:off x="7101206" y="5567084"/>
            <a:ext cx="229760" cy="5311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75787" y="3941428"/>
            <a:ext cx="4816444" cy="923330"/>
          </a:xfrm>
          <a:prstGeom prst="rect">
            <a:avLst/>
          </a:prstGeom>
          <a:noFill/>
        </p:spPr>
        <p:txBody>
          <a:bodyPr wrap="square" rtlCol="0">
            <a:spAutoFit/>
          </a:bodyPr>
          <a:lstStyle/>
          <a:p>
            <a:r>
              <a:rPr lang="en-US" dirty="0" smtClean="0"/>
              <a:t>Right-most of the left sub-tree may be direct left of the node being deleted.</a:t>
            </a:r>
          </a:p>
          <a:p>
            <a:endParaRPr lang="en-US" dirty="0" smtClean="0"/>
          </a:p>
        </p:txBody>
      </p:sp>
    </p:spTree>
    <p:extLst>
      <p:ext uri="{BB962C8B-B14F-4D97-AF65-F5344CB8AC3E}">
        <p14:creationId xmlns:p14="http://schemas.microsoft.com/office/powerpoint/2010/main" val="226673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Tree-node deletion</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smtClean="0"/>
              <a:t>Detach right most of left sub-tree node (RMOL) of the node to be deleted (NTBD).  </a:t>
            </a:r>
          </a:p>
          <a:p>
            <a:pPr marL="857250" lvl="1" indent="-457200"/>
            <a:r>
              <a:rPr lang="en-US" dirty="0" smtClean="0"/>
              <a:t>If the RMOL node has its left, it needs to be put in place for the RMOL node.</a:t>
            </a:r>
          </a:p>
          <a:p>
            <a:pPr marL="857250" lvl="1" indent="-457200"/>
            <a:r>
              <a:rPr lang="en-US" dirty="0" smtClean="0"/>
              <a:t>The RMOL node is guaranteed to have a parent node.  However, if the RMOL node is direct left of the NTBD node, the left of RMOL node needs to be connected to the left of the parent node (which is the NTBD node.)  Otherwise, it should be connected to the right of the parent node.</a:t>
            </a:r>
          </a:p>
          <a:p>
            <a:pPr marL="857250" lvl="1" indent="-457200"/>
            <a:r>
              <a:rPr lang="en-US" dirty="0" smtClean="0"/>
              <a:t>Easier to remember the location of the RMOL node by </a:t>
            </a:r>
            <a:r>
              <a:rPr lang="en-US" dirty="0" err="1" smtClean="0"/>
              <a:t>SimpleDetach</a:t>
            </a:r>
            <a:r>
              <a:rPr lang="en-US" dirty="0" smtClean="0"/>
              <a:t>, and then re-attach RMOL node.</a:t>
            </a:r>
          </a:p>
          <a:p>
            <a:pPr marL="457200" indent="-457200">
              <a:buFont typeface="+mj-lt"/>
              <a:buAutoNum type="arabicPeriod"/>
            </a:pPr>
            <a:r>
              <a:rPr lang="en-US" dirty="0" smtClean="0"/>
              <a:t>If the RMOL node has its left node, detach it and re-attach in place for the original location of the RMOL node.</a:t>
            </a:r>
            <a:endParaRPr lang="en-US" dirty="0"/>
          </a:p>
        </p:txBody>
      </p:sp>
    </p:spTree>
    <p:extLst>
      <p:ext uri="{BB962C8B-B14F-4D97-AF65-F5344CB8AC3E}">
        <p14:creationId xmlns:p14="http://schemas.microsoft.com/office/powerpoint/2010/main" val="613280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Tree-node deletion</a:t>
            </a:r>
            <a:endParaRPr lang="en-US" dirty="0"/>
          </a:p>
        </p:txBody>
      </p:sp>
      <p:sp>
        <p:nvSpPr>
          <p:cNvPr id="3" name="Content Placeholder 2"/>
          <p:cNvSpPr>
            <a:spLocks noGrp="1"/>
          </p:cNvSpPr>
          <p:nvPr>
            <p:ph idx="1"/>
          </p:nvPr>
        </p:nvSpPr>
        <p:spPr/>
        <p:txBody>
          <a:bodyPr/>
          <a:lstStyle/>
          <a:p>
            <a:pPr marL="457200" indent="-457200">
              <a:buFont typeface="+mj-lt"/>
              <a:buAutoNum type="arabicPeriod" startAt="3"/>
            </a:pPr>
            <a:r>
              <a:rPr lang="en-US" dirty="0" smtClean="0"/>
              <a:t>Detach the NTBD node.  Use </a:t>
            </a:r>
            <a:r>
              <a:rPr lang="en-US" dirty="0" err="1" smtClean="0"/>
              <a:t>SimpleDetach</a:t>
            </a:r>
            <a:r>
              <a:rPr lang="en-US" dirty="0" smtClean="0"/>
              <a:t> function to record the location of the NTBD node.</a:t>
            </a:r>
          </a:p>
          <a:p>
            <a:pPr marL="457200" indent="-457200">
              <a:buFont typeface="+mj-lt"/>
              <a:buAutoNum type="arabicPeriod" startAt="3"/>
            </a:pPr>
            <a:r>
              <a:rPr lang="en-US" dirty="0" smtClean="0"/>
              <a:t>Connect left and right of the NTBD node to the left and right of the RMOL node.</a:t>
            </a:r>
          </a:p>
          <a:p>
            <a:pPr marL="857250" lvl="1" indent="-457200"/>
            <a:r>
              <a:rPr lang="en-US" dirty="0" smtClean="0"/>
              <a:t>The NTBD node is guaranteed to have non-null left and right when it was identified as a general case.  However, as soon as the RMOL node is detached, its left may be </a:t>
            </a:r>
            <a:r>
              <a:rPr lang="en-US" dirty="0" err="1" smtClean="0"/>
              <a:t>nullptr</a:t>
            </a:r>
            <a:r>
              <a:rPr lang="en-US" dirty="0" smtClean="0"/>
              <a:t>.</a:t>
            </a:r>
          </a:p>
          <a:p>
            <a:pPr marL="857250" lvl="1" indent="-457200"/>
            <a:r>
              <a:rPr lang="en-US" dirty="0" smtClean="0"/>
              <a:t>Therefore, do not assume the left of the node to be deleted always exists.  (NULL-check cannot be omitted.)</a:t>
            </a:r>
          </a:p>
          <a:p>
            <a:pPr marL="457200" indent="-457200">
              <a:buFont typeface="+mj-lt"/>
              <a:buAutoNum type="arabicPeriod" startAt="5"/>
            </a:pPr>
            <a:r>
              <a:rPr lang="en-US" dirty="0" smtClean="0"/>
              <a:t>Attach the RMOL node to the location recorded in Step 3.</a:t>
            </a:r>
          </a:p>
          <a:p>
            <a:pPr marL="457200" indent="-457200">
              <a:buFont typeface="+mj-lt"/>
              <a:buAutoNum type="arabicPeriod" startAt="5"/>
            </a:pPr>
            <a:r>
              <a:rPr lang="en-US" dirty="0" smtClean="0"/>
              <a:t>Delete the node to be deleted.</a:t>
            </a:r>
          </a:p>
          <a:p>
            <a:pPr marL="457200" indent="-457200">
              <a:buFont typeface="+mj-lt"/>
              <a:buAutoNum type="arabicPeriod" startAt="3"/>
            </a:pPr>
            <a:endParaRPr lang="en-US" dirty="0"/>
          </a:p>
        </p:txBody>
      </p:sp>
    </p:spTree>
    <p:extLst>
      <p:ext uri="{BB962C8B-B14F-4D97-AF65-F5344CB8AC3E}">
        <p14:creationId xmlns:p14="http://schemas.microsoft.com/office/powerpoint/2010/main" val="1719484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Bunch of dis-connecting and connecting.</a:t>
            </a:r>
          </a:p>
          <a:p>
            <a:r>
              <a:rPr lang="en-US" dirty="0" smtClean="0"/>
              <a:t>Easy to make a mistake.</a:t>
            </a:r>
          </a:p>
          <a:p>
            <a:r>
              <a:rPr lang="en-US" dirty="0" smtClean="0"/>
              <a:t>But, doable.  Each step is very simple.</a:t>
            </a:r>
            <a:endParaRPr lang="en-US" dirty="0"/>
          </a:p>
        </p:txBody>
      </p:sp>
    </p:spTree>
    <p:extLst>
      <p:ext uri="{BB962C8B-B14F-4D97-AF65-F5344CB8AC3E}">
        <p14:creationId xmlns:p14="http://schemas.microsoft.com/office/powerpoint/2010/main" val="426186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6717223"/>
          </a:xfrm>
          <a:prstGeom prst="rect">
            <a:avLst/>
          </a:prstGeom>
          <a:noFill/>
        </p:spPr>
        <p:txBody>
          <a:bodyPr wrap="none" rtlCol="0">
            <a:spAutoFit/>
          </a:bodyPr>
          <a:lstStyle/>
          <a:p>
            <a:r>
              <a:rPr lang="en-US" sz="1050" dirty="0">
                <a:latin typeface="Consolas" panose="020B0609020204030204" pitchFamily="49" charset="0"/>
              </a:rPr>
              <a:t>private:</a:t>
            </a:r>
          </a:p>
          <a:p>
            <a:r>
              <a:rPr lang="en-US" sz="1050" dirty="0" smtClean="0">
                <a:latin typeface="Consolas" panose="020B0609020204030204" pitchFamily="49" charset="0"/>
              </a:rPr>
              <a:t>    </a:t>
            </a:r>
            <a:r>
              <a:rPr lang="en-US" sz="1050" dirty="0" err="1" smtClean="0">
                <a:latin typeface="Consolas" panose="020B0609020204030204" pitchFamily="49" charset="0"/>
              </a:rPr>
              <a:t>NodeHandle</a:t>
            </a:r>
            <a:r>
              <a:rPr lang="en-US" sz="1050" dirty="0" smtClean="0">
                <a:latin typeface="Consolas" panose="020B0609020204030204" pitchFamily="49" charset="0"/>
              </a:rPr>
              <a:t> </a:t>
            </a:r>
            <a:r>
              <a:rPr lang="en-US" sz="1050" dirty="0" err="1">
                <a:latin typeface="Consolas" panose="020B0609020204030204" pitchFamily="49" charset="0"/>
              </a:rPr>
              <a:t>RightMostOf</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while(Right(</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ndHd</a:t>
            </a:r>
            <a:r>
              <a:rPr lang="en-US" sz="1050" dirty="0" smtClean="0">
                <a:latin typeface="Consolas" panose="020B0609020204030204" pitchFamily="49" charset="0"/>
              </a:rPr>
              <a:t>=Right(</a:t>
            </a:r>
            <a:r>
              <a:rPr lang="en-US" sz="1050" dirty="0" err="1" smtClean="0">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bool </a:t>
            </a:r>
            <a:r>
              <a:rPr lang="en-US" sz="1050" dirty="0" err="1">
                <a:latin typeface="Consolas" panose="020B0609020204030204" pitchFamily="49" charset="0"/>
              </a:rPr>
              <a:t>SimpleDetach</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upHd</a:t>
            </a:r>
            <a:r>
              <a:rPr lang="en-US" sz="1050" dirty="0">
                <a:latin typeface="Consolas" panose="020B0609020204030204" pitchFamily="49" charset="0"/>
              </a:rPr>
              <a:t>=Up(</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rightHd</a:t>
            </a:r>
            <a:r>
              <a:rPr lang="en-US" sz="1050" dirty="0">
                <a:latin typeface="Consolas" panose="020B0609020204030204" pitchFamily="49" charset="0"/>
              </a:rPr>
              <a:t>=Right(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leftHd</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rightHd.IsNull</a:t>
            </a:r>
            <a:r>
              <a:rPr lang="en-US" sz="1050" dirty="0">
                <a:latin typeface="Consolas" panose="020B0609020204030204" pitchFamily="49" charset="0"/>
              </a:rPr>
              <a:t>() &amp;&amp; </a:t>
            </a:r>
            <a:r>
              <a:rPr lang="en-US" sz="1050" dirty="0" err="1">
                <a:latin typeface="Consolas" panose="020B0609020204030204" pitchFamily="49" charset="0"/>
              </a:rPr>
              <a:t>leftHd.IsNull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a:latin typeface="Consolas" panose="020B0609020204030204" pitchFamily="49" charset="0"/>
              </a:rPr>
              <a:t>()) // </a:t>
            </a:r>
            <a:r>
              <a:rPr lang="en-US" sz="1050" dirty="0" err="1">
                <a:latin typeface="Consolas" panose="020B0609020204030204" pitchFamily="49" charset="0"/>
              </a:rPr>
              <a:t>ndHd</a:t>
            </a:r>
            <a:r>
              <a:rPr lang="en-US" sz="1050" dirty="0">
                <a:latin typeface="Consolas" panose="020B0609020204030204" pitchFamily="49" charset="0"/>
              </a:rPr>
              <a:t> is a root.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16198534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5424562"/>
          </a:xfrm>
          <a:prstGeom prst="rect">
            <a:avLst/>
          </a:prstGeom>
          <a:noFill/>
        </p:spPr>
        <p:txBody>
          <a:bodyPr wrap="none" rtlCol="0">
            <a:spAutoFit/>
          </a:bodyPr>
          <a:lstStyle/>
          <a:p>
            <a:endParaRPr lang="en-US" sz="1050" dirty="0" smtClean="0">
              <a:latin typeface="Consolas" panose="020B0609020204030204" pitchFamily="49" charset="0"/>
            </a:endParaRPr>
          </a:p>
          <a:p>
            <a:r>
              <a:rPr lang="en-US" sz="1050" dirty="0" smtClean="0">
                <a:latin typeface="Consolas" panose="020B0609020204030204" pitchFamily="49" charset="0"/>
              </a:rPr>
              <a:t>            else if(</a:t>
            </a:r>
            <a:r>
              <a:rPr lang="en-US" sz="1050" dirty="0" err="1" smtClean="0">
                <a:latin typeface="Consolas" panose="020B0609020204030204" pitchFamily="49" charset="0"/>
              </a:rPr>
              <a:t>rightHd.IsNull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root=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leftHd</a:t>
            </a:r>
            <a:r>
              <a:rPr lang="en-US" sz="1050" dirty="0" smtClean="0">
                <a:latin typeface="Consolas" panose="020B0609020204030204" pitchFamily="49" charset="0"/>
              </a:rPr>
              <a:t>);</a:t>
            </a:r>
          </a:p>
          <a:p>
            <a:r>
              <a:rPr lang="en-US" sz="1050" dirty="0" smtClean="0">
                <a:latin typeface="Consolas" panose="020B0609020204030204" pitchFamily="49" charset="0"/>
              </a:rPr>
              <a:t>                    root-&gt;up=</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 Connect </a:t>
            </a:r>
            <a:r>
              <a:rPr lang="en-US" sz="1050" dirty="0" err="1" smtClean="0">
                <a:latin typeface="Consolas" panose="020B0609020204030204" pitchFamily="49" charset="0"/>
              </a:rPr>
              <a:t>upHd</a:t>
            </a:r>
            <a:r>
              <a:rPr lang="en-US" sz="1050" dirty="0" smtClean="0">
                <a:latin typeface="Consolas" panose="020B0609020204030204" pitchFamily="49" charset="0"/>
              </a:rPr>
              <a:t> and </a:t>
            </a:r>
            <a:r>
              <a:rPr lang="en-US" sz="1050" dirty="0" err="1" smtClean="0">
                <a:latin typeface="Consolas" panose="020B0609020204030204" pitchFamily="49" charset="0"/>
              </a:rPr>
              <a:t>leftHd</a:t>
            </a:r>
            <a:endParaRPr lang="en-US" sz="1050" dirty="0" smtClean="0">
              <a:latin typeface="Consolas" panose="020B0609020204030204" pitchFamily="49" charset="0"/>
            </a:endParaRP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auto </a:t>
            </a:r>
            <a:r>
              <a:rPr lang="en-US" sz="1050" dirty="0" err="1" smtClean="0">
                <a:latin typeface="Consolas" panose="020B0609020204030204" pitchFamily="49" charset="0"/>
              </a:rPr>
              <a:t>leftPtr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leftHd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leftPtr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leftPtr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a:t>
            </a:r>
          </a:p>
        </p:txBody>
      </p:sp>
    </p:spTree>
    <p:extLst>
      <p:ext uri="{BB962C8B-B14F-4D97-AF65-F5344CB8AC3E}">
        <p14:creationId xmlns:p14="http://schemas.microsoft.com/office/powerpoint/2010/main" val="3495449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800" y="82550"/>
            <a:ext cx="6894836" cy="6555641"/>
          </a:xfrm>
          <a:prstGeom prst="rect">
            <a:avLst/>
          </a:prstGeom>
          <a:noFill/>
        </p:spPr>
        <p:txBody>
          <a:bodyPr wrap="none" rtlCol="0">
            <a:spAutoFit/>
          </a:bodyPr>
          <a:lstStyle/>
          <a:p>
            <a:endParaRPr lang="en-US" sz="1050" dirty="0" smtClean="0">
              <a:latin typeface="Consolas" panose="020B0609020204030204" pitchFamily="49" charset="0"/>
            </a:endParaRPr>
          </a:p>
          <a:p>
            <a:r>
              <a:rPr lang="en-US" sz="1050" dirty="0" smtClean="0">
                <a:latin typeface="Consolas" panose="020B0609020204030204" pitchFamily="49" charset="0"/>
              </a:rPr>
              <a:t>            else if(</a:t>
            </a:r>
            <a:r>
              <a:rPr lang="en-US" sz="1050" dirty="0" err="1" smtClean="0">
                <a:latin typeface="Consolas" panose="020B0609020204030204" pitchFamily="49" charset="0"/>
              </a:rPr>
              <a:t>leftHd.IsNull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if(</a:t>
            </a:r>
            <a:r>
              <a:rPr lang="en-US" sz="1050" dirty="0" err="1" smtClean="0">
                <a:latin typeface="Consolas" panose="020B0609020204030204" pitchFamily="49" charset="0"/>
              </a:rPr>
              <a:t>upHd.IsNull</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root=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rightHd</a:t>
            </a:r>
            <a:r>
              <a:rPr lang="en-US" sz="1050" dirty="0" smtClean="0">
                <a:latin typeface="Consolas" panose="020B0609020204030204" pitchFamily="49" charset="0"/>
              </a:rPr>
              <a:t>);</a:t>
            </a:r>
          </a:p>
          <a:p>
            <a:r>
              <a:rPr lang="en-US" sz="1050" dirty="0" smtClean="0">
                <a:latin typeface="Consolas" panose="020B0609020204030204" pitchFamily="49" charset="0"/>
              </a:rPr>
              <a:t>                    root-&gt;up=</a:t>
            </a:r>
            <a:r>
              <a:rPr lang="en-US" sz="1050" dirty="0" err="1" smtClean="0">
                <a:latin typeface="Consolas" panose="020B0609020204030204" pitchFamily="49" charset="0"/>
              </a:rPr>
              <a:t>nullptr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 Connect </a:t>
            </a:r>
            <a:r>
              <a:rPr lang="en-US" sz="1050" dirty="0" err="1" smtClean="0">
                <a:latin typeface="Consolas" panose="020B0609020204030204" pitchFamily="49" charset="0"/>
              </a:rPr>
              <a:t>upHd</a:t>
            </a:r>
            <a:r>
              <a:rPr lang="en-US" sz="1050" dirty="0" smtClean="0">
                <a:latin typeface="Consolas" panose="020B0609020204030204" pitchFamily="49" charset="0"/>
              </a:rPr>
              <a:t> and </a:t>
            </a:r>
            <a:r>
              <a:rPr lang="en-US" sz="1050" dirty="0" err="1" smtClean="0">
                <a:latin typeface="Consolas" panose="020B0609020204030204" pitchFamily="49" charset="0"/>
              </a:rPr>
              <a:t>rightHd</a:t>
            </a:r>
            <a:endParaRPr lang="en-US" sz="1050" dirty="0" smtClean="0">
              <a:latin typeface="Consolas" panose="020B0609020204030204" pitchFamily="49" charset="0"/>
            </a:endParaRPr>
          </a:p>
          <a:p>
            <a:r>
              <a:rPr lang="en-US" sz="1050" dirty="0" smtClean="0">
                <a:latin typeface="Consolas" panose="020B0609020204030204" pitchFamily="49" charset="0"/>
              </a:rPr>
              <a:t>                    auto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upHd</a:t>
            </a:r>
            <a:r>
              <a:rPr lang="en-US" sz="1050" dirty="0" smtClean="0">
                <a:latin typeface="Consolas" panose="020B0609020204030204" pitchFamily="49" charset="0"/>
              </a:rPr>
              <a:t>);</a:t>
            </a:r>
          </a:p>
          <a:p>
            <a:r>
              <a:rPr lang="en-US" sz="1050" dirty="0" smtClean="0">
                <a:latin typeface="Consolas" panose="020B0609020204030204" pitchFamily="49" charset="0"/>
              </a:rPr>
              <a:t>                    auto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err="1" smtClean="0">
                <a:latin typeface="Consolas" panose="020B0609020204030204" pitchFamily="49" charset="0"/>
              </a:rPr>
              <a:t>GetNode</a:t>
            </a:r>
            <a:r>
              <a:rPr lang="en-US" sz="1050" dirty="0" smtClean="0">
                <a:latin typeface="Consolas" panose="020B0609020204030204" pitchFamily="49" charset="0"/>
              </a:rPr>
              <a:t>(</a:t>
            </a:r>
            <a:r>
              <a:rPr lang="en-US" sz="1050" dirty="0" err="1" smtClean="0">
                <a:latin typeface="Consolas" panose="020B0609020204030204" pitchFamily="49" charset="0"/>
              </a:rPr>
              <a:t>rightHd</a:t>
            </a:r>
            <a:r>
              <a:rPr lang="en-US" sz="1050" dirty="0" smtClean="0">
                <a:latin typeface="Consolas" panose="020B0609020204030204" pitchFamily="49" charset="0"/>
              </a:rPr>
              <a:t>);</a:t>
            </a:r>
          </a:p>
          <a:p>
            <a:r>
              <a:rPr lang="en-US" sz="1050" dirty="0" smtClean="0">
                <a:latin typeface="Consolas" panose="020B0609020204030204" pitchFamily="49" charset="0"/>
              </a:rPr>
              <a:t>                    if(Left(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-&gt;left=</a:t>
            </a:r>
            <a:r>
              <a:rPr lang="en-US" sz="1050" dirty="0" err="1" smtClean="0">
                <a:latin typeface="Consolas" panose="020B0609020204030204" pitchFamily="49" charset="0"/>
              </a:rPr>
              <a:t>rightPtr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 if(Right(</a:t>
            </a:r>
            <a:r>
              <a:rPr lang="en-US" sz="1050" dirty="0" err="1" smtClean="0">
                <a:latin typeface="Consolas" panose="020B0609020204030204" pitchFamily="49" charset="0"/>
              </a:rPr>
              <a:t>upHd</a:t>
            </a:r>
            <a:r>
              <a:rPr lang="en-US" sz="1050" dirty="0" smtClean="0">
                <a:latin typeface="Consolas" panose="020B0609020204030204" pitchFamily="49" charset="0"/>
              </a:rPr>
              <a:t>)==</a:t>
            </a:r>
            <a:r>
              <a:rPr lang="en-US" sz="1050" dirty="0" err="1" smtClean="0">
                <a:latin typeface="Consolas" panose="020B0609020204030204" pitchFamily="49" charset="0"/>
              </a:rPr>
              <a:t>ndHd</a:t>
            </a:r>
            <a:r>
              <a:rPr lang="en-US" sz="1050" dirty="0" smtClean="0">
                <a:latin typeface="Consolas" panose="020B0609020204030204" pitchFamily="49" charset="0"/>
              </a:rPr>
              <a:t>)</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-&gt;right=</a:t>
            </a:r>
            <a:r>
              <a:rPr lang="en-US" sz="1050" dirty="0" err="1" smtClean="0">
                <a:latin typeface="Consolas" panose="020B0609020204030204" pitchFamily="49" charset="0"/>
              </a:rPr>
              <a:t>rightPtr</a:t>
            </a:r>
            <a:r>
              <a:rPr lang="en-US" sz="1050" dirty="0" smtClean="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-&gt;up=</a:t>
            </a:r>
            <a:r>
              <a:rPr lang="en-US" sz="1050" dirty="0" err="1" smtClean="0">
                <a:latin typeface="Consolas" panose="020B0609020204030204" pitchFamily="49" charset="0"/>
              </a:rPr>
              <a:t>upPtr</a:t>
            </a:r>
            <a:r>
              <a:rPr lang="en-US" sz="1050" dirty="0" smtClean="0">
                <a:latin typeface="Consolas" panose="020B0609020204030204" pitchFamily="49" charset="0"/>
              </a:rPr>
              <a:t>;</a:t>
            </a:r>
          </a:p>
          <a:p>
            <a:r>
              <a:rPr lang="en-US" sz="1050" dirty="0" smtClean="0">
                <a:latin typeface="Consolas" panose="020B0609020204030204" pitchFamily="49" charset="0"/>
              </a:rPr>
              <a:t>                        return true;</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smtClean="0">
                <a:latin typeface="Consolas" panose="020B0609020204030204" pitchFamily="49" charset="0"/>
              </a:rPr>
              <a:t>,"Error! Internal Tree Data Structure is broken.\n");</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else</a:t>
            </a:r>
          </a:p>
          <a:p>
            <a:r>
              <a:rPr lang="en-US" sz="1050" dirty="0" smtClean="0">
                <a:latin typeface="Consolas" panose="020B0609020204030204" pitchFamily="49" charset="0"/>
              </a:rPr>
              <a:t>            {</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p>
          <a:p>
            <a:r>
              <a:rPr lang="en-US" sz="1050" dirty="0" smtClean="0">
                <a:latin typeface="Consolas" panose="020B0609020204030204" pitchFamily="49" charset="0"/>
              </a:rPr>
              <a:t>        }</a:t>
            </a:r>
          </a:p>
          <a:p>
            <a:r>
              <a:rPr lang="en-US" sz="1050" dirty="0" smtClean="0">
                <a:latin typeface="Consolas" panose="020B0609020204030204" pitchFamily="49" charset="0"/>
              </a:rPr>
              <a:t>        return false;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42839589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100" y="0"/>
            <a:ext cx="6894836" cy="6878806"/>
          </a:xfrm>
          <a:prstGeom prst="rect">
            <a:avLst/>
          </a:prstGeom>
          <a:noFill/>
        </p:spPr>
        <p:txBody>
          <a:bodyPr wrap="none" rtlCol="0">
            <a:spAutoFit/>
          </a:bodyPr>
          <a:lstStyle/>
          <a:p>
            <a:r>
              <a:rPr lang="en-US" sz="1050" dirty="0">
                <a:latin typeface="Consolas" panose="020B0609020204030204" pitchFamily="49" charset="0"/>
              </a:rPr>
              <a:t>public:</a:t>
            </a:r>
          </a:p>
          <a:p>
            <a:r>
              <a:rPr lang="en-US" sz="1050" dirty="0" smtClean="0">
                <a:latin typeface="Consolas" panose="020B0609020204030204" pitchFamily="49" charset="0"/>
              </a:rPr>
              <a:t>    bool </a:t>
            </a:r>
            <a:r>
              <a:rPr lang="en-US" sz="1050" dirty="0">
                <a:latin typeface="Consolas" panose="020B0609020204030204" pitchFamily="49" charset="0"/>
              </a:rPr>
              <a:t>Delete(</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if(true</a:t>
            </a:r>
            <a:r>
              <a:rPr lang="en-US" sz="1050" dirty="0">
                <a:latin typeface="Consolas" panose="020B0609020204030204" pitchFamily="49" charset="0"/>
              </a:rPr>
              <a:t>==</a:t>
            </a:r>
            <a:r>
              <a:rPr lang="en-US" sz="1050" dirty="0" err="1">
                <a:latin typeface="Consolas" panose="020B0609020204030204" pitchFamily="49" charset="0"/>
              </a:rPr>
              <a:t>SimpleDetach</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delete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Right most of left. Always Simple-Detachable.</a:t>
            </a:r>
          </a:p>
          <a:p>
            <a:r>
              <a:rPr lang="en-US" sz="1050" dirty="0" smtClean="0">
                <a:latin typeface="Consolas" panose="020B0609020204030204" pitchFamily="49" charset="0"/>
              </a:rPr>
              <a:t>            // </a:t>
            </a:r>
            <a:r>
              <a:rPr lang="en-US" sz="1050" dirty="0">
                <a:latin typeface="Consolas" panose="020B0609020204030204" pitchFamily="49" charset="0"/>
              </a:rPr>
              <a:t>Also, since </a:t>
            </a:r>
            <a:r>
              <a:rPr lang="en-US" sz="1050" dirty="0" err="1">
                <a:latin typeface="Consolas" panose="020B0609020204030204" pitchFamily="49" charset="0"/>
              </a:rPr>
              <a:t>SimpleDetach</a:t>
            </a:r>
            <a:r>
              <a:rPr lang="en-US" sz="1050" dirty="0">
                <a:latin typeface="Consolas" panose="020B0609020204030204" pitchFamily="49" charset="0"/>
              </a:rPr>
              <a:t> of itself has failed, it must have a left sub-tree.</a:t>
            </a:r>
          </a:p>
          <a:p>
            <a:r>
              <a:rPr lang="en-US" sz="1050" dirty="0" smtClean="0">
                <a:latin typeface="Consolas" panose="020B0609020204030204" pitchFamily="49" charset="0"/>
              </a:rPr>
              <a:t>            auto </a:t>
            </a:r>
            <a:r>
              <a:rPr lang="en-US" sz="1050" dirty="0">
                <a:latin typeface="Consolas" panose="020B0609020204030204" pitchFamily="49" charset="0"/>
              </a:rPr>
              <a:t>RMOL=</a:t>
            </a:r>
            <a:r>
              <a:rPr lang="en-US" sz="1050" dirty="0" err="1">
                <a:latin typeface="Consolas" panose="020B0609020204030204" pitchFamily="49" charset="0"/>
              </a:rPr>
              <a:t>RightMostOf</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if(true</a:t>
            </a:r>
            <a:r>
              <a:rPr lang="en-US" sz="1050" dirty="0">
                <a:latin typeface="Consolas" panose="020B0609020204030204" pitchFamily="49" charset="0"/>
              </a:rPr>
              <a:t>==</a:t>
            </a:r>
            <a:r>
              <a:rPr lang="en-US" sz="1050" dirty="0" err="1">
                <a:latin typeface="Consolas" panose="020B0609020204030204" pitchFamily="49" charset="0"/>
              </a:rPr>
              <a:t>SimpleDetach</a:t>
            </a:r>
            <a:r>
              <a:rPr lang="en-US" sz="1050" dirty="0">
                <a:latin typeface="Consolas" panose="020B0609020204030204" pitchFamily="49" charset="0"/>
              </a:rPr>
              <a:t>(RMOL))</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 </a:t>
            </a:r>
            <a:r>
              <a:rPr lang="en-US" sz="1050" dirty="0">
                <a:latin typeface="Consolas" panose="020B0609020204030204" pitchFamily="49" charset="0"/>
              </a:rPr>
              <a:t>Now, RMOL needs to take position of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RMOLptr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(RMOL);</a:t>
            </a:r>
          </a:p>
          <a:p>
            <a:r>
              <a:rPr lang="en-US" sz="1050" dirty="0" smtClean="0">
                <a:latin typeface="Consolas" panose="020B0609020204030204" pitchFamily="49" charset="0"/>
              </a:rPr>
              <a:t>                auto </a:t>
            </a:r>
            <a:r>
              <a:rPr lang="en-US" sz="1050" dirty="0" err="1">
                <a:latin typeface="Consolas" panose="020B0609020204030204" pitchFamily="49" charset="0"/>
              </a:rPr>
              <a:t>upPtr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(Up(</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leftPtr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rightPtr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(Right(</a:t>
            </a:r>
            <a:r>
              <a:rPr lang="en-US" sz="1050" dirty="0" err="1">
                <a:latin typeface="Consolas" panose="020B0609020204030204" pitchFamily="49" charset="0"/>
              </a:rPr>
              <a:t>ndHd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root-</a:t>
            </a:r>
            <a:r>
              <a:rPr lang="en-US" sz="1050" dirty="0">
                <a:latin typeface="Consolas" panose="020B0609020204030204" pitchFamily="49" charset="0"/>
              </a:rPr>
              <a:t>&gt;up=</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upPtr</a:t>
            </a:r>
            <a:r>
              <a:rPr lang="en-US" sz="1050" dirty="0">
                <a:latin typeface="Consolas" panose="020B0609020204030204" pitchFamily="49" charset="0"/>
              </a:rPr>
              <a:t>-&gt;left==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 </a:t>
            </a:r>
            <a:r>
              <a:rPr lang="en-US" sz="1050" dirty="0">
                <a:latin typeface="Consolas" panose="020B0609020204030204" pitchFamily="49" charset="0"/>
              </a:rPr>
              <a:t>if(</a:t>
            </a:r>
            <a:r>
              <a:rPr lang="en-US" sz="1050" dirty="0" err="1">
                <a:latin typeface="Consolas" panose="020B0609020204030204" pitchFamily="49" charset="0"/>
              </a:rPr>
              <a:t>upPtr</a:t>
            </a:r>
            <a:r>
              <a:rPr lang="en-US" sz="1050" dirty="0">
                <a:latin typeface="Consolas" panose="020B0609020204030204" pitchFamily="49" charset="0"/>
              </a:rPr>
              <a:t>-&gt;right==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upPtr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upPtr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fprintf</a:t>
            </a:r>
            <a:r>
              <a:rPr lang="en-US" sz="1050" dirty="0" smtClean="0">
                <a:latin typeface="Consolas" panose="020B0609020204030204" pitchFamily="49" charset="0"/>
              </a:rPr>
              <a:t>(</a:t>
            </a:r>
            <a:r>
              <a:rPr lang="en-US" sz="1050" dirty="0" err="1" smtClean="0">
                <a:latin typeface="Consolas" panose="020B0609020204030204" pitchFamily="49" charset="0"/>
              </a:rPr>
              <a:t>stderr</a:t>
            </a:r>
            <a:r>
              <a:rPr lang="en-US" sz="1050" dirty="0">
                <a:latin typeface="Consolas" panose="020B0609020204030204" pitchFamily="49" charset="0"/>
              </a:rPr>
              <a:t>,"Error! Internal Tree Data Structure is broken.\n");</a:t>
            </a:r>
          </a:p>
          <a:p>
            <a:r>
              <a:rPr lang="en-US" sz="1050" dirty="0" smtClean="0">
                <a:latin typeface="Consolas" panose="020B0609020204030204" pitchFamily="49" charset="0"/>
              </a:rPr>
              <a:t>                    return </a:t>
            </a:r>
            <a:r>
              <a:rPr lang="en-US" sz="1050" dirty="0">
                <a:latin typeface="Consolas" panose="020B0609020204030204" pitchFamily="49" charset="0"/>
              </a:rPr>
              <a:t>false;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1995445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2100" y="0"/>
            <a:ext cx="3945311" cy="3162404"/>
          </a:xfrm>
          <a:prstGeom prst="rect">
            <a:avLst/>
          </a:prstGeom>
          <a:noFill/>
        </p:spPr>
        <p:txBody>
          <a:bodyPr wrap="none" rtlCol="0">
            <a:spAutoFit/>
          </a:bodyPr>
          <a:lstStyle/>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leftPtr</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leftPtr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leftPtr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RMOLptr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RMOLptr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delete </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a:latin typeface="Consolas" panose="020B0609020204030204" pitchFamily="49" charset="0"/>
              </a:rPr>
              <a:t>nElem</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false; // Cannot delete a null node.</a:t>
            </a:r>
          </a:p>
          <a:p>
            <a:r>
              <a:rPr lang="en-US" sz="1050" dirty="0" smtClean="0">
                <a:latin typeface="Consolas" panose="020B0609020204030204" pitchFamily="49" charset="0"/>
              </a:rPr>
              <a:t>    }</a:t>
            </a:r>
            <a:endParaRPr lang="en-US" sz="1050" dirty="0">
              <a:latin typeface="Consolas" panose="020B0609020204030204" pitchFamily="49" charset="0"/>
            </a:endParaRPr>
          </a:p>
        </p:txBody>
      </p:sp>
    </p:spTree>
    <p:extLst>
      <p:ext uri="{BB962C8B-B14F-4D97-AF65-F5344CB8AC3E}">
        <p14:creationId xmlns:p14="http://schemas.microsoft.com/office/powerpoint/2010/main" val="3403021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Visualizing a binary tree</a:t>
            </a:r>
            <a:endParaRPr lang="en-US" dirty="0"/>
          </a:p>
        </p:txBody>
      </p:sp>
      <p:sp>
        <p:nvSpPr>
          <p:cNvPr id="3" name="Content Placeholder 2"/>
          <p:cNvSpPr>
            <a:spLocks noGrp="1"/>
          </p:cNvSpPr>
          <p:nvPr>
            <p:ph idx="1"/>
          </p:nvPr>
        </p:nvSpPr>
        <p:spPr/>
        <p:txBody>
          <a:bodyPr/>
          <a:lstStyle/>
          <a:p>
            <a:pPr marL="0" indent="0">
              <a:buNone/>
            </a:pPr>
            <a:r>
              <a:rPr lang="en-US" dirty="0" smtClean="0"/>
              <a:t>Goal:  </a:t>
            </a:r>
          </a:p>
          <a:p>
            <a:r>
              <a:rPr lang="en-US" dirty="0" smtClean="0"/>
              <a:t>Visualize how the binary-tree is constructed.</a:t>
            </a:r>
          </a:p>
          <a:p>
            <a:r>
              <a:rPr lang="en-US" dirty="0" smtClean="0"/>
              <a:t>Test deletion and insertion in graphical interface.</a:t>
            </a:r>
          </a:p>
          <a:p>
            <a:r>
              <a:rPr lang="en-US" dirty="0" smtClean="0"/>
              <a:t>Interactively apply a binary-tree operation called tree rotation.</a:t>
            </a:r>
          </a:p>
          <a:p>
            <a:r>
              <a:rPr lang="en-US" dirty="0" smtClean="0"/>
              <a:t>Implement and verify tree-rebalancing algorithm.</a:t>
            </a:r>
            <a:endParaRPr lang="en-US" dirty="0"/>
          </a:p>
        </p:txBody>
      </p:sp>
    </p:spTree>
    <p:extLst>
      <p:ext uri="{BB962C8B-B14F-4D97-AF65-F5344CB8AC3E}">
        <p14:creationId xmlns:p14="http://schemas.microsoft.com/office/powerpoint/2010/main" val="4271198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Nodes and Window Regions</a:t>
            </a:r>
            <a:endParaRPr lang="en-US" dirty="0"/>
          </a:p>
        </p:txBody>
      </p:sp>
      <p:sp>
        <p:nvSpPr>
          <p:cNvPr id="3" name="Content Placeholder 2"/>
          <p:cNvSpPr>
            <a:spLocks noGrp="1"/>
          </p:cNvSpPr>
          <p:nvPr>
            <p:ph idx="1"/>
          </p:nvPr>
        </p:nvSpPr>
        <p:spPr/>
        <p:txBody>
          <a:bodyPr/>
          <a:lstStyle/>
          <a:p>
            <a:r>
              <a:rPr lang="en-US" dirty="0" smtClean="0"/>
              <a:t>Each level takes 40 pixels vertically.</a:t>
            </a:r>
          </a:p>
          <a:p>
            <a:r>
              <a:rPr lang="en-US" dirty="0" smtClean="0"/>
              <a:t>The top-level (root) takes from 0 to 800 horizontally.</a:t>
            </a:r>
          </a:p>
          <a:p>
            <a:r>
              <a:rPr lang="en-US" dirty="0" smtClean="0"/>
              <a:t>The second level nodes take left and right halves of the top-level node.</a:t>
            </a:r>
          </a:p>
          <a:p>
            <a:r>
              <a:rPr lang="en-US" dirty="0"/>
              <a:t>Can be drawn by recursion.</a:t>
            </a:r>
          </a:p>
          <a:p>
            <a:endParaRPr lang="en-US" dirty="0"/>
          </a:p>
        </p:txBody>
      </p:sp>
      <p:sp>
        <p:nvSpPr>
          <p:cNvPr id="4" name="Rectangle 3"/>
          <p:cNvSpPr/>
          <p:nvPr/>
        </p:nvSpPr>
        <p:spPr>
          <a:xfrm>
            <a:off x="4413250" y="3524250"/>
            <a:ext cx="4375150" cy="32321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Arrow Connector 5"/>
          <p:cNvCxnSpPr/>
          <p:nvPr/>
        </p:nvCxnSpPr>
        <p:spPr>
          <a:xfrm>
            <a:off x="4286250" y="35433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286250" y="40005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286250" y="40005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86250" y="44577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286250" y="44513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286250" y="49085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286250" y="49085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286250" y="53657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286250" y="53721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286250" y="58293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286250" y="583565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286250" y="629285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4286250" y="6299200"/>
            <a:ext cx="0" cy="45720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286250" y="6756400"/>
            <a:ext cx="4699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248228" y="3587234"/>
            <a:ext cx="1095172" cy="369332"/>
          </a:xfrm>
          <a:prstGeom prst="rect">
            <a:avLst/>
          </a:prstGeom>
          <a:noFill/>
        </p:spPr>
        <p:txBody>
          <a:bodyPr wrap="none" rtlCol="0">
            <a:spAutoFit/>
          </a:bodyPr>
          <a:lstStyle/>
          <a:p>
            <a:r>
              <a:rPr lang="en-US" dirty="0" smtClean="0"/>
              <a:t>40 pixels</a:t>
            </a:r>
            <a:endParaRPr lang="en-US" dirty="0"/>
          </a:p>
        </p:txBody>
      </p:sp>
      <p:cxnSp>
        <p:nvCxnSpPr>
          <p:cNvPr id="24" name="Straight Connector 23"/>
          <p:cNvCxnSpPr>
            <a:endCxn id="4" idx="2"/>
          </p:cNvCxnSpPr>
          <p:nvPr/>
        </p:nvCxnSpPr>
        <p:spPr>
          <a:xfrm>
            <a:off x="6600825" y="4000500"/>
            <a:ext cx="0" cy="2755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046795" y="3549651"/>
            <a:ext cx="1108060" cy="369332"/>
          </a:xfrm>
          <a:prstGeom prst="rect">
            <a:avLst/>
          </a:prstGeom>
          <a:noFill/>
        </p:spPr>
        <p:txBody>
          <a:bodyPr wrap="none" rtlCol="0">
            <a:spAutoFit/>
          </a:bodyPr>
          <a:lstStyle/>
          <a:p>
            <a:r>
              <a:rPr lang="en-US" dirty="0" smtClean="0"/>
              <a:t>Top-level</a:t>
            </a:r>
            <a:endParaRPr lang="en-US" dirty="0"/>
          </a:p>
        </p:txBody>
      </p:sp>
      <p:sp>
        <p:nvSpPr>
          <p:cNvPr id="28" name="TextBox 27"/>
          <p:cNvSpPr txBox="1"/>
          <p:nvPr/>
        </p:nvSpPr>
        <p:spPr>
          <a:xfrm>
            <a:off x="4973661" y="4022211"/>
            <a:ext cx="1184940" cy="369332"/>
          </a:xfrm>
          <a:prstGeom prst="rect">
            <a:avLst/>
          </a:prstGeom>
          <a:noFill/>
        </p:spPr>
        <p:txBody>
          <a:bodyPr wrap="none" rtlCol="0">
            <a:spAutoFit/>
          </a:bodyPr>
          <a:lstStyle/>
          <a:p>
            <a:r>
              <a:rPr lang="en-US" dirty="0" smtClean="0"/>
              <a:t>2nd Level</a:t>
            </a:r>
            <a:endParaRPr lang="en-US" dirty="0"/>
          </a:p>
        </p:txBody>
      </p:sp>
      <p:sp>
        <p:nvSpPr>
          <p:cNvPr id="29" name="TextBox 28"/>
          <p:cNvSpPr txBox="1"/>
          <p:nvPr/>
        </p:nvSpPr>
        <p:spPr>
          <a:xfrm>
            <a:off x="7063046" y="4016893"/>
            <a:ext cx="1184940" cy="369332"/>
          </a:xfrm>
          <a:prstGeom prst="rect">
            <a:avLst/>
          </a:prstGeom>
          <a:noFill/>
        </p:spPr>
        <p:txBody>
          <a:bodyPr wrap="none" rtlCol="0">
            <a:spAutoFit/>
          </a:bodyPr>
          <a:lstStyle/>
          <a:p>
            <a:r>
              <a:rPr lang="en-US" dirty="0" smtClean="0"/>
              <a:t>2nd Level</a:t>
            </a:r>
            <a:endParaRPr lang="en-US" dirty="0"/>
          </a:p>
        </p:txBody>
      </p:sp>
      <p:cxnSp>
        <p:nvCxnSpPr>
          <p:cNvPr id="32" name="Straight Connector 31"/>
          <p:cNvCxnSpPr/>
          <p:nvPr/>
        </p:nvCxnSpPr>
        <p:spPr>
          <a:xfrm>
            <a:off x="5486400" y="4457700"/>
            <a:ext cx="0" cy="2298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734300" y="4457700"/>
            <a:ext cx="0" cy="22987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343400" y="4461394"/>
            <a:ext cx="1133644" cy="369332"/>
          </a:xfrm>
          <a:prstGeom prst="rect">
            <a:avLst/>
          </a:prstGeom>
          <a:noFill/>
        </p:spPr>
        <p:txBody>
          <a:bodyPr wrap="none" rtlCol="0">
            <a:spAutoFit/>
          </a:bodyPr>
          <a:lstStyle/>
          <a:p>
            <a:r>
              <a:rPr lang="en-US" dirty="0" smtClean="0"/>
              <a:t>3rd Level</a:t>
            </a:r>
            <a:endParaRPr lang="en-US" dirty="0"/>
          </a:p>
        </p:txBody>
      </p:sp>
      <p:sp>
        <p:nvSpPr>
          <p:cNvPr id="36" name="TextBox 35"/>
          <p:cNvSpPr txBox="1"/>
          <p:nvPr/>
        </p:nvSpPr>
        <p:spPr>
          <a:xfrm>
            <a:off x="5476874" y="4461394"/>
            <a:ext cx="1133644" cy="369332"/>
          </a:xfrm>
          <a:prstGeom prst="rect">
            <a:avLst/>
          </a:prstGeom>
          <a:noFill/>
        </p:spPr>
        <p:txBody>
          <a:bodyPr wrap="none" rtlCol="0">
            <a:spAutoFit/>
          </a:bodyPr>
          <a:lstStyle/>
          <a:p>
            <a:r>
              <a:rPr lang="en-US" dirty="0" smtClean="0"/>
              <a:t>3rd Level</a:t>
            </a:r>
            <a:endParaRPr lang="en-US" dirty="0"/>
          </a:p>
        </p:txBody>
      </p:sp>
      <p:sp>
        <p:nvSpPr>
          <p:cNvPr id="37" name="TextBox 36"/>
          <p:cNvSpPr txBox="1"/>
          <p:nvPr/>
        </p:nvSpPr>
        <p:spPr>
          <a:xfrm>
            <a:off x="6635750" y="4474092"/>
            <a:ext cx="1133644" cy="369332"/>
          </a:xfrm>
          <a:prstGeom prst="rect">
            <a:avLst/>
          </a:prstGeom>
          <a:noFill/>
        </p:spPr>
        <p:txBody>
          <a:bodyPr wrap="none" rtlCol="0">
            <a:spAutoFit/>
          </a:bodyPr>
          <a:lstStyle/>
          <a:p>
            <a:r>
              <a:rPr lang="en-US" dirty="0" smtClean="0"/>
              <a:t>3rd Level</a:t>
            </a:r>
            <a:endParaRPr lang="en-US" dirty="0"/>
          </a:p>
        </p:txBody>
      </p:sp>
      <p:sp>
        <p:nvSpPr>
          <p:cNvPr id="38" name="TextBox 37"/>
          <p:cNvSpPr txBox="1"/>
          <p:nvPr/>
        </p:nvSpPr>
        <p:spPr>
          <a:xfrm>
            <a:off x="7743992" y="4480442"/>
            <a:ext cx="1133644" cy="369332"/>
          </a:xfrm>
          <a:prstGeom prst="rect">
            <a:avLst/>
          </a:prstGeom>
          <a:noFill/>
        </p:spPr>
        <p:txBody>
          <a:bodyPr wrap="none" rtlCol="0">
            <a:spAutoFit/>
          </a:bodyPr>
          <a:lstStyle/>
          <a:p>
            <a:r>
              <a:rPr lang="en-US" dirty="0" smtClean="0"/>
              <a:t>3rd Level</a:t>
            </a:r>
            <a:endParaRPr lang="en-US" dirty="0"/>
          </a:p>
        </p:txBody>
      </p:sp>
      <p:cxnSp>
        <p:nvCxnSpPr>
          <p:cNvPr id="40" name="Straight Connector 39"/>
          <p:cNvCxnSpPr/>
          <p:nvPr/>
        </p:nvCxnSpPr>
        <p:spPr>
          <a:xfrm>
            <a:off x="4910222" y="4914901"/>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043696" y="4914901"/>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7154855" y="4908550"/>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8247986" y="4908549"/>
            <a:ext cx="0" cy="184149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4401689" y="4949310"/>
            <a:ext cx="505267" cy="369332"/>
          </a:xfrm>
          <a:prstGeom prst="rect">
            <a:avLst/>
          </a:prstGeom>
          <a:noFill/>
        </p:spPr>
        <p:txBody>
          <a:bodyPr wrap="none" rtlCol="0">
            <a:spAutoFit/>
          </a:bodyPr>
          <a:lstStyle/>
          <a:p>
            <a:r>
              <a:rPr lang="en-US" dirty="0" smtClean="0"/>
              <a:t>4th</a:t>
            </a:r>
            <a:endParaRPr lang="en-US" dirty="0"/>
          </a:p>
        </p:txBody>
      </p:sp>
      <p:sp>
        <p:nvSpPr>
          <p:cNvPr id="46" name="TextBox 45"/>
          <p:cNvSpPr txBox="1"/>
          <p:nvPr/>
        </p:nvSpPr>
        <p:spPr>
          <a:xfrm>
            <a:off x="4946705" y="4946652"/>
            <a:ext cx="505267" cy="369332"/>
          </a:xfrm>
          <a:prstGeom prst="rect">
            <a:avLst/>
          </a:prstGeom>
          <a:noFill/>
        </p:spPr>
        <p:txBody>
          <a:bodyPr wrap="none" rtlCol="0">
            <a:spAutoFit/>
          </a:bodyPr>
          <a:lstStyle/>
          <a:p>
            <a:r>
              <a:rPr lang="en-US" dirty="0" smtClean="0"/>
              <a:t>4th</a:t>
            </a:r>
            <a:endParaRPr lang="en-US" dirty="0"/>
          </a:p>
        </p:txBody>
      </p:sp>
      <p:sp>
        <p:nvSpPr>
          <p:cNvPr id="47" name="TextBox 46"/>
          <p:cNvSpPr txBox="1"/>
          <p:nvPr/>
        </p:nvSpPr>
        <p:spPr>
          <a:xfrm>
            <a:off x="5524362" y="4955659"/>
            <a:ext cx="505267" cy="369332"/>
          </a:xfrm>
          <a:prstGeom prst="rect">
            <a:avLst/>
          </a:prstGeom>
          <a:noFill/>
        </p:spPr>
        <p:txBody>
          <a:bodyPr wrap="none" rtlCol="0">
            <a:spAutoFit/>
          </a:bodyPr>
          <a:lstStyle/>
          <a:p>
            <a:r>
              <a:rPr lang="en-US" dirty="0" smtClean="0"/>
              <a:t>4th</a:t>
            </a:r>
            <a:endParaRPr lang="en-US" dirty="0"/>
          </a:p>
        </p:txBody>
      </p:sp>
      <p:sp>
        <p:nvSpPr>
          <p:cNvPr id="48" name="TextBox 47"/>
          <p:cNvSpPr txBox="1"/>
          <p:nvPr/>
        </p:nvSpPr>
        <p:spPr>
          <a:xfrm>
            <a:off x="6071746" y="4942961"/>
            <a:ext cx="505267" cy="369332"/>
          </a:xfrm>
          <a:prstGeom prst="rect">
            <a:avLst/>
          </a:prstGeom>
          <a:noFill/>
        </p:spPr>
        <p:txBody>
          <a:bodyPr wrap="none" rtlCol="0">
            <a:spAutoFit/>
          </a:bodyPr>
          <a:lstStyle/>
          <a:p>
            <a:r>
              <a:rPr lang="en-US" dirty="0" smtClean="0"/>
              <a:t>4th</a:t>
            </a:r>
            <a:endParaRPr lang="en-US" dirty="0"/>
          </a:p>
        </p:txBody>
      </p:sp>
      <p:sp>
        <p:nvSpPr>
          <p:cNvPr id="49" name="TextBox 48"/>
          <p:cNvSpPr txBox="1"/>
          <p:nvPr/>
        </p:nvSpPr>
        <p:spPr>
          <a:xfrm>
            <a:off x="6624631" y="4955659"/>
            <a:ext cx="505267" cy="369332"/>
          </a:xfrm>
          <a:prstGeom prst="rect">
            <a:avLst/>
          </a:prstGeom>
          <a:noFill/>
        </p:spPr>
        <p:txBody>
          <a:bodyPr wrap="none" rtlCol="0">
            <a:spAutoFit/>
          </a:bodyPr>
          <a:lstStyle/>
          <a:p>
            <a:r>
              <a:rPr lang="en-US" dirty="0" smtClean="0"/>
              <a:t>4th</a:t>
            </a:r>
            <a:endParaRPr lang="en-US" dirty="0"/>
          </a:p>
        </p:txBody>
      </p:sp>
      <p:sp>
        <p:nvSpPr>
          <p:cNvPr id="50" name="TextBox 49"/>
          <p:cNvSpPr txBox="1"/>
          <p:nvPr/>
        </p:nvSpPr>
        <p:spPr>
          <a:xfrm>
            <a:off x="7189308" y="4950345"/>
            <a:ext cx="505267" cy="369332"/>
          </a:xfrm>
          <a:prstGeom prst="rect">
            <a:avLst/>
          </a:prstGeom>
          <a:noFill/>
        </p:spPr>
        <p:txBody>
          <a:bodyPr wrap="none" rtlCol="0">
            <a:spAutoFit/>
          </a:bodyPr>
          <a:lstStyle/>
          <a:p>
            <a:r>
              <a:rPr lang="en-US" dirty="0" smtClean="0"/>
              <a:t>4th</a:t>
            </a:r>
            <a:endParaRPr lang="en-US" dirty="0"/>
          </a:p>
        </p:txBody>
      </p:sp>
      <p:sp>
        <p:nvSpPr>
          <p:cNvPr id="51" name="TextBox 50"/>
          <p:cNvSpPr txBox="1"/>
          <p:nvPr/>
        </p:nvSpPr>
        <p:spPr>
          <a:xfrm>
            <a:off x="7760056" y="4942961"/>
            <a:ext cx="505267" cy="369332"/>
          </a:xfrm>
          <a:prstGeom prst="rect">
            <a:avLst/>
          </a:prstGeom>
          <a:noFill/>
        </p:spPr>
        <p:txBody>
          <a:bodyPr wrap="none" rtlCol="0">
            <a:spAutoFit/>
          </a:bodyPr>
          <a:lstStyle/>
          <a:p>
            <a:r>
              <a:rPr lang="en-US" dirty="0" smtClean="0"/>
              <a:t>4th</a:t>
            </a:r>
            <a:endParaRPr lang="en-US" dirty="0"/>
          </a:p>
        </p:txBody>
      </p:sp>
      <p:sp>
        <p:nvSpPr>
          <p:cNvPr id="52" name="TextBox 51"/>
          <p:cNvSpPr txBox="1"/>
          <p:nvPr/>
        </p:nvSpPr>
        <p:spPr>
          <a:xfrm>
            <a:off x="8295035" y="4937641"/>
            <a:ext cx="505267" cy="369332"/>
          </a:xfrm>
          <a:prstGeom prst="rect">
            <a:avLst/>
          </a:prstGeom>
          <a:noFill/>
        </p:spPr>
        <p:txBody>
          <a:bodyPr wrap="none" rtlCol="0">
            <a:spAutoFit/>
          </a:bodyPr>
          <a:lstStyle/>
          <a:p>
            <a:r>
              <a:rPr lang="en-US" dirty="0" smtClean="0"/>
              <a:t>4th</a:t>
            </a:r>
            <a:endParaRPr lang="en-US" dirty="0"/>
          </a:p>
        </p:txBody>
      </p:sp>
      <p:cxnSp>
        <p:nvCxnSpPr>
          <p:cNvPr id="54" name="Straight Connector 53"/>
          <p:cNvCxnSpPr/>
          <p:nvPr/>
        </p:nvCxnSpPr>
        <p:spPr>
          <a:xfrm>
            <a:off x="4663533"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5199338"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5769333"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308862" y="537210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6877264"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448505" y="537210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8012689"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8546657" y="5365750"/>
            <a:ext cx="0" cy="1384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453390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78790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0609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53149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562610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588010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615315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6407150" y="58356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67437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9977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73025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7556500" y="582294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78676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81216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4010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8655050" y="5829298"/>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4480281" y="6283323"/>
            <a:ext cx="4121150" cy="460375"/>
            <a:chOff x="4435831" y="4924423"/>
            <a:chExt cx="4121150" cy="933450"/>
          </a:xfrm>
        </p:grpSpPr>
        <p:cxnSp>
          <p:nvCxnSpPr>
            <p:cNvPr id="84" name="Straight Connector 83"/>
            <p:cNvCxnSpPr/>
            <p:nvPr/>
          </p:nvCxnSpPr>
          <p:spPr>
            <a:xfrm>
              <a:off x="443583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468983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49628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52168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552803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578203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605508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6309081" y="49371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66456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68996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72044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7458431" y="492442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a:off x="77695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80235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83029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8556981" y="4930773"/>
              <a:ext cx="0" cy="920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8" name="Straight Connector 117"/>
          <p:cNvCxnSpPr/>
          <p:nvPr/>
        </p:nvCxnSpPr>
        <p:spPr>
          <a:xfrm>
            <a:off x="8718550" y="6292850"/>
            <a:ext cx="0" cy="4635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9" name="TextBox 118"/>
          <p:cNvSpPr txBox="1"/>
          <p:nvPr/>
        </p:nvSpPr>
        <p:spPr>
          <a:xfrm>
            <a:off x="4295550" y="3130035"/>
            <a:ext cx="312906" cy="369332"/>
          </a:xfrm>
          <a:prstGeom prst="rect">
            <a:avLst/>
          </a:prstGeom>
          <a:noFill/>
        </p:spPr>
        <p:txBody>
          <a:bodyPr wrap="none" rtlCol="0">
            <a:spAutoFit/>
          </a:bodyPr>
          <a:lstStyle/>
          <a:p>
            <a:r>
              <a:rPr lang="en-US" dirty="0" smtClean="0"/>
              <a:t>0</a:t>
            </a:r>
            <a:endParaRPr lang="en-US" dirty="0"/>
          </a:p>
        </p:txBody>
      </p:sp>
      <p:sp>
        <p:nvSpPr>
          <p:cNvPr id="120" name="TextBox 119"/>
          <p:cNvSpPr txBox="1"/>
          <p:nvPr/>
        </p:nvSpPr>
        <p:spPr>
          <a:xfrm>
            <a:off x="8440569" y="3154917"/>
            <a:ext cx="569387" cy="369332"/>
          </a:xfrm>
          <a:prstGeom prst="rect">
            <a:avLst/>
          </a:prstGeom>
          <a:noFill/>
        </p:spPr>
        <p:txBody>
          <a:bodyPr wrap="none" rtlCol="0">
            <a:spAutoFit/>
          </a:bodyPr>
          <a:lstStyle/>
          <a:p>
            <a:r>
              <a:rPr lang="en-US" dirty="0" smtClean="0"/>
              <a:t>800</a:t>
            </a:r>
            <a:endParaRPr lang="en-US" dirty="0"/>
          </a:p>
        </p:txBody>
      </p:sp>
    </p:spTree>
    <p:extLst>
      <p:ext uri="{BB962C8B-B14F-4D97-AF65-F5344CB8AC3E}">
        <p14:creationId xmlns:p14="http://schemas.microsoft.com/office/powerpoint/2010/main" val="1992585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Setting up a project.</a:t>
            </a:r>
          </a:p>
          <a:p>
            <a:r>
              <a:rPr lang="en-US" dirty="0" smtClean="0"/>
              <a:t>Copy main.cpp from the </a:t>
            </a:r>
            <a:r>
              <a:rPr lang="en-US" dirty="0" err="1" smtClean="0"/>
              <a:t>FsLazyWindow</a:t>
            </a:r>
            <a:r>
              <a:rPr lang="en-US" dirty="0" smtClean="0"/>
              <a:t> template.</a:t>
            </a:r>
          </a:p>
          <a:p>
            <a:r>
              <a:rPr lang="en-US" dirty="0" smtClean="0"/>
              <a:t>You need to add two libraries:</a:t>
            </a:r>
          </a:p>
          <a:p>
            <a:pPr lvl="1"/>
            <a:r>
              <a:rPr lang="en-US" dirty="0" err="1" smtClean="0"/>
              <a:t>fslazywindow</a:t>
            </a:r>
            <a:r>
              <a:rPr lang="en-US" dirty="0" smtClean="0"/>
              <a:t>, and</a:t>
            </a:r>
          </a:p>
          <a:p>
            <a:pPr lvl="1"/>
            <a:r>
              <a:rPr lang="en-US" dirty="0" err="1" smtClean="0"/>
              <a:t>ysbitmapfont</a:t>
            </a:r>
            <a:endParaRPr lang="en-US" dirty="0" smtClean="0"/>
          </a:p>
          <a:p>
            <a:r>
              <a:rPr lang="en-US" dirty="0" err="1" smtClean="0"/>
              <a:t>Ysbitmapfont</a:t>
            </a:r>
            <a:r>
              <a:rPr lang="en-US" dirty="0" smtClean="0"/>
              <a:t> library is the same font-drawing library used in 24780.</a:t>
            </a:r>
            <a:endParaRPr lang="en-US" dirty="0"/>
          </a:p>
        </p:txBody>
      </p:sp>
      <p:sp>
        <p:nvSpPr>
          <p:cNvPr id="4" name="TextBox 3"/>
          <p:cNvSpPr txBox="1"/>
          <p:nvPr/>
        </p:nvSpPr>
        <p:spPr>
          <a:xfrm>
            <a:off x="1092200" y="4616450"/>
            <a:ext cx="7778750" cy="523220"/>
          </a:xfrm>
          <a:prstGeom prst="rect">
            <a:avLst/>
          </a:prstGeom>
          <a:noFill/>
        </p:spPr>
        <p:txBody>
          <a:bodyPr wrap="square" rtlCol="0">
            <a:spAutoFit/>
          </a:bodyPr>
          <a:lstStyle/>
          <a:p>
            <a:r>
              <a:rPr lang="en-US" sz="1400" dirty="0" err="1" smtClean="0">
                <a:latin typeface="Consolas" panose="020B0609020204030204" pitchFamily="49" charset="0"/>
              </a:rPr>
              <a:t>add_executable</a:t>
            </a:r>
            <a:r>
              <a:rPr lang="en-US" sz="1400" dirty="0" smtClean="0">
                <a:latin typeface="Consolas" panose="020B0609020204030204" pitchFamily="49" charset="0"/>
              </a:rPr>
              <a:t>(</a:t>
            </a:r>
            <a:r>
              <a:rPr lang="en-US" sz="1400" dirty="0" err="1" smtClean="0">
                <a:latin typeface="Consolas" panose="020B0609020204030204" pitchFamily="49" charset="0"/>
              </a:rPr>
              <a:t>binary_tree_visualizer</a:t>
            </a:r>
            <a:r>
              <a:rPr lang="en-US" sz="1400" dirty="0" smtClean="0">
                <a:latin typeface="Consolas" panose="020B0609020204030204" pitchFamily="49" charset="0"/>
              </a:rPr>
              <a:t> main.cpp </a:t>
            </a:r>
            <a:r>
              <a:rPr lang="en-US" sz="1400" dirty="0" err="1" smtClean="0">
                <a:latin typeface="Consolas" panose="020B0609020204030204" pitchFamily="49" charset="0"/>
              </a:rPr>
              <a:t>bintree.h</a:t>
            </a:r>
            <a:r>
              <a:rPr lang="en-US" sz="1400" dirty="0" smtClean="0">
                <a:latin typeface="Consolas" panose="020B0609020204030204" pitchFamily="49" charset="0"/>
              </a:rPr>
              <a:t>)</a:t>
            </a:r>
          </a:p>
          <a:p>
            <a:r>
              <a:rPr lang="en-US" sz="1400" dirty="0" err="1" smtClean="0">
                <a:latin typeface="Consolas" panose="020B0609020204030204" pitchFamily="49" charset="0"/>
              </a:rPr>
              <a:t>target_link_libraries</a:t>
            </a:r>
            <a:r>
              <a:rPr lang="en-US" sz="1400" dirty="0" smtClean="0">
                <a:latin typeface="Consolas" panose="020B0609020204030204" pitchFamily="49" charset="0"/>
              </a:rPr>
              <a:t>(</a:t>
            </a:r>
            <a:r>
              <a:rPr lang="en-US" sz="1400" dirty="0" err="1">
                <a:latin typeface="Consolas" panose="020B0609020204030204" pitchFamily="49" charset="0"/>
              </a:rPr>
              <a:t>binary_tree_visualizer</a:t>
            </a:r>
            <a:r>
              <a:rPr lang="en-US" sz="1400" dirty="0">
                <a:latin typeface="Consolas" panose="020B0609020204030204" pitchFamily="49" charset="0"/>
              </a:rPr>
              <a:t> </a:t>
            </a:r>
            <a:r>
              <a:rPr lang="en-US" sz="1400" dirty="0" err="1" smtClean="0">
                <a:latin typeface="Consolas" panose="020B0609020204030204" pitchFamily="49" charset="0"/>
              </a:rPr>
              <a:t>fslazywindow</a:t>
            </a:r>
            <a:r>
              <a:rPr lang="en-US" sz="1400" dirty="0" smtClean="0">
                <a:latin typeface="Consolas" panose="020B0609020204030204" pitchFamily="49" charset="0"/>
              </a:rPr>
              <a:t> </a:t>
            </a:r>
            <a:r>
              <a:rPr lang="en-US" sz="1400" dirty="0" err="1" smtClean="0">
                <a:latin typeface="Consolas" panose="020B0609020204030204" pitchFamily="49" charset="0"/>
              </a:rPr>
              <a:t>ysbitmapfont</a:t>
            </a:r>
            <a:r>
              <a:rPr lang="en-US" sz="1400" dirty="0" smtClean="0">
                <a:latin typeface="Consolas" panose="020B0609020204030204" pitchFamily="49" charset="0"/>
              </a:rPr>
              <a:t>)</a:t>
            </a:r>
            <a:endParaRPr lang="en-US" sz="1400" dirty="0">
              <a:latin typeface="Consolas" panose="020B0609020204030204" pitchFamily="49" charset="0"/>
            </a:endParaRPr>
          </a:p>
        </p:txBody>
      </p:sp>
    </p:spTree>
    <p:extLst>
      <p:ext uri="{BB962C8B-B14F-4D97-AF65-F5344CB8AC3E}">
        <p14:creationId xmlns:p14="http://schemas.microsoft.com/office/powerpoint/2010/main" val="3572790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data structure that needs to be stored in the application class is a binary tree.</a:t>
            </a:r>
          </a:p>
          <a:p>
            <a:r>
              <a:rPr lang="en-US" dirty="0" smtClean="0"/>
              <a:t>In the initialization, add 50 random numbers to the tree.</a:t>
            </a:r>
          </a:p>
          <a:p>
            <a:r>
              <a:rPr lang="en-US" dirty="0" smtClean="0"/>
              <a:t>In Interval, at this point, you don't have to do anything.</a:t>
            </a:r>
          </a:p>
          <a:p>
            <a:r>
              <a:rPr lang="en-US" dirty="0" smtClean="0"/>
              <a:t>In Draw, visualize the tree.</a:t>
            </a:r>
          </a:p>
          <a:p>
            <a:endParaRPr lang="en-US" dirty="0"/>
          </a:p>
          <a:p>
            <a:r>
              <a:rPr lang="en-US" dirty="0" smtClean="0"/>
              <a:t>Cut-out Binary-Tree code in </a:t>
            </a:r>
            <a:r>
              <a:rPr lang="en-US" dirty="0" err="1" smtClean="0"/>
              <a:t>bintree.h</a:t>
            </a:r>
            <a:endParaRPr lang="en-US" dirty="0" smtClean="0"/>
          </a:p>
          <a:p>
            <a:endParaRPr lang="en-US" dirty="0"/>
          </a:p>
        </p:txBody>
      </p:sp>
    </p:spTree>
    <p:extLst>
      <p:ext uri="{BB962C8B-B14F-4D97-AF65-F5344CB8AC3E}">
        <p14:creationId xmlns:p14="http://schemas.microsoft.com/office/powerpoint/2010/main" val="3323344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to the </a:t>
            </a:r>
            <a:r>
              <a:rPr lang="en-US" dirty="0" err="1" smtClean="0"/>
              <a:t>FsLazyWindowApplication</a:t>
            </a:r>
            <a:endParaRPr lang="en-US" dirty="0"/>
          </a:p>
        </p:txBody>
      </p:sp>
      <p:sp>
        <p:nvSpPr>
          <p:cNvPr id="3" name="Content Placeholder 2"/>
          <p:cNvSpPr>
            <a:spLocks noGrp="1"/>
          </p:cNvSpPr>
          <p:nvPr>
            <p:ph idx="1"/>
          </p:nvPr>
        </p:nvSpPr>
        <p:spPr/>
        <p:txBody>
          <a:bodyPr/>
          <a:lstStyle/>
          <a:p>
            <a:r>
              <a:rPr lang="en-US" dirty="0" smtClean="0"/>
              <a:t>Add following headers at the beginning of main.cpp</a:t>
            </a:r>
            <a:br>
              <a:rPr lang="en-US" dirty="0" smtClean="0"/>
            </a:br>
            <a:r>
              <a:rPr lang="en-US" sz="1050" dirty="0">
                <a:latin typeface="Consolas" panose="020B0609020204030204" pitchFamily="49" charset="0"/>
              </a:rPr>
              <a:t>#include &lt;</a:t>
            </a:r>
            <a:r>
              <a:rPr lang="en-US" sz="1050" dirty="0" err="1">
                <a:latin typeface="Consolas" panose="020B0609020204030204" pitchFamily="49" charset="0"/>
              </a:rPr>
              <a:t>stdio.h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stdlib.h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time.h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ysglfontdata.h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&lt;</a:t>
            </a:r>
            <a:r>
              <a:rPr lang="en-US" sz="1050" dirty="0" err="1">
                <a:latin typeface="Consolas" panose="020B0609020204030204" pitchFamily="49" charset="0"/>
              </a:rPr>
              <a:t>fslazywindow.h</a:t>
            </a:r>
            <a:r>
              <a:rPr lang="en-US" sz="1050" dirty="0" smtClean="0">
                <a:latin typeface="Consolas" panose="020B0609020204030204" pitchFamily="49" charset="0"/>
              </a:rPr>
              <a:t>&gt;</a:t>
            </a:r>
            <a:br>
              <a:rPr lang="en-US" sz="1050" dirty="0" smtClean="0">
                <a:latin typeface="Consolas" panose="020B0609020204030204" pitchFamily="49" charset="0"/>
              </a:rPr>
            </a:br>
            <a:r>
              <a:rPr lang="en-US" sz="1050" dirty="0" smtClean="0">
                <a:latin typeface="Consolas" panose="020B0609020204030204" pitchFamily="49" charset="0"/>
              </a:rPr>
              <a:t>#</a:t>
            </a:r>
            <a:r>
              <a:rPr lang="en-US" sz="1050" dirty="0">
                <a:latin typeface="Consolas" panose="020B0609020204030204" pitchFamily="49" charset="0"/>
              </a:rPr>
              <a:t>include "</a:t>
            </a:r>
            <a:r>
              <a:rPr lang="en-US" sz="1050" dirty="0" err="1">
                <a:latin typeface="Consolas" panose="020B0609020204030204" pitchFamily="49" charset="0"/>
              </a:rPr>
              <a:t>bintree.h</a:t>
            </a:r>
            <a:r>
              <a:rPr lang="en-US" sz="1050" dirty="0">
                <a:latin typeface="Consolas" panose="020B0609020204030204" pitchFamily="49" charset="0"/>
              </a:rPr>
              <a:t>"</a:t>
            </a:r>
          </a:p>
          <a:p>
            <a:r>
              <a:rPr lang="en-US" dirty="0" smtClean="0"/>
              <a:t>Add a member variable in </a:t>
            </a:r>
            <a:r>
              <a:rPr lang="en-US" dirty="0" err="1" smtClean="0"/>
              <a:t>FsLazyWindowApplication</a:t>
            </a:r>
            <a:r>
              <a:rPr lang="en-US" dirty="0" smtClean="0"/>
              <a:t> class as:</a:t>
            </a:r>
            <a:br>
              <a:rPr lang="en-US" dirty="0" smtClean="0"/>
            </a:br>
            <a:r>
              <a:rPr lang="en-US" sz="1400" dirty="0" err="1" smtClean="0">
                <a:latin typeface="Lucida Console" panose="020B0609040504020204" pitchFamily="49" charset="0"/>
              </a:rPr>
              <a:t>BinaryTree</a:t>
            </a:r>
            <a:r>
              <a:rPr lang="en-US" sz="1400" dirty="0" smtClean="0">
                <a:latin typeface="Lucida Console" panose="020B0609040504020204" pitchFamily="49" charset="0"/>
              </a:rPr>
              <a:t> &lt;</a:t>
            </a:r>
            <a:r>
              <a:rPr lang="en-US" sz="1400" dirty="0" err="1" smtClean="0">
                <a:latin typeface="Lucida Console" panose="020B0609040504020204" pitchFamily="49" charset="0"/>
              </a:rPr>
              <a:t>int,int</a:t>
            </a:r>
            <a:r>
              <a:rPr lang="en-US" sz="1400" dirty="0" smtClean="0">
                <a:latin typeface="Lucida Console" panose="020B0609040504020204" pitchFamily="49" charset="0"/>
              </a:rPr>
              <a:t>&gt; </a:t>
            </a:r>
            <a:r>
              <a:rPr lang="en-US" sz="1400" dirty="0" err="1" smtClean="0">
                <a:latin typeface="Lucida Console" panose="020B0609040504020204" pitchFamily="49" charset="0"/>
              </a:rPr>
              <a:t>btree</a:t>
            </a:r>
            <a:r>
              <a:rPr lang="en-US" sz="1400" dirty="0" smtClean="0">
                <a:latin typeface="Lucida Console" panose="020B0609040504020204" pitchFamily="49" charset="0"/>
              </a:rPr>
              <a:t>;</a:t>
            </a:r>
            <a:endParaRPr lang="en-US" dirty="0" smtClean="0">
              <a:latin typeface="Lucida Console" panose="020B0609040504020204" pitchFamily="49" charset="0"/>
            </a:endParaRPr>
          </a:p>
          <a:p>
            <a:r>
              <a:rPr lang="en-US" dirty="0" smtClean="0"/>
              <a:t>In Initialize, do the following:</a:t>
            </a:r>
            <a:r>
              <a:rPr lang="en-US" dirty="0"/>
              <a:t/>
            </a:r>
            <a:br>
              <a:rPr lang="en-US" dirty="0"/>
            </a:br>
            <a:r>
              <a:rPr lang="en-US" sz="1400" dirty="0" smtClean="0">
                <a:latin typeface="Lucida Console" panose="020B0609040504020204" pitchFamily="49" charset="0"/>
              </a:rPr>
              <a:t>     </a:t>
            </a:r>
            <a:r>
              <a:rPr lang="en-US" sz="1400" dirty="0" err="1" smtClean="0">
                <a:latin typeface="Lucida Console" panose="020B0609040504020204" pitchFamily="49" charset="0"/>
              </a:rPr>
              <a:t>srand</a:t>
            </a:r>
            <a:r>
              <a:rPr lang="en-US" sz="1400" dirty="0">
                <a:latin typeface="Lucida Console" panose="020B0609040504020204" pitchFamily="49" charset="0"/>
              </a:rPr>
              <a:t>((</a:t>
            </a:r>
            <a:r>
              <a:rPr lang="en-US" sz="1400" dirty="0" err="1">
                <a:latin typeface="Lucida Console" panose="020B0609040504020204" pitchFamily="49" charset="0"/>
              </a:rPr>
              <a:t>int</a:t>
            </a:r>
            <a:r>
              <a:rPr lang="en-US" sz="1400" dirty="0">
                <a:latin typeface="Lucida Console" panose="020B0609040504020204" pitchFamily="49" charset="0"/>
              </a:rPr>
              <a:t>)time(</a:t>
            </a:r>
            <a:r>
              <a:rPr lang="en-US" sz="1400" dirty="0" err="1">
                <a:latin typeface="Lucida Console" panose="020B0609040504020204" pitchFamily="49" charset="0"/>
              </a:rPr>
              <a:t>nullptr</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for(</a:t>
            </a:r>
            <a:r>
              <a:rPr lang="en-US" sz="1400" dirty="0" err="1" smtClean="0">
                <a:latin typeface="Lucida Console" panose="020B0609040504020204" pitchFamily="49" charset="0"/>
              </a:rPr>
              <a:t>int</a:t>
            </a:r>
            <a:r>
              <a:rPr lang="en-US" sz="1400" dirty="0" smtClean="0">
                <a:latin typeface="Lucida Console" panose="020B0609040504020204" pitchFamily="49" charset="0"/>
              </a:rPr>
              <a:t> </a:t>
            </a:r>
            <a:r>
              <a:rPr lang="en-US" sz="1400" dirty="0" err="1">
                <a:latin typeface="Lucida Console" panose="020B0609040504020204" pitchFamily="49" charset="0"/>
              </a:rPr>
              <a:t>i</a:t>
            </a:r>
            <a:r>
              <a:rPr lang="en-US" sz="1400" dirty="0">
                <a:latin typeface="Lucida Console" panose="020B0609040504020204" pitchFamily="49" charset="0"/>
              </a:rPr>
              <a:t>=0; </a:t>
            </a:r>
            <a:r>
              <a:rPr lang="en-US" sz="1400" dirty="0" err="1">
                <a:latin typeface="Lucida Console" panose="020B0609040504020204" pitchFamily="49" charset="0"/>
              </a:rPr>
              <a:t>i</a:t>
            </a:r>
            <a:r>
              <a:rPr lang="en-US" sz="1400" dirty="0">
                <a:latin typeface="Lucida Console" panose="020B0609040504020204" pitchFamily="49" charset="0"/>
              </a:rPr>
              <a:t>&lt;50; ++</a:t>
            </a:r>
            <a:r>
              <a:rPr lang="en-US" sz="1400" dirty="0" err="1">
                <a:latin typeface="Lucida Console" panose="020B0609040504020204" pitchFamily="49" charset="0"/>
              </a:rPr>
              <a:t>i</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tree.Insert</a:t>
            </a:r>
            <a:r>
              <a:rPr lang="en-US" sz="1400" dirty="0" smtClean="0">
                <a:latin typeface="Lucida Console" panose="020B0609040504020204" pitchFamily="49" charset="0"/>
              </a:rPr>
              <a:t>(rand</a:t>
            </a:r>
            <a:r>
              <a:rPr lang="en-US" sz="1400" dirty="0">
                <a:latin typeface="Lucida Console" panose="020B0609040504020204" pitchFamily="49" charset="0"/>
              </a:rPr>
              <a:t>()%100,0</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endParaRPr lang="en-US" sz="1400" dirty="0">
              <a:latin typeface="Lucida Console" panose="020B0609040504020204" pitchFamily="49" charset="0"/>
            </a:endParaRPr>
          </a:p>
          <a:p>
            <a:endParaRPr lang="en-US" sz="1400" dirty="0" smtClean="0">
              <a:latin typeface="Lucida Console" panose="020B0609040504020204" pitchFamily="49" charset="0"/>
            </a:endParaRPr>
          </a:p>
          <a:p>
            <a:endParaRPr lang="en-US" dirty="0" smtClean="0"/>
          </a:p>
          <a:p>
            <a:endParaRPr lang="en-US" dirty="0"/>
          </a:p>
          <a:p>
            <a:endParaRPr lang="en-US" dirty="0"/>
          </a:p>
          <a:p>
            <a:endParaRPr lang="en-US" dirty="0" smtClean="0"/>
          </a:p>
          <a:p>
            <a:endParaRPr lang="en-US" dirty="0"/>
          </a:p>
        </p:txBody>
      </p:sp>
    </p:spTree>
    <p:extLst>
      <p:ext uri="{BB962C8B-B14F-4D97-AF65-F5344CB8AC3E}">
        <p14:creationId xmlns:p14="http://schemas.microsoft.com/office/powerpoint/2010/main" val="647034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Add a </a:t>
            </a:r>
            <a:r>
              <a:rPr lang="en-US" dirty="0" smtClean="0"/>
              <a:t>member-function:</a:t>
            </a:r>
            <a:r>
              <a:rPr lang="en-US" dirty="0"/>
              <a:t/>
            </a:r>
            <a:br>
              <a:rPr lang="en-US" dirty="0"/>
            </a:br>
            <a:endParaRPr lang="en-US" dirty="0"/>
          </a:p>
        </p:txBody>
      </p:sp>
      <p:sp>
        <p:nvSpPr>
          <p:cNvPr id="4" name="TextBox 3"/>
          <p:cNvSpPr txBox="1"/>
          <p:nvPr/>
        </p:nvSpPr>
        <p:spPr>
          <a:xfrm>
            <a:off x="866498" y="1772905"/>
            <a:ext cx="7411003" cy="3647152"/>
          </a:xfrm>
          <a:prstGeom prst="rect">
            <a:avLst/>
          </a:prstGeom>
          <a:noFill/>
        </p:spPr>
        <p:txBody>
          <a:bodyPr wrap="none" rtlCol="0">
            <a:spAutoFit/>
          </a:bodyPr>
          <a:lstStyle/>
          <a:p>
            <a:r>
              <a:rPr lang="en-US" sz="1050" dirty="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DrawNode</a:t>
            </a:r>
            <a:r>
              <a:rPr lang="en-US" sz="1050" dirty="0" smtClean="0">
                <a:latin typeface="Consolas" panose="020B0609020204030204" pitchFamily="49" charset="0"/>
              </a:rPr>
              <a:t>(</a:t>
            </a:r>
          </a:p>
          <a:p>
            <a:r>
              <a:rPr lang="en-US" sz="1050" dirty="0">
                <a:latin typeface="Consolas" panose="020B0609020204030204" pitchFamily="49" charset="0"/>
              </a:rPr>
              <a:t> </a:t>
            </a:r>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x0,int x1,int y0,int </a:t>
            </a:r>
            <a:r>
              <a:rPr lang="en-US" sz="1050" dirty="0" err="1">
                <a:latin typeface="Consolas" panose="020B0609020204030204" pitchFamily="49" charset="0"/>
              </a:rPr>
              <a:t>yStep,int</a:t>
            </a:r>
            <a:r>
              <a:rPr lang="en-US" sz="1050" dirty="0">
                <a:latin typeface="Consolas" panose="020B0609020204030204" pitchFamily="49" charset="0"/>
              </a:rPr>
              <a:t> </a:t>
            </a:r>
            <a:r>
              <a:rPr lang="en-US" sz="1050" dirty="0" err="1">
                <a:latin typeface="Consolas" panose="020B0609020204030204" pitchFamily="49" charset="0"/>
              </a:rPr>
              <a:t>prevX,int</a:t>
            </a:r>
            <a:r>
              <a:rPr lang="en-US" sz="1050" dirty="0">
                <a:latin typeface="Consolas" panose="020B0609020204030204" pitchFamily="49" charset="0"/>
              </a:rPr>
              <a:t> </a:t>
            </a:r>
            <a:r>
              <a:rPr lang="en-US" sz="1050" dirty="0" err="1">
                <a:latin typeface="Consolas" panose="020B0609020204030204" pitchFamily="49" charset="0"/>
              </a:rPr>
              <a:t>prevY,BinaryTree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x=(x0+x1)/2,y=y0+yStep/2;</a:t>
            </a:r>
          </a:p>
          <a:p>
            <a:r>
              <a:rPr lang="en-US" sz="1050" dirty="0" smtClean="0">
                <a:latin typeface="Consolas" panose="020B0609020204030204" pitchFamily="49" charset="0"/>
              </a:rPr>
              <a:t>        glColor3ub(0,0,0</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glBegin</a:t>
            </a:r>
            <a:r>
              <a:rPr lang="en-US" sz="1050" dirty="0" smtClean="0">
                <a:latin typeface="Consolas" panose="020B0609020204030204" pitchFamily="49" charset="0"/>
              </a:rPr>
              <a:t>(GL_LINES</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prevX,prevY</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glEnd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glRasterPos2i(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char </a:t>
            </a:r>
            <a:r>
              <a:rPr lang="en-US" sz="1050" dirty="0" err="1">
                <a:latin typeface="Consolas" panose="020B0609020204030204" pitchFamily="49" charset="0"/>
              </a:rPr>
              <a:t>str</a:t>
            </a:r>
            <a:r>
              <a:rPr lang="en-US" sz="1050" dirty="0">
                <a:latin typeface="Consolas" panose="020B0609020204030204" pitchFamily="49" charset="0"/>
              </a:rPr>
              <a:t>[256];</a:t>
            </a:r>
          </a:p>
          <a:p>
            <a:r>
              <a:rPr lang="en-US" sz="1050" dirty="0" smtClean="0">
                <a:latin typeface="Consolas" panose="020B0609020204030204" pitchFamily="49" charset="0"/>
              </a:rPr>
              <a:t>        </a:t>
            </a:r>
            <a:r>
              <a:rPr lang="en-US" sz="1050" dirty="0" err="1" smtClean="0">
                <a:latin typeface="Consolas" panose="020B0609020204030204" pitchFamily="49" charset="0"/>
              </a:rPr>
              <a:t>sprintf</a:t>
            </a:r>
            <a:r>
              <a:rPr lang="en-US" sz="1050" dirty="0" smtClean="0">
                <a:latin typeface="Consolas" panose="020B0609020204030204" pitchFamily="49" charset="0"/>
              </a:rPr>
              <a:t>(</a:t>
            </a:r>
            <a:r>
              <a:rPr lang="en-US" sz="1050" dirty="0" err="1" smtClean="0">
                <a:latin typeface="Consolas" panose="020B0609020204030204" pitchFamily="49" charset="0"/>
              </a:rPr>
              <a:t>str</a:t>
            </a:r>
            <a:r>
              <a:rPr lang="en-US" sz="1050" dirty="0">
                <a:latin typeface="Consolas" panose="020B0609020204030204" pitchFamily="49" charset="0"/>
              </a:rPr>
              <a:t>,"%d",</a:t>
            </a:r>
            <a:r>
              <a:rPr lang="en-US" sz="1050" dirty="0" err="1">
                <a:latin typeface="Consolas" panose="020B0609020204030204" pitchFamily="49" charset="0"/>
              </a:rPr>
              <a:t>tree.GetKey</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YsGlDrawFontBitmap12x16(</a:t>
            </a:r>
            <a:r>
              <a:rPr lang="en-US" sz="1050" dirty="0" err="1" smtClean="0">
                <a:latin typeface="Consolas" panose="020B0609020204030204" pitchFamily="49" charset="0"/>
              </a:rPr>
              <a:t>str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smtClean="0">
                <a:latin typeface="Consolas" panose="020B0609020204030204" pitchFamily="49" charset="0"/>
              </a:rPr>
              <a:t>(x0</a:t>
            </a:r>
            <a:r>
              <a:rPr lang="en-US" sz="1050" dirty="0">
                <a:latin typeface="Consolas" panose="020B0609020204030204" pitchFamily="49" charset="0"/>
              </a:rPr>
              <a:t>,(x0+x1)/2,y0+yStep,yStep,x,y,tree.Left(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a:latin typeface="Consolas" panose="020B0609020204030204" pitchFamily="49" charset="0"/>
              </a:rPr>
              <a:t>((x0+x1)/2,x1,y0+yStep,yStep,x,y,tree.Right(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7" name="Right Brace 6"/>
          <p:cNvSpPr/>
          <p:nvPr/>
        </p:nvSpPr>
        <p:spPr>
          <a:xfrm>
            <a:off x="5822950" y="4502150"/>
            <a:ext cx="171450" cy="43815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6032500" y="4533900"/>
            <a:ext cx="1223412" cy="369332"/>
          </a:xfrm>
          <a:prstGeom prst="rect">
            <a:avLst/>
          </a:prstGeom>
          <a:noFill/>
        </p:spPr>
        <p:txBody>
          <a:bodyPr wrap="none" rtlCol="0">
            <a:spAutoFit/>
          </a:bodyPr>
          <a:lstStyle/>
          <a:p>
            <a:r>
              <a:rPr lang="en-US" dirty="0" smtClean="0"/>
              <a:t>Recursion</a:t>
            </a:r>
            <a:endParaRPr lang="en-US" dirty="0"/>
          </a:p>
        </p:txBody>
      </p:sp>
      <p:cxnSp>
        <p:nvCxnSpPr>
          <p:cNvPr id="10" name="Straight Arrow Connector 9"/>
          <p:cNvCxnSpPr/>
          <p:nvPr/>
        </p:nvCxnSpPr>
        <p:spPr>
          <a:xfrm flipH="1">
            <a:off x="2654300" y="3733800"/>
            <a:ext cx="2552700" cy="819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2838450" y="4903232"/>
            <a:ext cx="1250950" cy="669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207000" y="3383518"/>
            <a:ext cx="3202176" cy="646331"/>
          </a:xfrm>
          <a:prstGeom prst="rect">
            <a:avLst/>
          </a:prstGeom>
          <a:noFill/>
        </p:spPr>
        <p:txBody>
          <a:bodyPr wrap="square" rtlCol="0">
            <a:spAutoFit/>
          </a:bodyPr>
          <a:lstStyle/>
          <a:p>
            <a:r>
              <a:rPr lang="en-US" dirty="0" smtClean="0"/>
              <a:t>Left node takes left-half of the current node</a:t>
            </a:r>
            <a:endParaRPr lang="en-US" dirty="0"/>
          </a:p>
        </p:txBody>
      </p:sp>
      <p:sp>
        <p:nvSpPr>
          <p:cNvPr id="14" name="TextBox 13"/>
          <p:cNvSpPr txBox="1"/>
          <p:nvPr/>
        </p:nvSpPr>
        <p:spPr>
          <a:xfrm>
            <a:off x="4089400" y="5272033"/>
            <a:ext cx="3202176" cy="646331"/>
          </a:xfrm>
          <a:prstGeom prst="rect">
            <a:avLst/>
          </a:prstGeom>
          <a:noFill/>
        </p:spPr>
        <p:txBody>
          <a:bodyPr wrap="square" rtlCol="0">
            <a:spAutoFit/>
          </a:bodyPr>
          <a:lstStyle/>
          <a:p>
            <a:r>
              <a:rPr lang="en-US" dirty="0" smtClean="0"/>
              <a:t>Right node takes right-half of the current node</a:t>
            </a:r>
            <a:endParaRPr lang="en-US" dirty="0"/>
          </a:p>
        </p:txBody>
      </p:sp>
    </p:spTree>
    <p:extLst>
      <p:ext uri="{BB962C8B-B14F-4D97-AF65-F5344CB8AC3E}">
        <p14:creationId xmlns:p14="http://schemas.microsoft.com/office/powerpoint/2010/main" val="1725585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to the </a:t>
            </a:r>
            <a:r>
              <a:rPr lang="en-US" dirty="0" err="1" smtClean="0"/>
              <a:t>FsLazyWindowApplication</a:t>
            </a:r>
            <a:endParaRPr lang="en-US" dirty="0"/>
          </a:p>
        </p:txBody>
      </p:sp>
      <p:sp>
        <p:nvSpPr>
          <p:cNvPr id="3" name="Content Placeholder 2"/>
          <p:cNvSpPr>
            <a:spLocks noGrp="1"/>
          </p:cNvSpPr>
          <p:nvPr>
            <p:ph idx="1"/>
          </p:nvPr>
        </p:nvSpPr>
        <p:spPr/>
        <p:txBody>
          <a:bodyPr/>
          <a:lstStyle/>
          <a:p>
            <a:r>
              <a:rPr lang="en-US" dirty="0" smtClean="0"/>
              <a:t>Draw function must look like:</a:t>
            </a:r>
          </a:p>
          <a:p>
            <a:pPr marL="0" indent="0">
              <a:buNone/>
            </a:pPr>
            <a:r>
              <a:rPr lang="en-US" sz="1200" dirty="0" smtClean="0">
                <a:latin typeface="Lucida Console" panose="020B0609040504020204" pitchFamily="49" charset="0"/>
              </a:rPr>
              <a:t/>
            </a:r>
            <a:br>
              <a:rPr lang="en-US" sz="1200" dirty="0" smtClean="0">
                <a:latin typeface="Lucida Console" panose="020B0609040504020204" pitchFamily="49" charset="0"/>
              </a:rPr>
            </a:br>
            <a:r>
              <a:rPr lang="en-US" sz="1200" dirty="0" smtClean="0">
                <a:latin typeface="Lucida Console" panose="020B0609040504020204" pitchFamily="49" charset="0"/>
              </a:rPr>
              <a:t/>
            </a:r>
            <a:br>
              <a:rPr lang="en-US" sz="1200" dirty="0" smtClean="0">
                <a:latin typeface="Lucida Console" panose="020B0609040504020204" pitchFamily="49" charset="0"/>
              </a:rPr>
            </a:br>
            <a:r>
              <a:rPr lang="en-US" sz="1200" dirty="0" smtClean="0">
                <a:latin typeface="Lucida Console" panose="020B0609040504020204" pitchFamily="49" charset="0"/>
              </a:rPr>
              <a:t>void </a:t>
            </a:r>
            <a:r>
              <a:rPr lang="en-US" sz="1200" dirty="0" err="1">
                <a:latin typeface="Lucida Console" panose="020B0609040504020204" pitchFamily="49" charset="0"/>
              </a:rPr>
              <a:t>FsLazyWindowApplication</a:t>
            </a:r>
            <a:r>
              <a:rPr lang="en-US" sz="1200" dirty="0">
                <a:latin typeface="Lucida Console" panose="020B0609040504020204" pitchFamily="49" charset="0"/>
              </a:rPr>
              <a:t>::Draw(void)</a:t>
            </a:r>
          </a:p>
          <a:p>
            <a:pPr marL="0" indent="0">
              <a:buNone/>
            </a:pP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glClear</a:t>
            </a:r>
            <a:r>
              <a:rPr lang="en-US" sz="1200" dirty="0" smtClean="0">
                <a:latin typeface="Lucida Console" panose="020B0609040504020204" pitchFamily="49" charset="0"/>
              </a:rPr>
              <a:t>(GL_COLOR_BUFFER_BIT|GL_DEPTH_BUFFER_BIT</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DrawNode</a:t>
            </a:r>
            <a:r>
              <a:rPr lang="en-US" sz="1200" dirty="0" smtClean="0">
                <a:latin typeface="Lucida Console" panose="020B0609040504020204" pitchFamily="49" charset="0"/>
              </a:rPr>
              <a:t>(0,800,0,40</a:t>
            </a:r>
            <a:r>
              <a:rPr lang="en-US" sz="1200" dirty="0">
                <a:latin typeface="Lucida Console" panose="020B0609040504020204" pitchFamily="49" charset="0"/>
              </a:rPr>
              <a:t>, 400,20, </a:t>
            </a:r>
            <a:r>
              <a:rPr lang="en-US" sz="1200" dirty="0" err="1">
                <a:latin typeface="Lucida Console" panose="020B0609040504020204" pitchFamily="49" charset="0"/>
              </a:rPr>
              <a:t>tree.RootNode</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FsSwapBuffers</a:t>
            </a:r>
            <a:r>
              <a:rPr lang="en-US" sz="1200" dirty="0">
                <a:latin typeface="Lucida Console" panose="020B0609040504020204" pitchFamily="49" charset="0"/>
              </a:rPr>
              <a:t>();</a:t>
            </a:r>
          </a:p>
          <a:p>
            <a:pPr marL="0" indent="0">
              <a:buNone/>
            </a:pPr>
            <a:r>
              <a:rPr lang="en-US" sz="1200" dirty="0" smtClean="0">
                <a:latin typeface="Lucida Console" panose="020B0609040504020204" pitchFamily="49" charset="0"/>
              </a:rPr>
              <a:t>    </a:t>
            </a:r>
            <a:r>
              <a:rPr lang="en-US" sz="1200" dirty="0" err="1" smtClean="0">
                <a:latin typeface="Lucida Console" panose="020B0609040504020204" pitchFamily="49" charset="0"/>
              </a:rPr>
              <a:t>needRedraw</a:t>
            </a:r>
            <a:r>
              <a:rPr lang="en-US" sz="1200" dirty="0" smtClean="0">
                <a:latin typeface="Lucida Console" panose="020B0609040504020204" pitchFamily="49" charset="0"/>
              </a:rPr>
              <a:t>=false</a:t>
            </a:r>
            <a:r>
              <a:rPr lang="en-US" sz="1200" dirty="0">
                <a:latin typeface="Lucida Console" panose="020B0609040504020204" pitchFamily="49" charset="0"/>
              </a:rPr>
              <a:t>;</a:t>
            </a:r>
          </a:p>
          <a:p>
            <a:pPr marL="0" indent="0">
              <a:buNone/>
            </a:pPr>
            <a:r>
              <a:rPr lang="en-US" sz="1200" dirty="0">
                <a:latin typeface="Lucida Console" panose="020B0609040504020204" pitchFamily="49" charset="0"/>
              </a:rPr>
              <a:t>}</a:t>
            </a:r>
          </a:p>
          <a:p>
            <a:pPr marL="0" indent="0">
              <a:buNone/>
            </a:pPr>
            <a:endParaRPr lang="en-US" dirty="0"/>
          </a:p>
        </p:txBody>
      </p:sp>
    </p:spTree>
    <p:extLst>
      <p:ext uri="{BB962C8B-B14F-4D97-AF65-F5344CB8AC3E}">
        <p14:creationId xmlns:p14="http://schemas.microsoft.com/office/powerpoint/2010/main" val="1152173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 accept Windows-size change</a:t>
            </a:r>
            <a:endParaRPr lang="en-US" dirty="0"/>
          </a:p>
        </p:txBody>
      </p:sp>
      <p:sp>
        <p:nvSpPr>
          <p:cNvPr id="3" name="Content Placeholder 2"/>
          <p:cNvSpPr>
            <a:spLocks noGrp="1"/>
          </p:cNvSpPr>
          <p:nvPr>
            <p:ph idx="1"/>
          </p:nvPr>
        </p:nvSpPr>
        <p:spPr/>
        <p:txBody>
          <a:bodyPr/>
          <a:lstStyle/>
          <a:p>
            <a:pPr marL="0" indent="0">
              <a:buNone/>
            </a:pPr>
            <a:r>
              <a:rPr lang="en-US" sz="1400" dirty="0">
                <a:latin typeface="Lucida Console" panose="020B0609040504020204" pitchFamily="49" charset="0"/>
              </a:rPr>
              <a:t>void </a:t>
            </a:r>
            <a:r>
              <a:rPr lang="en-US" sz="1400" dirty="0" err="1">
                <a:latin typeface="Lucida Console" panose="020B0609040504020204" pitchFamily="49" charset="0"/>
              </a:rPr>
              <a:t>FsLazyWindowApplication</a:t>
            </a:r>
            <a:r>
              <a:rPr lang="en-US" sz="1400" dirty="0">
                <a:latin typeface="Lucida Console" panose="020B0609040504020204" pitchFamily="49" charset="0"/>
              </a:rPr>
              <a:t>::Draw(void)</a:t>
            </a:r>
          </a:p>
          <a:p>
            <a:pPr marL="0" indent="0">
              <a:buNone/>
            </a:pP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wid,hei</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FsGetWindowSize</a:t>
            </a:r>
            <a:r>
              <a:rPr lang="en-US" sz="1400" dirty="0">
                <a:latin typeface="Lucida Console" panose="020B0609040504020204" pitchFamily="49" charset="0"/>
              </a:rPr>
              <a:t>(</a:t>
            </a:r>
            <a:r>
              <a:rPr lang="en-US" sz="1400" dirty="0" err="1">
                <a:latin typeface="Lucida Console" panose="020B0609040504020204" pitchFamily="49" charset="0"/>
              </a:rPr>
              <a:t>wid,hei</a:t>
            </a:r>
            <a:r>
              <a:rPr lang="en-US" sz="1400" dirty="0">
                <a:latin typeface="Lucida Console" panose="020B0609040504020204" pitchFamily="49" charset="0"/>
              </a:rPr>
              <a:t>);</a:t>
            </a:r>
          </a:p>
          <a:p>
            <a:pPr marL="0" indent="0">
              <a:buNone/>
            </a:pPr>
            <a:endParaRPr lang="en-US" sz="1400" dirty="0">
              <a:latin typeface="Lucida Console" panose="020B0609040504020204" pitchFamily="49" charset="0"/>
            </a:endParaRP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glViewport</a:t>
            </a:r>
            <a:r>
              <a:rPr lang="en-US" sz="1400" dirty="0">
                <a:latin typeface="Lucida Console" panose="020B0609040504020204" pitchFamily="49" charset="0"/>
              </a:rPr>
              <a:t>(0,0,wid,hei);</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glMatrixMode</a:t>
            </a:r>
            <a:r>
              <a:rPr lang="en-US" sz="1400" dirty="0">
                <a:latin typeface="Lucida Console" panose="020B0609040504020204" pitchFamily="49" charset="0"/>
              </a:rPr>
              <a:t>(GL_PROJECTION);</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glLoadIdentity</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glOrtho</a:t>
            </a:r>
            <a:r>
              <a:rPr lang="en-US" sz="1400" dirty="0">
                <a:latin typeface="Lucida Console" panose="020B0609040504020204" pitchFamily="49" charset="0"/>
              </a:rPr>
              <a:t>(0,(float)wid-1,(float)hei-1,0,-1,1);</a:t>
            </a:r>
          </a:p>
          <a:p>
            <a:pPr marL="0" indent="0">
              <a:buNone/>
            </a:pPr>
            <a:endParaRPr lang="en-US" sz="1400" dirty="0">
              <a:latin typeface="Lucida Console" panose="020B0609040504020204" pitchFamily="49" charset="0"/>
            </a:endParaRP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glClear</a:t>
            </a:r>
            <a:r>
              <a:rPr lang="en-US" sz="1400" dirty="0">
                <a:latin typeface="Lucida Console" panose="020B0609040504020204" pitchFamily="49" charset="0"/>
              </a:rPr>
              <a:t>(GL_COLOR_BUFFER_BIT|GL_DEPTH_BUFFER_BIT);</a:t>
            </a:r>
          </a:p>
          <a:p>
            <a:pPr marL="0" indent="0">
              <a:buNone/>
            </a:pPr>
            <a:r>
              <a:rPr lang="en-US" sz="1400" dirty="0">
                <a:latin typeface="Lucida Console" panose="020B0609040504020204" pitchFamily="49" charset="0"/>
              </a:rPr>
              <a:t>    Draw(</a:t>
            </a:r>
            <a:r>
              <a:rPr lang="en-US" sz="1400" dirty="0" err="1">
                <a:latin typeface="Lucida Console" panose="020B0609040504020204" pitchFamily="49" charset="0"/>
              </a:rPr>
              <a:t>btree.GetRoot</a:t>
            </a:r>
            <a:r>
              <a:rPr lang="en-US" sz="1400" dirty="0">
                <a:latin typeface="Lucida Console" panose="020B0609040504020204" pitchFamily="49" charset="0"/>
              </a:rPr>
              <a:t>(),0,wid,40,40);</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FsSwapBuffers</a:t>
            </a:r>
            <a:r>
              <a:rPr lang="en-US" sz="1400" dirty="0">
                <a:latin typeface="Lucida Console" panose="020B0609040504020204" pitchFamily="49" charset="0"/>
              </a:rPr>
              <a:t>();</a:t>
            </a:r>
          </a:p>
          <a:p>
            <a:pPr marL="0" indent="0">
              <a:buNone/>
            </a:pPr>
            <a:r>
              <a:rPr lang="en-US" sz="1400" dirty="0">
                <a:latin typeface="Lucida Console" panose="020B0609040504020204" pitchFamily="49" charset="0"/>
              </a:rPr>
              <a:t>    </a:t>
            </a:r>
            <a:r>
              <a:rPr lang="en-US" sz="1400" dirty="0" err="1">
                <a:latin typeface="Lucida Console" panose="020B0609040504020204" pitchFamily="49" charset="0"/>
              </a:rPr>
              <a:t>needRedraw</a:t>
            </a:r>
            <a:r>
              <a:rPr lang="en-US" sz="1400" dirty="0">
                <a:latin typeface="Lucida Console" panose="020B0609040504020204" pitchFamily="49" charset="0"/>
              </a:rPr>
              <a:t>=false;</a:t>
            </a:r>
          </a:p>
          <a:p>
            <a:pPr marL="0" indent="0">
              <a:buNone/>
            </a:pPr>
            <a:r>
              <a:rPr lang="en-US" sz="1400" dirty="0">
                <a:latin typeface="Lucida Console" panose="020B0609040504020204" pitchFamily="49" charset="0"/>
              </a:rPr>
              <a:t>}</a:t>
            </a:r>
          </a:p>
          <a:p>
            <a:pPr marL="0" indent="0">
              <a:buNone/>
            </a:pPr>
            <a:endParaRPr lang="en-US" sz="1400" dirty="0">
              <a:latin typeface="Lucida Console" panose="020B0609040504020204" pitchFamily="49" charset="0"/>
            </a:endParaRPr>
          </a:p>
        </p:txBody>
      </p:sp>
    </p:spTree>
    <p:extLst>
      <p:ext uri="{BB962C8B-B14F-4D97-AF65-F5344CB8AC3E}">
        <p14:creationId xmlns:p14="http://schemas.microsoft.com/office/powerpoint/2010/main" val="2722918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Make it Interactive</a:t>
            </a:r>
            <a:endParaRPr lang="en-US" dirty="0"/>
          </a:p>
        </p:txBody>
      </p:sp>
      <p:sp>
        <p:nvSpPr>
          <p:cNvPr id="3" name="Content Placeholder 2"/>
          <p:cNvSpPr>
            <a:spLocks noGrp="1"/>
          </p:cNvSpPr>
          <p:nvPr>
            <p:ph idx="1"/>
          </p:nvPr>
        </p:nvSpPr>
        <p:spPr/>
        <p:txBody>
          <a:bodyPr/>
          <a:lstStyle/>
          <a:p>
            <a:r>
              <a:rPr lang="en-US" dirty="0" smtClean="0"/>
              <a:t>Highlight a node where the mouse cursor is on.</a:t>
            </a:r>
          </a:p>
          <a:p>
            <a:r>
              <a:rPr lang="en-US" dirty="0" smtClean="0"/>
              <a:t>Press DEL to delete the highlighted node.</a:t>
            </a:r>
          </a:p>
          <a:p>
            <a:r>
              <a:rPr lang="en-US" dirty="0" smtClean="0"/>
              <a:t>Press INSERT to insert a new node.</a:t>
            </a:r>
            <a:endParaRPr lang="en-US" dirty="0"/>
          </a:p>
        </p:txBody>
      </p:sp>
    </p:spTree>
    <p:extLst>
      <p:ext uri="{BB962C8B-B14F-4D97-AF65-F5344CB8AC3E}">
        <p14:creationId xmlns:p14="http://schemas.microsoft.com/office/powerpoint/2010/main" val="1382585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 which node the mouse cursor is on.</a:t>
            </a:r>
            <a:endParaRPr lang="en-US" dirty="0"/>
          </a:p>
        </p:txBody>
      </p:sp>
      <p:sp>
        <p:nvSpPr>
          <p:cNvPr id="3" name="Content Placeholder 2"/>
          <p:cNvSpPr>
            <a:spLocks noGrp="1"/>
          </p:cNvSpPr>
          <p:nvPr>
            <p:ph idx="1"/>
          </p:nvPr>
        </p:nvSpPr>
        <p:spPr/>
        <p:txBody>
          <a:bodyPr/>
          <a:lstStyle/>
          <a:p>
            <a:r>
              <a:rPr lang="en-US" dirty="0" smtClean="0"/>
              <a:t>Member variable for storing highlighted node.</a:t>
            </a:r>
            <a:r>
              <a:rPr lang="en-US" dirty="0"/>
              <a:t/>
            </a:r>
            <a:br>
              <a:rPr lang="en-US" dirty="0"/>
            </a:br>
            <a:r>
              <a:rPr lang="en-US" sz="1600" dirty="0" smtClean="0">
                <a:latin typeface="Consolas" panose="020B0609020204030204" pitchFamily="49" charset="0"/>
              </a:rPr>
              <a:t>    </a:t>
            </a:r>
            <a:r>
              <a:rPr lang="en-US" sz="1600" dirty="0" err="1" smtClean="0">
                <a:latin typeface="Consolas" panose="020B0609020204030204" pitchFamily="49" charset="0"/>
              </a:rPr>
              <a:t>BinaryTree</a:t>
            </a:r>
            <a:r>
              <a:rPr lang="en-US" sz="1600" dirty="0" smtClean="0">
                <a:latin typeface="Consolas" panose="020B0609020204030204" pitchFamily="49" charset="0"/>
              </a:rPr>
              <a:t> </a:t>
            </a:r>
            <a:r>
              <a:rPr lang="en-US" sz="1600" dirty="0">
                <a:latin typeface="Consolas" panose="020B0609020204030204" pitchFamily="49" charset="0"/>
              </a:rPr>
              <a:t>&lt;</a:t>
            </a:r>
            <a:r>
              <a:rPr lang="en-US" sz="1600" dirty="0" err="1">
                <a:latin typeface="Consolas" panose="020B0609020204030204" pitchFamily="49" charset="0"/>
              </a:rPr>
              <a:t>int,int</a:t>
            </a:r>
            <a:r>
              <a:rPr lang="en-US" sz="1600" dirty="0">
                <a:latin typeface="Consolas" panose="020B0609020204030204" pitchFamily="49" charset="0"/>
              </a:rPr>
              <a:t>&gt;::</a:t>
            </a:r>
            <a:r>
              <a:rPr lang="en-US" sz="1600" dirty="0" err="1">
                <a:latin typeface="Consolas" panose="020B0609020204030204" pitchFamily="49" charset="0"/>
              </a:rPr>
              <a:t>NodeHandle</a:t>
            </a:r>
            <a:r>
              <a:rPr lang="en-US" sz="1600" dirty="0">
                <a:latin typeface="Consolas" panose="020B0609020204030204" pitchFamily="49" charset="0"/>
              </a:rPr>
              <a:t> </a:t>
            </a:r>
            <a:r>
              <a:rPr lang="en-US" sz="1600" dirty="0" err="1">
                <a:latin typeface="Consolas" panose="020B0609020204030204" pitchFamily="49" charset="0"/>
              </a:rPr>
              <a:t>mouseOn</a:t>
            </a:r>
            <a:r>
              <a:rPr lang="en-US" sz="1600" dirty="0">
                <a:latin typeface="Consolas" panose="020B0609020204030204" pitchFamily="49" charset="0"/>
              </a:rPr>
              <a:t>;</a:t>
            </a:r>
          </a:p>
          <a:p>
            <a:r>
              <a:rPr lang="en-US" dirty="0" smtClean="0"/>
              <a:t>Nullify it in the constructor.</a:t>
            </a:r>
            <a:endParaRPr lang="en-US" dirty="0"/>
          </a:p>
          <a:p>
            <a:r>
              <a:rPr lang="en-US" dirty="0" smtClean="0"/>
              <a:t>Add the following function declarations in </a:t>
            </a:r>
            <a:r>
              <a:rPr lang="en-US" dirty="0" err="1" smtClean="0"/>
              <a:t>FsLazyWindowApplication</a:t>
            </a:r>
            <a:r>
              <a:rPr lang="en-US" dirty="0" smtClean="0"/>
              <a:t> class.</a:t>
            </a:r>
            <a:r>
              <a:rPr lang="en-US" dirty="0"/>
              <a:t/>
            </a:r>
            <a:br>
              <a:rPr lang="en-US" dirty="0"/>
            </a:br>
            <a:r>
              <a:rPr lang="en-US" sz="1400" dirty="0">
                <a:latin typeface="Lucida Console" panose="020B0609040504020204" pitchFamily="49" charset="0"/>
              </a:rPr>
              <a:t>public</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const</a:t>
            </a:r>
            <a:r>
              <a:rPr lang="en-US" sz="1400" dirty="0" smtClean="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a:t>
            </a:r>
            <a:r>
              <a:rPr lang="en-US" sz="1400" dirty="0" err="1">
                <a:latin typeface="Lucida Console" panose="020B0609040504020204" pitchFamily="49" charset="0"/>
              </a:rPr>
              <a:t>PickedNode</a:t>
            </a:r>
            <a:r>
              <a:rPr lang="en-US" sz="1400" dirty="0">
                <a:latin typeface="Lucida Console" panose="020B0609040504020204" pitchFamily="49" charset="0"/>
              </a:rPr>
              <a:t>(</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mx,int</a:t>
            </a:r>
            <a:r>
              <a:rPr lang="en-US" sz="1400" dirty="0">
                <a:latin typeface="Lucida Console" panose="020B0609040504020204" pitchFamily="49" charset="0"/>
              </a:rPr>
              <a:t> my) </a:t>
            </a:r>
            <a:r>
              <a:rPr lang="en-US" sz="1400" dirty="0" err="1">
                <a:latin typeface="Lucida Console" panose="020B0609040504020204" pitchFamily="49" charset="0"/>
              </a:rPr>
              <a:t>const</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private:</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smtClean="0">
                <a:latin typeface="Lucida Console" panose="020B0609040504020204" pitchFamily="49" charset="0"/>
              </a:rPr>
              <a:t>const</a:t>
            </a:r>
            <a:r>
              <a:rPr lang="en-US" sz="1400" dirty="0" smtClean="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a:t>
            </a:r>
            <a:r>
              <a:rPr lang="en-US" sz="1400" dirty="0" err="1">
                <a:latin typeface="Lucida Console" panose="020B0609040504020204" pitchFamily="49" charset="0"/>
              </a:rPr>
              <a:t>PickedNode</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a:latin typeface="Lucida Console" panose="020B0609040504020204" pitchFamily="49" charset="0"/>
              </a:rPr>
              <a:t>const</a:t>
            </a:r>
            <a:r>
              <a:rPr lang="en-US" sz="1400" dirty="0">
                <a:latin typeface="Lucida Console" panose="020B0609040504020204" pitchFamily="49" charset="0"/>
              </a:rPr>
              <a:t> </a:t>
            </a:r>
            <a:r>
              <a:rPr lang="en-US" sz="1400" dirty="0" err="1">
                <a:latin typeface="Lucida Console" panose="020B0609040504020204" pitchFamily="49" charset="0"/>
              </a:rPr>
              <a:t>BinaryTree</a:t>
            </a:r>
            <a:r>
              <a:rPr lang="en-US" sz="1400" dirty="0">
                <a:latin typeface="Lucida Console" panose="020B0609040504020204" pitchFamily="49" charset="0"/>
              </a:rPr>
              <a:t> &lt;</a:t>
            </a:r>
            <a:r>
              <a:rPr lang="en-US" sz="1400" dirty="0" err="1">
                <a:latin typeface="Lucida Console" panose="020B0609040504020204" pitchFamily="49" charset="0"/>
              </a:rPr>
              <a:t>int,int</a:t>
            </a:r>
            <a:r>
              <a:rPr lang="en-US" sz="1400" dirty="0">
                <a:latin typeface="Lucida Console" panose="020B0609040504020204" pitchFamily="49" charset="0"/>
              </a:rPr>
              <a:t>&gt;::Node *node</a:t>
            </a:r>
            <a:r>
              <a:rPr lang="en-US" sz="1400" dirty="0" smtClean="0">
                <a:latin typeface="Lucida Console" panose="020B0609040504020204" pitchFamily="49" charset="0"/>
              </a:rPr>
              <a:t>,</a:t>
            </a:r>
            <a:br>
              <a:rPr lang="en-US" sz="1400" dirty="0" smtClean="0">
                <a:latin typeface="Lucida Console" panose="020B0609040504020204" pitchFamily="49" charset="0"/>
              </a:rPr>
            </a:br>
            <a:r>
              <a:rPr lang="en-US" sz="1400" dirty="0" smtClean="0">
                <a:latin typeface="Lucida Console" panose="020B0609040504020204" pitchFamily="49" charset="0"/>
              </a:rPr>
              <a:t>        </a:t>
            </a:r>
            <a:r>
              <a:rPr lang="en-US" sz="1400" dirty="0" err="1">
                <a:latin typeface="Lucida Console" panose="020B0609040504020204" pitchFamily="49" charset="0"/>
              </a:rPr>
              <a:t>int</a:t>
            </a:r>
            <a:r>
              <a:rPr lang="en-US" sz="1400" dirty="0">
                <a:latin typeface="Lucida Console" panose="020B0609040504020204" pitchFamily="49" charset="0"/>
              </a:rPr>
              <a:t> </a:t>
            </a:r>
            <a:r>
              <a:rPr lang="en-US" sz="1400" dirty="0" err="1">
                <a:latin typeface="Lucida Console" panose="020B0609040504020204" pitchFamily="49" charset="0"/>
              </a:rPr>
              <a:t>mx,int</a:t>
            </a:r>
            <a:r>
              <a:rPr lang="en-US" sz="1400" dirty="0">
                <a:latin typeface="Lucida Console" panose="020B0609040504020204" pitchFamily="49" charset="0"/>
              </a:rPr>
              <a:t> </a:t>
            </a:r>
            <a:r>
              <a:rPr lang="en-US" sz="1400" dirty="0" err="1">
                <a:latin typeface="Lucida Console" panose="020B0609040504020204" pitchFamily="49" charset="0"/>
              </a:rPr>
              <a:t>my,int</a:t>
            </a:r>
            <a:r>
              <a:rPr lang="en-US" sz="1400" dirty="0">
                <a:latin typeface="Lucida Console" panose="020B0609040504020204" pitchFamily="49" charset="0"/>
              </a:rPr>
              <a:t> x0,int x1,int </a:t>
            </a:r>
            <a:r>
              <a:rPr lang="en-US" sz="1400" dirty="0" err="1">
                <a:latin typeface="Lucida Console" panose="020B0609040504020204" pitchFamily="49" charset="0"/>
              </a:rPr>
              <a:t>y,int</a:t>
            </a:r>
            <a:r>
              <a:rPr lang="en-US" sz="1400" dirty="0">
                <a:latin typeface="Lucida Console" panose="020B0609040504020204" pitchFamily="49" charset="0"/>
              </a:rPr>
              <a:t> </a:t>
            </a:r>
            <a:r>
              <a:rPr lang="en-US" sz="1400" dirty="0" err="1">
                <a:latin typeface="Lucida Console" panose="020B0609040504020204" pitchFamily="49" charset="0"/>
              </a:rPr>
              <a:t>yStep</a:t>
            </a:r>
            <a:r>
              <a:rPr lang="en-US" sz="1400" dirty="0">
                <a:latin typeface="Lucida Console" panose="020B0609040504020204" pitchFamily="49" charset="0"/>
              </a:rPr>
              <a:t>) </a:t>
            </a:r>
            <a:r>
              <a:rPr lang="en-US" sz="1400" dirty="0" err="1">
                <a:latin typeface="Lucida Console" panose="020B0609040504020204" pitchFamily="49" charset="0"/>
              </a:rPr>
              <a:t>const</a:t>
            </a:r>
            <a:r>
              <a:rPr lang="en-US" sz="1400" dirty="0">
                <a:latin typeface="Lucida Console" panose="020B0609040504020204" pitchFamily="49" charset="0"/>
              </a:rPr>
              <a:t>;</a:t>
            </a:r>
          </a:p>
          <a:p>
            <a:endParaRPr lang="en-US" dirty="0" smtClean="0"/>
          </a:p>
          <a:p>
            <a:endParaRPr lang="en-US" dirty="0" smtClean="0"/>
          </a:p>
        </p:txBody>
      </p:sp>
    </p:spTree>
    <p:extLst>
      <p:ext uri="{BB962C8B-B14F-4D97-AF65-F5344CB8AC3E}">
        <p14:creationId xmlns:p14="http://schemas.microsoft.com/office/powerpoint/2010/main" val="3455820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functions</a:t>
            </a:r>
            <a:endParaRPr lang="en-US" dirty="0"/>
          </a:p>
        </p:txBody>
      </p:sp>
      <p:sp>
        <p:nvSpPr>
          <p:cNvPr id="4" name="TextBox 3"/>
          <p:cNvSpPr txBox="1"/>
          <p:nvPr/>
        </p:nvSpPr>
        <p:spPr>
          <a:xfrm>
            <a:off x="699786" y="1104900"/>
            <a:ext cx="7744428" cy="4939814"/>
          </a:xfrm>
          <a:prstGeom prst="rect">
            <a:avLst/>
          </a:prstGeom>
          <a:noFill/>
        </p:spPr>
        <p:txBody>
          <a:bodyPr wrap="none" rtlCol="0">
            <a:spAutoFit/>
          </a:bodyPr>
          <a:lstStyle/>
          <a:p>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mx,int</a:t>
            </a:r>
            <a:r>
              <a:rPr lang="en-US" sz="1050" dirty="0">
                <a:latin typeface="Consolas" panose="020B0609020204030204" pitchFamily="49" charset="0"/>
              </a:rPr>
              <a:t> my)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err="1">
                <a:latin typeface="Consolas" panose="020B0609020204030204" pitchFamily="49" charset="0"/>
              </a:rPr>
              <a:t>wid,hei</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FsGetWindowSize</a:t>
            </a:r>
            <a:r>
              <a:rPr lang="en-US" sz="1050" dirty="0" smtClean="0">
                <a:latin typeface="Consolas" panose="020B0609020204030204" pitchFamily="49" charset="0"/>
              </a:rPr>
              <a:t>(</a:t>
            </a:r>
            <a:r>
              <a:rPr lang="en-US" sz="1050" dirty="0" err="1" smtClean="0">
                <a:latin typeface="Consolas" panose="020B0609020204030204" pitchFamily="49" charset="0"/>
              </a:rPr>
              <a:t>wid,hei</a:t>
            </a:r>
            <a:r>
              <a:rPr lang="en-US" sz="1050" dirty="0">
                <a:latin typeface="Consolas" panose="020B0609020204030204" pitchFamily="49" charset="0"/>
              </a:rPr>
              <a:t>);</a:t>
            </a:r>
          </a:p>
          <a:p>
            <a:r>
              <a:rPr lang="en-US" sz="1050" dirty="0" smtClean="0">
                <a:latin typeface="Consolas" panose="020B0609020204030204" pitchFamily="49" charset="0"/>
              </a:rPr>
              <a:t>    return </a:t>
            </a:r>
            <a:r>
              <a:rPr lang="en-US" sz="1050" dirty="0" err="1">
                <a:latin typeface="Consolas" panose="020B0609020204030204" pitchFamily="49" charset="0"/>
              </a:rPr>
              <a:t>FindNodeFromMouseCoord</a:t>
            </a:r>
            <a:r>
              <a:rPr lang="en-US" sz="1050" dirty="0">
                <a:latin typeface="Consolas" panose="020B0609020204030204" pitchFamily="49" charset="0"/>
              </a:rPr>
              <a:t>(mx,my,0,wid,0,40, </a:t>
            </a:r>
            <a:r>
              <a:rPr lang="en-US" sz="1050" dirty="0" err="1">
                <a:latin typeface="Consolas" panose="020B0609020204030204" pitchFamily="49" charset="0"/>
              </a:rPr>
              <a:t>tree.RootNode</a:t>
            </a:r>
            <a:r>
              <a:rPr lang="en-US" sz="1050" dirty="0">
                <a:latin typeface="Consolas" panose="020B0609020204030204" pitchFamily="49" charset="0"/>
              </a:rPr>
              <a:t>());</a:t>
            </a:r>
          </a:p>
          <a:p>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err="1">
                <a:latin typeface="Consolas" panose="020B0609020204030204" pitchFamily="49" charset="0"/>
              </a:rPr>
              <a:t>BinaryTree</a:t>
            </a:r>
            <a:r>
              <a:rPr lang="en-US" sz="1050" dirty="0">
                <a:latin typeface="Consolas" panose="020B0609020204030204" pitchFamily="49" charset="0"/>
              </a:rPr>
              <a:t> &lt;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p>
          <a:p>
            <a:r>
              <a:rPr lang="en-US" sz="1050" dirty="0">
                <a:latin typeface="Consolas" panose="020B0609020204030204" pitchFamily="49" charset="0"/>
              </a:rPr>
              <a:t>    </a:t>
            </a:r>
            <a:r>
              <a:rPr lang="en-US" sz="1050" dirty="0" err="1">
                <a:latin typeface="Consolas" panose="020B0609020204030204" pitchFamily="49" charset="0"/>
              </a:rPr>
              <a:t>int</a:t>
            </a:r>
            <a:r>
              <a:rPr lang="en-US" sz="1050" dirty="0">
                <a:latin typeface="Consolas" panose="020B0609020204030204" pitchFamily="49" charset="0"/>
              </a:rPr>
              <a:t> </a:t>
            </a:r>
            <a:r>
              <a:rPr lang="en-US" sz="1050" dirty="0" err="1">
                <a:latin typeface="Consolas" panose="020B0609020204030204" pitchFamily="49" charset="0"/>
              </a:rPr>
              <a:t>mx,int</a:t>
            </a:r>
            <a:r>
              <a:rPr lang="en-US" sz="1050" dirty="0">
                <a:latin typeface="Consolas" panose="020B0609020204030204" pitchFamily="49" charset="0"/>
              </a:rPr>
              <a:t> </a:t>
            </a:r>
            <a:r>
              <a:rPr lang="en-US" sz="1050" dirty="0" err="1">
                <a:latin typeface="Consolas" panose="020B0609020204030204" pitchFamily="49" charset="0"/>
              </a:rPr>
              <a:t>my,int</a:t>
            </a:r>
            <a:r>
              <a:rPr lang="en-US" sz="1050" dirty="0">
                <a:latin typeface="Consolas" panose="020B0609020204030204" pitchFamily="49" charset="0"/>
              </a:rPr>
              <a:t> x0,int x1,int y0,int </a:t>
            </a:r>
            <a:r>
              <a:rPr lang="en-US" sz="1050" dirty="0" err="1">
                <a:latin typeface="Consolas" panose="020B0609020204030204" pitchFamily="49" charset="0"/>
              </a:rPr>
              <a:t>yStep,BinaryTree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if(x0</a:t>
            </a:r>
            <a:r>
              <a:rPr lang="en-US" sz="1050" dirty="0">
                <a:latin typeface="Consolas" panose="020B0609020204030204" pitchFamily="49" charset="0"/>
              </a:rPr>
              <a:t>&lt;=mx &amp;&amp; mx&lt;x1 &amp;&amp; y0&lt;=my &amp;&amp; my&lt;y0+yStep)</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fromLeft</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(mx,my,x0,(x0+x1)/2,y0+yStep,yStep,tree.Left(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fromLeft.IsNotNull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fromLeft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fromRight</a:t>
            </a:r>
            <a:r>
              <a:rPr lang="en-US" sz="1050" dirty="0">
                <a:latin typeface="Consolas" panose="020B0609020204030204" pitchFamily="49" charset="0"/>
              </a:rPr>
              <a:t>=</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mx,my</a:t>
            </a:r>
            <a:r>
              <a:rPr lang="en-US" sz="1050" dirty="0">
                <a:latin typeface="Consolas" panose="020B0609020204030204" pitchFamily="49" charset="0"/>
              </a:rPr>
              <a:t>,(x0+x1)/2,x1,y0+yStep,yStep,tree.Right(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fromRight.IsNotNull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fromRight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err="1">
                <a:latin typeface="Consolas" panose="020B0609020204030204" pitchFamily="49" charset="0"/>
              </a:rPr>
              <a:t>tree.Null</a:t>
            </a:r>
            <a:r>
              <a:rPr lang="en-US" sz="1050" dirty="0">
                <a:latin typeface="Consolas" panose="020B0609020204030204" pitchFamily="49" charset="0"/>
              </a:rPr>
              <a:t>();</a:t>
            </a:r>
          </a:p>
          <a:p>
            <a:r>
              <a:rPr lang="en-US" sz="1050" dirty="0">
                <a:latin typeface="Consolas" panose="020B0609020204030204" pitchFamily="49" charset="0"/>
              </a:rPr>
              <a:t>}</a:t>
            </a:r>
          </a:p>
          <a:p>
            <a:endParaRPr lang="en-US" sz="1050" dirty="0">
              <a:latin typeface="Consolas" panose="020B0609020204030204" pitchFamily="49" charset="0"/>
            </a:endParaRPr>
          </a:p>
        </p:txBody>
      </p:sp>
    </p:spTree>
    <p:extLst>
      <p:ext uri="{BB962C8B-B14F-4D97-AF65-F5344CB8AC3E}">
        <p14:creationId xmlns:p14="http://schemas.microsoft.com/office/powerpoint/2010/main" val="42021288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Interval function</a:t>
            </a:r>
            <a:endParaRPr lang="en-US" dirty="0"/>
          </a:p>
        </p:txBody>
      </p:sp>
      <p:sp>
        <p:nvSpPr>
          <p:cNvPr id="4" name="TextBox 3"/>
          <p:cNvSpPr txBox="1"/>
          <p:nvPr/>
        </p:nvSpPr>
        <p:spPr>
          <a:xfrm>
            <a:off x="1282700" y="914400"/>
            <a:ext cx="3502882" cy="3000821"/>
          </a:xfrm>
          <a:prstGeom prst="rect">
            <a:avLst/>
          </a:prstGeom>
          <a:noFill/>
        </p:spPr>
        <p:txBody>
          <a:bodyPr wrap="none" rtlCol="0">
            <a:spAutoFit/>
          </a:bodyPr>
          <a:lstStyle/>
          <a:p>
            <a:r>
              <a:rPr lang="en-US" sz="1050" dirty="0" smtClean="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::Interval(void)</a:t>
            </a:r>
          </a:p>
          <a:p>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a:latin typeface="Consolas" panose="020B0609020204030204" pitchFamily="49" charset="0"/>
              </a:rPr>
              <a:t>key=</a:t>
            </a:r>
            <a:r>
              <a:rPr lang="en-US" sz="1050" dirty="0" err="1">
                <a:latin typeface="Consolas" panose="020B0609020204030204" pitchFamily="49" charset="0"/>
              </a:rPr>
              <a:t>FsInkey</a:t>
            </a:r>
            <a:r>
              <a:rPr lang="en-US" sz="1050" dirty="0">
                <a:latin typeface="Consolas" panose="020B0609020204030204" pitchFamily="49" charset="0"/>
              </a:rPr>
              <a:t>();</a:t>
            </a:r>
          </a:p>
          <a:p>
            <a:r>
              <a:rPr lang="en-US" sz="1050" dirty="0" smtClean="0">
                <a:latin typeface="Consolas" panose="020B0609020204030204" pitchFamily="49" charset="0"/>
              </a:rPr>
              <a:t>    if(FSKEY_ESC</a:t>
            </a:r>
            <a:r>
              <a:rPr lang="en-US" sz="1050" dirty="0">
                <a:latin typeface="Consolas" panose="020B0609020204030204" pitchFamily="49" charset="0"/>
              </a:rPr>
              <a:t>==key)</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SetMustTerminate</a:t>
            </a:r>
            <a:r>
              <a:rPr lang="en-US" sz="1050" dirty="0" smtClean="0">
                <a:latin typeface="Consolas" panose="020B0609020204030204" pitchFamily="49" charset="0"/>
              </a:rPr>
              <a:t>(true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err="1">
                <a:latin typeface="Consolas" panose="020B0609020204030204" pitchFamily="49" charset="0"/>
              </a:rPr>
              <a:t>lb,mb,rb,mx,my</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err="1">
                <a:latin typeface="Consolas" panose="020B0609020204030204" pitchFamily="49" charset="0"/>
              </a:rPr>
              <a:t>evt</a:t>
            </a:r>
            <a:r>
              <a:rPr lang="en-US" sz="1050" dirty="0">
                <a:latin typeface="Consolas" panose="020B0609020204030204" pitchFamily="49" charset="0"/>
              </a:rPr>
              <a:t>=</a:t>
            </a:r>
            <a:r>
              <a:rPr lang="en-US" sz="1050" dirty="0" err="1">
                <a:latin typeface="Consolas" panose="020B0609020204030204" pitchFamily="49" charset="0"/>
              </a:rPr>
              <a:t>FsGetMouseEvent</a:t>
            </a:r>
            <a:r>
              <a:rPr lang="en-US" sz="1050" dirty="0">
                <a:latin typeface="Consolas" panose="020B0609020204030204" pitchFamily="49" charset="0"/>
              </a:rPr>
              <a:t>(</a:t>
            </a:r>
            <a:r>
              <a:rPr lang="en-US" sz="1050" dirty="0" err="1">
                <a:latin typeface="Consolas" panose="020B0609020204030204" pitchFamily="49" charset="0"/>
              </a:rPr>
              <a:t>lb,mb,rb,mx,my</a:t>
            </a:r>
            <a:r>
              <a:rPr lang="en-US" sz="1050" dirty="0">
                <a:latin typeface="Consolas" panose="020B0609020204030204" pitchFamily="49" charset="0"/>
              </a:rPr>
              <a:t>);</a:t>
            </a:r>
          </a:p>
          <a:p>
            <a:r>
              <a:rPr lang="en-US" sz="1050" dirty="0" smtClean="0">
                <a:latin typeface="Consolas" panose="020B0609020204030204" pitchFamily="49" charset="0"/>
              </a:rPr>
              <a:t>    auto </a:t>
            </a:r>
            <a:r>
              <a:rPr lang="en-US" sz="1050" dirty="0">
                <a:latin typeface="Consolas" panose="020B0609020204030204" pitchFamily="49" charset="0"/>
              </a:rPr>
              <a:t>pick=</a:t>
            </a:r>
            <a:r>
              <a:rPr lang="en-US" sz="1050" dirty="0" err="1">
                <a:latin typeface="Consolas" panose="020B0609020204030204" pitchFamily="49" charset="0"/>
              </a:rPr>
              <a:t>FindNodeFromMouseCoord</a:t>
            </a:r>
            <a:r>
              <a:rPr lang="en-US" sz="1050" dirty="0">
                <a:latin typeface="Consolas" panose="020B0609020204030204" pitchFamily="49" charset="0"/>
              </a:rPr>
              <a:t>(</a:t>
            </a:r>
            <a:r>
              <a:rPr lang="en-US" sz="1050" dirty="0" err="1">
                <a:latin typeface="Consolas" panose="020B0609020204030204" pitchFamily="49" charset="0"/>
              </a:rPr>
              <a:t>mx,my</a:t>
            </a:r>
            <a:r>
              <a:rPr lang="en-US" sz="1050" dirty="0">
                <a:latin typeface="Consolas" panose="020B0609020204030204" pitchFamily="49" charset="0"/>
              </a:rPr>
              <a:t>);</a:t>
            </a:r>
          </a:p>
          <a:p>
            <a:r>
              <a:rPr lang="en-US" sz="1050" dirty="0" smtClean="0">
                <a:latin typeface="Consolas" panose="020B0609020204030204" pitchFamily="49" charset="0"/>
              </a:rPr>
              <a:t>    if(pick</a:t>
            </a:r>
            <a:r>
              <a:rPr lang="en-US" sz="1050" dirty="0">
                <a:latin typeface="Consolas" panose="020B0609020204030204" pitchFamily="49" charset="0"/>
              </a:rPr>
              <a:t>!=</a:t>
            </a:r>
            <a:r>
              <a:rPr lang="en-US" sz="1050" dirty="0" err="1">
                <a:latin typeface="Consolas" panose="020B0609020204030204" pitchFamily="49" charset="0"/>
              </a:rPr>
              <a:t>mouseOn</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mouseOn</a:t>
            </a:r>
            <a:r>
              <a:rPr lang="en-US" sz="1050" dirty="0" smtClean="0">
                <a:latin typeface="Consolas" panose="020B0609020204030204" pitchFamily="49" charset="0"/>
              </a:rPr>
              <a:t>=pick</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needRedraw</a:t>
            </a:r>
            <a:r>
              <a:rPr lang="en-US" sz="1050" dirty="0" smtClean="0">
                <a:latin typeface="Consolas" panose="020B0609020204030204" pitchFamily="49" charset="0"/>
              </a:rPr>
              <a:t>=true</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5" name="Right Brace 4"/>
          <p:cNvSpPr/>
          <p:nvPr/>
        </p:nvSpPr>
        <p:spPr>
          <a:xfrm>
            <a:off x="4889500" y="2266950"/>
            <a:ext cx="114300" cy="142875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p:cNvSpPr txBox="1"/>
          <p:nvPr/>
        </p:nvSpPr>
        <p:spPr>
          <a:xfrm>
            <a:off x="5143856" y="2414809"/>
            <a:ext cx="3891439" cy="646331"/>
          </a:xfrm>
          <a:prstGeom prst="rect">
            <a:avLst/>
          </a:prstGeom>
          <a:noFill/>
        </p:spPr>
        <p:txBody>
          <a:bodyPr wrap="square" rtlCol="0">
            <a:spAutoFit/>
          </a:bodyPr>
          <a:lstStyle/>
          <a:p>
            <a:r>
              <a:rPr lang="en-US" dirty="0" smtClean="0"/>
              <a:t>Cache the node pointed by the mouse cursor</a:t>
            </a:r>
            <a:endParaRPr lang="en-US" dirty="0"/>
          </a:p>
        </p:txBody>
      </p:sp>
    </p:spTree>
    <p:extLst>
      <p:ext uri="{BB962C8B-B14F-4D97-AF65-F5344CB8AC3E}">
        <p14:creationId xmlns:p14="http://schemas.microsoft.com/office/powerpoint/2010/main" val="1776346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 function</a:t>
            </a:r>
            <a:endParaRPr lang="en-US" dirty="0"/>
          </a:p>
        </p:txBody>
      </p:sp>
      <p:sp>
        <p:nvSpPr>
          <p:cNvPr id="4" name="TextBox 3"/>
          <p:cNvSpPr txBox="1"/>
          <p:nvPr/>
        </p:nvSpPr>
        <p:spPr>
          <a:xfrm>
            <a:off x="121494" y="1227725"/>
            <a:ext cx="7411003" cy="4778231"/>
          </a:xfrm>
          <a:prstGeom prst="rect">
            <a:avLst/>
          </a:prstGeom>
          <a:noFill/>
        </p:spPr>
        <p:txBody>
          <a:bodyPr wrap="none" rtlCol="0">
            <a:spAutoFit/>
          </a:bodyPr>
          <a:lstStyle/>
          <a:p>
            <a:r>
              <a:rPr lang="en-US" sz="1050" dirty="0">
                <a:latin typeface="Consolas" panose="020B0609020204030204" pitchFamily="49" charset="0"/>
              </a:rPr>
              <a:t>void </a:t>
            </a:r>
            <a:r>
              <a:rPr lang="en-US" sz="1050" dirty="0" err="1">
                <a:latin typeface="Consolas" panose="020B0609020204030204" pitchFamily="49" charset="0"/>
              </a:rPr>
              <a:t>FsLazyWindowApplication</a:t>
            </a:r>
            <a:r>
              <a:rPr lang="en-US" sz="1050" dirty="0">
                <a:latin typeface="Consolas" panose="020B0609020204030204" pitchFamily="49" charset="0"/>
              </a:rPr>
              <a:t>::</a:t>
            </a:r>
            <a:r>
              <a:rPr lang="en-US" sz="1050" dirty="0" err="1">
                <a:latin typeface="Consolas" panose="020B0609020204030204" pitchFamily="49" charset="0"/>
              </a:rPr>
              <a:t>DrawNode</a:t>
            </a:r>
            <a:r>
              <a:rPr lang="en-US" sz="1050" dirty="0" smtClean="0">
                <a:latin typeface="Consolas" panose="020B0609020204030204" pitchFamily="49" charset="0"/>
              </a:rPr>
              <a:t>(</a:t>
            </a:r>
          </a:p>
          <a:p>
            <a:r>
              <a:rPr lang="en-US" sz="1050" dirty="0">
                <a:latin typeface="Consolas" panose="020B0609020204030204" pitchFamily="49" charset="0"/>
              </a:rPr>
              <a:t> </a:t>
            </a:r>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x0,int x1,int y0,int </a:t>
            </a:r>
            <a:r>
              <a:rPr lang="en-US" sz="1050" dirty="0" err="1">
                <a:latin typeface="Consolas" panose="020B0609020204030204" pitchFamily="49" charset="0"/>
              </a:rPr>
              <a:t>yStep,int</a:t>
            </a:r>
            <a:r>
              <a:rPr lang="en-US" sz="1050" dirty="0">
                <a:latin typeface="Consolas" panose="020B0609020204030204" pitchFamily="49" charset="0"/>
              </a:rPr>
              <a:t> </a:t>
            </a:r>
            <a:r>
              <a:rPr lang="en-US" sz="1050" dirty="0" err="1">
                <a:latin typeface="Consolas" panose="020B0609020204030204" pitchFamily="49" charset="0"/>
              </a:rPr>
              <a:t>prevX,int</a:t>
            </a:r>
            <a:r>
              <a:rPr lang="en-US" sz="1050" dirty="0">
                <a:latin typeface="Consolas" panose="020B0609020204030204" pitchFamily="49" charset="0"/>
              </a:rPr>
              <a:t> </a:t>
            </a:r>
            <a:r>
              <a:rPr lang="en-US" sz="1050" dirty="0" err="1">
                <a:latin typeface="Consolas" panose="020B0609020204030204" pitchFamily="49" charset="0"/>
              </a:rPr>
              <a:t>prevY,BinaryTree</a:t>
            </a:r>
            <a:r>
              <a:rPr lang="en-US" sz="1050" dirty="0">
                <a:latin typeface="Consolas" panose="020B0609020204030204" pitchFamily="49" charset="0"/>
              </a:rPr>
              <a:t>&lt;</a:t>
            </a:r>
            <a:r>
              <a:rPr lang="en-US" sz="1050" dirty="0" err="1">
                <a:latin typeface="Consolas" panose="020B0609020204030204" pitchFamily="49" charset="0"/>
              </a:rPr>
              <a:t>int,int</a:t>
            </a:r>
            <a:r>
              <a:rPr lang="en-US" sz="1050" dirty="0">
                <a:latin typeface="Consolas" panose="020B0609020204030204" pitchFamily="49" charset="0"/>
              </a:rPr>
              <a:t>&gt;::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 </a:t>
            </a:r>
            <a:r>
              <a:rPr lang="en-US" sz="1050" dirty="0" err="1">
                <a:latin typeface="Consolas" panose="020B0609020204030204" pitchFamily="49" charset="0"/>
              </a:rPr>
              <a:t>const</a:t>
            </a:r>
            <a:endParaRPr lang="en-US" sz="1050" dirty="0">
              <a:latin typeface="Consolas" panose="020B0609020204030204" pitchFamily="49" charset="0"/>
            </a:endParaRPr>
          </a:p>
          <a:p>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ndHd.IsNotNull</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int</a:t>
            </a:r>
            <a:r>
              <a:rPr lang="en-US" sz="1050" dirty="0" smtClean="0">
                <a:latin typeface="Consolas" panose="020B0609020204030204" pitchFamily="49" charset="0"/>
              </a:rPr>
              <a:t> </a:t>
            </a:r>
            <a:r>
              <a:rPr lang="en-US" sz="1050" dirty="0">
                <a:latin typeface="Consolas" panose="020B0609020204030204" pitchFamily="49" charset="0"/>
              </a:rPr>
              <a:t>x=(x0+x1)/2,y=y0+yStep/2;</a:t>
            </a:r>
          </a:p>
          <a:p>
            <a:r>
              <a:rPr lang="en-US" sz="1050" dirty="0" smtClean="0">
                <a:latin typeface="Consolas" panose="020B0609020204030204" pitchFamily="49" charset="0"/>
              </a:rPr>
              <a:t>        if(</a:t>
            </a:r>
            <a:r>
              <a:rPr lang="en-US" sz="1050" dirty="0" err="1" smtClean="0">
                <a:latin typeface="Consolas" panose="020B0609020204030204" pitchFamily="49" charset="0"/>
              </a:rPr>
              <a:t>ndHd</a:t>
            </a:r>
            <a:r>
              <a:rPr lang="en-US" sz="1050" dirty="0">
                <a:latin typeface="Consolas" panose="020B0609020204030204" pitchFamily="49" charset="0"/>
              </a:rPr>
              <a:t>==</a:t>
            </a:r>
            <a:r>
              <a:rPr lang="en-US" sz="1050" dirty="0" err="1">
                <a:latin typeface="Consolas" panose="020B0609020204030204" pitchFamily="49" charset="0"/>
              </a:rPr>
              <a:t>mouseOn</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glColor3ub(255,0,0</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glColor3ub(0,0,0</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glBegin</a:t>
            </a:r>
            <a:r>
              <a:rPr lang="en-US" sz="1050" dirty="0" smtClean="0">
                <a:latin typeface="Consolas" panose="020B0609020204030204" pitchFamily="49" charset="0"/>
              </a:rPr>
              <a:t>(GL_LINES</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prevX,prevY</a:t>
            </a:r>
            <a:r>
              <a:rPr lang="en-US" sz="1050" dirty="0">
                <a:latin typeface="Consolas" panose="020B0609020204030204" pitchFamily="49" charset="0"/>
              </a:rPr>
              <a:t>);</a:t>
            </a:r>
          </a:p>
          <a:p>
            <a:r>
              <a:rPr lang="en-US" sz="1050" dirty="0" smtClean="0">
                <a:latin typeface="Consolas" panose="020B0609020204030204" pitchFamily="49" charset="0"/>
              </a:rPr>
              <a:t>        glVertex2i(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glEnd</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glRasterPos2i(</a:t>
            </a:r>
            <a:r>
              <a:rPr lang="en-US" sz="1050" dirty="0" err="1" smtClean="0">
                <a:latin typeface="Consolas" panose="020B0609020204030204" pitchFamily="49" charset="0"/>
              </a:rPr>
              <a:t>x,y</a:t>
            </a:r>
            <a:r>
              <a:rPr lang="en-US" sz="1050" dirty="0">
                <a:latin typeface="Consolas" panose="020B0609020204030204" pitchFamily="49" charset="0"/>
              </a:rPr>
              <a:t>);</a:t>
            </a:r>
          </a:p>
          <a:p>
            <a:r>
              <a:rPr lang="en-US" sz="1050" dirty="0" smtClean="0">
                <a:latin typeface="Consolas" panose="020B0609020204030204" pitchFamily="49" charset="0"/>
              </a:rPr>
              <a:t>        char </a:t>
            </a:r>
            <a:r>
              <a:rPr lang="en-US" sz="1050" dirty="0" err="1">
                <a:latin typeface="Consolas" panose="020B0609020204030204" pitchFamily="49" charset="0"/>
              </a:rPr>
              <a:t>str</a:t>
            </a:r>
            <a:r>
              <a:rPr lang="en-US" sz="1050" dirty="0">
                <a:latin typeface="Consolas" panose="020B0609020204030204" pitchFamily="49" charset="0"/>
              </a:rPr>
              <a:t>[256];</a:t>
            </a:r>
          </a:p>
          <a:p>
            <a:r>
              <a:rPr lang="en-US" sz="1050" dirty="0" smtClean="0">
                <a:latin typeface="Consolas" panose="020B0609020204030204" pitchFamily="49" charset="0"/>
              </a:rPr>
              <a:t>        </a:t>
            </a:r>
            <a:r>
              <a:rPr lang="en-US" sz="1050" dirty="0" err="1" smtClean="0">
                <a:latin typeface="Consolas" panose="020B0609020204030204" pitchFamily="49" charset="0"/>
              </a:rPr>
              <a:t>sprintf</a:t>
            </a:r>
            <a:r>
              <a:rPr lang="en-US" sz="1050" dirty="0" smtClean="0">
                <a:latin typeface="Consolas" panose="020B0609020204030204" pitchFamily="49" charset="0"/>
              </a:rPr>
              <a:t>(</a:t>
            </a:r>
            <a:r>
              <a:rPr lang="en-US" sz="1050" dirty="0" err="1" smtClean="0">
                <a:latin typeface="Consolas" panose="020B0609020204030204" pitchFamily="49" charset="0"/>
              </a:rPr>
              <a:t>str</a:t>
            </a:r>
            <a:r>
              <a:rPr lang="en-US" sz="1050" dirty="0">
                <a:latin typeface="Consolas" panose="020B0609020204030204" pitchFamily="49" charset="0"/>
              </a:rPr>
              <a:t>,"%d",</a:t>
            </a:r>
            <a:r>
              <a:rPr lang="en-US" sz="1050" dirty="0" err="1">
                <a:latin typeface="Consolas" panose="020B0609020204030204" pitchFamily="49" charset="0"/>
              </a:rPr>
              <a:t>tree.GetKey</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YsGlDrawFontBitmap12x16(</a:t>
            </a:r>
            <a:r>
              <a:rPr lang="en-US" sz="1050" dirty="0" err="1" smtClean="0">
                <a:latin typeface="Consolas" panose="020B0609020204030204" pitchFamily="49" charset="0"/>
              </a:rPr>
              <a:t>str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smtClean="0">
                <a:latin typeface="Consolas" panose="020B0609020204030204" pitchFamily="49" charset="0"/>
              </a:rPr>
              <a:t>(x0</a:t>
            </a:r>
            <a:r>
              <a:rPr lang="en-US" sz="1050" dirty="0">
                <a:latin typeface="Consolas" panose="020B0609020204030204" pitchFamily="49" charset="0"/>
              </a:rPr>
              <a:t>,(x0+x1)/2,y0+yStep,yStep,x,y,tree.Left(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DrawNode</a:t>
            </a:r>
            <a:r>
              <a:rPr lang="en-US" sz="1050" dirty="0">
                <a:latin typeface="Consolas" panose="020B0609020204030204" pitchFamily="49" charset="0"/>
              </a:rPr>
              <a:t>((x0+x1)/2,x1,y0+yStep,yStep,x,y,tree.Right(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a:latin typeface="Consolas" panose="020B0609020204030204" pitchFamily="49" charset="0"/>
              </a:rPr>
              <a:t>}</a:t>
            </a:r>
          </a:p>
          <a:p>
            <a:endParaRPr lang="en-US" sz="1050" dirty="0">
              <a:latin typeface="Consolas" panose="020B0609020204030204" pitchFamily="49" charset="0"/>
            </a:endParaRPr>
          </a:p>
        </p:txBody>
      </p:sp>
      <p:sp>
        <p:nvSpPr>
          <p:cNvPr id="5" name="Right Brace 4"/>
          <p:cNvSpPr/>
          <p:nvPr/>
        </p:nvSpPr>
        <p:spPr>
          <a:xfrm>
            <a:off x="2597150" y="2279650"/>
            <a:ext cx="139700" cy="107950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 name="TextBox 5"/>
          <p:cNvSpPr txBox="1"/>
          <p:nvPr/>
        </p:nvSpPr>
        <p:spPr>
          <a:xfrm>
            <a:off x="2736850" y="2546350"/>
            <a:ext cx="4455066" cy="369332"/>
          </a:xfrm>
          <a:prstGeom prst="rect">
            <a:avLst/>
          </a:prstGeom>
          <a:noFill/>
        </p:spPr>
        <p:txBody>
          <a:bodyPr wrap="none" rtlCol="0">
            <a:spAutoFit/>
          </a:bodyPr>
          <a:lstStyle/>
          <a:p>
            <a:r>
              <a:rPr lang="en-US" dirty="0" smtClean="0"/>
              <a:t>Change color if the mouse is on the node.</a:t>
            </a:r>
            <a:endParaRPr lang="en-US" dirty="0"/>
          </a:p>
        </p:txBody>
      </p:sp>
    </p:spTree>
    <p:extLst>
      <p:ext uri="{BB962C8B-B14F-4D97-AF65-F5344CB8AC3E}">
        <p14:creationId xmlns:p14="http://schemas.microsoft.com/office/powerpoint/2010/main" val="1484103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Motivation: Unbalanced tree is inefficient.  Want to transform an unbalanced tree into a balanced tree.</a:t>
            </a:r>
          </a:p>
          <a:p>
            <a:r>
              <a:rPr lang="en-US" dirty="0" smtClean="0"/>
              <a:t>Transform a binary tree without breaking the node order.</a:t>
            </a:r>
            <a:endParaRPr lang="en-US" dirty="0"/>
          </a:p>
        </p:txBody>
      </p:sp>
    </p:spTree>
    <p:extLst>
      <p:ext uri="{BB962C8B-B14F-4D97-AF65-F5344CB8AC3E}">
        <p14:creationId xmlns:p14="http://schemas.microsoft.com/office/powerpoint/2010/main" val="45603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The left sub-tree of node B is between nodes A and B.  I.e., every node in the sub-tree’s key must be between the keys of A and B.  Therefore, </a:t>
            </a:r>
            <a:endParaRPr lang="en-US" dirty="0"/>
          </a:p>
        </p:txBody>
      </p:sp>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236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rotation.</a:t>
            </a:r>
            <a:endParaRPr lang="en-US" dirty="0"/>
          </a:p>
        </p:txBody>
      </p:sp>
      <p:sp>
        <p:nvSpPr>
          <p:cNvPr id="3" name="Content Placeholder 2"/>
          <p:cNvSpPr>
            <a:spLocks noGrp="1"/>
          </p:cNvSpPr>
          <p:nvPr>
            <p:ph idx="1"/>
          </p:nvPr>
        </p:nvSpPr>
        <p:spPr/>
        <p:txBody>
          <a:bodyPr/>
          <a:lstStyle/>
          <a:p>
            <a:r>
              <a:rPr lang="en-US" dirty="0" smtClean="0"/>
              <a:t>Two trees below are equivalent.</a:t>
            </a:r>
          </a:p>
          <a:p>
            <a:r>
              <a:rPr lang="en-US" dirty="0" smtClean="0"/>
              <a:t>The node can be ‘rotated’ without breaking the node order.</a:t>
            </a:r>
            <a:endParaRPr lang="en-US" dirty="0"/>
          </a:p>
        </p:txBody>
      </p:sp>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35" name="Rectangle 34"/>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36" name="Rounded Rectangle 35"/>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mond 36"/>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gular Pentagon 37"/>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34" idx="3"/>
            <a:endCxn id="36"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34" idx="7"/>
            <a:endCxn id="35"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34" idx="5"/>
            <a:endCxn id="37"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5" idx="2"/>
            <a:endCxn id="38"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Hexagon 42"/>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 Diagonal Corner Rectangle 43"/>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p:cNvCxnSpPr>
            <a:stCxn id="37" idx="2"/>
            <a:endCxn id="43"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endCxn id="44"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948674" y="4873790"/>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Curved Down Arrow 63"/>
          <p:cNvSpPr/>
          <p:nvPr/>
        </p:nvSpPr>
        <p:spPr>
          <a:xfrm>
            <a:off x="2173276" y="2623283"/>
            <a:ext cx="1216152"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Curved Down Arrow 64"/>
          <p:cNvSpPr/>
          <p:nvPr/>
        </p:nvSpPr>
        <p:spPr>
          <a:xfrm flipH="1">
            <a:off x="4536646" y="2623283"/>
            <a:ext cx="1201091"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58186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rotation</a:t>
            </a:r>
            <a:endParaRPr lang="en-US" dirty="0"/>
          </a:p>
        </p:txBody>
      </p:sp>
      <p:sp>
        <p:nvSpPr>
          <p:cNvPr id="3" name="Content Placeholder 2"/>
          <p:cNvSpPr>
            <a:spLocks noGrp="1"/>
          </p:cNvSpPr>
          <p:nvPr>
            <p:ph idx="1"/>
          </p:nvPr>
        </p:nvSpPr>
        <p:spPr/>
        <p:txBody>
          <a:bodyPr/>
          <a:lstStyle/>
          <a:p>
            <a:r>
              <a:rPr lang="en-US" dirty="0" smtClean="0"/>
              <a:t>Node A can be rotated left only if it has the right node.</a:t>
            </a:r>
          </a:p>
          <a:p>
            <a:pPr marL="457200" indent="-457200">
              <a:buAutoNum type="arabicPeriod"/>
            </a:pPr>
            <a:r>
              <a:rPr lang="en-US" dirty="0" smtClean="0"/>
              <a:t>Connect B to where A is currently connected.</a:t>
            </a:r>
          </a:p>
          <a:p>
            <a:pPr marL="457200" indent="-457200">
              <a:buAutoNum type="arabicPeriod"/>
            </a:pPr>
            <a:r>
              <a:rPr lang="en-US" dirty="0" smtClean="0"/>
              <a:t>Connect left-sub-node of B (node C)to the right of A.  Node C may be NULL.  Parent of C must be updated only when C is not NULL.</a:t>
            </a:r>
          </a:p>
          <a:p>
            <a:pPr marL="457200" indent="-457200">
              <a:buAutoNum type="arabicPeriod"/>
            </a:pPr>
            <a:r>
              <a:rPr lang="en-US" dirty="0" smtClean="0"/>
              <a:t>Connect A to the left of </a:t>
            </a:r>
            <a:r>
              <a:rPr lang="en-US" smtClean="0"/>
              <a:t>B.</a:t>
            </a:r>
            <a:endParaRPr lang="en-US" dirty="0" smtClean="0"/>
          </a:p>
        </p:txBody>
      </p:sp>
      <p:grpSp>
        <p:nvGrpSpPr>
          <p:cNvPr id="19" name="Group 18"/>
          <p:cNvGrpSpPr/>
          <p:nvPr/>
        </p:nvGrpSpPr>
        <p:grpSpPr>
          <a:xfrm>
            <a:off x="1558455" y="4210270"/>
            <a:ext cx="2373501" cy="2401090"/>
            <a:chOff x="4367709" y="2623283"/>
            <a:chExt cx="4024929" cy="4071714"/>
          </a:xfrm>
        </p:grpSpPr>
        <p:sp>
          <p:nvSpPr>
            <p:cNvPr id="4" name="Oval 3"/>
            <p:cNvSpPr/>
            <p:nvPr/>
          </p:nvSpPr>
          <p:spPr>
            <a:xfrm>
              <a:off x="4855430" y="3354803"/>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5" name="Rectangle 4"/>
            <p:cNvSpPr/>
            <p:nvPr/>
          </p:nvSpPr>
          <p:spPr>
            <a:xfrm>
              <a:off x="7037434" y="4231714"/>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6" name="Rounded Rectangle 5"/>
            <p:cNvSpPr/>
            <p:nvPr/>
          </p:nvSpPr>
          <p:spPr>
            <a:xfrm>
              <a:off x="4367709" y="4231714"/>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6332129" y="505325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ysClr val="windowText" lastClr="000000"/>
                  </a:solidFill>
                </a:rPr>
                <a:t>C</a:t>
              </a:r>
              <a:endParaRPr lang="en-US" dirty="0">
                <a:solidFill>
                  <a:sysClr val="windowText" lastClr="000000"/>
                </a:solidFill>
              </a:endParaRPr>
            </a:p>
          </p:txBody>
        </p:sp>
        <p:sp>
          <p:nvSpPr>
            <p:cNvPr id="8" name="Regular Pentagon 7"/>
            <p:cNvSpPr/>
            <p:nvPr/>
          </p:nvSpPr>
          <p:spPr>
            <a:xfrm>
              <a:off x="7884338" y="5066702"/>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4590519" y="3886213"/>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5"/>
              <a:endCxn id="5" idx="0"/>
            </p:cNvCxnSpPr>
            <p:nvPr/>
          </p:nvCxnSpPr>
          <p:spPr>
            <a:xfrm>
              <a:off x="5386840" y="3886213"/>
              <a:ext cx="1888811"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5" idx="2"/>
              <a:endCxn id="7" idx="0"/>
            </p:cNvCxnSpPr>
            <p:nvPr/>
          </p:nvCxnSpPr>
          <p:spPr>
            <a:xfrm flipH="1">
              <a:off x="6648135" y="4680878"/>
              <a:ext cx="627516" cy="37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7275651" y="4680878"/>
              <a:ext cx="862837" cy="3858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5826420" y="6095404"/>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6903630" y="6095404"/>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6263292" y="5685268"/>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6648135" y="5685268"/>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685183" y="4977516"/>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urved Down Arrow 17"/>
            <p:cNvSpPr/>
            <p:nvPr/>
          </p:nvSpPr>
          <p:spPr>
            <a:xfrm flipH="1">
              <a:off x="4536646" y="2623283"/>
              <a:ext cx="1201091"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5" name="Group 34"/>
          <p:cNvGrpSpPr/>
          <p:nvPr/>
        </p:nvGrpSpPr>
        <p:grpSpPr>
          <a:xfrm>
            <a:off x="5152197" y="4221012"/>
            <a:ext cx="2159897" cy="2468310"/>
            <a:chOff x="325426" y="2623283"/>
            <a:chExt cx="3472192" cy="3967988"/>
          </a:xfrm>
        </p:grpSpPr>
        <p:sp>
          <p:nvSpPr>
            <p:cNvPr id="20" name="Oval 19"/>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21" name="Rectangle 20"/>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2" name="Rounded Rectangle 21"/>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mond 22"/>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ysClr val="windowText" lastClr="000000"/>
                  </a:solidFill>
                </a:rPr>
                <a:t>C</a:t>
              </a:r>
              <a:endParaRPr lang="en-US" dirty="0">
                <a:solidFill>
                  <a:sysClr val="windowText" lastClr="000000"/>
                </a:solidFill>
              </a:endParaRPr>
            </a:p>
          </p:txBody>
        </p:sp>
        <p:sp>
          <p:nvSpPr>
            <p:cNvPr id="24" name="Regular Pentagon 23"/>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a:stCxn id="20" idx="3"/>
              <a:endCxn id="22"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0" idx="7"/>
              <a:endCxn id="21"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0" idx="5"/>
              <a:endCxn id="23"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1" idx="2"/>
              <a:endCxn id="24"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Hexagon 28"/>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9"/>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3" idx="2"/>
              <a:endCxn id="29"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30"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948674" y="4873790"/>
              <a:ext cx="1828686" cy="1717481"/>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Curved Down Arrow 33"/>
            <p:cNvSpPr/>
            <p:nvPr/>
          </p:nvSpPr>
          <p:spPr>
            <a:xfrm>
              <a:off x="2173276" y="2623283"/>
              <a:ext cx="1216152" cy="73152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36" name="Right Arrow 35"/>
          <p:cNvSpPr/>
          <p:nvPr/>
        </p:nvSpPr>
        <p:spPr>
          <a:xfrm>
            <a:off x="4198289" y="4955020"/>
            <a:ext cx="644055" cy="5981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3136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Add </a:t>
            </a:r>
            <a:r>
              <a:rPr lang="en-US" dirty="0" err="1" smtClean="0"/>
              <a:t>RotateLeft</a:t>
            </a:r>
            <a:r>
              <a:rPr lang="en-US" dirty="0" smtClean="0"/>
              <a:t> functions in the </a:t>
            </a:r>
            <a:r>
              <a:rPr lang="en-US" dirty="0" err="1" smtClean="0"/>
              <a:t>BinaryTree</a:t>
            </a:r>
            <a:r>
              <a:rPr lang="en-US" dirty="0" smtClean="0"/>
              <a:t> class.</a:t>
            </a:r>
          </a:p>
          <a:p>
            <a:r>
              <a:rPr lang="en-US" dirty="0" smtClean="0"/>
              <a:t>Left-Rotate the node when the user presses the L key.</a:t>
            </a:r>
          </a:p>
        </p:txBody>
      </p:sp>
    </p:spTree>
    <p:extLst>
      <p:ext uri="{BB962C8B-B14F-4D97-AF65-F5344CB8AC3E}">
        <p14:creationId xmlns:p14="http://schemas.microsoft.com/office/powerpoint/2010/main" val="2476530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11150" y="215900"/>
            <a:ext cx="4240263" cy="6555641"/>
          </a:xfrm>
          <a:prstGeom prst="rect">
            <a:avLst/>
          </a:prstGeom>
          <a:noFill/>
        </p:spPr>
        <p:txBody>
          <a:bodyPr wrap="none" rtlCol="0">
            <a:spAutoFit/>
          </a:bodyPr>
          <a:lstStyle/>
          <a:p>
            <a:r>
              <a:rPr lang="en-US" sz="1050" dirty="0" smtClean="0">
                <a:latin typeface="Consolas" panose="020B0609020204030204" pitchFamily="49" charset="0"/>
              </a:rPr>
              <a:t>    bool </a:t>
            </a:r>
            <a:r>
              <a:rPr lang="en-US" sz="1050" dirty="0" err="1">
                <a:latin typeface="Consolas" panose="020B0609020204030204" pitchFamily="49" charset="0"/>
              </a:rPr>
              <a:t>RotateLeft</a:t>
            </a:r>
            <a:r>
              <a:rPr lang="en-US" sz="1050" dirty="0">
                <a:latin typeface="Consolas" panose="020B0609020204030204" pitchFamily="49" charset="0"/>
              </a:rPr>
              <a:t>(</a:t>
            </a:r>
            <a:r>
              <a:rPr lang="en-US" sz="1050" dirty="0" err="1">
                <a:latin typeface="Consolas" panose="020B0609020204030204" pitchFamily="49" charset="0"/>
              </a:rPr>
              <a:t>NodeHandle</a:t>
            </a:r>
            <a:r>
              <a:rPr lang="en-US" sz="1050" dirty="0">
                <a:latin typeface="Consolas" panose="020B0609020204030204" pitchFamily="49" charset="0"/>
              </a:rPr>
              <a:t> </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nodePtr</a:t>
            </a:r>
            <a:r>
              <a:rPr lang="en-US" sz="1050" dirty="0">
                <a:latin typeface="Consolas" panose="020B0609020204030204" pitchFamily="49" charset="0"/>
              </a:rPr>
              <a:t>=</a:t>
            </a:r>
            <a:r>
              <a:rPr lang="en-US" sz="1050" dirty="0" err="1">
                <a:latin typeface="Consolas" panose="020B0609020204030204" pitchFamily="49" charset="0"/>
              </a:rPr>
              <a:t>GetNode</a:t>
            </a:r>
            <a:r>
              <a:rPr lang="en-US" sz="1050" dirty="0">
                <a:latin typeface="Consolas" panose="020B0609020204030204" pitchFamily="49" charset="0"/>
              </a:rPr>
              <a:t>(</a:t>
            </a:r>
            <a:r>
              <a:rPr lang="en-US" sz="1050" dirty="0" err="1">
                <a:latin typeface="Consolas" panose="020B0609020204030204" pitchFamily="49" charset="0"/>
              </a:rPr>
              <a:t>ndHd</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 &amp;&amp; </a:t>
            </a:r>
            <a:r>
              <a:rPr lang="en-US" sz="1050" dirty="0" err="1">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auto </a:t>
            </a:r>
            <a:r>
              <a:rPr lang="en-US" sz="1050" dirty="0" err="1">
                <a:latin typeface="Consolas" panose="020B0609020204030204" pitchFamily="49" charset="0"/>
              </a:rPr>
              <a:t>rightPtr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a:t>
            </a:r>
          </a:p>
          <a:p>
            <a:r>
              <a:rPr lang="en-US" sz="1050" dirty="0" smtClean="0">
                <a:latin typeface="Consolas" panose="020B0609020204030204" pitchFamily="49" charset="0"/>
              </a:rPr>
              <a:t>            auto </a:t>
            </a:r>
            <a:r>
              <a:rPr lang="en-US" sz="1050" dirty="0" err="1">
                <a:latin typeface="Consolas" panose="020B0609020204030204" pitchFamily="49" charset="0"/>
              </a:rPr>
              <a:t>leftOfRight</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-&gt;right-&gt;left;</a:t>
            </a:r>
          </a:p>
          <a:p>
            <a:endParaRPr lang="en-US" sz="1050" dirty="0">
              <a:latin typeface="Consolas" panose="020B0609020204030204" pitchFamily="49" charset="0"/>
            </a:endParaRP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nodePtr</a:t>
            </a:r>
            <a:r>
              <a:rPr lang="en-US" sz="1050" dirty="0">
                <a:latin typeface="Consolas" panose="020B0609020204030204" pitchFamily="49" charset="0"/>
              </a:rPr>
              <a:t>-&gt;up)</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root=</a:t>
            </a:r>
            <a:r>
              <a:rPr lang="en-US" sz="1050" dirty="0" err="1" smtClean="0">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nullptr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nodePtr</a:t>
            </a:r>
            <a:r>
              <a:rPr lang="en-US" sz="1050" dirty="0">
                <a:latin typeface="Consolas" panose="020B0609020204030204" pitchFamily="49" charset="0"/>
              </a:rPr>
              <a:t>-&gt;up;</a:t>
            </a:r>
          </a:p>
          <a:p>
            <a:r>
              <a:rPr lang="en-US" sz="1050" dirty="0" smtClean="0">
                <a:latin typeface="Consolas" panose="020B0609020204030204" pitchFamily="49" charset="0"/>
              </a:rPr>
              <a:t>                if(</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&gt;up-&gt;left==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&gt;up-&gt;left=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else</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&gt;up-&gt;right=</a:t>
            </a:r>
            <a:r>
              <a:rPr lang="en-US" sz="1050" dirty="0" err="1">
                <a:latin typeface="Consolas" panose="020B0609020204030204" pitchFamily="49" charset="0"/>
              </a:rPr>
              <a:t>rightPtr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rightPtr</a:t>
            </a:r>
            <a:r>
              <a:rPr lang="en-US" sz="1050" dirty="0" smtClean="0">
                <a:latin typeface="Consolas" panose="020B0609020204030204" pitchFamily="49" charset="0"/>
              </a:rPr>
              <a:t>-</a:t>
            </a:r>
            <a:r>
              <a:rPr lang="en-US" sz="1050" dirty="0">
                <a:latin typeface="Consolas" panose="020B0609020204030204" pitchFamily="49" charset="0"/>
              </a:rPr>
              <a:t>&gt;left=</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rightPtr</a:t>
            </a:r>
            <a:r>
              <a:rPr lang="en-US" sz="1050" dirty="0">
                <a:latin typeface="Consolas" panose="020B0609020204030204" pitchFamily="49" charset="0"/>
              </a:rPr>
              <a:t>;</a:t>
            </a:r>
          </a:p>
          <a:p>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nodePtr</a:t>
            </a:r>
            <a:r>
              <a:rPr lang="en-US" sz="1050" dirty="0" smtClean="0">
                <a:latin typeface="Consolas" panose="020B0609020204030204" pitchFamily="49" charset="0"/>
              </a:rPr>
              <a:t>-</a:t>
            </a:r>
            <a:r>
              <a:rPr lang="en-US" sz="1050" dirty="0">
                <a:latin typeface="Consolas" panose="020B0609020204030204" pitchFamily="49" charset="0"/>
              </a:rPr>
              <a:t>&gt;right=</a:t>
            </a:r>
            <a:r>
              <a:rPr lang="en-US" sz="1050" dirty="0" err="1">
                <a:latin typeface="Consolas" panose="020B0609020204030204" pitchFamily="49" charset="0"/>
              </a:rPr>
              <a:t>leftOfRight</a:t>
            </a:r>
            <a:r>
              <a:rPr lang="en-US" sz="1050" dirty="0">
                <a:latin typeface="Consolas" panose="020B0609020204030204" pitchFamily="49" charset="0"/>
              </a:rPr>
              <a:t>;</a:t>
            </a:r>
          </a:p>
          <a:p>
            <a:r>
              <a:rPr lang="en-US" sz="1050" dirty="0" smtClean="0">
                <a:latin typeface="Consolas" panose="020B0609020204030204" pitchFamily="49" charset="0"/>
              </a:rPr>
              <a:t>            if(</a:t>
            </a:r>
            <a:r>
              <a:rPr lang="en-US" sz="1050" dirty="0" err="1" smtClean="0">
                <a:latin typeface="Consolas" panose="020B0609020204030204" pitchFamily="49" charset="0"/>
              </a:rPr>
              <a:t>nullptr</a:t>
            </a:r>
            <a:r>
              <a:rPr lang="en-US" sz="1050" dirty="0">
                <a:latin typeface="Consolas" panose="020B0609020204030204" pitchFamily="49" charset="0"/>
              </a:rPr>
              <a:t>!=</a:t>
            </a:r>
            <a:r>
              <a:rPr lang="en-US" sz="1050" dirty="0" err="1">
                <a:latin typeface="Consolas" panose="020B0609020204030204" pitchFamily="49" charset="0"/>
              </a:rPr>
              <a:t>leftOfRight</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a:t>
            </a:r>
            <a:r>
              <a:rPr lang="en-US" sz="1050" dirty="0" err="1" smtClean="0">
                <a:latin typeface="Consolas" panose="020B0609020204030204" pitchFamily="49" charset="0"/>
              </a:rPr>
              <a:t>leftOfRight</a:t>
            </a:r>
            <a:r>
              <a:rPr lang="en-US" sz="1050" dirty="0" smtClean="0">
                <a:latin typeface="Consolas" panose="020B0609020204030204" pitchFamily="49" charset="0"/>
              </a:rPr>
              <a:t>-</a:t>
            </a:r>
            <a:r>
              <a:rPr lang="en-US" sz="1050" dirty="0">
                <a:latin typeface="Consolas" panose="020B0609020204030204" pitchFamily="49" charset="0"/>
              </a:rPr>
              <a:t>&gt;up=</a:t>
            </a:r>
            <a:r>
              <a:rPr lang="en-US" sz="1050" dirty="0" err="1">
                <a:latin typeface="Consolas" panose="020B0609020204030204" pitchFamily="49" charset="0"/>
              </a:rPr>
              <a:t>nodePtr</a:t>
            </a:r>
            <a:r>
              <a:rPr lang="en-US" sz="1050" dirty="0">
                <a:latin typeface="Consolas" panose="020B0609020204030204" pitchFamily="49" charset="0"/>
              </a:rPr>
              <a:t>;</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true;</a:t>
            </a:r>
          </a:p>
          <a:p>
            <a:r>
              <a:rPr lang="en-US" sz="1050" dirty="0" smtClean="0">
                <a:latin typeface="Consolas" panose="020B0609020204030204" pitchFamily="49" charset="0"/>
              </a:rPr>
              <a:t>        }</a:t>
            </a:r>
            <a:endParaRPr lang="en-US" sz="1050" dirty="0">
              <a:latin typeface="Consolas" panose="020B0609020204030204" pitchFamily="49" charset="0"/>
            </a:endParaRPr>
          </a:p>
          <a:p>
            <a:r>
              <a:rPr lang="en-US" sz="1050" dirty="0" smtClean="0">
                <a:latin typeface="Consolas" panose="020B0609020204030204" pitchFamily="49" charset="0"/>
              </a:rPr>
              <a:t>        return </a:t>
            </a:r>
            <a:r>
              <a:rPr lang="en-US" sz="1050" dirty="0">
                <a:latin typeface="Consolas" panose="020B0609020204030204" pitchFamily="49" charset="0"/>
              </a:rPr>
              <a:t>false;</a:t>
            </a:r>
          </a:p>
          <a:p>
            <a:r>
              <a:rPr lang="en-US" sz="1050" dirty="0" smtClean="0">
                <a:latin typeface="Consolas" panose="020B0609020204030204" pitchFamily="49" charset="0"/>
              </a:rPr>
              <a:t>    }</a:t>
            </a:r>
            <a:endParaRPr lang="en-US" sz="1050" dirty="0">
              <a:latin typeface="Consolas" panose="020B0609020204030204" pitchFamily="49" charset="0"/>
            </a:endParaRPr>
          </a:p>
          <a:p>
            <a:endParaRPr lang="en-US" sz="1050" dirty="0">
              <a:latin typeface="Consolas" panose="020B0609020204030204" pitchFamily="49" charset="0"/>
            </a:endParaRPr>
          </a:p>
        </p:txBody>
      </p:sp>
    </p:spTree>
    <p:extLst>
      <p:ext uri="{BB962C8B-B14F-4D97-AF65-F5344CB8AC3E}">
        <p14:creationId xmlns:p14="http://schemas.microsoft.com/office/powerpoint/2010/main" val="19006982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Set 4-1: Re-balancing a Binary Tree</a:t>
            </a:r>
            <a:endParaRPr lang="en-US" dirty="0"/>
          </a:p>
        </p:txBody>
      </p:sp>
      <p:sp>
        <p:nvSpPr>
          <p:cNvPr id="3" name="Content Placeholder 2"/>
          <p:cNvSpPr>
            <a:spLocks noGrp="1"/>
          </p:cNvSpPr>
          <p:nvPr>
            <p:ph idx="1"/>
          </p:nvPr>
        </p:nvSpPr>
        <p:spPr/>
        <p:txBody>
          <a:bodyPr/>
          <a:lstStyle/>
          <a:p>
            <a:pPr marL="457200" indent="-457200">
              <a:buAutoNum type="arabicPeriod"/>
            </a:pPr>
            <a:r>
              <a:rPr lang="en-US" dirty="0" smtClean="0"/>
              <a:t>Write your own </a:t>
            </a:r>
            <a:r>
              <a:rPr lang="en-US" dirty="0" err="1" smtClean="0"/>
              <a:t>RotateRight</a:t>
            </a:r>
            <a:r>
              <a:rPr lang="en-US" dirty="0" smtClean="0"/>
              <a:t> function. It is symmetric with </a:t>
            </a:r>
            <a:r>
              <a:rPr lang="en-US" dirty="0" err="1" smtClean="0"/>
              <a:t>RotateLeft</a:t>
            </a:r>
            <a:r>
              <a:rPr lang="en-US" dirty="0" smtClean="0"/>
              <a:t>.  Should be easy.</a:t>
            </a:r>
          </a:p>
          <a:p>
            <a:pPr marL="457200" indent="-457200">
              <a:buAutoNum type="arabicPeriod"/>
            </a:pPr>
            <a:r>
              <a:rPr lang="en-US" dirty="0" smtClean="0"/>
              <a:t>Implement a tree-rebalancing function.  Tree re-balancing can be done with three functions.</a:t>
            </a:r>
          </a:p>
          <a:p>
            <a:pPr marL="857250" lvl="1" indent="-457200"/>
            <a:r>
              <a:rPr lang="en-US" dirty="0" smtClean="0"/>
              <a:t>void </a:t>
            </a:r>
            <a:r>
              <a:rPr lang="en-US" dirty="0" err="1" smtClean="0"/>
              <a:t>TreeToVine</a:t>
            </a:r>
            <a:r>
              <a:rPr lang="en-US" dirty="0" smtClean="0"/>
              <a:t>(void);</a:t>
            </a:r>
          </a:p>
          <a:p>
            <a:pPr marL="857250" lvl="1" indent="-457200"/>
            <a:r>
              <a:rPr lang="en-US" dirty="0" smtClean="0"/>
              <a:t>void Compress(</a:t>
            </a:r>
            <a:r>
              <a:rPr lang="en-US" dirty="0" err="1" smtClean="0"/>
              <a:t>int</a:t>
            </a:r>
            <a:r>
              <a:rPr lang="en-US" dirty="0" smtClean="0"/>
              <a:t> n);</a:t>
            </a:r>
          </a:p>
          <a:p>
            <a:pPr marL="857250" lvl="1" indent="-457200"/>
            <a:r>
              <a:rPr lang="en-US" dirty="0" smtClean="0"/>
              <a:t>void </a:t>
            </a:r>
            <a:r>
              <a:rPr lang="en-US" dirty="0" err="1" smtClean="0"/>
              <a:t>VineToTree</a:t>
            </a:r>
            <a:r>
              <a:rPr lang="en-US" dirty="0" smtClean="0"/>
              <a:t>(void);</a:t>
            </a:r>
          </a:p>
          <a:p>
            <a:pPr marL="0" indent="0">
              <a:buNone/>
            </a:pPr>
            <a:endParaRPr lang="en-US" dirty="0"/>
          </a:p>
          <a:p>
            <a:pPr marL="0" indent="0">
              <a:buNone/>
            </a:pPr>
            <a:r>
              <a:rPr lang="en-US" dirty="0" smtClean="0"/>
              <a:t>The algorithm is based on:</a:t>
            </a:r>
          </a:p>
          <a:p>
            <a:pPr marL="0" indent="0">
              <a:buNone/>
            </a:pPr>
            <a:r>
              <a:rPr lang="en-US" dirty="0" smtClean="0"/>
              <a:t>Quentin F. Stout and Bette L. Warren, “T</a:t>
            </a:r>
            <a:r>
              <a:rPr lang="en-US" i="1" dirty="0" smtClean="0"/>
              <a:t>ree Rebalancing in Optimal Time and Space</a:t>
            </a:r>
            <a:r>
              <a:rPr lang="en-US" dirty="0"/>
              <a:t>,</a:t>
            </a:r>
            <a:r>
              <a:rPr lang="en-US" dirty="0" smtClean="0"/>
              <a:t>” Communications of the ACM, September 1986, Volume 29, Number 9, pp. 902-908</a:t>
            </a:r>
          </a:p>
          <a:p>
            <a:pPr marL="0" indent="0">
              <a:buNone/>
            </a:pPr>
            <a:r>
              <a:rPr lang="en-US" sz="1600" dirty="0" smtClean="0">
                <a:hlinkClick r:id="rId2"/>
              </a:rPr>
              <a:t>http</a:t>
            </a:r>
            <a:r>
              <a:rPr lang="en-US" sz="1600" dirty="0">
                <a:hlinkClick r:id="rId2"/>
              </a:rPr>
              <a:t>://web.eecs.umich.edu/~</a:t>
            </a:r>
            <a:r>
              <a:rPr lang="en-US" sz="1600" dirty="0" smtClean="0">
                <a:hlinkClick r:id="rId2"/>
              </a:rPr>
              <a:t>qstout/pap/CACM86.pdf</a:t>
            </a:r>
            <a:endParaRPr lang="en-US" sz="1600" dirty="0" smtClean="0"/>
          </a:p>
          <a:p>
            <a:pPr marL="0" indent="0">
              <a:buNone/>
            </a:pPr>
            <a:r>
              <a:rPr lang="en-US" sz="1600" dirty="0" smtClean="0">
                <a:hlinkClick r:id="rId3"/>
              </a:rPr>
              <a:t>https://en.wikipedia.org/wiki/Day%E2%80%93Stout%E2%80%93Warren_algorithm</a:t>
            </a:r>
            <a:endParaRPr lang="en-US"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4967419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Tree to Vine</a:t>
            </a:r>
            <a:endParaRPr lang="en-US" dirty="0"/>
          </a:p>
        </p:txBody>
      </p:sp>
      <p:sp>
        <p:nvSpPr>
          <p:cNvPr id="3" name="Content Placeholder 2"/>
          <p:cNvSpPr>
            <a:spLocks noGrp="1"/>
          </p:cNvSpPr>
          <p:nvPr>
            <p:ph idx="1"/>
          </p:nvPr>
        </p:nvSpPr>
        <p:spPr/>
        <p:txBody>
          <a:bodyPr/>
          <a:lstStyle/>
          <a:p>
            <a:r>
              <a:rPr lang="en-US" dirty="0" smtClean="0"/>
              <a:t>Apply a </a:t>
            </a:r>
            <a:r>
              <a:rPr lang="en-US" dirty="0" err="1" smtClean="0"/>
              <a:t>sequene</a:t>
            </a:r>
            <a:r>
              <a:rPr lang="en-US" dirty="0" smtClean="0"/>
              <a:t> </a:t>
            </a:r>
            <a:r>
              <a:rPr lang="en-US" smtClean="0"/>
              <a:t>of right </a:t>
            </a:r>
            <a:r>
              <a:rPr lang="en-US" dirty="0" smtClean="0"/>
              <a:t>rotation staring from the root node, until the tree becomes a linear </a:t>
            </a:r>
            <a:endParaRPr lang="en-US" dirty="0"/>
          </a:p>
        </p:txBody>
      </p:sp>
      <p:sp>
        <p:nvSpPr>
          <p:cNvPr id="4" name="Oval 3"/>
          <p:cNvSpPr/>
          <p:nvPr/>
        </p:nvSpPr>
        <p:spPr>
          <a:xfrm>
            <a:off x="813147" y="414231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Rectangle 4"/>
          <p:cNvSpPr/>
          <p:nvPr/>
        </p:nvSpPr>
        <p:spPr>
          <a:xfrm>
            <a:off x="2472992" y="3216932"/>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ounded Rectangle 5"/>
          <p:cNvSpPr/>
          <p:nvPr/>
        </p:nvSpPr>
        <p:spPr>
          <a:xfrm>
            <a:off x="325426" y="501922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6"/>
          <p:cNvSpPr/>
          <p:nvPr/>
        </p:nvSpPr>
        <p:spPr>
          <a:xfrm>
            <a:off x="1595620" y="4949530"/>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gular Pentagon 7"/>
          <p:cNvSpPr/>
          <p:nvPr/>
        </p:nvSpPr>
        <p:spPr>
          <a:xfrm>
            <a:off x="3289318" y="42067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stCxn id="4" idx="3"/>
            <a:endCxn id="6" idx="0"/>
          </p:cNvCxnSpPr>
          <p:nvPr/>
        </p:nvCxnSpPr>
        <p:spPr>
          <a:xfrm flipH="1">
            <a:off x="548236" y="4673726"/>
            <a:ext cx="356087" cy="345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4" idx="7"/>
            <a:endCxn id="5" idx="2"/>
          </p:cNvCxnSpPr>
          <p:nvPr/>
        </p:nvCxnSpPr>
        <p:spPr>
          <a:xfrm flipV="1">
            <a:off x="1344557" y="3666096"/>
            <a:ext cx="1366652" cy="5673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5"/>
            <a:endCxn id="7" idx="0"/>
          </p:cNvCxnSpPr>
          <p:nvPr/>
        </p:nvCxnSpPr>
        <p:spPr>
          <a:xfrm>
            <a:off x="1344557" y="4673726"/>
            <a:ext cx="567069" cy="2758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5" idx="2"/>
            <a:endCxn id="8" idx="0"/>
          </p:cNvCxnSpPr>
          <p:nvPr/>
        </p:nvCxnSpPr>
        <p:spPr>
          <a:xfrm>
            <a:off x="2711209" y="3666096"/>
            <a:ext cx="832259" cy="5406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Hexagon 12"/>
          <p:cNvSpPr/>
          <p:nvPr/>
        </p:nvSpPr>
        <p:spPr>
          <a:xfrm>
            <a:off x="1089911" y="5991678"/>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 Diagonal Corner Rectangle 13"/>
          <p:cNvSpPr/>
          <p:nvPr/>
        </p:nvSpPr>
        <p:spPr>
          <a:xfrm>
            <a:off x="2167121" y="5991678"/>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stCxn id="7" idx="2"/>
            <a:endCxn id="13" idx="5"/>
          </p:cNvCxnSpPr>
          <p:nvPr/>
        </p:nvCxnSpPr>
        <p:spPr>
          <a:xfrm flipH="1">
            <a:off x="1526783" y="5581542"/>
            <a:ext cx="384843"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4" idx="3"/>
          </p:cNvCxnSpPr>
          <p:nvPr/>
        </p:nvCxnSpPr>
        <p:spPr>
          <a:xfrm>
            <a:off x="1911626" y="5581542"/>
            <a:ext cx="523301" cy="410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ight Arrow 17"/>
          <p:cNvSpPr/>
          <p:nvPr/>
        </p:nvSpPr>
        <p:spPr>
          <a:xfrm>
            <a:off x="4307080" y="4949530"/>
            <a:ext cx="444382" cy="408683"/>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5078670" y="2805367"/>
            <a:ext cx="3672223" cy="3630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472798" y="3097181"/>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p:cNvSpPr/>
          <p:nvPr/>
        </p:nvSpPr>
        <p:spPr>
          <a:xfrm>
            <a:off x="7902658" y="5631488"/>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ounded Rectangle 20"/>
          <p:cNvSpPr/>
          <p:nvPr/>
        </p:nvSpPr>
        <p:spPr>
          <a:xfrm>
            <a:off x="4851305" y="2582007"/>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mond 21"/>
          <p:cNvSpPr/>
          <p:nvPr/>
        </p:nvSpPr>
        <p:spPr>
          <a:xfrm>
            <a:off x="6611588" y="4323576"/>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gular Pentagon 22"/>
          <p:cNvSpPr/>
          <p:nvPr/>
        </p:nvSpPr>
        <p:spPr>
          <a:xfrm>
            <a:off x="8432650" y="6193383"/>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p:cNvSpPr/>
          <p:nvPr/>
        </p:nvSpPr>
        <p:spPr>
          <a:xfrm>
            <a:off x="6095384" y="3781420"/>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 Diagonal Corner Rectangle 24"/>
          <p:cNvSpPr/>
          <p:nvPr/>
        </p:nvSpPr>
        <p:spPr>
          <a:xfrm>
            <a:off x="7287150" y="5088581"/>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622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Compress</a:t>
            </a:r>
            <a:endParaRPr lang="en-US" dirty="0"/>
          </a:p>
        </p:txBody>
      </p:sp>
      <p:sp>
        <p:nvSpPr>
          <p:cNvPr id="3" name="Content Placeholder 2"/>
          <p:cNvSpPr>
            <a:spLocks noGrp="1"/>
          </p:cNvSpPr>
          <p:nvPr>
            <p:ph idx="1"/>
          </p:nvPr>
        </p:nvSpPr>
        <p:spPr/>
        <p:txBody>
          <a:bodyPr/>
          <a:lstStyle/>
          <a:p>
            <a:r>
              <a:rPr lang="en-US" dirty="0" smtClean="0"/>
              <a:t>Takes an input parameter N.  Vine node </a:t>
            </a:r>
            <a:r>
              <a:rPr lang="en-US" i="1" dirty="0" err="1" smtClean="0"/>
              <a:t>i</a:t>
            </a:r>
            <a:r>
              <a:rPr lang="en-US" dirty="0" smtClean="0"/>
              <a:t> (zero-based) is the </a:t>
            </a:r>
            <a:r>
              <a:rPr lang="en-US" i="1" dirty="0" err="1" smtClean="0"/>
              <a:t>i</a:t>
            </a:r>
            <a:r>
              <a:rPr lang="en-US" dirty="0" err="1" smtClean="0"/>
              <a:t>th</a:t>
            </a:r>
            <a:r>
              <a:rPr lang="en-US" dirty="0" smtClean="0"/>
              <a:t> node connected from the rood by right pointer.</a:t>
            </a:r>
          </a:p>
          <a:p>
            <a:r>
              <a:rPr lang="en-US" dirty="0" smtClean="0"/>
              <a:t>Apply left rotation to </a:t>
            </a:r>
            <a:r>
              <a:rPr lang="en-US" i="1" dirty="0" err="1" smtClean="0"/>
              <a:t>i</a:t>
            </a:r>
            <a:r>
              <a:rPr lang="en-US" dirty="0" smtClean="0"/>
              <a:t>=0, </a:t>
            </a:r>
            <a:r>
              <a:rPr lang="en-US" i="1" dirty="0" err="1" smtClean="0"/>
              <a:t>i</a:t>
            </a:r>
            <a:r>
              <a:rPr lang="en-US" dirty="0" smtClean="0"/>
              <a:t>=2,…,</a:t>
            </a:r>
            <a:r>
              <a:rPr lang="en-US" i="1" dirty="0" err="1" smtClean="0"/>
              <a:t>i</a:t>
            </a:r>
            <a:r>
              <a:rPr lang="en-US" dirty="0" smtClean="0"/>
              <a:t>=2*(N-1).</a:t>
            </a:r>
            <a:endParaRPr lang="en-US" dirty="0"/>
          </a:p>
        </p:txBody>
      </p:sp>
      <p:cxnSp>
        <p:nvCxnSpPr>
          <p:cNvPr id="4" name="Straight Connector 3"/>
          <p:cNvCxnSpPr/>
          <p:nvPr/>
        </p:nvCxnSpPr>
        <p:spPr>
          <a:xfrm>
            <a:off x="461755" y="2702818"/>
            <a:ext cx="3672223" cy="3630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855883" y="2994632"/>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p:cNvSpPr/>
          <p:nvPr/>
        </p:nvSpPr>
        <p:spPr>
          <a:xfrm>
            <a:off x="3285743" y="5528939"/>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ounded Rectangle 6"/>
          <p:cNvSpPr/>
          <p:nvPr/>
        </p:nvSpPr>
        <p:spPr>
          <a:xfrm>
            <a:off x="234390" y="2479458"/>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iamond 7"/>
          <p:cNvSpPr/>
          <p:nvPr/>
        </p:nvSpPr>
        <p:spPr>
          <a:xfrm>
            <a:off x="1994673" y="4221027"/>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gular Pentagon 8"/>
          <p:cNvSpPr/>
          <p:nvPr/>
        </p:nvSpPr>
        <p:spPr>
          <a:xfrm>
            <a:off x="3815735" y="6090834"/>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p:cNvSpPr/>
          <p:nvPr/>
        </p:nvSpPr>
        <p:spPr>
          <a:xfrm>
            <a:off x="1478469" y="3678871"/>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Diagonal Corner Rectangle 10"/>
          <p:cNvSpPr/>
          <p:nvPr/>
        </p:nvSpPr>
        <p:spPr>
          <a:xfrm>
            <a:off x="2670235" y="498603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825973" y="2513620"/>
            <a:ext cx="498855" cy="369332"/>
          </a:xfrm>
          <a:prstGeom prst="rect">
            <a:avLst/>
          </a:prstGeom>
          <a:noFill/>
        </p:spPr>
        <p:txBody>
          <a:bodyPr wrap="none" rtlCol="0">
            <a:spAutoFit/>
          </a:bodyPr>
          <a:lstStyle/>
          <a:p>
            <a:r>
              <a:rPr lang="en-US" i="1" dirty="0" err="1" smtClean="0"/>
              <a:t>i</a:t>
            </a:r>
            <a:r>
              <a:rPr lang="en-US" dirty="0" smtClean="0"/>
              <a:t>=0</a:t>
            </a:r>
            <a:endParaRPr lang="en-US" dirty="0"/>
          </a:p>
        </p:txBody>
      </p:sp>
      <p:sp>
        <p:nvSpPr>
          <p:cNvPr id="13" name="TextBox 12"/>
          <p:cNvSpPr txBox="1"/>
          <p:nvPr/>
        </p:nvSpPr>
        <p:spPr>
          <a:xfrm>
            <a:off x="1501983" y="2992403"/>
            <a:ext cx="498855" cy="369332"/>
          </a:xfrm>
          <a:prstGeom prst="rect">
            <a:avLst/>
          </a:prstGeom>
          <a:noFill/>
        </p:spPr>
        <p:txBody>
          <a:bodyPr wrap="none" rtlCol="0">
            <a:spAutoFit/>
          </a:bodyPr>
          <a:lstStyle/>
          <a:p>
            <a:r>
              <a:rPr lang="en-US" i="1" dirty="0" err="1" smtClean="0"/>
              <a:t>i</a:t>
            </a:r>
            <a:r>
              <a:rPr lang="en-US" dirty="0" smtClean="0"/>
              <a:t>=1</a:t>
            </a:r>
            <a:endParaRPr lang="en-US" dirty="0"/>
          </a:p>
        </p:txBody>
      </p:sp>
      <p:sp>
        <p:nvSpPr>
          <p:cNvPr id="14" name="TextBox 13"/>
          <p:cNvSpPr txBox="1"/>
          <p:nvPr/>
        </p:nvSpPr>
        <p:spPr>
          <a:xfrm>
            <a:off x="2063782" y="3571055"/>
            <a:ext cx="498855" cy="369332"/>
          </a:xfrm>
          <a:prstGeom prst="rect">
            <a:avLst/>
          </a:prstGeom>
          <a:noFill/>
        </p:spPr>
        <p:txBody>
          <a:bodyPr wrap="none" rtlCol="0">
            <a:spAutoFit/>
          </a:bodyPr>
          <a:lstStyle/>
          <a:p>
            <a:r>
              <a:rPr lang="en-US" i="1" dirty="0" err="1" smtClean="0"/>
              <a:t>i</a:t>
            </a:r>
            <a:r>
              <a:rPr lang="en-US" dirty="0" smtClean="0"/>
              <a:t>=2</a:t>
            </a:r>
            <a:endParaRPr lang="en-US" dirty="0"/>
          </a:p>
        </p:txBody>
      </p:sp>
      <p:sp>
        <p:nvSpPr>
          <p:cNvPr id="15" name="TextBox 14"/>
          <p:cNvSpPr txBox="1"/>
          <p:nvPr/>
        </p:nvSpPr>
        <p:spPr>
          <a:xfrm>
            <a:off x="2558251" y="4112633"/>
            <a:ext cx="498855" cy="369332"/>
          </a:xfrm>
          <a:prstGeom prst="rect">
            <a:avLst/>
          </a:prstGeom>
          <a:noFill/>
        </p:spPr>
        <p:txBody>
          <a:bodyPr wrap="none" rtlCol="0">
            <a:spAutoFit/>
          </a:bodyPr>
          <a:lstStyle/>
          <a:p>
            <a:r>
              <a:rPr lang="en-US" i="1" dirty="0" err="1" smtClean="0"/>
              <a:t>i</a:t>
            </a:r>
            <a:r>
              <a:rPr lang="en-US" dirty="0" smtClean="0"/>
              <a:t>=3</a:t>
            </a:r>
            <a:endParaRPr lang="en-US" dirty="0"/>
          </a:p>
        </p:txBody>
      </p:sp>
      <p:sp>
        <p:nvSpPr>
          <p:cNvPr id="16" name="TextBox 15"/>
          <p:cNvSpPr txBox="1"/>
          <p:nvPr/>
        </p:nvSpPr>
        <p:spPr>
          <a:xfrm>
            <a:off x="3277863" y="4716152"/>
            <a:ext cx="498855" cy="369332"/>
          </a:xfrm>
          <a:prstGeom prst="rect">
            <a:avLst/>
          </a:prstGeom>
          <a:noFill/>
        </p:spPr>
        <p:txBody>
          <a:bodyPr wrap="none" rtlCol="0">
            <a:spAutoFit/>
          </a:bodyPr>
          <a:lstStyle/>
          <a:p>
            <a:r>
              <a:rPr lang="en-US" i="1" dirty="0" err="1" smtClean="0"/>
              <a:t>i</a:t>
            </a:r>
            <a:r>
              <a:rPr lang="en-US" dirty="0" smtClean="0"/>
              <a:t>=4</a:t>
            </a:r>
            <a:endParaRPr lang="en-US" dirty="0"/>
          </a:p>
        </p:txBody>
      </p:sp>
      <p:sp>
        <p:nvSpPr>
          <p:cNvPr id="17" name="TextBox 16"/>
          <p:cNvSpPr txBox="1"/>
          <p:nvPr/>
        </p:nvSpPr>
        <p:spPr>
          <a:xfrm>
            <a:off x="3762177" y="5228952"/>
            <a:ext cx="498855" cy="369332"/>
          </a:xfrm>
          <a:prstGeom prst="rect">
            <a:avLst/>
          </a:prstGeom>
          <a:noFill/>
        </p:spPr>
        <p:txBody>
          <a:bodyPr wrap="none" rtlCol="0">
            <a:spAutoFit/>
          </a:bodyPr>
          <a:lstStyle/>
          <a:p>
            <a:r>
              <a:rPr lang="en-US" i="1" dirty="0" err="1" smtClean="0"/>
              <a:t>i</a:t>
            </a:r>
            <a:r>
              <a:rPr lang="en-US" dirty="0" smtClean="0"/>
              <a:t>=5</a:t>
            </a:r>
            <a:endParaRPr lang="en-US" dirty="0"/>
          </a:p>
        </p:txBody>
      </p:sp>
      <p:sp>
        <p:nvSpPr>
          <p:cNvPr id="18" name="TextBox 17"/>
          <p:cNvSpPr txBox="1"/>
          <p:nvPr/>
        </p:nvSpPr>
        <p:spPr>
          <a:xfrm>
            <a:off x="4324035" y="5860191"/>
            <a:ext cx="498855" cy="369332"/>
          </a:xfrm>
          <a:prstGeom prst="rect">
            <a:avLst/>
          </a:prstGeom>
          <a:noFill/>
        </p:spPr>
        <p:txBody>
          <a:bodyPr wrap="none" rtlCol="0">
            <a:spAutoFit/>
          </a:bodyPr>
          <a:lstStyle/>
          <a:p>
            <a:r>
              <a:rPr lang="en-US" i="1" dirty="0" err="1" smtClean="0"/>
              <a:t>i</a:t>
            </a:r>
            <a:r>
              <a:rPr lang="en-US" dirty="0" smtClean="0"/>
              <a:t>=6</a:t>
            </a:r>
            <a:endParaRPr lang="en-US" dirty="0"/>
          </a:p>
        </p:txBody>
      </p:sp>
      <p:sp>
        <p:nvSpPr>
          <p:cNvPr id="19" name="Right Arrow 18"/>
          <p:cNvSpPr/>
          <p:nvPr/>
        </p:nvSpPr>
        <p:spPr>
          <a:xfrm>
            <a:off x="4133978" y="4007978"/>
            <a:ext cx="506388" cy="473987"/>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805355" y="3100366"/>
            <a:ext cx="622586" cy="622586"/>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p:cNvSpPr/>
          <p:nvPr/>
        </p:nvSpPr>
        <p:spPr>
          <a:xfrm>
            <a:off x="7238183" y="4748891"/>
            <a:ext cx="476434" cy="449164"/>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ounded Rectangle 22"/>
          <p:cNvSpPr/>
          <p:nvPr/>
        </p:nvSpPr>
        <p:spPr>
          <a:xfrm>
            <a:off x="5450673" y="3960802"/>
            <a:ext cx="445620" cy="44562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mond 23"/>
          <p:cNvSpPr/>
          <p:nvPr/>
        </p:nvSpPr>
        <p:spPr>
          <a:xfrm>
            <a:off x="6379193" y="3895728"/>
            <a:ext cx="632012" cy="632012"/>
          </a:xfrm>
          <a:prstGeom prst="diamon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gular Pentagon 24"/>
          <p:cNvSpPr/>
          <p:nvPr/>
        </p:nvSpPr>
        <p:spPr>
          <a:xfrm>
            <a:off x="7725899" y="5483658"/>
            <a:ext cx="508300" cy="484096"/>
          </a:xfrm>
          <a:prstGeom prst="pent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p:cNvSpPr/>
          <p:nvPr/>
        </p:nvSpPr>
        <p:spPr>
          <a:xfrm>
            <a:off x="5835086" y="4615466"/>
            <a:ext cx="547810" cy="443753"/>
          </a:xfrm>
          <a:prstGeom prst="hexago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 Diagonal Corner Rectangle 26"/>
          <p:cNvSpPr/>
          <p:nvPr/>
        </p:nvSpPr>
        <p:spPr>
          <a:xfrm>
            <a:off x="6769181" y="5565262"/>
            <a:ext cx="535611" cy="376518"/>
          </a:xfrm>
          <a:prstGeom prst="round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21" idx="3"/>
            <a:endCxn id="23" idx="0"/>
          </p:cNvCxnSpPr>
          <p:nvPr/>
        </p:nvCxnSpPr>
        <p:spPr>
          <a:xfrm flipH="1">
            <a:off x="5673483" y="3631776"/>
            <a:ext cx="223048" cy="3290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21" idx="5"/>
            <a:endCxn id="24" idx="0"/>
          </p:cNvCxnSpPr>
          <p:nvPr/>
        </p:nvCxnSpPr>
        <p:spPr>
          <a:xfrm>
            <a:off x="6336765" y="3631776"/>
            <a:ext cx="358434" cy="2639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24" idx="1"/>
            <a:endCxn id="26" idx="5"/>
          </p:cNvCxnSpPr>
          <p:nvPr/>
        </p:nvCxnSpPr>
        <p:spPr>
          <a:xfrm flipH="1">
            <a:off x="6271958" y="4211734"/>
            <a:ext cx="107235" cy="4037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4" idx="3"/>
            <a:endCxn id="22" idx="0"/>
          </p:cNvCxnSpPr>
          <p:nvPr/>
        </p:nvCxnSpPr>
        <p:spPr>
          <a:xfrm>
            <a:off x="7011205" y="4211734"/>
            <a:ext cx="465195" cy="5371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22" idx="2"/>
            <a:endCxn id="27" idx="3"/>
          </p:cNvCxnSpPr>
          <p:nvPr/>
        </p:nvCxnSpPr>
        <p:spPr>
          <a:xfrm flipH="1">
            <a:off x="7036987" y="5198055"/>
            <a:ext cx="439413" cy="3672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22" idx="2"/>
            <a:endCxn id="25" idx="0"/>
          </p:cNvCxnSpPr>
          <p:nvPr/>
        </p:nvCxnSpPr>
        <p:spPr>
          <a:xfrm>
            <a:off x="7476400" y="5198055"/>
            <a:ext cx="503649" cy="2856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160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Vine to Tree</a:t>
            </a:r>
            <a:endParaRPr lang="en-US" dirty="0"/>
          </a:p>
        </p:txBody>
      </p:sp>
      <p:sp>
        <p:nvSpPr>
          <p:cNvPr id="3" name="Content Placeholder 2"/>
          <p:cNvSpPr>
            <a:spLocks noGrp="1"/>
          </p:cNvSpPr>
          <p:nvPr>
            <p:ph idx="1"/>
          </p:nvPr>
        </p:nvSpPr>
        <p:spPr/>
        <p:txBody>
          <a:bodyPr/>
          <a:lstStyle/>
          <a:p>
            <a:r>
              <a:rPr lang="en-US" dirty="0" smtClean="0"/>
              <a:t>Apply a sequence of compression to convert a vine to a balanced tree.</a:t>
            </a:r>
          </a:p>
          <a:p>
            <a:pPr marL="0" indent="0">
              <a:buNone/>
            </a:pPr>
            <a:endParaRPr lang="en-US" dirty="0"/>
          </a:p>
          <a:p>
            <a:pPr marL="0" indent="0">
              <a:buNone/>
            </a:pPr>
            <a:r>
              <a:rPr lang="en-US" sz="1800" dirty="0" err="1" smtClean="0"/>
              <a:t>sz</a:t>
            </a:r>
            <a:r>
              <a:rPr lang="en-US" sz="1800" dirty="0" smtClean="0"/>
              <a:t>=(node count)</a:t>
            </a:r>
          </a:p>
          <a:p>
            <a:pPr marL="0" indent="0">
              <a:buNone/>
            </a:pPr>
            <a:r>
              <a:rPr lang="en-US" sz="1800" dirty="0" err="1" smtClean="0"/>
              <a:t>lc</a:t>
            </a:r>
            <a:r>
              <a:rPr lang="en-US" sz="1800" dirty="0" smtClean="0"/>
              <a:t>=sz+1-2</a:t>
            </a:r>
            <a:r>
              <a:rPr lang="en-US" sz="1800" baseline="30000" dirty="0" smtClean="0"/>
              <a:t>int(log2(sz+1))</a:t>
            </a:r>
          </a:p>
          <a:p>
            <a:pPr marL="0" indent="0">
              <a:buNone/>
            </a:pPr>
            <a:r>
              <a:rPr lang="en-US" sz="1800" dirty="0" smtClean="0"/>
              <a:t>Compress(</a:t>
            </a:r>
            <a:r>
              <a:rPr lang="en-US" sz="1800" dirty="0" err="1" smtClean="0"/>
              <a:t>lc</a:t>
            </a:r>
            <a:r>
              <a:rPr lang="en-US" sz="1800" dirty="0" smtClean="0"/>
              <a:t>)</a:t>
            </a:r>
          </a:p>
          <a:p>
            <a:pPr marL="0" indent="0">
              <a:buNone/>
            </a:pPr>
            <a:r>
              <a:rPr lang="en-US" sz="1800" dirty="0" err="1" smtClean="0"/>
              <a:t>sz</a:t>
            </a:r>
            <a:r>
              <a:rPr lang="en-US" sz="1800" dirty="0" smtClean="0"/>
              <a:t>=</a:t>
            </a:r>
            <a:r>
              <a:rPr lang="en-US" sz="1800" dirty="0" err="1" smtClean="0"/>
              <a:t>sz-lc</a:t>
            </a:r>
            <a:endParaRPr lang="en-US" sz="1800" dirty="0"/>
          </a:p>
          <a:p>
            <a:pPr marL="0" indent="0">
              <a:buNone/>
            </a:pPr>
            <a:r>
              <a:rPr lang="en-US" sz="1800" dirty="0" smtClean="0"/>
              <a:t>while(1&lt;</a:t>
            </a:r>
            <a:r>
              <a:rPr lang="en-US" sz="1800" dirty="0" err="1" smtClean="0"/>
              <a:t>sz</a:t>
            </a:r>
            <a:r>
              <a:rPr lang="en-US" sz="1800" dirty="0" smtClean="0"/>
              <a:t>)</a:t>
            </a:r>
          </a:p>
          <a:p>
            <a:pPr marL="0" indent="0">
              <a:buNone/>
            </a:pPr>
            <a:r>
              <a:rPr lang="en-US" sz="1800" dirty="0" smtClean="0"/>
              <a:t>{</a:t>
            </a:r>
          </a:p>
          <a:p>
            <a:pPr marL="0" indent="0">
              <a:buNone/>
            </a:pPr>
            <a:r>
              <a:rPr lang="en-US" sz="1800" dirty="0" smtClean="0"/>
              <a:t>    Compress(</a:t>
            </a:r>
            <a:r>
              <a:rPr lang="en-US" sz="1800" dirty="0" err="1" smtClean="0"/>
              <a:t>sz</a:t>
            </a:r>
            <a:r>
              <a:rPr lang="en-US" sz="1800" dirty="0" smtClean="0"/>
              <a:t>/2)</a:t>
            </a:r>
          </a:p>
          <a:p>
            <a:pPr marL="0" indent="0">
              <a:buNone/>
            </a:pPr>
            <a:r>
              <a:rPr lang="en-US" sz="1800" dirty="0" smtClean="0"/>
              <a:t>    </a:t>
            </a:r>
            <a:r>
              <a:rPr lang="en-US" sz="1800" dirty="0" err="1" smtClean="0"/>
              <a:t>sz</a:t>
            </a:r>
            <a:r>
              <a:rPr lang="en-US" sz="1800" dirty="0" smtClean="0"/>
              <a:t>/=2</a:t>
            </a:r>
          </a:p>
          <a:p>
            <a:pPr marL="0" indent="0">
              <a:buNone/>
            </a:pPr>
            <a:r>
              <a:rPr lang="en-US" sz="1800" dirty="0"/>
              <a:t>}</a:t>
            </a:r>
          </a:p>
          <a:p>
            <a:pPr marL="0" indent="0">
              <a:buNone/>
            </a:pPr>
            <a:endParaRPr lang="en-US" baseline="30000" dirty="0"/>
          </a:p>
        </p:txBody>
      </p:sp>
    </p:spTree>
    <p:extLst>
      <p:ext uri="{BB962C8B-B14F-4D97-AF65-F5344CB8AC3E}">
        <p14:creationId xmlns:p14="http://schemas.microsoft.com/office/powerpoint/2010/main" val="2238316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First compression will make some leaves on the left of the vine nodes.  These left nodes will become the deepest nodes in the end.</a:t>
            </a:r>
            <a:endParaRPr lang="en-US" baseline="30000" dirty="0"/>
          </a:p>
        </p:txBody>
      </p:sp>
      <p:cxnSp>
        <p:nvCxnSpPr>
          <p:cNvPr id="36" name="Straight Connector 35"/>
          <p:cNvCxnSpPr/>
          <p:nvPr/>
        </p:nvCxnSpPr>
        <p:spPr>
          <a:xfrm>
            <a:off x="666572" y="2409914"/>
            <a:ext cx="3743058" cy="3868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457200" y="223045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70546" y="255367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1083892" y="287688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1397238" y="320010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1710584" y="352332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2023930" y="38465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337276" y="416976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2650622" y="44929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2963968" y="481619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3277314" y="513941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3590660" y="546263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3904006" y="578585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4217350" y="61090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ight Arrow 36"/>
          <p:cNvSpPr/>
          <p:nvPr/>
        </p:nvSpPr>
        <p:spPr>
          <a:xfrm>
            <a:off x="3661874" y="3649054"/>
            <a:ext cx="555476" cy="52070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a:off x="5566873" y="2820110"/>
            <a:ext cx="2858573" cy="29269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979784" y="426194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293130" y="458516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606476" y="490838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p:cNvSpPr/>
          <p:nvPr/>
        </p:nvSpPr>
        <p:spPr>
          <a:xfrm>
            <a:off x="7919822" y="523159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8233166" y="555482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p:nvPr/>
        </p:nvCxnSpPr>
        <p:spPr>
          <a:xfrm flipH="1">
            <a:off x="5315484" y="2938230"/>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5732805" y="334737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6163483" y="3728422"/>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flipH="1">
            <a:off x="6531664" y="415313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5104689" y="309755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453642" y="274595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5540525" y="34912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5855294" y="311282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a:off x="5929359" y="38900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6256946" y="35361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6310365" y="43147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6666438" y="39387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9971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Then the subsequent left rotations will make the tree perfectly balanced with deepest nodes on the left</a:t>
            </a:r>
            <a:endParaRPr lang="en-US" dirty="0"/>
          </a:p>
        </p:txBody>
      </p:sp>
      <p:cxnSp>
        <p:nvCxnSpPr>
          <p:cNvPr id="4" name="Straight Connector 3"/>
          <p:cNvCxnSpPr/>
          <p:nvPr/>
        </p:nvCxnSpPr>
        <p:spPr>
          <a:xfrm>
            <a:off x="1439254" y="2811564"/>
            <a:ext cx="2449082" cy="25722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3693837" y="517244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flipH="1">
            <a:off x="810901" y="2818884"/>
            <a:ext cx="652100" cy="633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flipV="1">
            <a:off x="1112643" y="3226505"/>
            <a:ext cx="327240" cy="3555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1862371" y="4030408"/>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1564734" y="3579888"/>
            <a:ext cx="697092" cy="73997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548978" y="33858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97931" y="30342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231129" y="340230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260149" y="261928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321048" y="419201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1648635" y="383812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2012185" y="423216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2033195" y="341291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flipH="1">
            <a:off x="2771149" y="4526004"/>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3257210" y="5027643"/>
            <a:ext cx="326521" cy="3232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2553570" y="466454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909554" y="431986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056336" y="517244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380493" y="48492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3440896" y="3578111"/>
            <a:ext cx="445221" cy="519596"/>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flipV="1">
            <a:off x="5583637" y="2880581"/>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634195" y="3388222"/>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635415" y="3444368"/>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flipV="1">
            <a:off x="6274762" y="4095871"/>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7170770" y="344046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4475987" y="422158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5393583" y="321913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a:off x="6424576" y="429763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flipH="1" flipV="1">
            <a:off x="7621931" y="405577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flipV="1">
            <a:off x="8052253" y="341141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007396" y="43292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p:cNvSpPr/>
          <p:nvPr/>
        </p:nvSpPr>
        <p:spPr>
          <a:xfrm>
            <a:off x="7392962" y="382305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7756806" y="437113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p:nvPr/>
        </p:nvCxnSpPr>
        <p:spPr>
          <a:xfrm>
            <a:off x="6866054" y="2900920"/>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6647505" y="268830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p:cNvSpPr/>
          <p:nvPr/>
        </p:nvSpPr>
        <p:spPr>
          <a:xfrm>
            <a:off x="7880813" y="31959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5007836" y="4095871"/>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5919458" y="4095871"/>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4824940" y="38699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5158138" y="423806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5733439" y="425748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6061026" y="39035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8377480" y="383702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6786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Set 4-2: AVL-Tree</a:t>
            </a:r>
            <a:endParaRPr lang="en-US" dirty="0"/>
          </a:p>
        </p:txBody>
      </p:sp>
      <p:sp>
        <p:nvSpPr>
          <p:cNvPr id="3" name="Content Placeholder 2"/>
          <p:cNvSpPr>
            <a:spLocks noGrp="1"/>
          </p:cNvSpPr>
          <p:nvPr>
            <p:ph idx="1"/>
          </p:nvPr>
        </p:nvSpPr>
        <p:spPr/>
        <p:txBody>
          <a:bodyPr/>
          <a:lstStyle/>
          <a:p>
            <a:r>
              <a:rPr lang="en-US" dirty="0" smtClean="0"/>
              <a:t>AVL Tree is a kind of self-balancing binary tree.</a:t>
            </a:r>
          </a:p>
          <a:p>
            <a:r>
              <a:rPr lang="en-US" dirty="0" smtClean="0"/>
              <a:t>It keeps the height difference between the left and right sub-trees less than 2.</a:t>
            </a:r>
          </a:p>
          <a:p>
            <a:r>
              <a:rPr lang="en-US" dirty="0" smtClean="0"/>
              <a:t>When a node is inserted or deleted, the balance of the upper nodes may change.</a:t>
            </a:r>
          </a:p>
          <a:p>
            <a:r>
              <a:rPr lang="en-US" dirty="0" smtClean="0"/>
              <a:t>If the balance becomes -2 or smaller, or 2 or greater, it performs re-balancing operations.</a:t>
            </a:r>
          </a:p>
          <a:p>
            <a:endParaRPr lang="en-US" dirty="0"/>
          </a:p>
        </p:txBody>
      </p:sp>
    </p:spTree>
    <p:extLst>
      <p:ext uri="{BB962C8B-B14F-4D97-AF65-F5344CB8AC3E}">
        <p14:creationId xmlns:p14="http://schemas.microsoft.com/office/powerpoint/2010/main" val="4279834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Balance of node: </a:t>
            </a:r>
            <a:r>
              <a:rPr lang="en-US" dirty="0" err="1" smtClean="0"/>
              <a:t>heightL-heightR</a:t>
            </a:r>
            <a:endParaRPr lang="en-US" dirty="0" smtClean="0"/>
          </a:p>
          <a:p>
            <a:r>
              <a:rPr lang="en-US" dirty="0" smtClean="0"/>
              <a:t>Positive balance=Left heavy</a:t>
            </a:r>
          </a:p>
          <a:p>
            <a:r>
              <a:rPr lang="en-US" smtClean="0"/>
              <a:t>Negative balance=Right </a:t>
            </a:r>
            <a:r>
              <a:rPr lang="en-US" dirty="0" smtClean="0"/>
              <a:t>heavy</a:t>
            </a:r>
            <a:endParaRPr lang="en-US" dirty="0"/>
          </a:p>
        </p:txBody>
      </p:sp>
    </p:spTree>
    <p:extLst>
      <p:ext uri="{BB962C8B-B14F-4D97-AF65-F5344CB8AC3E}">
        <p14:creationId xmlns:p14="http://schemas.microsoft.com/office/powerpoint/2010/main" val="29029752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flipH="1" flipV="1">
            <a:off x="726218" y="5259174"/>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876032" y="546093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p:nvPr/>
        </p:nvCxnSpPr>
        <p:spPr>
          <a:xfrm flipV="1">
            <a:off x="425964" y="5203086"/>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184895" y="542078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Re-balancing Left-Left case </a:t>
            </a:r>
            <a:endParaRPr lang="en-US" dirty="0"/>
          </a:p>
        </p:txBody>
      </p:sp>
      <p:sp>
        <p:nvSpPr>
          <p:cNvPr id="3" name="Content Placeholder 2"/>
          <p:cNvSpPr>
            <a:spLocks noGrp="1"/>
          </p:cNvSpPr>
          <p:nvPr>
            <p:ph idx="1"/>
          </p:nvPr>
        </p:nvSpPr>
        <p:spPr/>
        <p:txBody>
          <a:bodyPr/>
          <a:lstStyle/>
          <a:p>
            <a:r>
              <a:rPr lang="en-US" dirty="0" smtClean="0"/>
              <a:t>Off-balanced node is left-heavy, and</a:t>
            </a:r>
          </a:p>
          <a:p>
            <a:r>
              <a:rPr lang="en-US" dirty="0" smtClean="0"/>
              <a:t>Left of the off-balanced node is also left-heavy.</a:t>
            </a:r>
          </a:p>
          <a:p>
            <a:r>
              <a:rPr lang="en-US" dirty="0" smtClean="0"/>
              <a:t>Called Left-Left case.</a:t>
            </a:r>
          </a:p>
          <a:p>
            <a:r>
              <a:rPr lang="en-US" dirty="0" smtClean="0"/>
              <a:t>Balance is recovered by applying a Right rotation to the off-balance node.</a:t>
            </a:r>
            <a:endParaRPr lang="en-US" dirty="0"/>
          </a:p>
        </p:txBody>
      </p:sp>
      <p:cxnSp>
        <p:nvCxnSpPr>
          <p:cNvPr id="4" name="Straight Connector 3"/>
          <p:cNvCxnSpPr/>
          <p:nvPr/>
        </p:nvCxnSpPr>
        <p:spPr>
          <a:xfrm flipV="1">
            <a:off x="1640007" y="3684169"/>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690565" y="4191810"/>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flipH="1" flipV="1">
            <a:off x="1691785" y="4247956"/>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2908535" y="426724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532357" y="50251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449953"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2" name="Straight Connector 11"/>
          <p:cNvCxnSpPr/>
          <p:nvPr/>
        </p:nvCxnSpPr>
        <p:spPr>
          <a:xfrm flipH="1" flipV="1">
            <a:off x="3359696" y="488255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flipV="1">
            <a:off x="3790018" y="423819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745161" y="51560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130727" y="464983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494571" y="51979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2922424" y="3704508"/>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2703875" y="34918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3618578"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1064206" y="4899459"/>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881310" y="467356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3" name="Oval 22"/>
          <p:cNvSpPr/>
          <p:nvPr/>
        </p:nvSpPr>
        <p:spPr>
          <a:xfrm>
            <a:off x="1214508" y="50416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5" name="Oval 24"/>
          <p:cNvSpPr/>
          <p:nvPr/>
        </p:nvSpPr>
        <p:spPr>
          <a:xfrm>
            <a:off x="2117396" y="470717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15245" y="466380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426169" y="4706011"/>
            <a:ext cx="575799" cy="369332"/>
          </a:xfrm>
          <a:prstGeom prst="rect">
            <a:avLst/>
          </a:prstGeom>
          <a:noFill/>
        </p:spPr>
        <p:txBody>
          <a:bodyPr wrap="none" rtlCol="0">
            <a:spAutoFit/>
          </a:bodyPr>
          <a:lstStyle/>
          <a:p>
            <a:r>
              <a:rPr lang="en-US" dirty="0" smtClean="0"/>
              <a:t>h=1</a:t>
            </a:r>
            <a:endParaRPr lang="en-US" dirty="0"/>
          </a:p>
        </p:txBody>
      </p:sp>
      <p:sp>
        <p:nvSpPr>
          <p:cNvPr id="28" name="TextBox 27"/>
          <p:cNvSpPr txBox="1"/>
          <p:nvPr/>
        </p:nvSpPr>
        <p:spPr>
          <a:xfrm>
            <a:off x="340077" y="4672235"/>
            <a:ext cx="575799" cy="369332"/>
          </a:xfrm>
          <a:prstGeom prst="rect">
            <a:avLst/>
          </a:prstGeom>
          <a:noFill/>
        </p:spPr>
        <p:txBody>
          <a:bodyPr wrap="none" rtlCol="0">
            <a:spAutoFit/>
          </a:bodyPr>
          <a:lstStyle/>
          <a:p>
            <a:r>
              <a:rPr lang="en-US" dirty="0" smtClean="0"/>
              <a:t>h=3</a:t>
            </a:r>
            <a:endParaRPr lang="en-US" dirty="0"/>
          </a:p>
        </p:txBody>
      </p:sp>
      <p:sp>
        <p:nvSpPr>
          <p:cNvPr id="30" name="Curved Down Arrow 29"/>
          <p:cNvSpPr/>
          <p:nvPr/>
        </p:nvSpPr>
        <p:spPr>
          <a:xfrm>
            <a:off x="1156785" y="3782820"/>
            <a:ext cx="1027142" cy="454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p:cNvSpPr txBox="1"/>
          <p:nvPr/>
        </p:nvSpPr>
        <p:spPr>
          <a:xfrm>
            <a:off x="-51638" y="3716098"/>
            <a:ext cx="1281120" cy="369332"/>
          </a:xfrm>
          <a:prstGeom prst="rect">
            <a:avLst/>
          </a:prstGeom>
          <a:noFill/>
        </p:spPr>
        <p:txBody>
          <a:bodyPr wrap="none" rtlCol="0">
            <a:spAutoFit/>
          </a:bodyPr>
          <a:lstStyle/>
          <a:p>
            <a:r>
              <a:rPr lang="en-US" dirty="0" smtClean="0"/>
              <a:t>Balance=2</a:t>
            </a:r>
            <a:endParaRPr lang="en-US" dirty="0"/>
          </a:p>
        </p:txBody>
      </p:sp>
      <p:cxnSp>
        <p:nvCxnSpPr>
          <p:cNvPr id="31" name="Straight Connector 30"/>
          <p:cNvCxnSpPr/>
          <p:nvPr/>
        </p:nvCxnSpPr>
        <p:spPr>
          <a:xfrm flipH="1" flipV="1">
            <a:off x="5210140" y="5581104"/>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5359954" y="578286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p:cNvCxnSpPr>
            <a:endCxn id="50" idx="3"/>
          </p:cNvCxnSpPr>
          <p:nvPr/>
        </p:nvCxnSpPr>
        <p:spPr>
          <a:xfrm flipV="1">
            <a:off x="4909886" y="5000477"/>
            <a:ext cx="821843" cy="8799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4668817" y="57427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flipV="1">
            <a:off x="5876030" y="4372210"/>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5888690" y="4879851"/>
            <a:ext cx="574026" cy="667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H="1" flipV="1">
            <a:off x="6462716" y="5578710"/>
            <a:ext cx="330252" cy="326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7463163" y="4932090"/>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5016279" y="534710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p:cNvCxnSpPr/>
          <p:nvPr/>
        </p:nvCxnSpPr>
        <p:spPr>
          <a:xfrm flipH="1" flipV="1">
            <a:off x="7914324" y="5547401"/>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flipV="1">
            <a:off x="8344646" y="4903043"/>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7299789" y="58209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a:off x="7685355" y="531468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8049199" y="58627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Connector 45"/>
          <p:cNvCxnSpPr/>
          <p:nvPr/>
        </p:nvCxnSpPr>
        <p:spPr>
          <a:xfrm>
            <a:off x="7158447" y="4392549"/>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939898" y="417993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p:cNvSpPr/>
          <p:nvPr/>
        </p:nvSpPr>
        <p:spPr>
          <a:xfrm>
            <a:off x="8173206" y="468757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p:cNvCxnSpPr/>
          <p:nvPr/>
        </p:nvCxnSpPr>
        <p:spPr>
          <a:xfrm flipH="1">
            <a:off x="6110878" y="5622686"/>
            <a:ext cx="265308" cy="252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5675411" y="467223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51" name="Oval 50"/>
          <p:cNvSpPr/>
          <p:nvPr/>
        </p:nvSpPr>
        <p:spPr>
          <a:xfrm>
            <a:off x="5837030" y="58218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52" name="Oval 51"/>
          <p:cNvSpPr/>
          <p:nvPr/>
        </p:nvSpPr>
        <p:spPr>
          <a:xfrm>
            <a:off x="6627842" y="578619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p:cNvSpPr/>
          <p:nvPr/>
        </p:nvSpPr>
        <p:spPr>
          <a:xfrm>
            <a:off x="8669873" y="532865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6230400" y="534661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sp>
        <p:nvSpPr>
          <p:cNvPr id="64" name="Right Arrow 63"/>
          <p:cNvSpPr/>
          <p:nvPr/>
        </p:nvSpPr>
        <p:spPr>
          <a:xfrm rot="1504585">
            <a:off x="4249137" y="5180929"/>
            <a:ext cx="495501" cy="4325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0520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Re-balancing Left-Right case</a:t>
            </a:r>
            <a:endParaRPr lang="en-US" dirty="0"/>
          </a:p>
        </p:txBody>
      </p:sp>
      <p:sp>
        <p:nvSpPr>
          <p:cNvPr id="3" name="Content Placeholder 2"/>
          <p:cNvSpPr>
            <a:spLocks noGrp="1"/>
          </p:cNvSpPr>
          <p:nvPr>
            <p:ph idx="1"/>
          </p:nvPr>
        </p:nvSpPr>
        <p:spPr/>
        <p:txBody>
          <a:bodyPr/>
          <a:lstStyle/>
          <a:p>
            <a:r>
              <a:rPr lang="en-US" dirty="0" smtClean="0"/>
              <a:t>Off-balanced node is left-heavy, and</a:t>
            </a:r>
          </a:p>
          <a:p>
            <a:r>
              <a:rPr lang="en-US" dirty="0" smtClean="0"/>
              <a:t>Left of the off-balanced node is right-heavy.</a:t>
            </a:r>
          </a:p>
          <a:p>
            <a:r>
              <a:rPr lang="en-US" dirty="0" smtClean="0"/>
              <a:t>L-R case.</a:t>
            </a:r>
          </a:p>
          <a:p>
            <a:r>
              <a:rPr lang="en-US" dirty="0" smtClean="0"/>
              <a:t>Applying the same rotation doesn’t help.</a:t>
            </a:r>
            <a:endParaRPr lang="en-US" dirty="0"/>
          </a:p>
        </p:txBody>
      </p:sp>
      <p:cxnSp>
        <p:nvCxnSpPr>
          <p:cNvPr id="4" name="Straight Connector 3"/>
          <p:cNvCxnSpPr/>
          <p:nvPr/>
        </p:nvCxnSpPr>
        <p:spPr>
          <a:xfrm flipH="1" flipV="1">
            <a:off x="1385672" y="5291773"/>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1499505" y="554541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085418" y="5235685"/>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08368" y="550525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1640007" y="3684169"/>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690565" y="4191810"/>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1691785" y="4247956"/>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2908535" y="4267241"/>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532357" y="502517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1449953"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4" name="Straight Connector 13"/>
          <p:cNvCxnSpPr/>
          <p:nvPr/>
        </p:nvCxnSpPr>
        <p:spPr>
          <a:xfrm flipH="1" flipV="1">
            <a:off x="3359696" y="4882552"/>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3790018" y="4238194"/>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745161" y="515607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130727" y="464983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3494571" y="519791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2922424" y="3704508"/>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2703875" y="34918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618578" y="40227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1064206" y="4899459"/>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81310" y="467356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24" name="Oval 23"/>
          <p:cNvSpPr/>
          <p:nvPr/>
        </p:nvSpPr>
        <p:spPr>
          <a:xfrm>
            <a:off x="1214508" y="50416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5" name="Oval 24"/>
          <p:cNvSpPr/>
          <p:nvPr/>
        </p:nvSpPr>
        <p:spPr>
          <a:xfrm>
            <a:off x="2117396" y="470717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4115245" y="466380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426169" y="4706011"/>
            <a:ext cx="575799" cy="369332"/>
          </a:xfrm>
          <a:prstGeom prst="rect">
            <a:avLst/>
          </a:prstGeom>
          <a:noFill/>
        </p:spPr>
        <p:txBody>
          <a:bodyPr wrap="none" rtlCol="0">
            <a:spAutoFit/>
          </a:bodyPr>
          <a:lstStyle/>
          <a:p>
            <a:r>
              <a:rPr lang="en-US" dirty="0" smtClean="0"/>
              <a:t>h=1</a:t>
            </a:r>
            <a:endParaRPr lang="en-US" dirty="0"/>
          </a:p>
        </p:txBody>
      </p:sp>
      <p:sp>
        <p:nvSpPr>
          <p:cNvPr id="28" name="TextBox 27"/>
          <p:cNvSpPr txBox="1"/>
          <p:nvPr/>
        </p:nvSpPr>
        <p:spPr>
          <a:xfrm>
            <a:off x="340077" y="4672235"/>
            <a:ext cx="575799" cy="369332"/>
          </a:xfrm>
          <a:prstGeom prst="rect">
            <a:avLst/>
          </a:prstGeom>
          <a:noFill/>
        </p:spPr>
        <p:txBody>
          <a:bodyPr wrap="none" rtlCol="0">
            <a:spAutoFit/>
          </a:bodyPr>
          <a:lstStyle/>
          <a:p>
            <a:r>
              <a:rPr lang="en-US" dirty="0" smtClean="0"/>
              <a:t>h=3</a:t>
            </a:r>
            <a:endParaRPr lang="en-US" dirty="0"/>
          </a:p>
        </p:txBody>
      </p:sp>
      <p:sp>
        <p:nvSpPr>
          <p:cNvPr id="29" name="Curved Down Arrow 28"/>
          <p:cNvSpPr/>
          <p:nvPr/>
        </p:nvSpPr>
        <p:spPr>
          <a:xfrm>
            <a:off x="1156785" y="3782820"/>
            <a:ext cx="1027142" cy="45497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p:cNvSpPr txBox="1"/>
          <p:nvPr/>
        </p:nvSpPr>
        <p:spPr>
          <a:xfrm>
            <a:off x="-51638" y="3716098"/>
            <a:ext cx="1281120" cy="369332"/>
          </a:xfrm>
          <a:prstGeom prst="rect">
            <a:avLst/>
          </a:prstGeom>
          <a:noFill/>
        </p:spPr>
        <p:txBody>
          <a:bodyPr wrap="none" rtlCol="0">
            <a:spAutoFit/>
          </a:bodyPr>
          <a:lstStyle/>
          <a:p>
            <a:r>
              <a:rPr lang="en-US" dirty="0" smtClean="0"/>
              <a:t>Balance=2</a:t>
            </a:r>
            <a:endParaRPr lang="en-US" dirty="0"/>
          </a:p>
        </p:txBody>
      </p:sp>
      <p:sp>
        <p:nvSpPr>
          <p:cNvPr id="31" name="Right Arrow 30"/>
          <p:cNvSpPr/>
          <p:nvPr/>
        </p:nvSpPr>
        <p:spPr>
          <a:xfrm rot="1504585">
            <a:off x="4249137" y="5180929"/>
            <a:ext cx="495501" cy="43258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flipH="1" flipV="1">
            <a:off x="6031272" y="6085912"/>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6183906" y="627007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a:endCxn id="77" idx="3"/>
          </p:cNvCxnSpPr>
          <p:nvPr/>
        </p:nvCxnSpPr>
        <p:spPr>
          <a:xfrm flipV="1">
            <a:off x="5225777" y="5000477"/>
            <a:ext cx="505952" cy="5466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5876030" y="4372210"/>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5888690" y="4879851"/>
            <a:ext cx="574026" cy="6672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H="1" flipV="1">
            <a:off x="6462716" y="5578710"/>
            <a:ext cx="330252" cy="3267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7463163" y="4932090"/>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p:cNvSpPr/>
          <p:nvPr/>
        </p:nvSpPr>
        <p:spPr>
          <a:xfrm>
            <a:off x="5016279" y="534710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p:cNvCxnSpPr/>
          <p:nvPr/>
        </p:nvCxnSpPr>
        <p:spPr>
          <a:xfrm flipH="1" flipV="1">
            <a:off x="7914324" y="5547401"/>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8344646" y="4903043"/>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7299789" y="582092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7685355" y="531468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8049199" y="58627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3" name="Straight Connector 72"/>
          <p:cNvCxnSpPr/>
          <p:nvPr/>
        </p:nvCxnSpPr>
        <p:spPr>
          <a:xfrm>
            <a:off x="7158447" y="4392549"/>
            <a:ext cx="1229879" cy="5218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Oval 73"/>
          <p:cNvSpPr/>
          <p:nvPr/>
        </p:nvSpPr>
        <p:spPr>
          <a:xfrm>
            <a:off x="6939898" y="417993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8173206" y="468757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Connector 75"/>
          <p:cNvCxnSpPr/>
          <p:nvPr/>
        </p:nvCxnSpPr>
        <p:spPr>
          <a:xfrm flipH="1">
            <a:off x="6110878" y="5622686"/>
            <a:ext cx="265308" cy="252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Oval 76"/>
          <p:cNvSpPr/>
          <p:nvPr/>
        </p:nvSpPr>
        <p:spPr>
          <a:xfrm>
            <a:off x="5675411" y="467223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79" name="Oval 78"/>
          <p:cNvSpPr/>
          <p:nvPr/>
        </p:nvSpPr>
        <p:spPr>
          <a:xfrm>
            <a:off x="6627842" y="578619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8669873" y="532865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6230400" y="534661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84" name="Straight Connector 83"/>
          <p:cNvCxnSpPr/>
          <p:nvPr/>
        </p:nvCxnSpPr>
        <p:spPr>
          <a:xfrm flipV="1">
            <a:off x="5675411" y="6085912"/>
            <a:ext cx="355861"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Oval 61"/>
          <p:cNvSpPr/>
          <p:nvPr/>
        </p:nvSpPr>
        <p:spPr>
          <a:xfrm>
            <a:off x="5492769" y="62299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5837030" y="5821891"/>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85" name="TextBox 84"/>
          <p:cNvSpPr txBox="1"/>
          <p:nvPr/>
        </p:nvSpPr>
        <p:spPr>
          <a:xfrm>
            <a:off x="5035731" y="4220386"/>
            <a:ext cx="1717137" cy="369332"/>
          </a:xfrm>
          <a:prstGeom prst="rect">
            <a:avLst/>
          </a:prstGeom>
          <a:noFill/>
        </p:spPr>
        <p:txBody>
          <a:bodyPr wrap="none" rtlCol="0">
            <a:spAutoFit/>
          </a:bodyPr>
          <a:lstStyle/>
          <a:p>
            <a:r>
              <a:rPr lang="en-US" dirty="0" smtClean="0"/>
              <a:t>Still Balance=2</a:t>
            </a:r>
            <a:endParaRPr lang="en-US" dirty="0"/>
          </a:p>
        </p:txBody>
      </p:sp>
      <p:sp>
        <p:nvSpPr>
          <p:cNvPr id="86" name="TextBox 85"/>
          <p:cNvSpPr txBox="1"/>
          <p:nvPr/>
        </p:nvSpPr>
        <p:spPr>
          <a:xfrm>
            <a:off x="5675411" y="3610576"/>
            <a:ext cx="2747523" cy="369332"/>
          </a:xfrm>
          <a:prstGeom prst="rect">
            <a:avLst/>
          </a:prstGeom>
          <a:noFill/>
        </p:spPr>
        <p:txBody>
          <a:bodyPr wrap="square" rtlCol="0">
            <a:spAutoFit/>
          </a:bodyPr>
          <a:lstStyle/>
          <a:p>
            <a:r>
              <a:rPr lang="en-US" dirty="0" smtClean="0"/>
              <a:t>Doesn’t help.</a:t>
            </a:r>
            <a:endParaRPr lang="en-US" dirty="0"/>
          </a:p>
        </p:txBody>
      </p:sp>
    </p:spTree>
    <p:extLst>
      <p:ext uri="{BB962C8B-B14F-4D97-AF65-F5344CB8AC3E}">
        <p14:creationId xmlns:p14="http://schemas.microsoft.com/office/powerpoint/2010/main" val="2840272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Observation and Solution of L-R case</a:t>
            </a:r>
            <a:endParaRPr lang="en-US" dirty="0"/>
          </a:p>
        </p:txBody>
      </p:sp>
      <p:sp>
        <p:nvSpPr>
          <p:cNvPr id="3" name="Content Placeholder 2"/>
          <p:cNvSpPr>
            <a:spLocks noGrp="1"/>
          </p:cNvSpPr>
          <p:nvPr>
            <p:ph idx="1"/>
          </p:nvPr>
        </p:nvSpPr>
        <p:spPr/>
        <p:txBody>
          <a:bodyPr/>
          <a:lstStyle/>
          <a:p>
            <a:r>
              <a:rPr lang="en-US" dirty="0" smtClean="0"/>
              <a:t>If, the tree is self-balancing, and if the balance is kept between -1 and 1, applying one left rotation will make B left-heavy.</a:t>
            </a:r>
          </a:p>
          <a:p>
            <a:r>
              <a:rPr lang="en-US" dirty="0" smtClean="0"/>
              <a:t>It converts a L-R case into a L-L case.</a:t>
            </a:r>
          </a:p>
          <a:p>
            <a:r>
              <a:rPr lang="en-US" dirty="0" smtClean="0"/>
              <a:t>Then apply a Right rotation to A.</a:t>
            </a:r>
            <a:endParaRPr lang="en-US" dirty="0"/>
          </a:p>
        </p:txBody>
      </p:sp>
      <p:cxnSp>
        <p:nvCxnSpPr>
          <p:cNvPr id="4" name="Straight Connector 3"/>
          <p:cNvCxnSpPr/>
          <p:nvPr/>
        </p:nvCxnSpPr>
        <p:spPr>
          <a:xfrm flipH="1" flipV="1">
            <a:off x="1470913" y="5501000"/>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1584746" y="5754637"/>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1170659" y="5444912"/>
            <a:ext cx="325916" cy="3553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93609" y="571448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1725248" y="3893396"/>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775806" y="4401037"/>
            <a:ext cx="962101" cy="10258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1777026" y="4457183"/>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617598" y="523439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535194" y="423194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15" name="Straight Connector 14"/>
          <p:cNvCxnSpPr/>
          <p:nvPr/>
        </p:nvCxnSpPr>
        <p:spPr>
          <a:xfrm>
            <a:off x="3007665" y="3913735"/>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789116" y="370111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1149447" y="5108686"/>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966551" y="4882793"/>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19" name="Oval 18"/>
          <p:cNvSpPr/>
          <p:nvPr/>
        </p:nvSpPr>
        <p:spPr>
          <a:xfrm>
            <a:off x="1299749" y="525087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20" name="Oval 19"/>
          <p:cNvSpPr/>
          <p:nvPr/>
        </p:nvSpPr>
        <p:spPr>
          <a:xfrm>
            <a:off x="2202637" y="491640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urved Up Arrow 24"/>
          <p:cNvSpPr/>
          <p:nvPr/>
        </p:nvSpPr>
        <p:spPr>
          <a:xfrm rot="10800000">
            <a:off x="736687" y="4749649"/>
            <a:ext cx="790414" cy="340963"/>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ight Arrow 25"/>
          <p:cNvSpPr/>
          <p:nvPr/>
        </p:nvSpPr>
        <p:spPr>
          <a:xfrm>
            <a:off x="4184543" y="4680489"/>
            <a:ext cx="588935" cy="581186"/>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p:nvPr/>
        </p:nvCxnSpPr>
        <p:spPr>
          <a:xfrm flipH="1" flipV="1">
            <a:off x="4998189" y="5635436"/>
            <a:ext cx="340657" cy="2567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061796" y="580642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flipV="1">
            <a:off x="5893435" y="3985332"/>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4615470" y="4492973"/>
            <a:ext cx="1290625" cy="14642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flipV="1">
            <a:off x="5945213" y="4549119"/>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4392306" y="577186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703381" y="432388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a:t>
            </a:r>
            <a:endParaRPr lang="en-US" dirty="0">
              <a:solidFill>
                <a:schemeClr val="tx1"/>
              </a:solidFill>
            </a:endParaRPr>
          </a:p>
        </p:txBody>
      </p:sp>
      <p:cxnSp>
        <p:nvCxnSpPr>
          <p:cNvPr id="36" name="Straight Connector 35"/>
          <p:cNvCxnSpPr/>
          <p:nvPr/>
        </p:nvCxnSpPr>
        <p:spPr>
          <a:xfrm>
            <a:off x="7175852" y="4005671"/>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6957303" y="379305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p:cNvCxnSpPr/>
          <p:nvPr/>
        </p:nvCxnSpPr>
        <p:spPr>
          <a:xfrm>
            <a:off x="5317634" y="5200622"/>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4741259" y="542026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B</a:t>
            </a:r>
            <a:endParaRPr lang="en-US" dirty="0">
              <a:solidFill>
                <a:schemeClr val="tx1"/>
              </a:solidFill>
            </a:endParaRPr>
          </a:p>
        </p:txBody>
      </p:sp>
      <p:sp>
        <p:nvSpPr>
          <p:cNvPr id="40" name="Oval 39"/>
          <p:cNvSpPr/>
          <p:nvPr/>
        </p:nvSpPr>
        <p:spPr>
          <a:xfrm>
            <a:off x="5121046" y="5001416"/>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a:t>
            </a:r>
            <a:endParaRPr lang="en-US" dirty="0">
              <a:solidFill>
                <a:schemeClr val="tx1"/>
              </a:solidFill>
            </a:endParaRPr>
          </a:p>
        </p:txBody>
      </p:sp>
      <p:sp>
        <p:nvSpPr>
          <p:cNvPr id="41" name="Oval 40"/>
          <p:cNvSpPr/>
          <p:nvPr/>
        </p:nvSpPr>
        <p:spPr>
          <a:xfrm>
            <a:off x="6370824" y="50083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450879" y="531974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Curved Down Arrow 44"/>
          <p:cNvSpPr/>
          <p:nvPr/>
        </p:nvSpPr>
        <p:spPr>
          <a:xfrm>
            <a:off x="5480591" y="4210381"/>
            <a:ext cx="865218" cy="371507"/>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93142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Right-heavy situations</a:t>
            </a:r>
            <a:endParaRPr lang="en-US" dirty="0"/>
          </a:p>
        </p:txBody>
      </p:sp>
      <p:sp>
        <p:nvSpPr>
          <p:cNvPr id="3" name="Content Placeholder 2"/>
          <p:cNvSpPr>
            <a:spLocks noGrp="1"/>
          </p:cNvSpPr>
          <p:nvPr>
            <p:ph idx="1"/>
          </p:nvPr>
        </p:nvSpPr>
        <p:spPr/>
        <p:txBody>
          <a:bodyPr/>
          <a:lstStyle/>
          <a:p>
            <a:r>
              <a:rPr lang="en-US" dirty="0" smtClean="0"/>
              <a:t>R-R and R-L cases are symmetric to L-L and L-R cases.</a:t>
            </a:r>
            <a:endParaRPr lang="en-US" dirty="0"/>
          </a:p>
        </p:txBody>
      </p:sp>
    </p:spTree>
    <p:extLst>
      <p:ext uri="{BB962C8B-B14F-4D97-AF65-F5344CB8AC3E}">
        <p14:creationId xmlns:p14="http://schemas.microsoft.com/office/powerpoint/2010/main" val="19624282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Which nodes need to be re-balanced?</a:t>
            </a:r>
            <a:endParaRPr lang="en-US" dirty="0"/>
          </a:p>
        </p:txBody>
      </p:sp>
      <p:sp>
        <p:nvSpPr>
          <p:cNvPr id="3" name="Content Placeholder 2"/>
          <p:cNvSpPr>
            <a:spLocks noGrp="1"/>
          </p:cNvSpPr>
          <p:nvPr>
            <p:ph idx="1"/>
          </p:nvPr>
        </p:nvSpPr>
        <p:spPr/>
        <p:txBody>
          <a:bodyPr/>
          <a:lstStyle/>
          <a:p>
            <a:r>
              <a:rPr lang="en-US" dirty="0" smtClean="0"/>
              <a:t>After insertion:  If X is the node that is just inserted, the nodes above X must be checked for re-balancing.</a:t>
            </a:r>
            <a:endParaRPr lang="en-US" dirty="0"/>
          </a:p>
        </p:txBody>
      </p:sp>
      <p:cxnSp>
        <p:nvCxnSpPr>
          <p:cNvPr id="4" name="Straight Connector 3"/>
          <p:cNvCxnSpPr/>
          <p:nvPr/>
        </p:nvCxnSpPr>
        <p:spPr>
          <a:xfrm flipH="1" flipV="1">
            <a:off x="3129231" y="5051549"/>
            <a:ext cx="372743" cy="3496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3299839" y="524382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X</a:t>
            </a:r>
            <a:endParaRPr lang="en-US" dirty="0">
              <a:solidFill>
                <a:schemeClr val="tx1"/>
              </a:solidFill>
            </a:endParaRPr>
          </a:p>
        </p:txBody>
      </p:sp>
      <p:cxnSp>
        <p:nvCxnSpPr>
          <p:cNvPr id="8" name="Straight Connector 7"/>
          <p:cNvCxnSpPr/>
          <p:nvPr/>
        </p:nvCxnSpPr>
        <p:spPr>
          <a:xfrm flipV="1">
            <a:off x="3383566" y="3443945"/>
            <a:ext cx="1275312" cy="4753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2843198" y="3951586"/>
            <a:ext cx="553028" cy="6345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3435344" y="4007732"/>
            <a:ext cx="595949" cy="6013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652094" y="4027017"/>
            <a:ext cx="902323" cy="1037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3193512" y="37824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4" name="Straight Connector 13"/>
          <p:cNvCxnSpPr/>
          <p:nvPr/>
        </p:nvCxnSpPr>
        <p:spPr>
          <a:xfrm flipH="1" flipV="1">
            <a:off x="5103255" y="4642328"/>
            <a:ext cx="340233" cy="4760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flipV="1">
            <a:off x="5533577" y="3997970"/>
            <a:ext cx="626817" cy="7471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4488720" y="491585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4874286" y="4409614"/>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5238130" y="4957689"/>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4665983" y="3464284"/>
            <a:ext cx="861742" cy="5093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4447434" y="325166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5362137" y="3782498"/>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2807765" y="4659235"/>
            <a:ext cx="299102" cy="2842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624869" y="4433342"/>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Oval 23"/>
          <p:cNvSpPr/>
          <p:nvPr/>
        </p:nvSpPr>
        <p:spPr>
          <a:xfrm>
            <a:off x="2958067" y="480142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p:cNvSpPr/>
          <p:nvPr/>
        </p:nvSpPr>
        <p:spPr>
          <a:xfrm>
            <a:off x="3860955" y="4466955"/>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858804" y="4423580"/>
            <a:ext cx="384560" cy="384560"/>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2566315" y="3417376"/>
            <a:ext cx="1804207" cy="2022529"/>
          </a:xfrm>
          <a:custGeom>
            <a:avLst/>
            <a:gdLst>
              <a:gd name="connsiteX0" fmla="*/ 665082 w 1804207"/>
              <a:gd name="connsiteY0" fmla="*/ 2022529 h 2022529"/>
              <a:gd name="connsiteX1" fmla="*/ 37400 w 1804207"/>
              <a:gd name="connsiteY1" fmla="*/ 1418095 h 2022529"/>
              <a:gd name="connsiteX2" fmla="*/ 114892 w 1804207"/>
              <a:gd name="connsiteY2" fmla="*/ 906651 h 2022529"/>
              <a:gd name="connsiteX3" fmla="*/ 471353 w 1804207"/>
              <a:gd name="connsiteY3" fmla="*/ 426204 h 2022529"/>
              <a:gd name="connsiteX4" fmla="*/ 1804207 w 1804207"/>
              <a:gd name="connsiteY4" fmla="*/ 0 h 20225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4207" h="2022529">
                <a:moveTo>
                  <a:pt x="665082" y="2022529"/>
                </a:moveTo>
                <a:cubicBezTo>
                  <a:pt x="397090" y="1813302"/>
                  <a:pt x="129098" y="1604075"/>
                  <a:pt x="37400" y="1418095"/>
                </a:cubicBezTo>
                <a:cubicBezTo>
                  <a:pt x="-54298" y="1232115"/>
                  <a:pt x="42567" y="1071966"/>
                  <a:pt x="114892" y="906651"/>
                </a:cubicBezTo>
                <a:cubicBezTo>
                  <a:pt x="187217" y="741336"/>
                  <a:pt x="189801" y="577312"/>
                  <a:pt x="471353" y="426204"/>
                </a:cubicBezTo>
                <a:cubicBezTo>
                  <a:pt x="752905" y="275096"/>
                  <a:pt x="1278556" y="137548"/>
                  <a:pt x="1804207" y="0"/>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4384674"/>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3057</TotalTime>
  <Words>2769</Words>
  <Application>Microsoft Office PowerPoint</Application>
  <PresentationFormat>On-screen Show (4:3)</PresentationFormat>
  <Paragraphs>568</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굴림</vt:lpstr>
      <vt:lpstr>Arial</vt:lpstr>
      <vt:lpstr>Calibri</vt:lpstr>
      <vt:lpstr>Consolas</vt:lpstr>
      <vt:lpstr>Lucida Console</vt:lpstr>
      <vt:lpstr>Default Design</vt:lpstr>
      <vt:lpstr>24-783 Lecture 10</vt:lpstr>
      <vt:lpstr>Finalizing Project Topic</vt:lpstr>
      <vt:lpstr>Problem Set 4 is in the server</vt:lpstr>
      <vt:lpstr>PowerPoint Presentation</vt:lpstr>
      <vt:lpstr>Deleting a binary-tree node</vt:lpstr>
      <vt:lpstr>Deleting a binary-tree node</vt:lpstr>
      <vt:lpstr>Problem of the sloppy method</vt:lpstr>
      <vt:lpstr>Deleting a binary-tree node</vt:lpstr>
      <vt:lpstr>PowerPoint Presentation</vt:lpstr>
      <vt:lpstr>PowerPoint Presentation</vt:lpstr>
      <vt:lpstr>PowerPoint Presentation</vt:lpstr>
      <vt:lpstr>Tree-node deletion</vt:lpstr>
      <vt:lpstr>Tree-node deletion</vt:lpstr>
      <vt:lpstr>PowerPoint Presentation</vt:lpstr>
      <vt:lpstr>PowerPoint Presentation</vt:lpstr>
      <vt:lpstr>PowerPoint Presentation</vt:lpstr>
      <vt:lpstr>PowerPoint Presentation</vt:lpstr>
      <vt:lpstr>PowerPoint Presentation</vt:lpstr>
      <vt:lpstr>PowerPoint Presentation</vt:lpstr>
      <vt:lpstr>Visualizing a binary tree</vt:lpstr>
      <vt:lpstr>Nodes and Window Regions</vt:lpstr>
      <vt:lpstr>PowerPoint Presentation</vt:lpstr>
      <vt:lpstr>PowerPoint Presentation</vt:lpstr>
      <vt:lpstr>Change to the FsLazyWindowApplication</vt:lpstr>
      <vt:lpstr>PowerPoint Presentation</vt:lpstr>
      <vt:lpstr>Change to the FsLazyWindowApplication</vt:lpstr>
      <vt:lpstr>To accept Windows-size change</vt:lpstr>
      <vt:lpstr>Make it Interactive</vt:lpstr>
      <vt:lpstr>Identify which node the mouse cursor is on.</vt:lpstr>
      <vt:lpstr>New functions</vt:lpstr>
      <vt:lpstr>Interval function</vt:lpstr>
      <vt:lpstr>Draw function</vt:lpstr>
      <vt:lpstr>Tree Rotation</vt:lpstr>
      <vt:lpstr>Tree rotation.</vt:lpstr>
      <vt:lpstr>Tree rotation.</vt:lpstr>
      <vt:lpstr>Left rotation</vt:lpstr>
      <vt:lpstr>PowerPoint Presentation</vt:lpstr>
      <vt:lpstr>PowerPoint Presentation</vt:lpstr>
      <vt:lpstr>Problem Set 4-1: Re-balancing a Binary Tree</vt:lpstr>
      <vt:lpstr>Tree to Vine</vt:lpstr>
      <vt:lpstr>Compress</vt:lpstr>
      <vt:lpstr>Vine to Tree</vt:lpstr>
      <vt:lpstr>PowerPoint Presentation</vt:lpstr>
      <vt:lpstr>PowerPoint Presentation</vt:lpstr>
      <vt:lpstr>Problem Set 4-2: AVL-Tree</vt:lpstr>
      <vt:lpstr>PowerPoint Presentation</vt:lpstr>
      <vt:lpstr>Re-balancing Left-Left case </vt:lpstr>
      <vt:lpstr>Re-balancing Left-Right case</vt:lpstr>
      <vt:lpstr>Observation and Solution of L-R case</vt:lpstr>
      <vt:lpstr>Right-heavy situations</vt:lpstr>
      <vt:lpstr>Which nodes need to be re-balanced?</vt:lpstr>
    </vt:vector>
  </TitlesOfParts>
  <Company>CMU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soji</dc:creator>
  <cp:lastModifiedBy>Soji Yamakawa</cp:lastModifiedBy>
  <cp:revision>537</cp:revision>
  <dcterms:created xsi:type="dcterms:W3CDTF">2009-08-19T14:18:47Z</dcterms:created>
  <dcterms:modified xsi:type="dcterms:W3CDTF">2017-02-20T20:41:48Z</dcterms:modified>
</cp:coreProperties>
</file>