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83" r:id="rId2"/>
    <p:sldId id="721" r:id="rId3"/>
    <p:sldId id="264" r:id="rId4"/>
    <p:sldId id="671" r:id="rId5"/>
    <p:sldId id="700" r:id="rId6"/>
    <p:sldId id="701" r:id="rId7"/>
    <p:sldId id="708" r:id="rId8"/>
    <p:sldId id="702" r:id="rId9"/>
    <p:sldId id="673" r:id="rId10"/>
    <p:sldId id="703" r:id="rId11"/>
    <p:sldId id="722" r:id="rId12"/>
    <p:sldId id="674" r:id="rId13"/>
    <p:sldId id="675" r:id="rId14"/>
    <p:sldId id="676" r:id="rId15"/>
    <p:sldId id="677" r:id="rId16"/>
    <p:sldId id="678" r:id="rId17"/>
    <p:sldId id="679" r:id="rId18"/>
    <p:sldId id="680" r:id="rId19"/>
    <p:sldId id="681" r:id="rId20"/>
    <p:sldId id="682" r:id="rId21"/>
    <p:sldId id="704" r:id="rId22"/>
    <p:sldId id="684" r:id="rId23"/>
    <p:sldId id="705" r:id="rId24"/>
    <p:sldId id="685" r:id="rId25"/>
    <p:sldId id="686" r:id="rId26"/>
    <p:sldId id="706" r:id="rId27"/>
    <p:sldId id="707" r:id="rId28"/>
    <p:sldId id="672" r:id="rId29"/>
    <p:sldId id="709" r:id="rId30"/>
    <p:sldId id="710" r:id="rId31"/>
    <p:sldId id="711" r:id="rId32"/>
    <p:sldId id="712" r:id="rId33"/>
    <p:sldId id="713" r:id="rId34"/>
    <p:sldId id="714" r:id="rId35"/>
    <p:sldId id="715" r:id="rId36"/>
    <p:sldId id="716" r:id="rId37"/>
    <p:sldId id="717" r:id="rId38"/>
    <p:sldId id="718" r:id="rId39"/>
    <p:sldId id="719" r:id="rId40"/>
    <p:sldId id="720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5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1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4/3/2017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0FF-337F-4458-917A-769BA419EB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0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Lecture 20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265" y="2950030"/>
            <a:ext cx="4039470" cy="26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have two more assignments (PS7 and PS8) to 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Sorry, my bad.  Some of you expected there were going to be 6 problem sets.</a:t>
            </a:r>
          </a:p>
          <a:p>
            <a:r>
              <a:rPr lang="en-US" dirty="0" smtClean="0"/>
              <a:t>The first two problem sets didn't exist last year, and I forgot updating the Syllabus.</a:t>
            </a:r>
          </a:p>
          <a:p>
            <a:r>
              <a:rPr lang="en-US" dirty="0" smtClean="0"/>
              <a:t>You have PS7 (uploaded today) and PS8.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5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Mesh Simplification with Quadric Error Metric</a:t>
            </a:r>
          </a:p>
          <a:p>
            <a:pPr lvl="1"/>
            <a:r>
              <a:rPr lang="en-US" dirty="0" smtClean="0"/>
              <a:t>Edge-Collapsing</a:t>
            </a:r>
          </a:p>
          <a:p>
            <a:pPr lvl="1"/>
            <a:r>
              <a:rPr lang="en-US" dirty="0" smtClean="0"/>
              <a:t>Priority-Queue with Key Update</a:t>
            </a:r>
          </a:p>
          <a:p>
            <a:pPr lvl="1"/>
            <a:r>
              <a:rPr lang="en-US" dirty="0" smtClean="0"/>
              <a:t>Implementing with AVL-Tree and Hash Table</a:t>
            </a:r>
          </a:p>
          <a:p>
            <a:pPr lvl="1"/>
            <a:r>
              <a:rPr lang="en-US" dirty="0" smtClean="0"/>
              <a:t>Implementing Quadric-Error-Metric method</a:t>
            </a:r>
          </a:p>
          <a:p>
            <a:endParaRPr lang="en-US" dirty="0" smtClean="0"/>
          </a:p>
          <a:p>
            <a:r>
              <a:rPr lang="en-US" dirty="0" smtClean="0"/>
              <a:t>Installing Data Files (Resources) with CMake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Mesh Simplification with Quadric Error Metric</a:t>
            </a:r>
          </a:p>
          <a:p>
            <a:pPr lvl="1"/>
            <a:r>
              <a:rPr lang="en-US" dirty="0" smtClean="0"/>
              <a:t>Edge-Collapsing</a:t>
            </a:r>
          </a:p>
          <a:p>
            <a:pPr lvl="1"/>
            <a:r>
              <a:rPr lang="en-US" dirty="0" smtClean="0"/>
              <a:t>Priority-Queue </a:t>
            </a:r>
            <a:r>
              <a:rPr lang="en-US" smtClean="0"/>
              <a:t>with Key </a:t>
            </a:r>
            <a:r>
              <a:rPr lang="en-US" dirty="0" smtClean="0"/>
              <a:t>Update</a:t>
            </a:r>
          </a:p>
          <a:p>
            <a:pPr lvl="1"/>
            <a:r>
              <a:rPr lang="en-US" dirty="0" smtClean="0"/>
              <a:t>Implementing with AVL-Tree and Hash Table</a:t>
            </a:r>
          </a:p>
          <a:p>
            <a:pPr lvl="1"/>
            <a:r>
              <a:rPr lang="en-US" dirty="0" smtClean="0"/>
              <a:t>Implementing Quadric-Error-Metric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Mesh Simplification Method</a:t>
            </a:r>
          </a:p>
          <a:p>
            <a:pPr lvl="1"/>
            <a:r>
              <a:rPr lang="en-US" dirty="0" smtClean="0"/>
              <a:t>Goal:  Simplify a mesh without losing the overall appearance and features.</a:t>
            </a:r>
          </a:p>
          <a:p>
            <a:r>
              <a:rPr lang="en-US" dirty="0" smtClean="0"/>
              <a:t>What does 'Simplify' mean?</a:t>
            </a:r>
          </a:p>
          <a:p>
            <a:pPr lvl="1"/>
            <a:r>
              <a:rPr lang="en-US" dirty="0" smtClean="0"/>
              <a:t>Answer: Fewer elements.</a:t>
            </a:r>
          </a:p>
          <a:p>
            <a:endParaRPr lang="en-US" dirty="0"/>
          </a:p>
          <a:p>
            <a:r>
              <a:rPr lang="en-US" dirty="0" smtClean="0"/>
              <a:t>Quadric Error Metrics Method:</a:t>
            </a:r>
          </a:p>
          <a:p>
            <a:pPr lvl="1"/>
            <a:r>
              <a:rPr lang="en-US" dirty="0" smtClean="0"/>
              <a:t>Michael Garland and Paul S. </a:t>
            </a:r>
            <a:r>
              <a:rPr lang="en-US" dirty="0" err="1" smtClean="0"/>
              <a:t>Heckbert</a:t>
            </a:r>
            <a:r>
              <a:rPr lang="en-US" dirty="0" smtClean="0"/>
              <a:t>, </a:t>
            </a:r>
            <a:r>
              <a:rPr lang="en-US" i="1" dirty="0" smtClean="0"/>
              <a:t>"Surface Simplification Using Quadric Error Metrics"</a:t>
            </a:r>
            <a:r>
              <a:rPr lang="en-US" dirty="0" smtClean="0"/>
              <a:t>, Proceedings of SIGGRAPH 97, pp. 209-216</a:t>
            </a:r>
          </a:p>
          <a:p>
            <a:pPr lvl="1"/>
            <a:r>
              <a:rPr lang="en-US" dirty="0" smtClean="0"/>
              <a:t>From CMU network, you can download the paper for free.  (And many people made available for free for research and educational purposes anyway.)</a:t>
            </a:r>
          </a:p>
        </p:txBody>
      </p:sp>
    </p:spTree>
    <p:extLst>
      <p:ext uri="{BB962C8B-B14F-4D97-AF65-F5344CB8AC3E}">
        <p14:creationId xmlns:p14="http://schemas.microsoft.com/office/powerpoint/2010/main" val="115272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have a goal element count.  You want to reduce the number of triangles to a specific number.</a:t>
            </a:r>
          </a:p>
          <a:p>
            <a:r>
              <a:rPr lang="en-US" dirty="0" smtClean="0"/>
              <a:t>You can do it by applying a sequence of edge-collapsing operations.</a:t>
            </a:r>
          </a:p>
          <a:p>
            <a:r>
              <a:rPr lang="en-US" dirty="0" smtClean="0"/>
              <a:t>But, the result of edge-collapsing operations depends on the order in which the operations are applied.</a:t>
            </a:r>
          </a:p>
          <a:p>
            <a:r>
              <a:rPr lang="en-US" dirty="0" smtClean="0"/>
              <a:t>The question is in what order?</a:t>
            </a:r>
          </a:p>
          <a:p>
            <a:r>
              <a:rPr lang="en-US" dirty="0" smtClean="0"/>
              <a:t>Quadric Error Metrics method defines a function for deciding the order, which gives a reasonably good result.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6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cost is defined for each edge.</a:t>
            </a:r>
          </a:p>
          <a:p>
            <a:r>
              <a:rPr lang="en-US" dirty="0" smtClean="0"/>
              <a:t>The cost of an edge is a measurement of deformation that will be caused by collapsing the edge.</a:t>
            </a:r>
          </a:p>
          <a:p>
            <a:r>
              <a:rPr lang="en-US" dirty="0" smtClean="0"/>
              <a:t>You pick the one that yields the minimum cost, and collapse until you achieve the pre-set element count.</a:t>
            </a:r>
          </a:p>
          <a:p>
            <a:endParaRPr lang="en-US" dirty="0"/>
          </a:p>
          <a:p>
            <a:r>
              <a:rPr lang="en-US" dirty="0" smtClean="0"/>
              <a:t>One catch:  The cost for an edge may change as a result of earlier edge-collapsing.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9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implement the method, you need to…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 the edge-collapsing operation.</a:t>
            </a:r>
          </a:p>
          <a:p>
            <a:r>
              <a:rPr lang="en-US" dirty="0" smtClean="0"/>
              <a:t>Implement a priority queue that allows key updates.</a:t>
            </a:r>
          </a:p>
          <a:p>
            <a:pPr lvl="1"/>
            <a:r>
              <a:rPr lang="en-US" dirty="0" smtClean="0"/>
              <a:t>Can be done by AVL tree and Hash Table.</a:t>
            </a:r>
          </a:p>
          <a:p>
            <a:pPr lvl="1"/>
            <a:endParaRPr lang="en-US" dirty="0"/>
          </a:p>
          <a:p>
            <a:r>
              <a:rPr lang="en-US" dirty="0" smtClean="0"/>
              <a:t>Let's first implement the method WITHOUT the priority queue with key update, and then see the effect of the faster data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6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 Collapsing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Collapses an edge piece that is connecting vertices A and B.</a:t>
            </a:r>
          </a:p>
          <a:p>
            <a:r>
              <a:rPr lang="en-US" altLang="ja-JP" dirty="0" smtClean="0"/>
              <a:t>The two vertices becomes one, and triangles using the edge piece are deleted.</a:t>
            </a:r>
          </a:p>
          <a:p>
            <a:r>
              <a:rPr lang="en-US" altLang="ja-JP" dirty="0" smtClean="0"/>
              <a:t>Two types of Edge-Collapsing Operations</a:t>
            </a:r>
          </a:p>
          <a:p>
            <a:pPr lvl="1"/>
            <a:r>
              <a:rPr lang="en-US" altLang="ja-JP" dirty="0" smtClean="0"/>
              <a:t>(1) Moving both two vertices of the edge to the middle of the edge.</a:t>
            </a:r>
          </a:p>
          <a:p>
            <a:pPr lvl="1"/>
            <a:r>
              <a:rPr lang="en-US" altLang="ja-JP" dirty="0" smtClean="0"/>
              <a:t>(2) Moving one of the two vertices of the edge to the location of the other vertex.</a:t>
            </a:r>
          </a:p>
          <a:p>
            <a:r>
              <a:rPr lang="en-US" altLang="ja-JP" dirty="0" smtClean="0"/>
              <a:t>In this example, we go with Pattern (1)</a:t>
            </a:r>
            <a:endParaRPr lang="en-US" altLang="ja-JP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17072" y="4874077"/>
            <a:ext cx="1066800" cy="8763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589315" y="4879520"/>
            <a:ext cx="1104900" cy="190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83872" y="4874077"/>
            <a:ext cx="130629" cy="4844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17072" y="5363934"/>
            <a:ext cx="1191986" cy="38644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14501" y="5070020"/>
            <a:ext cx="979714" cy="28847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7072" y="5750377"/>
            <a:ext cx="1349829" cy="190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09058" y="5358492"/>
            <a:ext cx="1023257" cy="3537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694215" y="5070020"/>
            <a:ext cx="42182" cy="6422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709058" y="5358492"/>
            <a:ext cx="157843" cy="5823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1866901" y="5712277"/>
            <a:ext cx="865414" cy="228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17072" y="5750377"/>
            <a:ext cx="269422" cy="609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800101" y="5940877"/>
            <a:ext cx="1062717" cy="4082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86494" y="6359977"/>
            <a:ext cx="1238250" cy="1607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862818" y="5940877"/>
            <a:ext cx="146957" cy="56628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2016579" y="5712277"/>
            <a:ext cx="719818" cy="8084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53244" y="511083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62818" y="583202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6126957" y="4827184"/>
            <a:ext cx="1066800" cy="8763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199200" y="4832627"/>
            <a:ext cx="1104900" cy="190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193757" y="4827184"/>
            <a:ext cx="130629" cy="4844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7472703" y="5023127"/>
            <a:ext cx="831398" cy="86541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126957" y="5703484"/>
            <a:ext cx="1349829" cy="190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304100" y="5023127"/>
            <a:ext cx="42182" cy="6422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7318943" y="5311599"/>
            <a:ext cx="157843" cy="5823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7476786" y="5665384"/>
            <a:ext cx="865414" cy="228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126957" y="5703484"/>
            <a:ext cx="269422" cy="609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6409986" y="5893984"/>
            <a:ext cx="1062717" cy="4082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396379" y="6313084"/>
            <a:ext cx="1238250" cy="1607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472703" y="5893984"/>
            <a:ext cx="146957" cy="56628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7626464" y="5665384"/>
            <a:ext cx="719818" cy="8084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3482750" y="4871583"/>
            <a:ext cx="1066800" cy="8763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554993" y="4877026"/>
            <a:ext cx="1104900" cy="190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549550" y="4871583"/>
            <a:ext cx="125186" cy="81829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4674736" y="5067526"/>
            <a:ext cx="985157" cy="6421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3482750" y="5709670"/>
            <a:ext cx="1187903" cy="3821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659893" y="5067526"/>
            <a:ext cx="42182" cy="64225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 flipV="1">
            <a:off x="4667591" y="5703484"/>
            <a:ext cx="1030402" cy="629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482750" y="5747883"/>
            <a:ext cx="269422" cy="6096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3765780" y="5703484"/>
            <a:ext cx="904873" cy="64311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3752172" y="6357483"/>
            <a:ext cx="1238250" cy="1607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667591" y="5712277"/>
            <a:ext cx="307862" cy="79239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4982257" y="5709783"/>
            <a:ext cx="719818" cy="80849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4524509" y="5388427"/>
            <a:ext cx="143082" cy="31879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H="1" flipV="1">
            <a:off x="4684261" y="5707176"/>
            <a:ext cx="163862" cy="31806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7340714" y="5333370"/>
            <a:ext cx="250990" cy="555171"/>
          </a:xfrm>
          <a:custGeom>
            <a:avLst/>
            <a:gdLst>
              <a:gd name="connsiteX0" fmla="*/ 0 w 250990"/>
              <a:gd name="connsiteY0" fmla="*/ 0 h 555171"/>
              <a:gd name="connsiteX1" fmla="*/ 244929 w 250990"/>
              <a:gd name="connsiteY1" fmla="*/ 239486 h 555171"/>
              <a:gd name="connsiteX2" fmla="*/ 152400 w 250990"/>
              <a:gd name="connsiteY2" fmla="*/ 555171 h 55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990" h="555171">
                <a:moveTo>
                  <a:pt x="0" y="0"/>
                </a:moveTo>
                <a:cubicBezTo>
                  <a:pt x="109764" y="73479"/>
                  <a:pt x="219529" y="146958"/>
                  <a:pt x="244929" y="239486"/>
                </a:cubicBezTo>
                <a:cubicBezTo>
                  <a:pt x="270329" y="332014"/>
                  <a:pt x="211364" y="443592"/>
                  <a:pt x="152400" y="555171"/>
                </a:cubicBezTo>
              </a:path>
            </a:pathLst>
          </a:custGeom>
          <a:noFill/>
          <a:ln w="63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3673929" y="642552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Pattern (1)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6585285" y="642279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Pattern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8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 Collapsing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Let's implement and test the edge-collapsing operation.</a:t>
            </a:r>
            <a:endParaRPr lang="en-US" sz="13800" dirty="0" smtClean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52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Let's say you move a vertex of a triangle by vector </a:t>
            </a:r>
            <a:r>
              <a:rPr lang="en-US" b="1" dirty="0" smtClean="0"/>
              <a:t>v</a:t>
            </a:r>
            <a:r>
              <a:rPr lang="en-US" dirty="0" smtClean="0"/>
              <a:t>.</a:t>
            </a:r>
          </a:p>
          <a:p>
            <a:r>
              <a:rPr lang="en-US" dirty="0" smtClean="0"/>
              <a:t>One way of measuring the magnitude of the change is distance of the new vertex position from the plane of the original triangle:  </a:t>
            </a:r>
            <a:r>
              <a:rPr lang="en-US" i="1" dirty="0" smtClean="0"/>
              <a:t>d</a:t>
            </a:r>
            <a:r>
              <a:rPr lang="en-US" dirty="0" smtClean="0"/>
              <a:t>=</a:t>
            </a:r>
            <a:r>
              <a:rPr lang="en-US" b="1" dirty="0" smtClean="0"/>
              <a:t>n</a:t>
            </a:r>
            <a:r>
              <a:rPr lang="en-US" dirty="0" smtClean="0"/>
              <a:t>*</a:t>
            </a:r>
            <a:r>
              <a:rPr lang="en-US" b="1" dirty="0" smtClean="0"/>
              <a:t>v</a:t>
            </a:r>
          </a:p>
          <a:p>
            <a:r>
              <a:rPr lang="en-US" dirty="0" smtClean="0"/>
              <a:t>Where </a:t>
            </a:r>
            <a:r>
              <a:rPr lang="en-US" b="1" dirty="0" smtClean="0"/>
              <a:t>n</a:t>
            </a:r>
            <a:r>
              <a:rPr lang="en-US" dirty="0" smtClean="0"/>
              <a:t> is a unit normal vector of the original triangle.</a:t>
            </a: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1344386" y="3924300"/>
            <a:ext cx="4174671" cy="1502229"/>
          </a:xfrm>
          <a:custGeom>
            <a:avLst/>
            <a:gdLst>
              <a:gd name="connsiteX0" fmla="*/ 0 w 4174671"/>
              <a:gd name="connsiteY0" fmla="*/ 1502229 h 1502229"/>
              <a:gd name="connsiteX1" fmla="*/ 1899557 w 4174671"/>
              <a:gd name="connsiteY1" fmla="*/ 0 h 1502229"/>
              <a:gd name="connsiteX2" fmla="*/ 4174671 w 4174671"/>
              <a:gd name="connsiteY2" fmla="*/ 65314 h 1502229"/>
              <a:gd name="connsiteX3" fmla="*/ 0 w 4174671"/>
              <a:gd name="connsiteY3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4671" h="1502229">
                <a:moveTo>
                  <a:pt x="0" y="1502229"/>
                </a:moveTo>
                <a:lnTo>
                  <a:pt x="1899557" y="0"/>
                </a:lnTo>
                <a:lnTo>
                  <a:pt x="4174671" y="65314"/>
                </a:lnTo>
                <a:lnTo>
                  <a:pt x="0" y="1502229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4" idx="2"/>
          </p:cNvCxnSpPr>
          <p:nvPr/>
        </p:nvCxnSpPr>
        <p:spPr>
          <a:xfrm>
            <a:off x="5519057" y="3989614"/>
            <a:ext cx="985157" cy="105591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2"/>
          </p:cNvCxnSpPr>
          <p:nvPr/>
        </p:nvCxnSpPr>
        <p:spPr>
          <a:xfrm>
            <a:off x="5519057" y="3989614"/>
            <a:ext cx="538843" cy="158387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5519057" y="4914900"/>
            <a:ext cx="1289957" cy="43542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1"/>
          </p:cNvCxnSpPr>
          <p:nvPr/>
        </p:nvCxnSpPr>
        <p:spPr>
          <a:xfrm>
            <a:off x="3243943" y="3924300"/>
            <a:ext cx="3260271" cy="1121229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4" idx="0"/>
          </p:cNvCxnSpPr>
          <p:nvPr/>
        </p:nvCxnSpPr>
        <p:spPr>
          <a:xfrm flipV="1">
            <a:off x="1344386" y="5045529"/>
            <a:ext cx="5159828" cy="38100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01444" y="44087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v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278298" y="46435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d</a:t>
            </a:r>
            <a:endParaRPr lang="en-US" i="1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5295900" y="4065816"/>
            <a:ext cx="427322" cy="1208315"/>
          </a:xfrm>
          <a:prstGeom prst="line">
            <a:avLst/>
          </a:prstGeom>
          <a:ln>
            <a:solidFill>
              <a:schemeClr val="tx2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2642616" y="3721608"/>
            <a:ext cx="338328" cy="68710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65128" y="333594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5526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an edge ab is collapsed (a-&gt;b), triangles sharing edge ab will be deleted, but other triangles sharing vertex a will be modified so that vertex b is used in place for a.  (In the figure below, T</a:t>
            </a:r>
            <a:r>
              <a:rPr lang="en-US" baseline="-25000" dirty="0" smtClean="0"/>
              <a:t>2</a:t>
            </a:r>
            <a:r>
              <a:rPr lang="en-US" dirty="0" smtClean="0"/>
              <a:t> is deleted, and T</a:t>
            </a:r>
            <a:r>
              <a:rPr lang="en-US" baseline="-25000" dirty="0" smtClean="0"/>
              <a:t>1</a:t>
            </a:r>
            <a:r>
              <a:rPr lang="en-US" dirty="0" smtClean="0"/>
              <a:t> is modified.)</a:t>
            </a:r>
          </a:p>
          <a:p>
            <a:r>
              <a:rPr lang="en-US" dirty="0" smtClean="0"/>
              <a:t>Therefore, the deformation of a surviving triangle can be measured by the distance from the plane on which the triangle is lying and vertex b.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655064" y="4974336"/>
            <a:ext cx="2734056" cy="123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79976" y="4974336"/>
            <a:ext cx="2505456" cy="429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89120" y="4901184"/>
            <a:ext cx="2532888" cy="429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89120" y="45994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85432" y="53639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0443" y="540689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5379844" y="519936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00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Quadric Error Metric is the sum of squared distances between vertex b and the surviving triangles.  (In fact, you can include the polygons to be deleted.  The contribution will be zero.)</a:t>
            </a:r>
          </a:p>
          <a:p>
            <a:r>
              <a:rPr lang="en-US" dirty="0" smtClean="0"/>
              <a:t>It can be considered a cost for edge collapse.</a:t>
            </a:r>
          </a:p>
          <a:p>
            <a:r>
              <a:rPr lang="en-US" dirty="0" smtClean="0"/>
              <a:t>A surface mesh can be simplified by collapsing the minimum-cost pair until the mesh reaches the desired triangle count.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655064" y="4974336"/>
            <a:ext cx="2734056" cy="123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79976" y="4974336"/>
            <a:ext cx="2505456" cy="429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89120" y="4901184"/>
            <a:ext cx="2532888" cy="429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89120" y="45994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85432" y="53639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0443" y="540689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5379844" y="519936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r>
              <a:rPr lang="en-US" baseline="-25000" dirty="0"/>
              <a:t>2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423506" y="3730752"/>
            <a:ext cx="2734056" cy="12344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467190" y="4059936"/>
            <a:ext cx="537114" cy="12801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93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ways of implementation: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When collapsing a-&gt;b, b stays the present position.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When collapsing a-&gt;b, b is moved to the mid-point of a and b.</a:t>
            </a:r>
          </a:p>
          <a:p>
            <a:r>
              <a:rPr lang="en-US" dirty="0" smtClean="0"/>
              <a:t>For case 1, collapsing a-&gt;b and b-&gt;a yield different metric values.</a:t>
            </a:r>
          </a:p>
          <a:p>
            <a:r>
              <a:rPr lang="en-US" dirty="0" smtClean="0"/>
              <a:t>For case 2, collapsing a-&gt;b and b-&gt;a yield same metric value.</a:t>
            </a:r>
          </a:p>
          <a:p>
            <a:endParaRPr lang="en-US" dirty="0"/>
          </a:p>
          <a:p>
            <a:r>
              <a:rPr lang="en-US" dirty="0" smtClean="0"/>
              <a:t>Let’s implement case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8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58006" y="1158949"/>
            <a:ext cx="622798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#include &lt;</a:t>
            </a:r>
            <a:r>
              <a:rPr lang="en-US" sz="1200" dirty="0" err="1">
                <a:latin typeface="Lucida Console" panose="020B0609040504020204" pitchFamily="49" charset="0"/>
              </a:rPr>
              <a:t>ysshellext_geomcalc.h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double </a:t>
            </a:r>
            <a:r>
              <a:rPr lang="en-US" sz="1200" dirty="0" err="1">
                <a:latin typeface="Lucida Console" panose="020B0609040504020204" pitchFamily="49" charset="0"/>
              </a:rPr>
              <a:t>CalculateQuadricErrorMetric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YsShellExt</a:t>
            </a:r>
            <a:r>
              <a:rPr lang="en-US" sz="1200" dirty="0">
                <a:latin typeface="Lucida Console" panose="020B0609040504020204" pitchFamily="49" charset="0"/>
              </a:rPr>
              <a:t> &amp;</a:t>
            </a:r>
            <a:r>
              <a:rPr lang="en-US" sz="1200" dirty="0" err="1">
                <a:latin typeface="Lucida Console" panose="020B0609040504020204" pitchFamily="49" charset="0"/>
              </a:rPr>
              <a:t>shl</a:t>
            </a:r>
            <a:r>
              <a:rPr lang="en-US" sz="12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</a:t>
            </a:r>
            <a:r>
              <a:rPr lang="en-US" sz="1200" dirty="0" err="1">
                <a:latin typeface="Lucida Console" panose="020B0609040504020204" pitchFamily="49" charset="0"/>
              </a:rPr>
              <a:t>YsShell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VertexHandle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fromVtHd</a:t>
            </a:r>
            <a:r>
              <a:rPr lang="en-US" sz="12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</a:t>
            </a:r>
            <a:r>
              <a:rPr lang="en-US" sz="1200" dirty="0" err="1">
                <a:latin typeface="Lucida Console" panose="020B0609040504020204" pitchFamily="49" charset="0"/>
              </a:rPr>
              <a:t>YsShell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VertexHandle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toVtHd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double </a:t>
            </a:r>
            <a:r>
              <a:rPr lang="en-US" sz="1200" dirty="0">
                <a:latin typeface="Lucida Console" panose="020B0609040504020204" pitchFamily="49" charset="0"/>
              </a:rPr>
              <a:t>sum=0.0;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plHdToDel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shl.FindPolygonFromEdgePiece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fromVtHd,toVtHd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fromPos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shl.GetVertexPosition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fromVtHd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toPos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shl.GetVertexPosition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toVtHd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 err="1">
                <a:latin typeface="Lucida Console" panose="020B0609040504020204" pitchFamily="49" charset="0"/>
              </a:rPr>
              <a:t>plHd</a:t>
            </a:r>
            <a:r>
              <a:rPr lang="en-US" sz="1200" dirty="0">
                <a:latin typeface="Lucida Console" panose="020B0609040504020204" pitchFamily="49" charset="0"/>
              </a:rPr>
              <a:t> : </a:t>
            </a:r>
            <a:r>
              <a:rPr lang="en-US" sz="1200" dirty="0" err="1">
                <a:latin typeface="Lucida Console" panose="020B0609040504020204" pitchFamily="49" charset="0"/>
              </a:rPr>
              <a:t>shl.FindPolygonFromVertex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fromVtHd</a:t>
            </a:r>
            <a:r>
              <a:rPr lang="en-US" sz="12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auto </a:t>
            </a:r>
            <a:r>
              <a:rPr lang="en-US" sz="1200" dirty="0">
                <a:latin typeface="Lucida Console" panose="020B0609040504020204" pitchFamily="49" charset="0"/>
              </a:rPr>
              <a:t>nom=</a:t>
            </a:r>
            <a:r>
              <a:rPr lang="en-US" sz="1200" dirty="0" err="1">
                <a:latin typeface="Lucida Console" panose="020B0609040504020204" pitchFamily="49" charset="0"/>
              </a:rPr>
              <a:t>YsShell_CalculateNormal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shl.Conv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plHd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auto </a:t>
            </a:r>
            <a:r>
              <a:rPr lang="en-US" sz="1200" dirty="0">
                <a:latin typeface="Lucida Console" panose="020B0609040504020204" pitchFamily="49" charset="0"/>
              </a:rPr>
              <a:t>d=(</a:t>
            </a:r>
            <a:r>
              <a:rPr lang="en-US" sz="1200" dirty="0" err="1">
                <a:latin typeface="Lucida Console" panose="020B0609040504020204" pitchFamily="49" charset="0"/>
              </a:rPr>
              <a:t>toPos-fromPos</a:t>
            </a:r>
            <a:r>
              <a:rPr lang="en-US" sz="1200" dirty="0">
                <a:latin typeface="Lucida Console" panose="020B0609040504020204" pitchFamily="49" charset="0"/>
              </a:rPr>
              <a:t>)*nom;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sum</a:t>
            </a:r>
            <a:r>
              <a:rPr lang="en-US" sz="1200" dirty="0">
                <a:latin typeface="Lucida Console" panose="020B0609040504020204" pitchFamily="49" charset="0"/>
              </a:rPr>
              <a:t>+=d*d;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return </a:t>
            </a:r>
            <a:r>
              <a:rPr lang="en-US" sz="1200" dirty="0">
                <a:latin typeface="Lucida Console" panose="020B0609040504020204" pitchFamily="49" charset="0"/>
              </a:rPr>
              <a:t>sum;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62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Quadric Error Metric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4144" y="792126"/>
            <a:ext cx="7064755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FsGui3DMainCanvas::</a:t>
            </a:r>
            <a:r>
              <a:rPr lang="en-US" sz="1200" dirty="0" err="1">
                <a:latin typeface="Lucida Console" panose="020B0609040504020204" pitchFamily="49" charset="0"/>
              </a:rPr>
              <a:t>Edit_CollapseMinimumCostEdge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FsGuiPopUpMenuItem</a:t>
            </a:r>
            <a:r>
              <a:rPr lang="en-US" sz="1200" dirty="0">
                <a:latin typeface="Lucida Console" panose="020B0609040504020204" pitchFamily="49" charset="0"/>
              </a:rPr>
              <a:t> *)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double </a:t>
            </a:r>
            <a:r>
              <a:rPr lang="en-US" sz="1200" dirty="0" err="1">
                <a:latin typeface="Lucida Console" panose="020B0609040504020204" pitchFamily="49" charset="0"/>
              </a:rPr>
              <a:t>minMetric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YsInfinity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YsShell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VertexHandle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minEdVtHd</a:t>
            </a:r>
            <a:r>
              <a:rPr lang="en-US" sz="1200" dirty="0">
                <a:latin typeface="Lucida Console" panose="020B0609040504020204" pitchFamily="49" charset="0"/>
              </a:rPr>
              <a:t>[2]={</a:t>
            </a:r>
            <a:r>
              <a:rPr lang="en-US" sz="1200" dirty="0" err="1">
                <a:latin typeface="Lucida Console" panose="020B0609040504020204" pitchFamily="49" charset="0"/>
              </a:rPr>
              <a:t>nullptr,nullptr</a:t>
            </a:r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 err="1">
                <a:latin typeface="Lucida Console" panose="020B0609040504020204" pitchFamily="49" charset="0"/>
              </a:rPr>
              <a:t>vtHd</a:t>
            </a:r>
            <a:r>
              <a:rPr lang="en-US" sz="1200" dirty="0">
                <a:latin typeface="Lucida Console" panose="020B0609040504020204" pitchFamily="49" charset="0"/>
              </a:rPr>
              <a:t> : </a:t>
            </a:r>
            <a:r>
              <a:rPr lang="en-US" sz="1200" dirty="0" err="1">
                <a:latin typeface="Lucida Console" panose="020B0609040504020204" pitchFamily="49" charset="0"/>
              </a:rPr>
              <a:t>shl.AllVertex</a:t>
            </a:r>
            <a:r>
              <a:rPr lang="en-US" sz="12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200" dirty="0" err="1">
                <a:latin typeface="Lucida Console" panose="020B0609040504020204" pitchFamily="49" charset="0"/>
              </a:rPr>
              <a:t>connVtHd</a:t>
            </a:r>
            <a:r>
              <a:rPr lang="en-US" sz="1200" dirty="0">
                <a:latin typeface="Lucida Console" panose="020B0609040504020204" pitchFamily="49" charset="0"/>
              </a:rPr>
              <a:t> : </a:t>
            </a:r>
            <a:r>
              <a:rPr lang="en-US" sz="1200" dirty="0" err="1">
                <a:latin typeface="Lucida Console" panose="020B0609040504020204" pitchFamily="49" charset="0"/>
              </a:rPr>
              <a:t>shl.GetConnectedVertex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vtHd</a:t>
            </a:r>
            <a:r>
              <a:rPr lang="en-US" sz="12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auto </a:t>
            </a:r>
            <a:r>
              <a:rPr lang="en-US" sz="1200" dirty="0">
                <a:latin typeface="Lucida Console" panose="020B0609040504020204" pitchFamily="49" charset="0"/>
              </a:rPr>
              <a:t>cost=</a:t>
            </a:r>
            <a:r>
              <a:rPr lang="en-US" sz="1200" dirty="0" err="1">
                <a:latin typeface="Lucida Console" panose="020B0609040504020204" pitchFamily="49" charset="0"/>
              </a:rPr>
              <a:t>CalculateQuadricErrorMetric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shl,vtHd,connVtHd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if(cost&lt;</a:t>
            </a:r>
            <a:r>
              <a:rPr lang="en-US" sz="1200" dirty="0" err="1" smtClean="0">
                <a:latin typeface="Lucida Console" panose="020B0609040504020204" pitchFamily="49" charset="0"/>
              </a:rPr>
              <a:t>minMetric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|| </a:t>
            </a:r>
            <a:r>
              <a:rPr lang="en-US" sz="1200" dirty="0" err="1">
                <a:latin typeface="Lucida Console" panose="020B0609040504020204" pitchFamily="49" charset="0"/>
              </a:rPr>
              <a:t>nullptr</a:t>
            </a:r>
            <a:r>
              <a:rPr lang="en-US" sz="1200" dirty="0">
                <a:latin typeface="Lucida Console" panose="020B0609040504020204" pitchFamily="49" charset="0"/>
              </a:rPr>
              <a:t>==</a:t>
            </a:r>
            <a:r>
              <a:rPr lang="en-US" sz="1200" dirty="0" err="1">
                <a:latin typeface="Lucida Console" panose="020B0609040504020204" pitchFamily="49" charset="0"/>
              </a:rPr>
              <a:t>minEdVtHd</a:t>
            </a:r>
            <a:r>
              <a:rPr lang="en-US" sz="1200" dirty="0">
                <a:latin typeface="Lucida Console" panose="020B0609040504020204" pitchFamily="49" charset="0"/>
              </a:rPr>
              <a:t>[0])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minMetric</a:t>
            </a:r>
            <a:r>
              <a:rPr lang="en-US" sz="1200" dirty="0" smtClean="0">
                <a:latin typeface="Lucida Console" panose="020B0609040504020204" pitchFamily="49" charset="0"/>
              </a:rPr>
              <a:t>=cost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minEdVtHd</a:t>
            </a:r>
            <a:r>
              <a:rPr lang="en-US" sz="1200" dirty="0" smtClean="0">
                <a:latin typeface="Lucida Console" panose="020B0609040504020204" pitchFamily="49" charset="0"/>
              </a:rPr>
              <a:t>[0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vtHd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minEdVtHd</a:t>
            </a:r>
            <a:r>
              <a:rPr lang="en-US" sz="1200" dirty="0" smtClean="0">
                <a:latin typeface="Lucida Console" panose="020B0609040504020204" pitchFamily="49" charset="0"/>
              </a:rPr>
              <a:t>[1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connVtHd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</a:t>
            </a:r>
            <a:r>
              <a:rPr lang="en-US" sz="1200" dirty="0" err="1" smtClean="0">
                <a:latin typeface="Lucida Console" panose="020B0609040504020204" pitchFamily="49" charset="0"/>
              </a:rPr>
              <a:t>nullptr</a:t>
            </a:r>
            <a:r>
              <a:rPr lang="en-US" sz="1200" dirty="0">
                <a:latin typeface="Lucida Console" panose="020B0609040504020204" pitchFamily="49" charset="0"/>
              </a:rPr>
              <a:t>!=</a:t>
            </a:r>
            <a:r>
              <a:rPr lang="en-US" sz="1200" dirty="0" err="1">
                <a:latin typeface="Lucida Console" panose="020B0609040504020204" pitchFamily="49" charset="0"/>
              </a:rPr>
              <a:t>minEdVtHd</a:t>
            </a:r>
            <a:r>
              <a:rPr lang="en-US" sz="1200" dirty="0">
                <a:latin typeface="Lucida Console" panose="020B0609040504020204" pitchFamily="49" charset="0"/>
              </a:rPr>
              <a:t>[0])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YsShell_CollapseInfo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info;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if(YSOK</a:t>
            </a:r>
            <a:r>
              <a:rPr lang="en-US" sz="1200" dirty="0">
                <a:latin typeface="Lucida Console" panose="020B0609040504020204" pitchFamily="49" charset="0"/>
              </a:rPr>
              <a:t>==</a:t>
            </a:r>
            <a:r>
              <a:rPr lang="en-US" sz="1200" dirty="0" err="1">
                <a:latin typeface="Lucida Console" panose="020B0609040504020204" pitchFamily="49" charset="0"/>
              </a:rPr>
              <a:t>info.MakeInfo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shl,minEdVtHd</a:t>
            </a:r>
            <a:r>
              <a:rPr lang="en-US" sz="12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info.Apply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shl,YSFALSE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selectedVertex.clear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selectedVertex.push_back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minEdVtHd</a:t>
            </a:r>
            <a:r>
              <a:rPr lang="en-US" sz="1200" dirty="0" smtClean="0">
                <a:latin typeface="Lucida Console" panose="020B0609040504020204" pitchFamily="49" charset="0"/>
              </a:rPr>
              <a:t>[1</a:t>
            </a:r>
            <a:r>
              <a:rPr lang="en-US" sz="1200" dirty="0">
                <a:latin typeface="Lucida Console" panose="020B0609040504020204" pitchFamily="49" charset="0"/>
              </a:rPr>
              <a:t>]);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RemakeSelectedVertexBuffer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 smtClean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YsShellToVtxNom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vtx,nom,col,shl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SetNeedRedraw</a:t>
            </a:r>
            <a:r>
              <a:rPr lang="en-US" sz="1200" dirty="0" smtClean="0">
                <a:latin typeface="Lucida Console" panose="020B0609040504020204" pitchFamily="49" charset="0"/>
              </a:rPr>
              <a:t>(YSTRUE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60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it supposed to be this slow?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supposed to be a fast algorithm.</a:t>
            </a:r>
          </a:p>
          <a:p>
            <a:r>
              <a:rPr lang="en-US" dirty="0" smtClean="0"/>
              <a:t>But, it takes such a long time.</a:t>
            </a:r>
          </a:p>
          <a:p>
            <a:r>
              <a:rPr lang="en-US" dirty="0" smtClean="0"/>
              <a:t>Need a smarter data structure for avoiding </a:t>
            </a:r>
            <a:r>
              <a:rPr lang="en-US" dirty="0"/>
              <a:t>re-sorting </a:t>
            </a:r>
            <a:r>
              <a:rPr lang="en-US" dirty="0" smtClean="0"/>
              <a:t>and re-calculating error metrics.</a:t>
            </a:r>
          </a:p>
          <a:p>
            <a:endParaRPr lang="en-US" dirty="0"/>
          </a:p>
          <a:p>
            <a:r>
              <a:rPr lang="en-US" dirty="0" smtClean="0"/>
              <a:t>Need a Priority Queue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917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 with Key Update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 algorithm descriptions, you often see: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is a set of something.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that makes the cost function minimum.</a:t>
                </a:r>
              </a:p>
              <a:p>
                <a:pPr lvl="1"/>
                <a:r>
                  <a:rPr lang="en-US" dirty="0" smtClean="0"/>
                  <a:t>Do something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 and remove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lvl="1"/>
                <a:r>
                  <a:rPr lang="en-US" dirty="0" smtClean="0"/>
                  <a:t>Repeat the process until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is empty.</a:t>
                </a:r>
              </a:p>
              <a:p>
                <a:r>
                  <a:rPr lang="en-US" dirty="0" smtClean="0"/>
                  <a:t>In each iteration, you need to find an element in the set that makes the cost function minimum.</a:t>
                </a:r>
              </a:p>
              <a:p>
                <a:r>
                  <a:rPr lang="en-US" dirty="0" smtClean="0"/>
                  <a:t>If you calculate cost function for each element in the set in every iteration, almost automatically the computational cost becomes O(n</a:t>
                </a:r>
                <a:r>
                  <a:rPr lang="en-US" baseline="30000" dirty="0" smtClean="0"/>
                  <a:t>2</a:t>
                </a:r>
                <a:r>
                  <a:rPr lang="en-US" dirty="0" smtClean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843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771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the cost-function value does not change during the iterations, you can pre-calculate costs, sort, and then run the process in the pre-sorted order.</a:t>
            </a:r>
          </a:p>
          <a:p>
            <a:r>
              <a:rPr lang="en-US" dirty="0" smtClean="0"/>
              <a:t>What makes it difficult is when the cost-function values of some elements may change as a result of the process applied to the minimum-cost element in the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13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want to pre-calculate the cost function for each element once, and update only necessary ones.</a:t>
            </a:r>
          </a:p>
          <a:p>
            <a:r>
              <a:rPr lang="en-US" dirty="0" smtClean="0"/>
              <a:t>Even if you update costs for only necessary elements, if you sort every iteration, it will be O(N</a:t>
            </a:r>
            <a:r>
              <a:rPr lang="en-US" baseline="30000" dirty="0" smtClean="0"/>
              <a:t>2</a:t>
            </a:r>
            <a:r>
              <a:rPr lang="en-US" dirty="0" smtClean="0"/>
              <a:t>logN).  Does not help.</a:t>
            </a:r>
          </a:p>
          <a:p>
            <a:r>
              <a:rPr lang="en-US" dirty="0" smtClean="0"/>
              <a:t>You need to avoid re-sorting all elements in every iteration.</a:t>
            </a:r>
          </a:p>
          <a:p>
            <a:endParaRPr lang="en-US" dirty="0"/>
          </a:p>
          <a:p>
            <a:r>
              <a:rPr lang="en-US" dirty="0" smtClean="0"/>
              <a:t>Needs a priority queue + key update.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7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Keep elements sorted by the key (or the cost).</a:t>
            </a:r>
          </a:p>
          <a:p>
            <a:r>
              <a:rPr lang="en-US" dirty="0" smtClean="0"/>
              <a:t>Must be able to find the minimum-cost element quickly.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 common implementation</a:t>
            </a:r>
          </a:p>
          <a:p>
            <a:r>
              <a:rPr lang="en-US" dirty="0" smtClean="0"/>
              <a:t>A self-balancing binary-tree, such as an AVL tree.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62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 + Key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Additional Requirement:</a:t>
            </a:r>
          </a:p>
          <a:p>
            <a:r>
              <a:rPr lang="en-US" dirty="0" smtClean="0"/>
              <a:t>We need to update the cost of an element quickly.</a:t>
            </a:r>
          </a:p>
          <a:p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err="1" smtClean="0"/>
              <a:t>priority_queue</a:t>
            </a:r>
            <a:r>
              <a:rPr lang="en-US" dirty="0" smtClean="0"/>
              <a:t> helps if we don't have to update the cost.  In this case, it doesn't.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the cost of an element changes:</a:t>
            </a:r>
            <a:endParaRPr lang="en-US" dirty="0"/>
          </a:p>
          <a:p>
            <a:r>
              <a:rPr lang="en-US" dirty="0" smtClean="0"/>
              <a:t>Find a binary-tree node that corresponds to the element.</a:t>
            </a:r>
          </a:p>
          <a:p>
            <a:r>
              <a:rPr lang="en-US" dirty="0" smtClean="0"/>
              <a:t>Delete the tree node.</a:t>
            </a:r>
          </a:p>
          <a:p>
            <a:r>
              <a:rPr lang="en-US" dirty="0" smtClean="0"/>
              <a:t>Re-insert the node with the updated cost.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Question:</a:t>
            </a:r>
            <a:endParaRPr lang="en-US" dirty="0"/>
          </a:p>
          <a:p>
            <a:r>
              <a:rPr lang="en-US" dirty="0" smtClean="0"/>
              <a:t>How can we find the tree-node from an element?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65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Priority-Queue with Key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Finding a tree-node from an element:</a:t>
            </a:r>
          </a:p>
          <a:p>
            <a:r>
              <a:rPr lang="en-US" dirty="0" smtClean="0"/>
              <a:t>Tree Traversal?</a:t>
            </a:r>
          </a:p>
          <a:p>
            <a:pPr lvl="1"/>
            <a:r>
              <a:rPr lang="en-US" dirty="0" smtClean="0"/>
              <a:t>It gets strange when multiple elements have the same cost.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Any other option?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276600" y="2405743"/>
            <a:ext cx="386443" cy="3864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853698" y="2932452"/>
            <a:ext cx="391885" cy="3918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17472" y="2932453"/>
            <a:ext cx="391885" cy="3918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4" idx="3"/>
            <a:endCxn id="5" idx="7"/>
          </p:cNvCxnSpPr>
          <p:nvPr/>
        </p:nvCxnSpPr>
        <p:spPr>
          <a:xfrm flipH="1">
            <a:off x="3188193" y="2735593"/>
            <a:ext cx="145000" cy="25424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5"/>
            <a:endCxn id="6" idx="1"/>
          </p:cNvCxnSpPr>
          <p:nvPr/>
        </p:nvCxnSpPr>
        <p:spPr>
          <a:xfrm>
            <a:off x="3606450" y="2735593"/>
            <a:ext cx="168412" cy="25425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44514" y="267805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Should you go to which side?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904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 with Key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Usage</a:t>
            </a:r>
          </a:p>
          <a:p>
            <a:r>
              <a:rPr lang="en-US" dirty="0" smtClean="0"/>
              <a:t>All elements are added to the binary-tree sorted by the cost-function value.</a:t>
            </a:r>
          </a:p>
          <a:p>
            <a:r>
              <a:rPr lang="en-US" dirty="0" smtClean="0"/>
              <a:t>While the tree is constructed, a hash-table from the element to the binary-tree node is also constructed.</a:t>
            </a:r>
          </a:p>
          <a:p>
            <a:r>
              <a:rPr lang="en-US" dirty="0" smtClean="0"/>
              <a:t>When the cost-function value of an element changes,</a:t>
            </a:r>
          </a:p>
          <a:p>
            <a:pPr lvl="1"/>
            <a:r>
              <a:rPr lang="en-US" dirty="0" smtClean="0"/>
              <a:t>Find the binary-tree node of the element by the hash-table.</a:t>
            </a:r>
          </a:p>
          <a:p>
            <a:pPr lvl="1"/>
            <a:r>
              <a:rPr lang="en-US" dirty="0" smtClean="0"/>
              <a:t>Delete the binary-tree node.</a:t>
            </a:r>
          </a:p>
          <a:p>
            <a:pPr lvl="1"/>
            <a:r>
              <a:rPr lang="en-US" dirty="0" smtClean="0"/>
              <a:t>Re-add the element to the binary tree with updated cost-function value.  </a:t>
            </a:r>
            <a:r>
              <a:rPr lang="en-US" smtClean="0"/>
              <a:t>Also update the hash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824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Let's use </a:t>
            </a:r>
            <a:r>
              <a:rPr lang="en-US" dirty="0" err="1" smtClean="0"/>
              <a:t>YsAVLTree</a:t>
            </a:r>
            <a:r>
              <a:rPr lang="en-US" dirty="0" smtClean="0"/>
              <a:t> (Compatible with the AVL tree class we did earlier.)</a:t>
            </a:r>
          </a:p>
          <a:p>
            <a:r>
              <a:rPr lang="en-US" dirty="0" smtClean="0"/>
              <a:t>Use </a:t>
            </a:r>
            <a:r>
              <a:rPr lang="en-US" dirty="0" err="1" smtClean="0"/>
              <a:t>std</a:t>
            </a:r>
            <a:r>
              <a:rPr lang="en-US" dirty="0" smtClean="0"/>
              <a:t>::</a:t>
            </a:r>
            <a:r>
              <a:rPr lang="en-US" dirty="0" err="1" smtClean="0"/>
              <a:t>unordered_map</a:t>
            </a:r>
            <a:r>
              <a:rPr lang="en-US" dirty="0" smtClean="0"/>
              <a:t> to match an edge with a tree node.</a:t>
            </a:r>
          </a:p>
          <a:p>
            <a:r>
              <a:rPr lang="en-US" dirty="0" smtClean="0"/>
              <a:t>We need to define our own hash function for </a:t>
            </a:r>
            <a:r>
              <a:rPr lang="en-US" dirty="0" err="1" smtClean="0"/>
              <a:t>unordered_map</a:t>
            </a:r>
            <a:r>
              <a:rPr lang="en-US" dirty="0"/>
              <a:t> </a:t>
            </a:r>
            <a:r>
              <a:rPr lang="en-US" dirty="0" smtClean="0"/>
              <a:t>by specializing </a:t>
            </a:r>
            <a:r>
              <a:rPr lang="en-US" dirty="0" err="1" smtClean="0"/>
              <a:t>std</a:t>
            </a:r>
            <a:r>
              <a:rPr lang="en-US" dirty="0" smtClean="0"/>
              <a:t>::hash.</a:t>
            </a:r>
          </a:p>
          <a:p>
            <a:r>
              <a:rPr lang="en-US" dirty="0" smtClean="0"/>
              <a:t>But, can we do like:</a:t>
            </a:r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638299" y="3864428"/>
            <a:ext cx="4493538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NonDirectionalEdge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YsShellExt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edVtHd</a:t>
            </a:r>
            <a:r>
              <a:rPr lang="en-US" sz="1100" dirty="0">
                <a:latin typeface="Consolas" panose="020B0609020204030204" pitchFamily="49" charset="0"/>
              </a:rPr>
              <a:t>[2];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struct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::hash </a:t>
            </a:r>
            <a:r>
              <a:rPr lang="en-US" sz="1100" dirty="0">
                <a:latin typeface="Consolas" panose="020B0609020204030204" pitchFamily="49" charset="0"/>
              </a:rPr>
              <a:t>&lt; </a:t>
            </a:r>
            <a:r>
              <a:rPr lang="en-US" sz="1100" dirty="0" err="1">
                <a:latin typeface="Consolas" panose="020B0609020204030204" pitchFamily="49" charset="0"/>
              </a:rPr>
              <a:t>NonDirectionalEdge</a:t>
            </a:r>
            <a:r>
              <a:rPr lang="en-US" sz="1100" dirty="0">
                <a:latin typeface="Consolas" panose="020B0609020204030204" pitchFamily="49" charset="0"/>
              </a:rPr>
              <a:t> &gt;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size_t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operator</a:t>
            </a:r>
            <a:r>
              <a:rPr lang="en-US" sz="1100" dirty="0">
                <a:latin typeface="Consolas" panose="020B0609020204030204" pitchFamily="49" charset="0"/>
              </a:rPr>
              <a:t>()(</a:t>
            </a:r>
            <a:r>
              <a:rPr lang="en-US" sz="1100" dirty="0" err="1">
                <a:latin typeface="Consolas" panose="020B0609020204030204" pitchFamily="49" charset="0"/>
              </a:rPr>
              <a:t>NonDirectionalEdge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&amp;s)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// </a:t>
            </a:r>
            <a:r>
              <a:rPr lang="en-US" sz="1100" dirty="0">
                <a:latin typeface="Consolas" panose="020B0609020204030204" pitchFamily="49" charset="0"/>
              </a:rPr>
              <a:t>Calculate a hash code from the two vertices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return </a:t>
            </a:r>
            <a:r>
              <a:rPr lang="en-US" sz="1100" dirty="0">
                <a:latin typeface="Consolas" panose="020B0609020204030204" pitchFamily="49" charset="0"/>
              </a:rPr>
              <a:t>what?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4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do: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It is possible.  But, we don't like it for two reasons:</a:t>
            </a:r>
          </a:p>
          <a:p>
            <a:pPr lvl="1"/>
            <a:r>
              <a:rPr lang="en-US" dirty="0" smtClean="0"/>
              <a:t>Need to cache </a:t>
            </a:r>
            <a:r>
              <a:rPr lang="en-US" dirty="0" err="1" smtClean="0"/>
              <a:t>shlPtr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Takes 8 more bytes per edge.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4271" y="1507671"/>
            <a:ext cx="6263253" cy="2970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NonDirectionalEdge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YsShellExt</a:t>
            </a:r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*</a:t>
            </a:r>
            <a:r>
              <a:rPr lang="en-US" sz="1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shlPtr</a:t>
            </a:r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YsShellExt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edVtHd</a:t>
            </a:r>
            <a:r>
              <a:rPr lang="en-US" sz="1100" dirty="0">
                <a:latin typeface="Consolas" panose="020B0609020204030204" pitchFamily="49" charset="0"/>
              </a:rPr>
              <a:t>[2];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struct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::hash &lt;</a:t>
            </a:r>
            <a:r>
              <a:rPr lang="en-US" sz="1100" dirty="0" err="1">
                <a:latin typeface="Consolas" panose="020B0609020204030204" pitchFamily="49" charset="0"/>
              </a:rPr>
              <a:t>YsShellExt</a:t>
            </a:r>
            <a:r>
              <a:rPr lang="en-US" sz="1100" dirty="0">
                <a:latin typeface="Consolas" panose="020B0609020204030204" pitchFamily="49" charset="0"/>
              </a:rPr>
              <a:t>::</a:t>
            </a:r>
            <a:r>
              <a:rPr lang="en-US" sz="1100" dirty="0" err="1">
                <a:latin typeface="Consolas" panose="020B0609020204030204" pitchFamily="49" charset="0"/>
              </a:rPr>
              <a:t>VertexHandle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size_t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operator()(</a:t>
            </a:r>
            <a:r>
              <a:rPr lang="en-US" sz="1100" dirty="0" err="1">
                <a:latin typeface="Consolas" panose="020B0609020204030204" pitchFamily="49" charset="0"/>
              </a:rPr>
              <a:t>UnorderedUnsignedIntPair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&amp;s)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return </a:t>
            </a:r>
            <a:r>
              <a:rPr lang="en-US" sz="1100" dirty="0" err="1" smtClean="0">
                <a:latin typeface="Consolas" panose="020B0609020204030204" pitchFamily="49" charset="0"/>
              </a:rPr>
              <a:t>shlPtr</a:t>
            </a:r>
            <a:r>
              <a:rPr lang="en-US" sz="1100" dirty="0" smtClean="0">
                <a:latin typeface="Consolas" panose="020B0609020204030204" pitchFamily="49" charset="0"/>
              </a:rPr>
              <a:t>-&gt;</a:t>
            </a:r>
            <a:r>
              <a:rPr lang="en-US" sz="1100" dirty="0" err="1" smtClean="0">
                <a:latin typeface="Consolas" panose="020B0609020204030204" pitchFamily="49" charset="0"/>
              </a:rPr>
              <a:t>GetSearchKey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edVtHd</a:t>
            </a:r>
            <a:r>
              <a:rPr lang="en-US" sz="1100" dirty="0" smtClean="0">
                <a:latin typeface="Consolas" panose="020B0609020204030204" pitchFamily="49" charset="0"/>
              </a:rPr>
              <a:t>[0])+</a:t>
            </a:r>
            <a:r>
              <a:rPr lang="en-US" sz="1100" dirty="0" err="1" smtClean="0">
                <a:latin typeface="Consolas" panose="020B0609020204030204" pitchFamily="49" charset="0"/>
              </a:rPr>
              <a:t>shlPtr</a:t>
            </a:r>
            <a:r>
              <a:rPr lang="en-US" sz="1100" dirty="0" smtClean="0">
                <a:latin typeface="Consolas" panose="020B0609020204030204" pitchFamily="49" charset="0"/>
              </a:rPr>
              <a:t>-&gt;</a:t>
            </a:r>
            <a:r>
              <a:rPr lang="en-US" sz="1100" dirty="0" err="1" smtClean="0">
                <a:latin typeface="Consolas" panose="020B0609020204030204" pitchFamily="49" charset="0"/>
              </a:rPr>
              <a:t>GetSearchKey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edVtHd</a:t>
            </a:r>
            <a:r>
              <a:rPr lang="en-US" sz="1100" dirty="0" smtClean="0">
                <a:latin typeface="Consolas" panose="020B0609020204030204" pitchFamily="49" charset="0"/>
              </a:rPr>
              <a:t>[1]);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3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search keys.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1742" y="914400"/>
            <a:ext cx="7237879" cy="5786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#include &lt;</a:t>
            </a:r>
            <a:r>
              <a:rPr lang="en-US" sz="1000" dirty="0" err="1">
                <a:latin typeface="Consolas" panose="020B0609020204030204" pitchFamily="49" charset="0"/>
              </a:rPr>
              <a:t>unordered_map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class </a:t>
            </a:r>
            <a:r>
              <a:rPr lang="en-US" sz="1000" dirty="0" err="1">
                <a:latin typeface="Consolas" panose="020B0609020204030204" pitchFamily="49" charset="0"/>
              </a:rPr>
              <a:t>UnorderedUnsignedIntPair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unsigned </a:t>
            </a:r>
            <a:r>
              <a:rPr lang="en-US" sz="1000" dirty="0" err="1">
                <a:latin typeface="Consolas" panose="020B0609020204030204" pitchFamily="49" charset="0"/>
              </a:rPr>
              <a:t>int</a:t>
            </a:r>
            <a:r>
              <a:rPr lang="en-US" sz="1000" dirty="0">
                <a:latin typeface="Consolas" panose="020B0609020204030204" pitchFamily="49" charset="0"/>
              </a:rPr>
              <a:t> v[2];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bool operator==(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UnorderedUnsignedIntPair</a:t>
            </a:r>
            <a:r>
              <a:rPr lang="en-US" sz="1000" dirty="0">
                <a:latin typeface="Consolas" panose="020B0609020204030204" pitchFamily="49" charset="0"/>
              </a:rPr>
              <a:t> &amp;</a:t>
            </a:r>
            <a:r>
              <a:rPr lang="en-US" sz="1000" dirty="0" err="1">
                <a:latin typeface="Consolas" panose="020B0609020204030204" pitchFamily="49" charset="0"/>
              </a:rPr>
              <a:t>lhs,const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UnorderedUnsignedIntPair</a:t>
            </a:r>
            <a:r>
              <a:rPr lang="en-US" sz="1000" dirty="0">
                <a:latin typeface="Consolas" panose="020B0609020204030204" pitchFamily="49" charset="0"/>
              </a:rPr>
              <a:t> &amp;</a:t>
            </a:r>
            <a:r>
              <a:rPr lang="en-US" sz="1000" dirty="0" err="1">
                <a:latin typeface="Consolas" panose="020B0609020204030204" pitchFamily="49" charset="0"/>
              </a:rPr>
              <a:t>rhs</a:t>
            </a:r>
            <a:r>
              <a:rPr lang="en-US" sz="1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return </a:t>
            </a:r>
            <a:r>
              <a:rPr lang="en-US" sz="1000" dirty="0">
                <a:latin typeface="Consolas" panose="020B0609020204030204" pitchFamily="49" charset="0"/>
              </a:rPr>
              <a:t>(</a:t>
            </a:r>
            <a:r>
              <a:rPr lang="en-US" sz="1000" dirty="0" err="1">
                <a:latin typeface="Consolas" panose="020B0609020204030204" pitchFamily="49" charset="0"/>
              </a:rPr>
              <a:t>lhs.v</a:t>
            </a:r>
            <a:r>
              <a:rPr lang="en-US" sz="1000" dirty="0">
                <a:latin typeface="Consolas" panose="020B0609020204030204" pitchFamily="49" charset="0"/>
              </a:rPr>
              <a:t>[0]==</a:t>
            </a:r>
            <a:r>
              <a:rPr lang="en-US" sz="1000" dirty="0" err="1">
                <a:latin typeface="Consolas" panose="020B0609020204030204" pitchFamily="49" charset="0"/>
              </a:rPr>
              <a:t>rhs.v</a:t>
            </a:r>
            <a:r>
              <a:rPr lang="en-US" sz="1000" dirty="0">
                <a:latin typeface="Consolas" panose="020B0609020204030204" pitchFamily="49" charset="0"/>
              </a:rPr>
              <a:t>[0] &amp;&amp; </a:t>
            </a:r>
            <a:r>
              <a:rPr lang="en-US" sz="1000" dirty="0" err="1">
                <a:latin typeface="Consolas" panose="020B0609020204030204" pitchFamily="49" charset="0"/>
              </a:rPr>
              <a:t>lhs.v</a:t>
            </a:r>
            <a:r>
              <a:rPr lang="en-US" sz="1000" dirty="0">
                <a:latin typeface="Consolas" panose="020B0609020204030204" pitchFamily="49" charset="0"/>
              </a:rPr>
              <a:t>[1]==</a:t>
            </a:r>
            <a:r>
              <a:rPr lang="en-US" sz="1000" dirty="0" err="1">
                <a:latin typeface="Consolas" panose="020B0609020204030204" pitchFamily="49" charset="0"/>
              </a:rPr>
              <a:t>rhs.v</a:t>
            </a:r>
            <a:r>
              <a:rPr lang="en-US" sz="1000" dirty="0">
                <a:latin typeface="Consolas" panose="020B0609020204030204" pitchFamily="49" charset="0"/>
              </a:rPr>
              <a:t>[1]) || (</a:t>
            </a:r>
            <a:r>
              <a:rPr lang="en-US" sz="1000" dirty="0" err="1">
                <a:latin typeface="Consolas" panose="020B0609020204030204" pitchFamily="49" charset="0"/>
              </a:rPr>
              <a:t>lhs.v</a:t>
            </a:r>
            <a:r>
              <a:rPr lang="en-US" sz="1000" dirty="0">
                <a:latin typeface="Consolas" panose="020B0609020204030204" pitchFamily="49" charset="0"/>
              </a:rPr>
              <a:t>[0]==</a:t>
            </a:r>
            <a:r>
              <a:rPr lang="en-US" sz="1000" dirty="0" err="1">
                <a:latin typeface="Consolas" panose="020B0609020204030204" pitchFamily="49" charset="0"/>
              </a:rPr>
              <a:t>rhs.v</a:t>
            </a:r>
            <a:r>
              <a:rPr lang="en-US" sz="1000" dirty="0">
                <a:latin typeface="Consolas" panose="020B0609020204030204" pitchFamily="49" charset="0"/>
              </a:rPr>
              <a:t>[1] &amp;&amp; </a:t>
            </a:r>
            <a:r>
              <a:rPr lang="en-US" sz="1000" dirty="0" err="1">
                <a:latin typeface="Consolas" panose="020B0609020204030204" pitchFamily="49" charset="0"/>
              </a:rPr>
              <a:t>lhs.v</a:t>
            </a:r>
            <a:r>
              <a:rPr lang="en-US" sz="1000" dirty="0">
                <a:latin typeface="Consolas" panose="020B0609020204030204" pitchFamily="49" charset="0"/>
              </a:rPr>
              <a:t>[1]==</a:t>
            </a:r>
            <a:r>
              <a:rPr lang="en-US" sz="1000" dirty="0" err="1">
                <a:latin typeface="Consolas" panose="020B0609020204030204" pitchFamily="49" charset="0"/>
              </a:rPr>
              <a:t>rhs.v</a:t>
            </a:r>
            <a:r>
              <a:rPr lang="en-US" sz="1000" dirty="0">
                <a:latin typeface="Consolas" panose="020B0609020204030204" pitchFamily="49" charset="0"/>
              </a:rPr>
              <a:t>[0]);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template </a:t>
            </a:r>
            <a:r>
              <a:rPr lang="en-US" sz="1000" dirty="0">
                <a:latin typeface="Consolas" panose="020B0609020204030204" pitchFamily="49" charset="0"/>
              </a:rPr>
              <a:t>&lt;&gt;</a:t>
            </a:r>
          </a:p>
          <a:p>
            <a:r>
              <a:rPr lang="en-US" sz="1000" dirty="0" err="1">
                <a:latin typeface="Consolas" panose="020B0609020204030204" pitchFamily="49" charset="0"/>
              </a:rPr>
              <a:t>struct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std</a:t>
            </a:r>
            <a:r>
              <a:rPr lang="en-US" sz="1000" dirty="0">
                <a:latin typeface="Consolas" panose="020B0609020204030204" pitchFamily="49" charset="0"/>
              </a:rPr>
              <a:t>::hash &lt;</a:t>
            </a:r>
            <a:r>
              <a:rPr lang="en-US" sz="1000" dirty="0" err="1">
                <a:latin typeface="Consolas" panose="020B0609020204030204" pitchFamily="49" charset="0"/>
              </a:rPr>
              <a:t>UnorderedUnsignedIntPair</a:t>
            </a:r>
            <a:r>
              <a:rPr lang="en-US" sz="10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size_t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operator()(</a:t>
            </a:r>
            <a:r>
              <a:rPr lang="en-US" sz="1000" dirty="0" err="1">
                <a:latin typeface="Consolas" panose="020B0609020204030204" pitchFamily="49" charset="0"/>
              </a:rPr>
              <a:t>UnorderedUnsignedIntPair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r>
              <a:rPr lang="en-US" sz="1000" dirty="0">
                <a:latin typeface="Consolas" panose="020B0609020204030204" pitchFamily="49" charset="0"/>
              </a:rPr>
              <a:t> &amp;s) </a:t>
            </a:r>
            <a:r>
              <a:rPr lang="en-US" sz="1000" dirty="0" err="1">
                <a:latin typeface="Consolas" panose="020B0609020204030204" pitchFamily="49" charset="0"/>
              </a:rPr>
              <a:t>const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    {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        return </a:t>
            </a:r>
            <a:r>
              <a:rPr lang="en-US" sz="1000" dirty="0" err="1">
                <a:latin typeface="Consolas" panose="020B0609020204030204" pitchFamily="49" charset="0"/>
              </a:rPr>
              <a:t>s.v</a:t>
            </a:r>
            <a:r>
              <a:rPr lang="en-US" sz="1000" dirty="0">
                <a:latin typeface="Consolas" panose="020B0609020204030204" pitchFamily="49" charset="0"/>
              </a:rPr>
              <a:t>[0]+</a:t>
            </a:r>
            <a:r>
              <a:rPr lang="en-US" sz="1000" dirty="0" err="1">
                <a:latin typeface="Consolas" panose="020B0609020204030204" pitchFamily="49" charset="0"/>
              </a:rPr>
              <a:t>s.v</a:t>
            </a:r>
            <a:r>
              <a:rPr lang="en-US" sz="1000" dirty="0">
                <a:latin typeface="Consolas" panose="020B0609020204030204" pitchFamily="49" charset="0"/>
              </a:rPr>
              <a:t>[1];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};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};</a:t>
            </a:r>
          </a:p>
          <a:p>
            <a:r>
              <a:rPr lang="en-US" sz="1000" dirty="0" err="1" smtClean="0">
                <a:latin typeface="Consolas" panose="020B0609020204030204" pitchFamily="49" charset="0"/>
              </a:rPr>
              <a:t>int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main(void)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std</a:t>
            </a:r>
            <a:r>
              <a:rPr lang="en-US" sz="1000" dirty="0">
                <a:latin typeface="Consolas" panose="020B0609020204030204" pitchFamily="49" charset="0"/>
              </a:rPr>
              <a:t>::</a:t>
            </a:r>
            <a:r>
              <a:rPr lang="en-US" sz="1000" dirty="0" err="1">
                <a:latin typeface="Consolas" panose="020B0609020204030204" pitchFamily="49" charset="0"/>
              </a:rPr>
              <a:t>unordered_map</a:t>
            </a:r>
            <a:r>
              <a:rPr lang="en-US" sz="1000" dirty="0">
                <a:latin typeface="Consolas" panose="020B0609020204030204" pitchFamily="49" charset="0"/>
              </a:rPr>
              <a:t> &lt;</a:t>
            </a:r>
            <a:r>
              <a:rPr lang="en-US" sz="1000" dirty="0" err="1">
                <a:latin typeface="Consolas" panose="020B0609020204030204" pitchFamily="49" charset="0"/>
              </a:rPr>
              <a:t>UnorderedUnsignedIntPair,int</a:t>
            </a:r>
            <a:r>
              <a:rPr lang="en-US" sz="1000" dirty="0">
                <a:latin typeface="Consolas" panose="020B0609020204030204" pitchFamily="49" charset="0"/>
              </a:rPr>
              <a:t>&gt; map;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UnorderedUnsignedIntPair</a:t>
            </a:r>
            <a:r>
              <a:rPr lang="en-US" sz="1000" dirty="0" smtClean="0">
                <a:latin typeface="Consolas" panose="020B0609020204030204" pitchFamily="49" charset="0"/>
              </a:rPr>
              <a:t> </a:t>
            </a:r>
            <a:r>
              <a:rPr lang="en-US" sz="1000" dirty="0">
                <a:latin typeface="Consolas" panose="020B0609020204030204" pitchFamily="49" charset="0"/>
              </a:rPr>
              <a:t>edge;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[0</a:t>
            </a:r>
            <a:r>
              <a:rPr lang="en-US" sz="1000" dirty="0">
                <a:latin typeface="Consolas" panose="020B0609020204030204" pitchFamily="49" charset="0"/>
              </a:rPr>
              <a:t>]=100;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[1</a:t>
            </a:r>
            <a:r>
              <a:rPr lang="en-US" sz="1000" dirty="0">
                <a:latin typeface="Consolas" panose="020B0609020204030204" pitchFamily="49" charset="0"/>
              </a:rPr>
              <a:t>]=200;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map[edge</a:t>
            </a:r>
            <a:r>
              <a:rPr lang="en-US" sz="1000" dirty="0">
                <a:latin typeface="Consolas" panose="020B0609020204030204" pitchFamily="49" charset="0"/>
              </a:rPr>
              <a:t>]=100200;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[0]=100;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[1</a:t>
            </a:r>
            <a:r>
              <a:rPr lang="en-US" sz="1000" dirty="0">
                <a:latin typeface="Consolas" panose="020B0609020204030204" pitchFamily="49" charset="0"/>
              </a:rPr>
              <a:t>]=200;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printf</a:t>
            </a:r>
            <a:r>
              <a:rPr lang="en-US" sz="1000" dirty="0">
                <a:latin typeface="Consolas" panose="020B0609020204030204" pitchFamily="49" charset="0"/>
              </a:rPr>
              <a:t>("%d\</a:t>
            </a:r>
            <a:r>
              <a:rPr lang="en-US" sz="1000" dirty="0" err="1">
                <a:latin typeface="Consolas" panose="020B0609020204030204" pitchFamily="49" charset="0"/>
              </a:rPr>
              <a:t>n",map</a:t>
            </a:r>
            <a:r>
              <a:rPr lang="en-US" sz="1000" dirty="0">
                <a:latin typeface="Consolas" panose="020B0609020204030204" pitchFamily="49" charset="0"/>
              </a:rPr>
              <a:t>[edge]);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[1</a:t>
            </a:r>
            <a:r>
              <a:rPr lang="en-US" sz="1000" dirty="0">
                <a:latin typeface="Consolas" panose="020B0609020204030204" pitchFamily="49" charset="0"/>
              </a:rPr>
              <a:t>]=100;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edge.v</a:t>
            </a:r>
            <a:r>
              <a:rPr lang="en-US" sz="1000" dirty="0" smtClean="0">
                <a:latin typeface="Consolas" panose="020B0609020204030204" pitchFamily="49" charset="0"/>
              </a:rPr>
              <a:t>[0</a:t>
            </a:r>
            <a:r>
              <a:rPr lang="en-US" sz="1000" dirty="0">
                <a:latin typeface="Consolas" panose="020B0609020204030204" pitchFamily="49" charset="0"/>
              </a:rPr>
              <a:t>]=200;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</a:t>
            </a:r>
            <a:r>
              <a:rPr lang="en-US" sz="1000" dirty="0" err="1" smtClean="0">
                <a:latin typeface="Consolas" panose="020B0609020204030204" pitchFamily="49" charset="0"/>
              </a:rPr>
              <a:t>printf</a:t>
            </a:r>
            <a:r>
              <a:rPr lang="en-US" sz="1000" dirty="0">
                <a:latin typeface="Consolas" panose="020B0609020204030204" pitchFamily="49" charset="0"/>
              </a:rPr>
              <a:t>("%d\</a:t>
            </a:r>
            <a:r>
              <a:rPr lang="en-US" sz="1000" dirty="0" err="1">
                <a:latin typeface="Consolas" panose="020B0609020204030204" pitchFamily="49" charset="0"/>
              </a:rPr>
              <a:t>n",map</a:t>
            </a:r>
            <a:r>
              <a:rPr lang="en-US" sz="1000" dirty="0">
                <a:latin typeface="Consolas" panose="020B0609020204030204" pitchFamily="49" charset="0"/>
              </a:rPr>
              <a:t>[edge]);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    return </a:t>
            </a:r>
            <a:r>
              <a:rPr lang="en-US" sz="1000" dirty="0">
                <a:latin typeface="Consolas" panose="020B0609020204030204" pitchFamily="49" charset="0"/>
              </a:rPr>
              <a:t>0;</a:t>
            </a:r>
          </a:p>
          <a:p>
            <a:r>
              <a:rPr lang="en-US" sz="1000" dirty="0" smtClean="0">
                <a:latin typeface="Consolas" panose="020B0609020204030204" pitchFamily="49" charset="0"/>
              </a:rPr>
              <a:t>}</a:t>
            </a:r>
            <a:endParaRPr lang="en-US" sz="1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33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Ready to implement </a:t>
            </a:r>
            <a:r>
              <a:rPr lang="en-US" dirty="0" err="1" smtClean="0"/>
              <a:t>QEMSimplifier</a:t>
            </a:r>
            <a:r>
              <a:rPr lang="en-US" dirty="0"/>
              <a:t> </a:t>
            </a:r>
            <a:r>
              <a:rPr lang="en-US" dirty="0" smtClean="0"/>
              <a:t>class.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set up a tree and a map.</a:t>
            </a:r>
          </a:p>
          <a:p>
            <a:r>
              <a:rPr lang="en-US" dirty="0" smtClean="0"/>
              <a:t>In each iteration:</a:t>
            </a:r>
          </a:p>
          <a:p>
            <a:pPr lvl="1"/>
            <a:r>
              <a:rPr lang="en-US" dirty="0" smtClean="0"/>
              <a:t>Take out edges connected to the vertex to be deleted.</a:t>
            </a:r>
          </a:p>
          <a:p>
            <a:pPr lvl="1"/>
            <a:r>
              <a:rPr lang="en-US" dirty="0" smtClean="0"/>
              <a:t>Collapse an edge</a:t>
            </a:r>
          </a:p>
          <a:p>
            <a:pPr lvl="1"/>
            <a:r>
              <a:rPr lang="en-US" dirty="0" smtClean="0"/>
              <a:t>Update edges connected to the surviving vertex.</a:t>
            </a:r>
          </a:p>
          <a:p>
            <a:pPr lvl="1"/>
            <a:r>
              <a:rPr lang="en-US" dirty="0" smtClean="0"/>
              <a:t>Update edges used by triangles incident to the surviving vertex, but not using the </a:t>
            </a:r>
            <a:r>
              <a:rPr lang="en-US" smtClean="0"/>
              <a:t>surviving vertex.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5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Installing Data Files (Resources) to where the Application Can See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practical application needs some resources.</a:t>
            </a:r>
          </a:p>
          <a:p>
            <a:r>
              <a:rPr lang="en-US" dirty="0" smtClean="0"/>
              <a:t>"Resource" can include CPU power, memory, disk space, and also </a:t>
            </a:r>
            <a:r>
              <a:rPr lang="en-US" u="sng" dirty="0" smtClean="0"/>
              <a:t>data files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data files must be copied to the location where the application can see.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File 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macOS</a:t>
            </a:r>
            <a:r>
              <a:rPr lang="en-US" dirty="0" smtClean="0"/>
              <a:t>, iOS:  "Contents/Resources" sub-directory in the bundle directory.</a:t>
            </a:r>
          </a:p>
          <a:p>
            <a:r>
              <a:rPr lang="en-US" dirty="0"/>
              <a:t>Universal Windows:  "Assets" sub-directory in the Appx package.</a:t>
            </a:r>
          </a:p>
          <a:p>
            <a:r>
              <a:rPr lang="en-US" dirty="0" smtClean="0"/>
              <a:t>Linux</a:t>
            </a:r>
            <a:r>
              <a:rPr lang="en-US" dirty="0"/>
              <a:t>:   No specific.  Typically a directory or a sub-directory of the executable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Win32</a:t>
            </a:r>
            <a:r>
              <a:rPr lang="en-US" dirty="0"/>
              <a:t>:  No specific.  Typically a directory or a sub-directory of the executable.</a:t>
            </a:r>
          </a:p>
          <a:p>
            <a:endParaRPr lang="en-US" dirty="0" smtClean="0"/>
          </a:p>
          <a:p>
            <a:r>
              <a:rPr lang="en-US" dirty="0" smtClean="0"/>
              <a:t>Everyone does differently.  One source of the platform-dependency.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36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Current Working Directory to the Resources Directory in your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MacOS</a:t>
            </a:r>
            <a:r>
              <a:rPr lang="en-US" dirty="0" smtClean="0"/>
              <a:t> and iOS (Do it in Objective-C):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Universal Windows: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Windows (to the directory .exe resides.):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84250" y="1560299"/>
            <a:ext cx="76327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NSString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*path;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path</a:t>
            </a:r>
            <a:r>
              <a:rPr lang="en-US" sz="1100" dirty="0">
                <a:latin typeface="Consolas" panose="020B0609020204030204" pitchFamily="49" charset="0"/>
              </a:rPr>
              <a:t>=[[</a:t>
            </a:r>
            <a:r>
              <a:rPr lang="en-US" sz="1100" dirty="0" err="1">
                <a:latin typeface="Consolas" panose="020B0609020204030204" pitchFamily="49" charset="0"/>
              </a:rPr>
              <a:t>NSBundle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mainBundle</a:t>
            </a:r>
            <a:r>
              <a:rPr lang="en-US" sz="1100" dirty="0">
                <a:latin typeface="Consolas" panose="020B0609020204030204" pitchFamily="49" charset="0"/>
              </a:rPr>
              <a:t>] </a:t>
            </a:r>
            <a:r>
              <a:rPr lang="en-US" sz="1100" dirty="0" err="1">
                <a:latin typeface="Consolas" panose="020B0609020204030204" pitchFamily="49" charset="0"/>
              </a:rPr>
              <a:t>resourcePath</a:t>
            </a:r>
            <a:r>
              <a:rPr lang="en-US" sz="1100" dirty="0" smtClean="0">
                <a:latin typeface="Consolas" panose="020B0609020204030204" pitchFamily="49" charset="0"/>
              </a:rPr>
              <a:t>];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</a:t>
            </a:r>
            <a:r>
              <a:rPr lang="en-US" sz="1100" dirty="0" err="1">
                <a:latin typeface="Consolas" panose="020B0609020204030204" pitchFamily="49" charset="0"/>
              </a:rPr>
              <a:t>ResourcePath</a:t>
            </a:r>
            <a:r>
              <a:rPr lang="en-US" sz="1100" dirty="0">
                <a:latin typeface="Consolas" panose="020B0609020204030204" pitchFamily="49" charset="0"/>
              </a:rPr>
              <a:t>:%s\n",[path UTF8String]);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[[</a:t>
            </a:r>
            <a:r>
              <a:rPr lang="en-US" sz="1100" dirty="0" err="1">
                <a:latin typeface="Consolas" panose="020B0609020204030204" pitchFamily="49" charset="0"/>
              </a:rPr>
              <a:t>NSFileManager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defaultManager</a:t>
            </a:r>
            <a:r>
              <a:rPr lang="en-US" sz="1100" dirty="0">
                <a:latin typeface="Consolas" panose="020B0609020204030204" pitchFamily="49" charset="0"/>
              </a:rPr>
              <a:t>] </a:t>
            </a:r>
            <a:r>
              <a:rPr lang="en-US" sz="1100" dirty="0" err="1">
                <a:latin typeface="Consolas" panose="020B0609020204030204" pitchFamily="49" charset="0"/>
              </a:rPr>
              <a:t>changeCurrentDirectoryPath:path</a:t>
            </a:r>
            <a:r>
              <a:rPr lang="en-US" sz="1100" dirty="0">
                <a:latin typeface="Consolas" panose="020B0609020204030204" pitchFamily="49" charset="0"/>
              </a:rPr>
              <a:t>];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4250" y="2787650"/>
            <a:ext cx="495520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auto </a:t>
            </a:r>
            <a:r>
              <a:rPr lang="en-US" sz="1100" dirty="0">
                <a:latin typeface="Consolas" panose="020B0609020204030204" pitchFamily="49" charset="0"/>
              </a:rPr>
              <a:t>package=Windows::</a:t>
            </a:r>
            <a:r>
              <a:rPr lang="en-US" sz="1100" dirty="0" err="1">
                <a:latin typeface="Consolas" panose="020B0609020204030204" pitchFamily="49" charset="0"/>
              </a:rPr>
              <a:t>ApplicationModel</a:t>
            </a:r>
            <a:r>
              <a:rPr lang="en-US" sz="1100" dirty="0">
                <a:latin typeface="Consolas" panose="020B0609020204030204" pitchFamily="49" charset="0"/>
              </a:rPr>
              <a:t>::Package::Current;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=package-&gt;</a:t>
            </a:r>
            <a:r>
              <a:rPr lang="en-US" sz="1100" dirty="0" err="1">
                <a:latin typeface="Consolas" panose="020B0609020204030204" pitchFamily="49" charset="0"/>
              </a:rPr>
              <a:t>InstalledLocation</a:t>
            </a:r>
            <a:r>
              <a:rPr lang="en-US" sz="1100" dirty="0">
                <a:latin typeface="Consolas" panose="020B0609020204030204" pitchFamily="49" charset="0"/>
              </a:rPr>
              <a:t>-&gt;Path-&gt;Data();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("%s==%ls\</a:t>
            </a:r>
            <a:r>
              <a:rPr lang="en-US" sz="1100" dirty="0" err="1">
                <a:latin typeface="Consolas" panose="020B0609020204030204" pitchFamily="49" charset="0"/>
              </a:rPr>
              <a:t>n",__FUNCTION</a:t>
            </a:r>
            <a:r>
              <a:rPr lang="en-US" sz="1100" dirty="0">
                <a:latin typeface="Consolas" panose="020B0609020204030204" pitchFamily="49" charset="0"/>
              </a:rPr>
              <a:t>__,(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wchar_t</a:t>
            </a:r>
            <a:r>
              <a:rPr lang="en-US" sz="1100" dirty="0">
                <a:latin typeface="Consolas" panose="020B0609020204030204" pitchFamily="49" charset="0"/>
              </a:rPr>
              <a:t> *)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wchdir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instDir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wchdir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L"Assets</a:t>
            </a:r>
            <a:r>
              <a:rPr lang="en-US" sz="1100" dirty="0">
                <a:latin typeface="Consolas" panose="020B0609020204030204" pitchFamily="49" charset="0"/>
              </a:rPr>
              <a:t>");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4250" y="4144377"/>
            <a:ext cx="3339376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char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[MAX_PATH];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GetModuleFileNameA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NULL,fn,MAX_PATH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l=(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  <a:r>
              <a:rPr lang="en-US" sz="1100" dirty="0" err="1">
                <a:latin typeface="Consolas" panose="020B0609020204030204" pitchFamily="49" charset="0"/>
              </a:rPr>
              <a:t>strlen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for(</a:t>
            </a:r>
            <a:r>
              <a:rPr lang="en-US" sz="1100" dirty="0" err="1" smtClean="0">
                <a:latin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 smtClean="0">
                <a:latin typeface="Consolas" panose="020B0609020204030204" pitchFamily="49" charset="0"/>
              </a:rPr>
              <a:t>=l-1</a:t>
            </a:r>
            <a:r>
              <a:rPr lang="en-US" sz="1100" dirty="0">
                <a:latin typeface="Consolas" panose="020B0609020204030204" pitchFamily="49" charset="0"/>
              </a:rPr>
              <a:t>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&gt;=0; 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--)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if(</a:t>
            </a:r>
            <a:r>
              <a:rPr lang="en-US" sz="1100" dirty="0" err="1" smtClean="0">
                <a:latin typeface="Consolas" panose="020B0609020204030204" pitchFamily="49" charset="0"/>
              </a:rPr>
              <a:t>fn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]=='\\' ||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]=='/')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fn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break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_</a:t>
            </a:r>
            <a:r>
              <a:rPr lang="en-US" sz="1100" dirty="0" err="1">
                <a:latin typeface="Consolas" panose="020B0609020204030204" pitchFamily="49" charset="0"/>
              </a:rPr>
              <a:t>chdir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130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Current Working Directory to the Resources Directory in your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Linux (to the directory that the executable resides):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7044" y="1625600"/>
            <a:ext cx="8109912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char 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[4096];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auto 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readlink</a:t>
            </a:r>
            <a:r>
              <a:rPr lang="en-US" sz="1100" dirty="0">
                <a:latin typeface="Consolas" panose="020B0609020204030204" pitchFamily="49" charset="0"/>
              </a:rPr>
              <a:t>("/proc/self/exe",buf,4095);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if(</a:t>
            </a:r>
            <a:r>
              <a:rPr lang="en-US" sz="1100" dirty="0" err="1" smtClean="0">
                <a:latin typeface="Consolas" panose="020B0609020204030204" pitchFamily="49" charset="0"/>
              </a:rPr>
              <a:t>len</a:t>
            </a:r>
            <a:r>
              <a:rPr lang="en-US" sz="1100" dirty="0" smtClean="0">
                <a:latin typeface="Consolas" panose="020B0609020204030204" pitchFamily="49" charset="0"/>
              </a:rPr>
              <a:t>&lt;4095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buf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for(</a:t>
            </a:r>
            <a:r>
              <a:rPr lang="en-US" sz="1100" dirty="0" err="1" smtClean="0">
                <a:latin typeface="Consolas" panose="020B0609020204030204" pitchFamily="49" charset="0"/>
              </a:rPr>
              <a:t>len</a:t>
            </a:r>
            <a:r>
              <a:rPr lang="en-US" sz="1100" dirty="0" smtClean="0">
                <a:latin typeface="Consolas" panose="020B0609020204030204" pitchFamily="49" charset="0"/>
              </a:rPr>
              <a:t>=</a:t>
            </a:r>
            <a:r>
              <a:rPr lang="en-US" sz="1100" dirty="0" err="1" smtClean="0">
                <a:latin typeface="Consolas" panose="020B0609020204030204" pitchFamily="49" charset="0"/>
              </a:rPr>
              <a:t>strlen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); 0&lt;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--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) // Probably it is safe to say for(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=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0&lt;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; --</a:t>
            </a:r>
            <a:r>
              <a:rPr lang="en-US" sz="1100" dirty="0" err="1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if(</a:t>
            </a:r>
            <a:r>
              <a:rPr lang="en-US" sz="1100" dirty="0" err="1" smtClean="0">
                <a:latin typeface="Consolas" panose="020B0609020204030204" pitchFamily="49" charset="0"/>
              </a:rPr>
              <a:t>buf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]=='/')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buf</a:t>
            </a:r>
            <a:r>
              <a:rPr lang="en-US" sz="1100" dirty="0" smtClean="0">
                <a:latin typeface="Consolas" panose="020B0609020204030204" pitchFamily="49" charset="0"/>
              </a:rPr>
              <a:t>[</a:t>
            </a:r>
            <a:r>
              <a:rPr lang="en-US" sz="1100" dirty="0" err="1" smtClean="0">
                <a:latin typeface="Consolas" panose="020B0609020204030204" pitchFamily="49" charset="0"/>
              </a:rPr>
              <a:t>len</a:t>
            </a:r>
            <a:r>
              <a:rPr lang="en-US" sz="1100" dirty="0">
                <a:latin typeface="Consolas" panose="020B0609020204030204" pitchFamily="49" charset="0"/>
              </a:rPr>
              <a:t>]=0;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break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chdir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buf</a:t>
            </a:r>
            <a:r>
              <a:rPr lang="en-US" sz="1100" dirty="0" smtClean="0">
                <a:latin typeface="Consolas" panose="020B0609020204030204" pitchFamily="49" charset="0"/>
              </a:rPr>
              <a:t>);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getcwd</a:t>
            </a:r>
            <a:r>
              <a:rPr lang="en-US" sz="1100" dirty="0" smtClean="0">
                <a:latin typeface="Consolas" panose="020B0609020204030204" pitchFamily="49" charset="0"/>
              </a:rPr>
              <a:t>(buf,4095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("Changed to %s\n",</a:t>
            </a:r>
            <a:r>
              <a:rPr lang="en-US" sz="1100" dirty="0" err="1">
                <a:latin typeface="Consolas" panose="020B0609020204030204" pitchFamily="49" charset="0"/>
              </a:rPr>
              <a:t>buf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else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{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</a:rPr>
              <a:t>("Current process file name </a:t>
            </a:r>
            <a:r>
              <a:rPr lang="en-US" sz="1100" dirty="0" smtClean="0">
                <a:latin typeface="Consolas" panose="020B0609020204030204" pitchFamily="49" charset="0"/>
              </a:rPr>
              <a:t>is too </a:t>
            </a:r>
            <a:r>
              <a:rPr lang="en-US" sz="1100" dirty="0">
                <a:latin typeface="Consolas" panose="020B0609020204030204" pitchFamily="49" charset="0"/>
              </a:rPr>
              <a:t>long.\n");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}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877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FsSimpleWindow</a:t>
            </a:r>
            <a:r>
              <a:rPr lang="en-US" dirty="0" smtClean="0"/>
              <a:t> / </a:t>
            </a:r>
            <a:r>
              <a:rPr lang="en-US" dirty="0" err="1" smtClean="0"/>
              <a:t>FsLazyWindow</a:t>
            </a:r>
            <a:r>
              <a:rPr lang="en-US" dirty="0" smtClean="0"/>
              <a:t>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lines of code is wrapped in a function:</a:t>
            </a:r>
          </a:p>
          <a:p>
            <a:pPr marL="0" indent="0"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    void </a:t>
            </a:r>
            <a:r>
              <a:rPr lang="en-US" sz="2000" dirty="0" err="1">
                <a:latin typeface="Consolas" panose="020B0609020204030204" pitchFamily="49" charset="0"/>
              </a:rPr>
              <a:t>FsChangeToProgramDir</a:t>
            </a:r>
            <a:r>
              <a:rPr lang="en-US" sz="2000" dirty="0">
                <a:latin typeface="Consolas" panose="020B0609020204030204" pitchFamily="49" charset="0"/>
              </a:rPr>
              <a:t>(void</a:t>
            </a:r>
            <a:r>
              <a:rPr lang="en-US" sz="2000" dirty="0" smtClean="0">
                <a:latin typeface="Consolas" panose="020B0609020204030204" pitchFamily="49" charset="0"/>
              </a:rPr>
              <a:t>);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Call this function once in your program before reading your resources.</a:t>
            </a:r>
          </a:p>
          <a:p>
            <a:endParaRPr lang="en-US" dirty="0" smtClean="0"/>
          </a:p>
          <a:p>
            <a:r>
              <a:rPr lang="en-US" dirty="0" smtClean="0"/>
              <a:t>HOWEVER, If you need to read a data file that is specified as a relative path from the command-line arguments, read the data file specified by the user BEFORE </a:t>
            </a:r>
            <a:r>
              <a:rPr lang="en-US" dirty="0" err="1" smtClean="0"/>
              <a:t>FsChangeToProgramDir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39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question: How to deliver files to that directory?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Manually?  No way.  If you are dealing with only one project, maybe.  Soon it becomes unmanageable.</a:t>
            </a:r>
          </a:p>
          <a:p>
            <a:r>
              <a:rPr lang="en-US" dirty="0" smtClean="0"/>
              <a:t>Better use post-build command that can be specified in CMakeLists.txt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26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CMakeLists.txt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162050"/>
            <a:ext cx="818685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set(TARGET_NAME </a:t>
            </a:r>
            <a:r>
              <a:rPr lang="en-US" sz="1100" dirty="0" err="1">
                <a:latin typeface="Consolas" panose="020B0609020204030204" pitchFamily="49" charset="0"/>
              </a:rPr>
              <a:t>pngViewer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add_executable</a:t>
            </a:r>
            <a:r>
              <a:rPr lang="en-US" sz="1100" dirty="0">
                <a:latin typeface="Consolas" panose="020B0609020204030204" pitchFamily="49" charset="0"/>
              </a:rPr>
              <a:t>(${TARGET_NAME} MACOSX_BUNDLE main.cpp)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target_link_libraries</a:t>
            </a:r>
            <a:r>
              <a:rPr lang="en-US" sz="1100" dirty="0">
                <a:latin typeface="Consolas" panose="020B0609020204030204" pitchFamily="49" charset="0"/>
              </a:rPr>
              <a:t>(${TARGET_NAME} </a:t>
            </a:r>
            <a:r>
              <a:rPr lang="en-US" sz="1100" dirty="0" err="1">
                <a:latin typeface="Consolas" panose="020B0609020204030204" pitchFamily="49" charset="0"/>
              </a:rPr>
              <a:t>fslazywindow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ysbitmap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set(DATA_SOURCE ${CMAKE_CURRENT_SOURCE_DIR}/data)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get_property</a:t>
            </a:r>
            <a:r>
              <a:rPr lang="en-US" sz="1100" dirty="0">
                <a:latin typeface="Consolas" panose="020B0609020204030204" pitchFamily="49" charset="0"/>
              </a:rPr>
              <a:t>(IS_MACOSX_BUNDLE TARGET ${TARGET_NAME} PROPERTY MACOSX_BUNDLE)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if(MACOSX AND ${IS_MACOSX_BUNDLE})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100" dirty="0">
                <a:latin typeface="Consolas" panose="020B0609020204030204" pitchFamily="49" charset="0"/>
              </a:rPr>
              <a:t>"$&lt;TARGET_FILE_DIR:${TARGET_NAME}&gt;/../Resources")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elseif</a:t>
            </a:r>
            <a:r>
              <a:rPr lang="en-US" sz="1100" dirty="0">
                <a:latin typeface="Consolas" panose="020B0609020204030204" pitchFamily="49" charset="0"/>
              </a:rPr>
              <a:t>("${CMAKE_SYSTEM_NAME}" STREQUAL "</a:t>
            </a:r>
            <a:r>
              <a:rPr lang="en-US" sz="1100" dirty="0" err="1">
                <a:latin typeface="Consolas" panose="020B0609020204030204" pitchFamily="49" charset="0"/>
              </a:rPr>
              <a:t>WindowsStore</a:t>
            </a:r>
            <a:r>
              <a:rPr lang="en-US" sz="11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# </a:t>
            </a:r>
            <a:r>
              <a:rPr lang="en-US" sz="1100" dirty="0">
                <a:latin typeface="Consolas" panose="020B0609020204030204" pitchFamily="49" charset="0"/>
              </a:rPr>
              <a:t>YS_IS_UNIVERSAL_WINDOWS_APP is needed for </a:t>
            </a:r>
            <a:r>
              <a:rPr lang="en-US" sz="1100" dirty="0" err="1">
                <a:latin typeface="Consolas" panose="020B0609020204030204" pitchFamily="49" charset="0"/>
              </a:rPr>
              <a:t>ysgl</a:t>
            </a:r>
            <a:r>
              <a:rPr lang="en-US" sz="1100" dirty="0">
                <a:latin typeface="Consolas" panose="020B0609020204030204" pitchFamily="49" charset="0"/>
              </a:rPr>
              <a:t> to distinguish Win32 and UWP in VC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add_definitions</a:t>
            </a:r>
            <a:r>
              <a:rPr lang="en-US" sz="1100" dirty="0">
                <a:latin typeface="Consolas" panose="020B0609020204030204" pitchFamily="49" charset="0"/>
              </a:rPr>
              <a:t>(-DYS_IS_UNIVERSAL_WINDOWS_APP)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set(CMAKE_CXX_FLAGS </a:t>
            </a:r>
            <a:r>
              <a:rPr lang="en-US" sz="1100" dirty="0">
                <a:latin typeface="Consolas" panose="020B0609020204030204" pitchFamily="49" charset="0"/>
              </a:rPr>
              <a:t>"${CMAKE_CXX_FLAGS} /ZW")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set(CMAKE_C_FLAGS </a:t>
            </a:r>
            <a:r>
              <a:rPr lang="en-US" sz="1100" dirty="0">
                <a:latin typeface="Consolas" panose="020B0609020204030204" pitchFamily="49" charset="0"/>
              </a:rPr>
              <a:t>"${CMAKE_C_FLAGS} /ZW")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100" dirty="0">
                <a:latin typeface="Consolas" panose="020B0609020204030204" pitchFamily="49" charset="0"/>
              </a:rPr>
              <a:t>"$&lt;TARGET_FILE_DIR:${TARGET_NAME}&gt;/Assets")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elseif</a:t>
            </a:r>
            <a:r>
              <a:rPr lang="en-US" sz="1100" dirty="0">
                <a:latin typeface="Consolas" panose="020B0609020204030204" pitchFamily="49" charset="0"/>
              </a:rPr>
              <a:t>(MSVC)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100" dirty="0">
                <a:latin typeface="Consolas" panose="020B0609020204030204" pitchFamily="49" charset="0"/>
              </a:rPr>
              <a:t>"$&lt;TARGET_FILE_DIR:${TARGET_NAME}&gt;")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100" dirty="0">
                <a:latin typeface="Consolas" panose="020B0609020204030204" pitchFamily="49" charset="0"/>
              </a:rPr>
              <a:t>"$&lt;TARGET_FILE_DIR:${TARGET_NAME}&gt;")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add_custom_command</a:t>
            </a:r>
            <a:r>
              <a:rPr lang="en-US" sz="1100" dirty="0" smtClean="0">
                <a:latin typeface="Consolas" panose="020B0609020204030204" pitchFamily="49" charset="0"/>
              </a:rPr>
              <a:t>(TARGET </a:t>
            </a:r>
            <a:r>
              <a:rPr lang="en-US" sz="1100" dirty="0">
                <a:latin typeface="Consolas" panose="020B0609020204030204" pitchFamily="49" charset="0"/>
              </a:rPr>
              <a:t>${TARGET_NAME} POST_BUILD 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COMMAND </a:t>
            </a:r>
            <a:r>
              <a:rPr lang="en-US" sz="1100" dirty="0">
                <a:latin typeface="Consolas" panose="020B0609020204030204" pitchFamily="49" charset="0"/>
              </a:rPr>
              <a:t>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COMMAND </a:t>
            </a:r>
            <a:r>
              <a:rPr lang="en-US" sz="1100" dirty="0">
                <a:latin typeface="Consolas" panose="020B0609020204030204" pitchFamily="49" charset="0"/>
              </a:rPr>
              <a:t>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7404100" y="2482850"/>
            <a:ext cx="228600" cy="27114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70800" y="3327400"/>
            <a:ext cx="1390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Setting up copy destination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>
            <a:stCxn id="10" idx="1"/>
          </p:cNvCxnSpPr>
          <p:nvPr/>
        </p:nvCxnSpPr>
        <p:spPr>
          <a:xfrm flipH="1">
            <a:off x="3467100" y="1358960"/>
            <a:ext cx="1758950" cy="717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26050" y="1097350"/>
            <a:ext cx="383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${CMAKE_CURRENT_SOURCE_DIR} is the directory where this CMakeLists.txt resides.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890271" y="5358512"/>
            <a:ext cx="1720095" cy="652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2819" y="5175117"/>
            <a:ext cx="4152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${CMAKE_COMMAND} is cmake.exe itself.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731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make later part re-usable, set a variable called TARGET_NAME</a:t>
            </a:r>
          </a:p>
          <a:p>
            <a:r>
              <a:rPr lang="en-US" dirty="0" smtClean="0"/>
              <a:t>DATA_SOURCE is a directory that stores all data files.  Files and sub-directories will be copied to the location where the executable can see.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441700"/>
            <a:ext cx="765626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set(TARGET_NAME </a:t>
            </a:r>
            <a:r>
              <a:rPr lang="en-US" dirty="0" err="1">
                <a:latin typeface="Consolas" panose="020B0609020204030204" pitchFamily="49" charset="0"/>
              </a:rPr>
              <a:t>pngViewer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add_executable</a:t>
            </a:r>
            <a:r>
              <a:rPr lang="en-US" dirty="0">
                <a:latin typeface="Consolas" panose="020B0609020204030204" pitchFamily="49" charset="0"/>
              </a:rPr>
              <a:t>(${TARGET_NAME} MACOSX_BUNDLE main.cpp)</a:t>
            </a:r>
          </a:p>
          <a:p>
            <a:r>
              <a:rPr lang="en-US" dirty="0" err="1">
                <a:latin typeface="Consolas" panose="020B0609020204030204" pitchFamily="49" charset="0"/>
              </a:rPr>
              <a:t>target_link_libraries</a:t>
            </a:r>
            <a:r>
              <a:rPr lang="en-US" dirty="0">
                <a:latin typeface="Consolas" panose="020B0609020204030204" pitchFamily="49" charset="0"/>
              </a:rPr>
              <a:t>(${TARGET_NAME} </a:t>
            </a:r>
            <a:r>
              <a:rPr lang="en-US" dirty="0" err="1">
                <a:latin typeface="Consolas" panose="020B0609020204030204" pitchFamily="49" charset="0"/>
              </a:rPr>
              <a:t>fslazywindow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ysbitmap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set(DATA_SOURCE ${CMAKE_CURRENT_SOURCE_DIR}/data)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28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data file destination.</a:t>
            </a:r>
          </a:p>
          <a:p>
            <a:r>
              <a:rPr lang="en-US" dirty="0" smtClean="0"/>
              <a:t>After this block, the variable DATA_DESTINATION stores where the files must be copied.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308350"/>
            <a:ext cx="757611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get_property</a:t>
            </a:r>
            <a:r>
              <a:rPr lang="en-US" sz="1200" dirty="0">
                <a:latin typeface="Consolas" panose="020B0609020204030204" pitchFamily="49" charset="0"/>
              </a:rPr>
              <a:t>(IS_MACOSX_BUNDLE TARGET ${TARGET_NAME} PROPERTY MACOSX_BUNDLE)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if(MACOSX AND ${IS_MACOSX_BUNDLE})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200" dirty="0">
                <a:latin typeface="Consolas" panose="020B0609020204030204" pitchFamily="49" charset="0"/>
              </a:rPr>
              <a:t>"$&lt;TARGET_FILE_DIR:${TARGET_NAME}&gt;/../Resources")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elseif</a:t>
            </a:r>
            <a:r>
              <a:rPr lang="en-US" sz="1200" dirty="0">
                <a:latin typeface="Consolas" panose="020B0609020204030204" pitchFamily="49" charset="0"/>
              </a:rPr>
              <a:t>("${CMAKE_SYSTEM_NAME}" STREQUAL "</a:t>
            </a:r>
            <a:r>
              <a:rPr lang="en-US" sz="1200" dirty="0" err="1">
                <a:latin typeface="Consolas" panose="020B0609020204030204" pitchFamily="49" charset="0"/>
              </a:rPr>
              <a:t>WindowsStore</a:t>
            </a:r>
            <a:r>
              <a:rPr lang="en-US" sz="12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# </a:t>
            </a:r>
            <a:r>
              <a:rPr lang="en-US" sz="1200" dirty="0">
                <a:latin typeface="Consolas" panose="020B0609020204030204" pitchFamily="49" charset="0"/>
              </a:rPr>
              <a:t>YS_IS_UNIVERSAL_WINDOWS_APP is needed for </a:t>
            </a:r>
            <a:r>
              <a:rPr lang="en-US" sz="1200" dirty="0" err="1">
                <a:latin typeface="Consolas" panose="020B0609020204030204" pitchFamily="49" charset="0"/>
              </a:rPr>
              <a:t>ysgl</a:t>
            </a:r>
            <a:r>
              <a:rPr lang="en-US" sz="1200" dirty="0">
                <a:latin typeface="Consolas" panose="020B0609020204030204" pitchFamily="49" charset="0"/>
              </a:rPr>
              <a:t> to distinguish Win32 and UWP in VC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</a:t>
            </a:r>
            <a:r>
              <a:rPr lang="en-US" sz="1200" dirty="0" err="1" smtClean="0">
                <a:latin typeface="Consolas" panose="020B0609020204030204" pitchFamily="49" charset="0"/>
              </a:rPr>
              <a:t>add_definitions</a:t>
            </a:r>
            <a:r>
              <a:rPr lang="en-US" sz="1200" dirty="0">
                <a:latin typeface="Consolas" panose="020B0609020204030204" pitchFamily="49" charset="0"/>
              </a:rPr>
              <a:t>(-DYS_IS_UNIVERSAL_WINDOWS_APP)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set(CMAKE_CXX_FLAGS </a:t>
            </a:r>
            <a:r>
              <a:rPr lang="en-US" sz="1200" dirty="0">
                <a:latin typeface="Consolas" panose="020B0609020204030204" pitchFamily="49" charset="0"/>
              </a:rPr>
              <a:t>"${CMAKE_CXX_FLAGS} /ZW")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set(CMAKE_C_FLAGS </a:t>
            </a:r>
            <a:r>
              <a:rPr lang="en-US" sz="1200" dirty="0">
                <a:latin typeface="Consolas" panose="020B0609020204030204" pitchFamily="49" charset="0"/>
              </a:rPr>
              <a:t>"${CMAKE_C_FLAGS} /ZW")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200" dirty="0">
                <a:latin typeface="Consolas" panose="020B0609020204030204" pitchFamily="49" charset="0"/>
              </a:rPr>
              <a:t>"$&lt;TARGET_FILE_DIR:${TARGET_NAME}&gt;/Assets")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elseif</a:t>
            </a:r>
            <a:r>
              <a:rPr lang="en-US" sz="1200" dirty="0">
                <a:latin typeface="Consolas" panose="020B0609020204030204" pitchFamily="49" charset="0"/>
              </a:rPr>
              <a:t>(MSVC)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200" dirty="0">
                <a:latin typeface="Consolas" panose="020B0609020204030204" pitchFamily="49" charset="0"/>
              </a:rPr>
              <a:t>"$&lt;TARGET_FILE_DIR:${TARGET_NAME}&gt;")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set(DATA_DESTINATION </a:t>
            </a:r>
            <a:r>
              <a:rPr lang="en-US" sz="1200" dirty="0">
                <a:latin typeface="Consolas" panose="020B0609020204030204" pitchFamily="49" charset="0"/>
              </a:rPr>
              <a:t>"$&lt;TARGET_FILE_DIR:${TARGET_NAME}&gt;")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endif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  <a:endParaRPr lang="en-US" sz="1200" dirty="0"/>
          </a:p>
        </p:txBody>
      </p:sp>
      <p:sp>
        <p:nvSpPr>
          <p:cNvPr id="5" name="Rounded Rectangle 4"/>
          <p:cNvSpPr/>
          <p:nvPr/>
        </p:nvSpPr>
        <p:spPr>
          <a:xfrm>
            <a:off x="3048000" y="3308350"/>
            <a:ext cx="1797050" cy="25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895850" y="3308350"/>
            <a:ext cx="1898650" cy="2881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46525" y="2778779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target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82471" y="2777290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property of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7636" y="2798861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Is copied to this variable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/>
          <p:cNvCxnSpPr>
            <a:endCxn id="6" idx="0"/>
          </p:cNvCxnSpPr>
          <p:nvPr/>
        </p:nvCxnSpPr>
        <p:spPr>
          <a:xfrm flipH="1">
            <a:off x="5845175" y="3168193"/>
            <a:ext cx="650875" cy="1401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2"/>
            <a:endCxn id="5" idx="0"/>
          </p:cNvCxnSpPr>
          <p:nvPr/>
        </p:nvCxnSpPr>
        <p:spPr>
          <a:xfrm flipH="1">
            <a:off x="3946525" y="3148111"/>
            <a:ext cx="637354" cy="1602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4660900" y="2590794"/>
            <a:ext cx="1638300" cy="266706"/>
          </a:xfrm>
          <a:custGeom>
            <a:avLst/>
            <a:gdLst>
              <a:gd name="connsiteX0" fmla="*/ 1638300 w 1638300"/>
              <a:gd name="connsiteY0" fmla="*/ 266706 h 266706"/>
              <a:gd name="connsiteX1" fmla="*/ 825500 w 1638300"/>
              <a:gd name="connsiteY1" fmla="*/ 6 h 266706"/>
              <a:gd name="connsiteX2" fmla="*/ 0 w 1638300"/>
              <a:gd name="connsiteY2" fmla="*/ 260356 h 26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266706">
                <a:moveTo>
                  <a:pt x="1638300" y="266706"/>
                </a:moveTo>
                <a:cubicBezTo>
                  <a:pt x="1368425" y="133885"/>
                  <a:pt x="1098550" y="1064"/>
                  <a:pt x="825500" y="6"/>
                </a:cubicBezTo>
                <a:cubicBezTo>
                  <a:pt x="552450" y="-1052"/>
                  <a:pt x="276225" y="129652"/>
                  <a:pt x="0" y="26035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2921000" y="2666407"/>
            <a:ext cx="1460500" cy="210143"/>
          </a:xfrm>
          <a:custGeom>
            <a:avLst/>
            <a:gdLst>
              <a:gd name="connsiteX0" fmla="*/ 1460500 w 1460500"/>
              <a:gd name="connsiteY0" fmla="*/ 159343 h 210143"/>
              <a:gd name="connsiteX1" fmla="*/ 622300 w 1460500"/>
              <a:gd name="connsiteY1" fmla="*/ 593 h 210143"/>
              <a:gd name="connsiteX2" fmla="*/ 0 w 1460500"/>
              <a:gd name="connsiteY2" fmla="*/ 210143 h 21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0500" h="210143">
                <a:moveTo>
                  <a:pt x="1460500" y="159343"/>
                </a:moveTo>
                <a:cubicBezTo>
                  <a:pt x="1163108" y="75734"/>
                  <a:pt x="865717" y="-7874"/>
                  <a:pt x="622300" y="593"/>
                </a:cubicBezTo>
                <a:cubicBezTo>
                  <a:pt x="378883" y="9060"/>
                  <a:pt x="189441" y="109601"/>
                  <a:pt x="0" y="21014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9" idx="2"/>
          </p:cNvCxnSpPr>
          <p:nvPr/>
        </p:nvCxnSpPr>
        <p:spPr>
          <a:xfrm flipH="1">
            <a:off x="2292350" y="3168193"/>
            <a:ext cx="205137" cy="2227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3500" y="5511800"/>
            <a:ext cx="2927350" cy="273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446267" y="6192498"/>
            <a:ext cx="722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Generator expression: The value will be substituted by the generator.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1" name="Straight Connector 20"/>
          <p:cNvCxnSpPr>
            <a:stCxn id="19" idx="0"/>
            <a:endCxn id="18" idx="2"/>
          </p:cNvCxnSpPr>
          <p:nvPr/>
        </p:nvCxnSpPr>
        <p:spPr>
          <a:xfrm flipH="1" flipV="1">
            <a:off x="4067175" y="5784850"/>
            <a:ext cx="989568" cy="4076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09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Last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each data source (can be multiple) set up post-build commands for copying files.</a:t>
            </a:r>
          </a:p>
          <a:p>
            <a:r>
              <a:rPr lang="en-US" dirty="0" smtClean="0"/>
              <a:t>Copy command is different between platforms.</a:t>
            </a:r>
          </a:p>
          <a:p>
            <a:r>
              <a:rPr lang="en-US" dirty="0" smtClean="0"/>
              <a:t>Use CMake.exe (${CMAKE_COMMAND}) to avoid platform dependency.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368800"/>
            <a:ext cx="78790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onsolas" panose="020B0609020204030204" pitchFamily="49" charset="0"/>
              </a:rPr>
              <a:t>foreach</a:t>
            </a:r>
            <a:r>
              <a:rPr lang="en-US" sz="1100" dirty="0">
                <a:latin typeface="Consolas" panose="020B0609020204030204" pitchFamily="49" charset="0"/>
              </a:rPr>
              <a:t>(ONE_DATA_SOURCE ${DATA_SOURCE})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add_custom_command</a:t>
            </a:r>
            <a:r>
              <a:rPr lang="en-US" sz="1100" dirty="0">
                <a:latin typeface="Consolas" panose="020B0609020204030204" pitchFamily="49" charset="0"/>
              </a:rPr>
              <a:t>(TARGET ${TARGET_NAME} POST_BUILD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COMMAND 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endforeach</a:t>
            </a:r>
            <a:r>
              <a:rPr lang="en-US" sz="1100" dirty="0">
                <a:latin typeface="Consolas" panose="020B0609020204030204" pitchFamily="49" charset="0"/>
              </a:rPr>
              <a:t>(ONE_DATA_SOURCE)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60600" y="4578350"/>
            <a:ext cx="1676400" cy="190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136900" y="359648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For this target,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3273" y="357576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after build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37000" y="4578350"/>
            <a:ext cx="831850" cy="190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7" idx="2"/>
            <a:endCxn id="6" idx="0"/>
          </p:cNvCxnSpPr>
          <p:nvPr/>
        </p:nvCxnSpPr>
        <p:spPr>
          <a:xfrm flipH="1">
            <a:off x="3098800" y="3965813"/>
            <a:ext cx="906287" cy="6125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8" idx="2"/>
            <a:endCxn id="9" idx="0"/>
          </p:cNvCxnSpPr>
          <p:nvPr/>
        </p:nvCxnSpPr>
        <p:spPr>
          <a:xfrm flipH="1">
            <a:off x="4352925" y="3945096"/>
            <a:ext cx="1119230" cy="633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37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you want to support Universal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Universal Windows App has one extra step called "Deployment" before actually running the app.</a:t>
            </a:r>
          </a:p>
          <a:p>
            <a:r>
              <a:rPr lang="en-US" dirty="0" smtClean="0"/>
              <a:t>The data files need to be copied to the deployment location, which is controlled by Visual Studio.</a:t>
            </a:r>
          </a:p>
          <a:p>
            <a:r>
              <a:rPr lang="en-US" dirty="0" smtClean="0"/>
              <a:t>CMake added a </a:t>
            </a:r>
            <a:r>
              <a:rPr lang="en-US" dirty="0"/>
              <a:t>target property VS_DEPLOYMENT_CONTENT and </a:t>
            </a:r>
            <a:r>
              <a:rPr lang="en-US" dirty="0" smtClean="0"/>
              <a:t>VS_DEPLOYMENT_LOCATION.</a:t>
            </a:r>
          </a:p>
          <a:p>
            <a:r>
              <a:rPr lang="en-US" dirty="0" smtClean="0"/>
              <a:t>Data files need to be added as a source file, and then these properties must be set for the data files.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22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Last Part (UWP support)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60450"/>
            <a:ext cx="8186857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if(NOT "${CMAKE_SYSTEM_NAME}" STREQUAL "</a:t>
            </a:r>
            <a:r>
              <a:rPr lang="en-US" sz="1100" dirty="0" err="1">
                <a:latin typeface="Consolas" panose="020B0609020204030204" pitchFamily="49" charset="0"/>
              </a:rPr>
              <a:t>WindowsStore</a:t>
            </a:r>
            <a:r>
              <a:rPr lang="en-US" sz="11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foreach</a:t>
            </a:r>
            <a:r>
              <a:rPr lang="en-US" sz="1100" dirty="0" smtClean="0">
                <a:latin typeface="Consolas" panose="020B0609020204030204" pitchFamily="49" charset="0"/>
              </a:rPr>
              <a:t>(ONE_DATA_SOURCE </a:t>
            </a:r>
            <a:r>
              <a:rPr lang="en-US" sz="1100" dirty="0">
                <a:latin typeface="Consolas" panose="020B0609020204030204" pitchFamily="49" charset="0"/>
              </a:rPr>
              <a:t>${DATA_SOURCE})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add_custom_command</a:t>
            </a:r>
            <a:r>
              <a:rPr lang="en-US" sz="1100" dirty="0" smtClean="0">
                <a:latin typeface="Consolas" panose="020B0609020204030204" pitchFamily="49" charset="0"/>
              </a:rPr>
              <a:t>(TARGET </a:t>
            </a:r>
            <a:r>
              <a:rPr lang="en-US" sz="1100" dirty="0">
                <a:latin typeface="Consolas" panose="020B0609020204030204" pitchFamily="49" charset="0"/>
              </a:rPr>
              <a:t>${TARGET_NAME} POST_BUILD 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COMMAND </a:t>
            </a:r>
            <a:r>
              <a:rPr lang="en-US" sz="1100" dirty="0">
                <a:latin typeface="Consolas" panose="020B0609020204030204" pitchFamily="49" charset="0"/>
              </a:rPr>
              <a:t>"${CMAKE_COMMAND}" -E </a:t>
            </a:r>
            <a:r>
              <a:rPr lang="en-US" sz="1100" dirty="0" err="1">
                <a:latin typeface="Consolas" panose="020B0609020204030204" pitchFamily="49" charset="0"/>
              </a:rPr>
              <a:t>make_directory</a:t>
            </a:r>
            <a:r>
              <a:rPr lang="en-US" sz="1100" dirty="0">
                <a:latin typeface="Consolas" panose="020B0609020204030204" pitchFamily="49" charset="0"/>
              </a:rPr>
              <a:t> \"${DATA_DESTINATION}\"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COMMAND </a:t>
            </a:r>
            <a:r>
              <a:rPr lang="en-US" sz="1100" dirty="0">
                <a:latin typeface="Consolas" panose="020B0609020204030204" pitchFamily="49" charset="0"/>
              </a:rPr>
              <a:t>"${CMAKE_COMMAND}" -E </a:t>
            </a:r>
            <a:r>
              <a:rPr lang="en-US" sz="1100" dirty="0" err="1">
                <a:latin typeface="Consolas" panose="020B0609020204030204" pitchFamily="49" charset="0"/>
              </a:rPr>
              <a:t>copy_directory</a:t>
            </a:r>
            <a:r>
              <a:rPr lang="en-US" sz="1100" dirty="0">
                <a:latin typeface="Consolas" panose="020B0609020204030204" pitchFamily="49" charset="0"/>
              </a:rPr>
              <a:t> \"${ONE_DATA_SOURCE}\" \"${DATA_DESTINATION}\")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endforeach</a:t>
            </a:r>
            <a:r>
              <a:rPr lang="en-US" sz="1100" dirty="0" smtClean="0">
                <a:latin typeface="Consolas" panose="020B0609020204030204" pitchFamily="49" charset="0"/>
              </a:rPr>
              <a:t>(ONE_DATA_SOURCE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else()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foreach</a:t>
            </a:r>
            <a:r>
              <a:rPr lang="en-US" sz="1100" dirty="0" smtClean="0">
                <a:latin typeface="Consolas" panose="020B0609020204030204" pitchFamily="49" charset="0"/>
              </a:rPr>
              <a:t>(ONE_DATA_SOURCE </a:t>
            </a:r>
            <a:r>
              <a:rPr lang="en-US" sz="1100" dirty="0">
                <a:latin typeface="Consolas" panose="020B0609020204030204" pitchFamily="49" charset="0"/>
              </a:rPr>
              <a:t>${DATA_SOURCE})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file(GLOB_RECURSE </a:t>
            </a:r>
            <a:r>
              <a:rPr lang="en-US" sz="1100" dirty="0">
                <a:latin typeface="Consolas" panose="020B0609020204030204" pitchFamily="49" charset="0"/>
              </a:rPr>
              <a:t>DATA_FILES RELATIVE ${ONE_DATA_SOURCE} ${ONE_DATA_SOURCE}/*)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foreach</a:t>
            </a:r>
            <a:r>
              <a:rPr lang="en-US" sz="1100" dirty="0" smtClean="0">
                <a:latin typeface="Consolas" panose="020B0609020204030204" pitchFamily="49" charset="0"/>
              </a:rPr>
              <a:t>(DATA_FILE </a:t>
            </a:r>
            <a:r>
              <a:rPr lang="en-US" sz="1100" dirty="0">
                <a:latin typeface="Consolas" panose="020B0609020204030204" pitchFamily="49" charset="0"/>
              </a:rPr>
              <a:t>${DATA_FILES})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set(DIR_PART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set(DATA_SOURCE_FILE </a:t>
            </a:r>
            <a:r>
              <a:rPr lang="en-US" sz="1100" dirty="0">
                <a:latin typeface="Consolas" panose="020B0609020204030204" pitchFamily="49" charset="0"/>
              </a:rPr>
              <a:t>${ONE_DATA_SOURCE}/${DATA_FILE})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get_filename_component</a:t>
            </a:r>
            <a:r>
              <a:rPr lang="en-US" sz="1100" dirty="0" smtClean="0">
                <a:latin typeface="Consolas" panose="020B0609020204030204" pitchFamily="49" charset="0"/>
              </a:rPr>
              <a:t>(NAME_PART </a:t>
            </a:r>
            <a:r>
              <a:rPr lang="en-US" sz="1100" dirty="0">
                <a:latin typeface="Consolas" panose="020B0609020204030204" pitchFamily="49" charset="0"/>
              </a:rPr>
              <a:t>${DATA_FILE} NAME)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get_filename_component</a:t>
            </a:r>
            <a:r>
              <a:rPr lang="en-US" sz="1100" dirty="0" smtClean="0">
                <a:latin typeface="Consolas" panose="020B0609020204030204" pitchFamily="49" charset="0"/>
              </a:rPr>
              <a:t>(DIR_PART </a:t>
            </a:r>
            <a:r>
              <a:rPr lang="en-US" sz="1100" dirty="0">
                <a:latin typeface="Consolas" panose="020B0609020204030204" pitchFamily="49" charset="0"/>
              </a:rPr>
              <a:t>${DATA_FILE} DIRECTORY)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string(LENGTH </a:t>
            </a:r>
            <a:r>
              <a:rPr lang="en-US" sz="1100" dirty="0">
                <a:latin typeface="Consolas" panose="020B0609020204030204" pitchFamily="49" charset="0"/>
              </a:rPr>
              <a:t>"${DIR_PART}" DIR_PART_LENGTH)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if</a:t>
            </a:r>
            <a:r>
              <a:rPr lang="en-US" sz="1100" dirty="0">
                <a:latin typeface="Consolas" panose="020B0609020204030204" pitchFamily="49" charset="0"/>
              </a:rPr>
              <a:t>(${DIR_PART_LENGTH} GREATER 0)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set(DESTIN_DIR </a:t>
            </a:r>
            <a:r>
              <a:rPr lang="en-US" sz="1100" dirty="0">
                <a:latin typeface="Consolas" panose="020B0609020204030204" pitchFamily="49" charset="0"/>
              </a:rPr>
              <a:t>"Assets/${DIR_PART}")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else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    set(DESTIN_DIR </a:t>
            </a:r>
            <a:r>
              <a:rPr lang="en-US" sz="1100" dirty="0">
                <a:latin typeface="Consolas" panose="020B0609020204030204" pitchFamily="49" charset="0"/>
              </a:rPr>
              <a:t>"Assets")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message</a:t>
            </a:r>
            <a:r>
              <a:rPr lang="en-US" sz="1100" dirty="0">
                <a:latin typeface="Consolas" panose="020B0609020204030204" pitchFamily="49" charset="0"/>
              </a:rPr>
              <a:t>(&gt;&gt; ${DATA_SOURCE_FILE})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message</a:t>
            </a:r>
            <a:r>
              <a:rPr lang="en-US" sz="1100" dirty="0">
                <a:latin typeface="Consolas" panose="020B0609020204030204" pitchFamily="49" charset="0"/>
              </a:rPr>
              <a:t>(&gt;&gt; ${NAME_PART} @ ${DIR_PART}-&gt;${DESTIN_DIR})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target_sources</a:t>
            </a:r>
            <a:r>
              <a:rPr lang="en-US" sz="1100" dirty="0">
                <a:latin typeface="Consolas" panose="020B0609020204030204" pitchFamily="49" charset="0"/>
              </a:rPr>
              <a:t>(${TARGET_NAME} PUBLIC ${DATA_SOURCE_FILE})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set_property</a:t>
            </a:r>
            <a:r>
              <a:rPr lang="en-US" sz="1100" dirty="0" smtClean="0">
                <a:latin typeface="Consolas" panose="020B0609020204030204" pitchFamily="49" charset="0"/>
              </a:rPr>
              <a:t>(SOURCE </a:t>
            </a:r>
            <a:r>
              <a:rPr lang="en-US" sz="1100" dirty="0">
                <a:latin typeface="Consolas" panose="020B0609020204030204" pitchFamily="49" charset="0"/>
              </a:rPr>
              <a:t>${DATA_SOURCE_FILE} PROPERTY VS_DEPLOYMENT_CONTENT 1)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    </a:t>
            </a:r>
            <a:r>
              <a:rPr lang="en-US" sz="1100" dirty="0" err="1" smtClean="0">
                <a:latin typeface="Consolas" panose="020B0609020204030204" pitchFamily="49" charset="0"/>
              </a:rPr>
              <a:t>set_property</a:t>
            </a:r>
            <a:r>
              <a:rPr lang="en-US" sz="1100" dirty="0" smtClean="0">
                <a:latin typeface="Consolas" panose="020B0609020204030204" pitchFamily="49" charset="0"/>
              </a:rPr>
              <a:t>(SOURCE </a:t>
            </a:r>
            <a:r>
              <a:rPr lang="en-US" sz="1100" dirty="0">
                <a:latin typeface="Consolas" panose="020B0609020204030204" pitchFamily="49" charset="0"/>
              </a:rPr>
              <a:t>${DATA_SOURCE_FILE} PROPERTY VS_DEPLOYMENT_LOCATION "${DESTIN_DIR}")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    </a:t>
            </a:r>
            <a:r>
              <a:rPr lang="en-US" sz="1100" dirty="0" err="1" smtClean="0">
                <a:latin typeface="Consolas" panose="020B0609020204030204" pitchFamily="49" charset="0"/>
              </a:rPr>
              <a:t>endforeach</a:t>
            </a:r>
            <a:r>
              <a:rPr lang="en-US" sz="1100" dirty="0" smtClean="0">
                <a:latin typeface="Consolas" panose="020B0609020204030204" pitchFamily="49" charset="0"/>
              </a:rPr>
              <a:t>(DATA_FILE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 smtClean="0">
                <a:latin typeface="Consolas" panose="020B0609020204030204" pitchFamily="49" charset="0"/>
              </a:rPr>
              <a:t>endforeach</a:t>
            </a:r>
            <a:r>
              <a:rPr lang="en-US" sz="1100" dirty="0" smtClean="0">
                <a:latin typeface="Consolas" panose="020B0609020204030204" pitchFamily="49" charset="0"/>
              </a:rPr>
              <a:t>(ONE_DATA_SOURCE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endif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2167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3114</Words>
  <Application>Microsoft Office PowerPoint</Application>
  <PresentationFormat>On-screen Show (4:3)</PresentationFormat>
  <Paragraphs>481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굴림</vt:lpstr>
      <vt:lpstr>Arial</vt:lpstr>
      <vt:lpstr>Calibri</vt:lpstr>
      <vt:lpstr>Cambria Math</vt:lpstr>
      <vt:lpstr>Consolas</vt:lpstr>
      <vt:lpstr>Lucida Console</vt:lpstr>
      <vt:lpstr>Default Design</vt:lpstr>
      <vt:lpstr>24-783 Lecture 20</vt:lpstr>
      <vt:lpstr>You have two more assignments (PS7 and PS8) to go</vt:lpstr>
      <vt:lpstr>PowerPoint Presentation</vt:lpstr>
      <vt:lpstr>PowerPoint Presentation</vt:lpstr>
      <vt:lpstr>Quadric Error Metrics Method</vt:lpstr>
      <vt:lpstr>Quadric Error Metrics Method</vt:lpstr>
      <vt:lpstr>Quadric Error Metrics Method</vt:lpstr>
      <vt:lpstr>To implement the method, you need to…</vt:lpstr>
      <vt:lpstr>Edge Collapsing Operation</vt:lpstr>
      <vt:lpstr>Edge Collapsing Operation</vt:lpstr>
      <vt:lpstr>Quadric Error Metrics</vt:lpstr>
      <vt:lpstr>Quadric Error Metrics</vt:lpstr>
      <vt:lpstr>Quadric Error Metrics</vt:lpstr>
      <vt:lpstr>Quadric Error Metric</vt:lpstr>
      <vt:lpstr>Quadric Error Metric</vt:lpstr>
      <vt:lpstr>Quadric Error Metric</vt:lpstr>
      <vt:lpstr>Is it supposed to be this slow?</vt:lpstr>
      <vt:lpstr>Priority Queue with Key Update</vt:lpstr>
      <vt:lpstr>Priority Queue</vt:lpstr>
      <vt:lpstr>Priority Queue</vt:lpstr>
      <vt:lpstr>Priority Queue</vt:lpstr>
      <vt:lpstr>Priority Queue + Key Update</vt:lpstr>
      <vt:lpstr>Priority-Queue with Key Update</vt:lpstr>
      <vt:lpstr>Priority Queue with Key Update</vt:lpstr>
      <vt:lpstr>Priority Queue</vt:lpstr>
      <vt:lpstr>PowerPoint Presentation</vt:lpstr>
      <vt:lpstr>We have search keys.</vt:lpstr>
      <vt:lpstr>Ready to implement QEMSimplifier class.</vt:lpstr>
      <vt:lpstr>Installing Data Files (Resources) to where the Application Can See</vt:lpstr>
      <vt:lpstr>Data File Location</vt:lpstr>
      <vt:lpstr>Change Current Working Directory to the Resources Directory in your Program</vt:lpstr>
      <vt:lpstr>Change Current Working Directory to the Resources Directory in your Program</vt:lpstr>
      <vt:lpstr>In FsSimpleWindow / FsLazyWindow frameworks</vt:lpstr>
      <vt:lpstr>Next question: How to deliver files to that directory?</vt:lpstr>
      <vt:lpstr>CMakeLists.txt example</vt:lpstr>
      <vt:lpstr>First Part</vt:lpstr>
      <vt:lpstr>Second Part</vt:lpstr>
      <vt:lpstr>Last Part</vt:lpstr>
      <vt:lpstr>If you want to support Universal Windows</vt:lpstr>
      <vt:lpstr>Last Part (UWP support)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676</cp:revision>
  <dcterms:created xsi:type="dcterms:W3CDTF">2009-08-19T14:18:47Z</dcterms:created>
  <dcterms:modified xsi:type="dcterms:W3CDTF">2017-04-03T23:07:17Z</dcterms:modified>
</cp:coreProperties>
</file>