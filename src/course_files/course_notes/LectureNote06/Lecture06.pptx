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420" r:id="rId3"/>
    <p:sldId id="421" r:id="rId4"/>
    <p:sldId id="264" r:id="rId5"/>
    <p:sldId id="270" r:id="rId6"/>
    <p:sldId id="271" r:id="rId7"/>
    <p:sldId id="272" r:id="rId8"/>
    <p:sldId id="273" r:id="rId9"/>
    <p:sldId id="274" r:id="rId10"/>
    <p:sldId id="419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311" r:id="rId20"/>
    <p:sldId id="343" r:id="rId21"/>
    <p:sldId id="313" r:id="rId22"/>
    <p:sldId id="411" r:id="rId23"/>
    <p:sldId id="314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44" r:id="rId45"/>
    <p:sldId id="335" r:id="rId46"/>
    <p:sldId id="336" r:id="rId47"/>
    <p:sldId id="337" r:id="rId48"/>
    <p:sldId id="338" r:id="rId49"/>
    <p:sldId id="339" r:id="rId50"/>
    <p:sldId id="340" r:id="rId51"/>
    <p:sldId id="341" r:id="rId52"/>
    <p:sldId id="342" r:id="rId53"/>
    <p:sldId id="412" r:id="rId54"/>
    <p:sldId id="413" r:id="rId55"/>
    <p:sldId id="414" r:id="rId56"/>
    <p:sldId id="415" r:id="rId57"/>
    <p:sldId id="416" r:id="rId58"/>
    <p:sldId id="417" r:id="rId59"/>
    <p:sldId id="418" r:id="rId6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222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FA322-6F3F-4DC0-87DD-C2243BD40E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9357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2500B-4EAB-4352-950A-83638A46CB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94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AD067-94AF-4CC4-A3F4-94BC229338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754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5F1812-1DE0-4021-BADA-FFAFA5A10F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3088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3109A-EB99-4320-890D-5E88143228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415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6F314-25DC-4377-AD01-A920945A2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0991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0ED3A-E24C-4B6A-90A2-C196FD3C67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329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225BB-6760-4477-80E2-E9464DB153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85166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9013F-5B2C-4E9D-9745-5981D3CFC2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0596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9005-ABF8-4206-A7D8-6B64D35F117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1499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1E539-E3A0-4ACA-8410-6BBB64C7316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4055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2BEA70-0706-42DF-B69B-B92068D80B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4480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E37565C6-0CEA-42B8-A9C2-60D46C6627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68521"/>
            <a:ext cx="7772400" cy="1470025"/>
          </a:xfrm>
        </p:spPr>
        <p:txBody>
          <a:bodyPr/>
          <a:lstStyle/>
          <a:p>
            <a:r>
              <a:rPr lang="en-US" dirty="0" smtClean="0"/>
              <a:t>24-783 Lecture </a:t>
            </a:r>
            <a:r>
              <a:rPr lang="en-US" dirty="0" smtClean="0"/>
              <a:t>06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999" y="2590798"/>
            <a:ext cx="4064002" cy="30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4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Office-Hour Change </a:t>
            </a:r>
            <a:r>
              <a:rPr lang="en-US" dirty="0" smtClean="0"/>
              <a:t>(Confirmed)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Due to scheduling conflict, I need to move my office hour to:</a:t>
            </a:r>
            <a:br>
              <a:rPr lang="en-US" dirty="0" smtClean="0"/>
            </a:br>
            <a:r>
              <a:rPr lang="en-US" dirty="0" smtClean="0"/>
              <a:t>	Friday 10:30-11:30 at SH 317</a:t>
            </a:r>
          </a:p>
          <a:p>
            <a:endParaRPr lang="en-US" dirty="0"/>
          </a:p>
          <a:p>
            <a:r>
              <a:rPr lang="en-US" dirty="0" smtClean="0"/>
              <a:t>Confirmed.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4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Set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2-week assignment.</a:t>
            </a:r>
          </a:p>
          <a:p>
            <a:r>
              <a:rPr lang="en-US" dirty="0" smtClean="0"/>
              <a:t>You need to know how to use a hash-table class to do the second part, which may take this and the next lecture to cover.</a:t>
            </a:r>
          </a:p>
          <a:p>
            <a:r>
              <a:rPr lang="en-US" dirty="0" smtClean="0"/>
              <a:t>But you can start the first part (</a:t>
            </a:r>
            <a:r>
              <a:rPr lang="en-US" dirty="0" err="1" smtClean="0"/>
              <a:t>CutOut</a:t>
            </a:r>
            <a:r>
              <a:rPr lang="en-US" dirty="0" smtClean="0"/>
              <a:t> function in the bitmap-template class).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7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Bitmap Class (Continued)</a:t>
            </a:r>
            <a:endParaRPr lang="en-US" dirty="0"/>
          </a:p>
          <a:p>
            <a:pPr lvl="1"/>
            <a:r>
              <a:rPr lang="en-US" dirty="0" smtClean="0"/>
              <a:t>Introducing </a:t>
            </a:r>
            <a:r>
              <a:rPr lang="en-US" dirty="0"/>
              <a:t>the Concept of “Move”</a:t>
            </a:r>
          </a:p>
          <a:p>
            <a:pPr lvl="1"/>
            <a:r>
              <a:rPr lang="en-US" dirty="0" smtClean="0"/>
              <a:t>Passing Command Parameters</a:t>
            </a:r>
          </a:p>
          <a:p>
            <a:r>
              <a:rPr lang="en-US" dirty="0"/>
              <a:t>Testing the Bitmap Class</a:t>
            </a:r>
          </a:p>
          <a:p>
            <a:pPr lvl="1"/>
            <a:r>
              <a:rPr lang="en-US" dirty="0"/>
              <a:t>PNG Bitmap Viewer</a:t>
            </a:r>
          </a:p>
          <a:p>
            <a:r>
              <a:rPr lang="en-US" dirty="0" smtClean="0"/>
              <a:t>R-value </a:t>
            </a:r>
            <a:r>
              <a:rPr lang="en-US" dirty="0"/>
              <a:t>Reference and Move Assignment Operator and Move </a:t>
            </a:r>
            <a:r>
              <a:rPr lang="en-US" dirty="0" smtClean="0"/>
              <a:t>Constructor</a:t>
            </a:r>
          </a:p>
          <a:p>
            <a:r>
              <a:rPr lang="en-US" dirty="0" smtClean="0"/>
              <a:t>Hash Set and Hash 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3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Introducing the Concept of </a:t>
            </a:r>
            <a:r>
              <a:rPr lang="en-US" i="1" dirty="0" smtClean="0"/>
              <a:t>Moving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Want to have </a:t>
            </a:r>
            <a:r>
              <a:rPr lang="en-US" dirty="0" err="1" smtClean="0"/>
              <a:t>LoadPng</a:t>
            </a:r>
            <a:r>
              <a:rPr lang="en-US" dirty="0" smtClean="0"/>
              <a:t> member function.</a:t>
            </a:r>
          </a:p>
          <a:p>
            <a:r>
              <a:rPr lang="en-US" dirty="0" smtClean="0"/>
              <a:t>It uses </a:t>
            </a:r>
            <a:r>
              <a:rPr lang="en-US" dirty="0" err="1" smtClean="0"/>
              <a:t>YsRawPngDecoder</a:t>
            </a:r>
            <a:r>
              <a:rPr lang="en-US" dirty="0" smtClean="0"/>
              <a:t> in </a:t>
            </a:r>
            <a:r>
              <a:rPr lang="en-US" dirty="0" err="1" smtClean="0"/>
              <a:t>yspng.h</a:t>
            </a:r>
            <a:endParaRPr lang="en-US" dirty="0" smtClean="0"/>
          </a:p>
          <a:p>
            <a:r>
              <a:rPr lang="en-US" dirty="0" smtClean="0"/>
              <a:t>After loading a PNG image, the ownership of an array of pixel values is transferred from </a:t>
            </a:r>
            <a:r>
              <a:rPr lang="en-US" dirty="0" err="1" smtClean="0"/>
              <a:t>YsRawPngDecoder</a:t>
            </a:r>
            <a:r>
              <a:rPr lang="en-US" dirty="0" smtClean="0"/>
              <a:t> to </a:t>
            </a:r>
            <a:r>
              <a:rPr lang="en-US" dirty="0" err="1" smtClean="0"/>
              <a:t>SimpleBitmap</a:t>
            </a:r>
            <a:r>
              <a:rPr lang="en-US" dirty="0" smtClean="0"/>
              <a:t> class.</a:t>
            </a:r>
          </a:p>
          <a:p>
            <a:r>
              <a:rPr lang="en-US" dirty="0" smtClean="0"/>
              <a:t>Why move?  Not copy?  Because it is much faster.</a:t>
            </a:r>
          </a:p>
          <a:p>
            <a:r>
              <a:rPr lang="en-US" dirty="0" smtClean="0"/>
              <a:t>Transferring an ownership of an array takes just one copy of a pointer.</a:t>
            </a:r>
            <a:endParaRPr lang="en-US" dirty="0"/>
          </a:p>
          <a:p>
            <a:r>
              <a:rPr lang="en-US" dirty="0" smtClean="0"/>
              <a:t>After transferring the ownership, </a:t>
            </a:r>
          </a:p>
          <a:p>
            <a:pPr lvl="1"/>
            <a:r>
              <a:rPr lang="en-US" dirty="0" err="1" smtClean="0"/>
              <a:t>YsRawPngDecoder</a:t>
            </a:r>
            <a:r>
              <a:rPr lang="en-US" dirty="0" smtClean="0"/>
              <a:t> object must be safely destroyed by the destructor.</a:t>
            </a:r>
          </a:p>
          <a:p>
            <a:pPr lvl="1"/>
            <a:r>
              <a:rPr lang="en-US" dirty="0" err="1" smtClean="0"/>
              <a:t>SimpleBitmap</a:t>
            </a:r>
            <a:r>
              <a:rPr lang="en-US" dirty="0" smtClean="0"/>
              <a:t> class is responsible for deleting the array when it is no longer needed.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2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base class has all the information needed.  Therefore, no member variables.</a:t>
            </a:r>
          </a:p>
          <a:p>
            <a:pPr marL="0" indent="0">
              <a:buNone/>
            </a:pPr>
            <a:r>
              <a:rPr lang="en-US" sz="1100" smtClean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char,4&gt;::</a:t>
            </a:r>
            <a:r>
              <a:rPr lang="en-US" sz="1100" dirty="0" err="1">
                <a:latin typeface="Consolas" panose="020B0609020204030204" pitchFamily="49" charset="0"/>
              </a:rPr>
              <a:t>CopyFrom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using </a:t>
            </a:r>
            <a:r>
              <a:rPr lang="en-US" sz="1100" dirty="0" err="1">
                <a:latin typeface="Consolas" panose="020B0609020204030204" pitchFamily="49" charset="0"/>
              </a:rPr>
              <a:t>SimpleBitmapTemplate</a:t>
            </a:r>
            <a:r>
              <a:rPr lang="en-US" sz="1100" dirty="0">
                <a:latin typeface="Consolas" panose="020B0609020204030204" pitchFamily="49" charset="0"/>
              </a:rPr>
              <a:t> &lt;unsigned char,4&gt;::</a:t>
            </a:r>
            <a:r>
              <a:rPr lang="en-US" sz="1100" dirty="0" err="1">
                <a:latin typeface="Consolas" panose="020B0609020204030204" pitchFamily="49" charset="0"/>
              </a:rPr>
              <a:t>MoveFrom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 smtClean="0">
                <a:latin typeface="Consolas" panose="020B0609020204030204" pitchFamily="49" charset="0"/>
              </a:rPr>
              <a:t>(){}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 smtClean="0">
                <a:latin typeface="Consolas" panose="020B0609020204030204" pitchFamily="49" charset="0"/>
              </a:rPr>
              <a:t>(){}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&amp;incoming);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&amp;from);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&amp;&amp;incoming);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&amp;&amp;incoming);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 err="1" smtClean="0">
                <a:latin typeface="Consolas" panose="020B0609020204030204" pitchFamily="49" charset="0"/>
              </a:rPr>
              <a:t>LoadPng</a:t>
            </a:r>
            <a:r>
              <a:rPr lang="en-US" sz="1100" dirty="0" smtClean="0">
                <a:latin typeface="Consolas" panose="020B0609020204030204" pitchFamily="49" charset="0"/>
              </a:rPr>
              <a:t>(</a:t>
            </a:r>
            <a:r>
              <a:rPr lang="en-US" sz="1100" dirty="0" err="1" smtClean="0">
                <a:latin typeface="Consolas" panose="020B0609020204030204" pitchFamily="49" charset="0"/>
              </a:rPr>
              <a:t>const</a:t>
            </a:r>
            <a:r>
              <a:rPr lang="en-US" sz="1100" dirty="0" smtClean="0">
                <a:latin typeface="Consolas" panose="020B0609020204030204" pitchFamily="49" charset="0"/>
              </a:rPr>
              <a:t> </a:t>
            </a:r>
            <a:r>
              <a:rPr lang="en-US" sz="1100" dirty="0">
                <a:latin typeface="Consolas" panose="020B0609020204030204" pitchFamily="49" charset="0"/>
              </a:rPr>
              <a:t>char </a:t>
            </a:r>
            <a:r>
              <a:rPr lang="en-US" sz="1100" dirty="0" err="1">
                <a:latin typeface="Consolas" panose="020B0609020204030204" pitchFamily="49" charset="0"/>
              </a:rPr>
              <a:t>fn</a:t>
            </a:r>
            <a:r>
              <a:rPr lang="en-US" sz="1100" dirty="0">
                <a:latin typeface="Consolas" panose="020B0609020204030204" pitchFamily="49" charset="0"/>
              </a:rPr>
              <a:t>[]);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latin typeface="Consolas" panose="020B0609020204030204" pitchFamily="49" charset="0"/>
              </a:rPr>
              <a:t>bool </a:t>
            </a:r>
            <a:r>
              <a:rPr lang="en-US" sz="1100" dirty="0" err="1">
                <a:latin typeface="Consolas" panose="020B0609020204030204" pitchFamily="49" charset="0"/>
              </a:rPr>
              <a:t>LoadPng</a:t>
            </a:r>
            <a:r>
              <a:rPr lang="en-US" sz="1100" dirty="0"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latin typeface="Consolas" panose="020B0609020204030204" pitchFamily="49" charset="0"/>
              </a:rPr>
              <a:t>fp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&amp;operator=(class </a:t>
            </a:r>
            <a:r>
              <a:rPr lang="en-US" sz="1100" dirty="0" err="1">
                <a:latin typeface="Consolas" panose="020B0609020204030204" pitchFamily="49" charset="0"/>
              </a:rPr>
              <a:t>YsRawPngDecoder</a:t>
            </a:r>
            <a:r>
              <a:rPr lang="en-US" sz="1100" dirty="0">
                <a:latin typeface="Consolas" panose="020B0609020204030204" pitchFamily="49" charset="0"/>
              </a:rPr>
              <a:t> &amp;&amp;</a:t>
            </a:r>
            <a:r>
              <a:rPr lang="en-US" sz="1100" dirty="0" err="1">
                <a:latin typeface="Consolas" panose="020B0609020204030204" pitchFamily="49" charset="0"/>
              </a:rPr>
              <a:t>pngDecoder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MoveFrom</a:t>
            </a:r>
            <a:r>
              <a:rPr lang="en-US" sz="1100" dirty="0">
                <a:latin typeface="Consolas" panose="020B0609020204030204" pitchFamily="49" charset="0"/>
              </a:rPr>
              <a:t>(class </a:t>
            </a:r>
            <a:r>
              <a:rPr lang="en-US" sz="1100" dirty="0" err="1">
                <a:latin typeface="Consolas" panose="020B0609020204030204" pitchFamily="49" charset="0"/>
              </a:rPr>
              <a:t>YsRawPngDecoder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pngDecoder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CutOut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x0,int y0,int </a:t>
            </a:r>
            <a:r>
              <a:rPr lang="en-US" sz="1100" dirty="0" err="1">
                <a:latin typeface="Consolas" panose="020B0609020204030204" pitchFamily="49" charset="0"/>
              </a:rPr>
              <a:t>wid,int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hei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>
                <a:latin typeface="Consolas" panose="020B0609020204030204" pitchFamily="49" charset="0"/>
              </a:rPr>
              <a:t>Clear(unsigned char </a:t>
            </a:r>
            <a:r>
              <a:rPr lang="en-US" sz="1100" dirty="0" err="1">
                <a:latin typeface="Consolas" panose="020B0609020204030204" pitchFamily="49" charset="0"/>
              </a:rPr>
              <a:t>r,unsigned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g,unsigned</a:t>
            </a:r>
            <a:r>
              <a:rPr lang="en-US" sz="1100" dirty="0">
                <a:latin typeface="Consolas" panose="020B0609020204030204" pitchFamily="49" charset="0"/>
              </a:rPr>
              <a:t> char </a:t>
            </a:r>
            <a:r>
              <a:rPr lang="en-US" sz="1100" dirty="0" err="1">
                <a:latin typeface="Consolas" panose="020B0609020204030204" pitchFamily="49" charset="0"/>
              </a:rPr>
              <a:t>b,unsigned</a:t>
            </a:r>
            <a:r>
              <a:rPr lang="en-US" sz="1100" dirty="0">
                <a:latin typeface="Consolas" panose="020B0609020204030204" pitchFamily="49" charset="0"/>
              </a:rPr>
              <a:t> char a);</a:t>
            </a:r>
          </a:p>
          <a:p>
            <a:pPr marL="0" indent="0">
              <a:buNone/>
            </a:pPr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smtClean="0">
                <a:latin typeface="Consolas" panose="020B0609020204030204" pitchFamily="49" charset="0"/>
              </a:rPr>
              <a:t>bool </a:t>
            </a:r>
            <a:r>
              <a:rPr lang="en-US" sz="1100" dirty="0" err="1">
                <a:latin typeface="Consolas" panose="020B0609020204030204" pitchFamily="49" charset="0"/>
              </a:rPr>
              <a:t>SavePng</a:t>
            </a:r>
            <a:r>
              <a:rPr lang="en-US" sz="1100" dirty="0">
                <a:latin typeface="Consolas" panose="020B0609020204030204" pitchFamily="49" charset="0"/>
              </a:rPr>
              <a:t>(FILE *</a:t>
            </a:r>
            <a:r>
              <a:rPr lang="en-US" sz="1100" dirty="0" err="1">
                <a:latin typeface="Consolas" panose="020B0609020204030204" pitchFamily="49" charset="0"/>
              </a:rPr>
              <a:t>fp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endParaRPr lang="en-US" sz="11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>
                <a:latin typeface="Consolas" panose="020B0609020204030204" pitchFamily="49" charset="0"/>
              </a:rPr>
              <a:t>operator==(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bitmapB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    bool </a:t>
            </a:r>
            <a:r>
              <a:rPr lang="en-US" sz="1100" dirty="0">
                <a:latin typeface="Consolas" panose="020B0609020204030204" pitchFamily="49" charset="0"/>
              </a:rPr>
              <a:t>operator!=(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SimpleBitmap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bitmapB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100" dirty="0" smtClean="0">
                <a:latin typeface="Consolas" panose="020B0609020204030204" pitchFamily="49" charset="0"/>
              </a:rPr>
              <a:t>};</a:t>
            </a:r>
            <a:endParaRPr lang="en-US" sz="11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100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009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with Command-Line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Another advantage of running a program from the command line.</a:t>
            </a:r>
          </a:p>
          <a:p>
            <a:r>
              <a:rPr lang="en-US" dirty="0" smtClean="0"/>
              <a:t>Your program can take arguments (or parameter) from the command line.</a:t>
            </a:r>
          </a:p>
          <a:p>
            <a:r>
              <a:rPr lang="en-US" dirty="0"/>
              <a:t>You type like:</a:t>
            </a:r>
            <a:br>
              <a:rPr lang="en-US" dirty="0"/>
            </a:br>
            <a:r>
              <a:rPr lang="en-US" sz="1400" dirty="0" smtClean="0">
                <a:latin typeface="Consolas" panose="020B0609020204030204" pitchFamily="49" charset="0"/>
              </a:rPr>
              <a:t>./</a:t>
            </a:r>
            <a:r>
              <a:rPr lang="en-US" sz="1400" dirty="0" err="1" smtClean="0">
                <a:latin typeface="Consolas" panose="020B0609020204030204" pitchFamily="49" charset="0"/>
              </a:rPr>
              <a:t>test_simplebitmap</a:t>
            </a:r>
            <a:r>
              <a:rPr lang="en-US" sz="1400" dirty="0" smtClean="0">
                <a:latin typeface="Consolas" panose="020B0609020204030204" pitchFamily="49" charset="0"/>
              </a:rPr>
              <a:t>/Release/test_simplebitmap.exe ../</a:t>
            </a:r>
            <a:r>
              <a:rPr lang="en-US" sz="1400" dirty="0" err="1" smtClean="0">
                <a:latin typeface="Consolas" panose="020B0609020204030204" pitchFamily="49" charset="0"/>
              </a:rPr>
              <a:t>basecode</a:t>
            </a:r>
            <a:r>
              <a:rPr lang="en-US" sz="1400" dirty="0" smtClean="0">
                <a:latin typeface="Consolas" panose="020B0609020204030204" pitchFamily="49" charset="0"/>
              </a:rPr>
              <a:t>/foliage.png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smtClean="0"/>
              <a:t>Or, in </a:t>
            </a:r>
            <a:r>
              <a:rPr lang="en-US" dirty="0" err="1" smtClean="0"/>
              <a:t>macOS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sz="1400" dirty="0">
                <a:latin typeface="Consolas" panose="020B0609020204030204" pitchFamily="49" charset="0"/>
              </a:rPr>
              <a:t>./</a:t>
            </a:r>
            <a:r>
              <a:rPr lang="en-US" sz="1400" dirty="0" err="1" smtClean="0">
                <a:latin typeface="Consolas" panose="020B0609020204030204" pitchFamily="49" charset="0"/>
              </a:rPr>
              <a:t>test_simplebitmap.app</a:t>
            </a:r>
            <a:r>
              <a:rPr lang="en-US" sz="1400" dirty="0" smtClean="0">
                <a:latin typeface="Consolas" panose="020B0609020204030204" pitchFamily="49" charset="0"/>
              </a:rPr>
              <a:t>/Contents/</a:t>
            </a:r>
            <a:r>
              <a:rPr lang="en-US" sz="1400" dirty="0" err="1" smtClean="0">
                <a:latin typeface="Consolas" panose="020B0609020204030204" pitchFamily="49" charset="0"/>
              </a:rPr>
              <a:t>MacOS</a:t>
            </a:r>
            <a:r>
              <a:rPr lang="en-US" sz="1400" dirty="0" smtClean="0">
                <a:latin typeface="Consolas" panose="020B0609020204030204" pitchFamily="49" charset="0"/>
              </a:rPr>
              <a:t>/</a:t>
            </a:r>
            <a:r>
              <a:rPr lang="en-US" sz="1400" dirty="0" err="1" smtClean="0">
                <a:latin typeface="Consolas" panose="020B0609020204030204" pitchFamily="49" charset="0"/>
              </a:rPr>
              <a:t>test_simplebitmap</a:t>
            </a:r>
            <a:r>
              <a:rPr lang="en-US" sz="1400" dirty="0" smtClean="0">
                <a:latin typeface="Consolas" panose="020B0609020204030204" pitchFamily="49" charset="0"/>
              </a:rPr>
              <a:t> ../</a:t>
            </a:r>
            <a:r>
              <a:rPr lang="en-US" sz="1400" dirty="0" err="1">
                <a:latin typeface="Consolas" panose="020B0609020204030204" pitchFamily="49" charset="0"/>
              </a:rPr>
              <a:t>basecode</a:t>
            </a:r>
            <a:r>
              <a:rPr lang="en-US" sz="1400" dirty="0">
                <a:latin typeface="Consolas" panose="020B0609020204030204" pitchFamily="49" charset="0"/>
              </a:rPr>
              <a:t>/foliage.png</a:t>
            </a:r>
            <a:endParaRPr lang="en-US" sz="1800" dirty="0">
              <a:latin typeface="Consolas" panose="020B0609020204030204" pitchFamily="49" charset="0"/>
            </a:endParaRPr>
          </a:p>
          <a:p>
            <a:r>
              <a:rPr lang="en-US" dirty="0" smtClean="0"/>
              <a:t>And, you write main function as:</a:t>
            </a:r>
            <a:br>
              <a:rPr lang="en-US" dirty="0" smtClean="0"/>
            </a:br>
            <a:r>
              <a:rPr lang="en-US" sz="1800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main(</a:t>
            </a:r>
            <a:r>
              <a:rPr lang="en-US" sz="1800" dirty="0" err="1" smtClean="0">
                <a:latin typeface="Consolas" panose="020B0609020204030204" pitchFamily="49" charset="0"/>
              </a:rPr>
              <a:t>int</a:t>
            </a:r>
            <a:r>
              <a:rPr lang="en-US" sz="1800" dirty="0" smtClean="0">
                <a:latin typeface="Consolas" panose="020B0609020204030204" pitchFamily="49" charset="0"/>
              </a:rPr>
              <a:t> </a:t>
            </a:r>
            <a:r>
              <a:rPr lang="en-US" sz="1800" dirty="0" err="1" smtClean="0">
                <a:latin typeface="Consolas" panose="020B0609020204030204" pitchFamily="49" charset="0"/>
              </a:rPr>
              <a:t>argc,char</a:t>
            </a:r>
            <a:r>
              <a:rPr lang="en-US" sz="1800" dirty="0" smtClean="0">
                <a:latin typeface="Consolas" panose="020B0609020204030204" pitchFamily="49" charset="0"/>
              </a:rPr>
              <a:t> *</a:t>
            </a:r>
            <a:r>
              <a:rPr lang="en-US" sz="1800" dirty="0" err="1" smtClean="0">
                <a:latin typeface="Consolas" panose="020B0609020204030204" pitchFamily="49" charset="0"/>
              </a:rPr>
              <a:t>argv</a:t>
            </a:r>
            <a:r>
              <a:rPr lang="en-US" sz="1800" dirty="0" smtClean="0">
                <a:latin typeface="Consolas" panose="020B0609020204030204" pitchFamily="49" charset="0"/>
              </a:rPr>
              <a:t>[])</a:t>
            </a:r>
            <a:endParaRPr lang="en-US" dirty="0" smtClean="0">
              <a:latin typeface="Consolas" panose="020B0609020204030204" pitchFamily="49" charset="0"/>
            </a:endParaRPr>
          </a:p>
          <a:p>
            <a:r>
              <a:rPr lang="en-US" dirty="0" smtClean="0"/>
              <a:t>Then you can receive "</a:t>
            </a:r>
            <a:r>
              <a:rPr lang="en-US" dirty="0" smtClean="0">
                <a:latin typeface="Consolas" panose="020B0609020204030204" pitchFamily="49" charset="0"/>
              </a:rPr>
              <a:t>../</a:t>
            </a:r>
            <a:r>
              <a:rPr lang="en-US" dirty="0" err="1" smtClean="0">
                <a:latin typeface="Consolas" panose="020B0609020204030204" pitchFamily="49" charset="0"/>
              </a:rPr>
              <a:t>basecode</a:t>
            </a:r>
            <a:r>
              <a:rPr lang="en-US" dirty="0" smtClean="0">
                <a:latin typeface="Consolas" panose="020B0609020204030204" pitchFamily="49" charset="0"/>
              </a:rPr>
              <a:t>/foliage.png" </a:t>
            </a:r>
            <a:r>
              <a:rPr lang="en-US" dirty="0" smtClean="0"/>
              <a:t>in </a:t>
            </a:r>
            <a:r>
              <a:rPr lang="en-US" dirty="0" err="1" smtClean="0"/>
              <a:t>argv</a:t>
            </a:r>
            <a:r>
              <a:rPr lang="en-US" dirty="0" smtClean="0"/>
              <a:t>[1]. </a:t>
            </a:r>
          </a:p>
          <a:p>
            <a:r>
              <a:rPr lang="en-US" dirty="0" smtClean="0"/>
              <a:t>In Windows, drag &amp; drop to icon does the same thing.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63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 argument to use your program from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Also command argument is useful when you want to use your program from other languages like Python.</a:t>
            </a:r>
          </a:p>
          <a:p>
            <a:r>
              <a:rPr lang="en-US" dirty="0" smtClean="0"/>
              <a:t>You can pass a command parameter by </a:t>
            </a:r>
            <a:r>
              <a:rPr lang="en-US" dirty="0" err="1" smtClean="0"/>
              <a:t>subprocess.Popen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38250" y="2996316"/>
            <a:ext cx="55258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import </a:t>
            </a:r>
            <a:r>
              <a:rPr lang="en-US" sz="1200" dirty="0" err="1">
                <a:latin typeface="Consolas" panose="020B0609020204030204" pitchFamily="49" charset="0"/>
              </a:rPr>
              <a:t>subprocess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 smtClean="0">
                <a:latin typeface="Consolas" panose="020B0609020204030204" pitchFamily="49" charset="0"/>
              </a:rPr>
              <a:t>subprocess.Popen</a:t>
            </a:r>
            <a:r>
              <a:rPr lang="en-US" sz="1200" dirty="0">
                <a:latin typeface="Consolas" panose="020B0609020204030204" pitchFamily="49" charset="0"/>
              </a:rPr>
              <a:t>([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"./</a:t>
            </a:r>
            <a:r>
              <a:rPr lang="en-US" sz="1200" dirty="0" err="1" smtClean="0">
                <a:latin typeface="Consolas" panose="020B0609020204030204" pitchFamily="49" charset="0"/>
              </a:rPr>
              <a:t>test_simplebitmap</a:t>
            </a:r>
            <a:r>
              <a:rPr lang="en-US" sz="1200" dirty="0" smtClean="0">
                <a:latin typeface="Consolas" panose="020B0609020204030204" pitchFamily="49" charset="0"/>
              </a:rPr>
              <a:t>/Release/test_simplebitmap.exe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"../</a:t>
            </a:r>
            <a:r>
              <a:rPr lang="en-US" sz="1200" dirty="0" err="1">
                <a:latin typeface="Consolas" panose="020B0609020204030204" pitchFamily="49" charset="0"/>
              </a:rPr>
              <a:t>basecode</a:t>
            </a:r>
            <a:r>
              <a:rPr lang="en-US" sz="1200" dirty="0">
                <a:latin typeface="Consolas" panose="020B0609020204030204" pitchFamily="49" charset="0"/>
              </a:rPr>
              <a:t>/foliage.png"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]).wait()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8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a Bitmap viewer to test </a:t>
            </a:r>
            <a:r>
              <a:rPr lang="en-US" smtClean="0"/>
              <a:t>the class.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With </a:t>
            </a:r>
            <a:r>
              <a:rPr lang="en-US" dirty="0" err="1" smtClean="0"/>
              <a:t>fslazywindow</a:t>
            </a:r>
            <a:r>
              <a:rPr lang="en-US" dirty="0" smtClean="0"/>
              <a:t> library.</a:t>
            </a:r>
          </a:p>
          <a:p>
            <a:endParaRPr lang="en-US" dirty="0"/>
          </a:p>
          <a:p>
            <a:r>
              <a:rPr lang="en-US" dirty="0" smtClean="0"/>
              <a:t>Let’s identify core data structure.</a:t>
            </a:r>
          </a:p>
          <a:p>
            <a:endParaRPr lang="en-US" dirty="0"/>
          </a:p>
          <a:p>
            <a:r>
              <a:rPr lang="en-US" dirty="0" smtClean="0"/>
              <a:t>What events to be handled?</a:t>
            </a:r>
          </a:p>
          <a:p>
            <a:endParaRPr lang="en-US" dirty="0"/>
          </a:p>
          <a:p>
            <a:r>
              <a:rPr lang="en-US" dirty="0" smtClean="0"/>
              <a:t>What should be done in the event handlers?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25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30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Assignment Operator and Move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know copy assignment operator and constructor.</a:t>
            </a:r>
          </a:p>
          <a:p>
            <a:r>
              <a:rPr lang="en-US" dirty="0" smtClean="0"/>
              <a:t>If you write it correctly, you can write a function like: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Question:  How many times is this bitmap copied?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589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of Copy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Copying a large bitmap itself is costly.</a:t>
            </a:r>
          </a:p>
          <a:p>
            <a:r>
              <a:rPr lang="en-US" dirty="0" smtClean="0"/>
              <a:t>And, the bitmap is copied twice.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19850" y="2425700"/>
            <a:ext cx="26538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life of bmp ends here, it needs to be copied to a temporary variable of </a:t>
            </a:r>
            <a:r>
              <a:rPr lang="en-US" dirty="0" err="1" smtClean="0"/>
              <a:t>SimpleBitmap</a:t>
            </a:r>
            <a:r>
              <a:rPr lang="en-US" dirty="0" smtClean="0"/>
              <a:t> class.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3510529" y="3158836"/>
            <a:ext cx="2890271" cy="255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2915849" y="4386562"/>
            <a:ext cx="607468" cy="549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74474" y="4725466"/>
            <a:ext cx="5454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Then, the temporary variable is copied to the variable that receives the return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759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most of the recent compilers, you can avoid copy by taking advantage of Return Value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can receive a return value upon creation of the variable,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C++ Optimizer will eliminate the copy.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200" y="2146300"/>
            <a:ext cx="5575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latin typeface="Consolas" panose="020B0609020204030204" pitchFamily="49" charset="0"/>
              </a:rPr>
              <a:t>bmp=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(100,100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50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Return Value Optimization (RVO)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Behind the scenes, C++ optimizer splits </a:t>
            </a:r>
            <a:r>
              <a:rPr lang="en-US" dirty="0" err="1" smtClean="0"/>
              <a:t>MakeClearBitmap</a:t>
            </a:r>
            <a:r>
              <a:rPr lang="en-US" dirty="0" smtClean="0"/>
              <a:t> function into two functions: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Then, interpret the function call into: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This is done automatically by the optimizer.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6550" y="1911350"/>
            <a:ext cx="557530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wid,int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>
                <a:latin typeface="Consolas" panose="020B0609020204030204" pitchFamily="49" charset="0"/>
              </a:rPr>
              <a:t>hei</a:t>
            </a:r>
            <a:r>
              <a:rPr lang="en-US" sz="12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	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</a:t>
            </a:r>
            <a:r>
              <a:rPr lang="en-US" sz="1200" dirty="0" err="1" smtClean="0">
                <a:latin typeface="Consolas" panose="020B0609020204030204" pitchFamily="49" charset="0"/>
              </a:rPr>
              <a:t>bmp,wid,hei</a:t>
            </a:r>
            <a:r>
              <a:rPr lang="en-US" sz="12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	return bmp;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void 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</a:t>
            </a:r>
            <a:r>
              <a:rPr lang="en-US" sz="1200" dirty="0" err="1" smtClean="0">
                <a:latin typeface="Consolas" panose="020B0609020204030204" pitchFamily="49" charset="0"/>
              </a:rPr>
              <a:t>SimpleBitmap</a:t>
            </a:r>
            <a:r>
              <a:rPr lang="en-US" sz="1200" dirty="0" smtClean="0">
                <a:latin typeface="Consolas" panose="020B0609020204030204" pitchFamily="49" charset="0"/>
              </a:rPr>
              <a:t> &amp;</a:t>
            </a:r>
            <a:r>
              <a:rPr lang="en-US" sz="1200" dirty="0" err="1" smtClean="0">
                <a:latin typeface="Consolas" panose="020B0609020204030204" pitchFamily="49" charset="0"/>
              </a:rPr>
              <a:t>bmp,int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latin typeface="Consolas" panose="020B0609020204030204" pitchFamily="49" charset="0"/>
              </a:rPr>
              <a:t>wid,int</a:t>
            </a:r>
            <a:r>
              <a:rPr lang="en-US" sz="1200" dirty="0" smtClean="0"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latin typeface="Consolas" panose="020B0609020204030204" pitchFamily="49" charset="0"/>
              </a:rPr>
              <a:t>hei</a:t>
            </a:r>
            <a:r>
              <a:rPr lang="en-US" sz="12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bmp.Create</a:t>
            </a:r>
            <a:r>
              <a:rPr lang="en-US" sz="1200" dirty="0">
                <a:latin typeface="Consolas" panose="020B0609020204030204" pitchFamily="49" charset="0"/>
              </a:rPr>
              <a:t>(</a:t>
            </a:r>
            <a:r>
              <a:rPr lang="en-US" sz="1200" dirty="0" err="1">
                <a:latin typeface="Consolas" panose="020B0609020204030204" pitchFamily="49" charset="0"/>
              </a:rPr>
              <a:t>wid,hei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bmp.Clear</a:t>
            </a:r>
            <a:r>
              <a:rPr lang="en-US" sz="1200" dirty="0">
                <a:latin typeface="Consolas" panose="020B0609020204030204" pitchFamily="49" charset="0"/>
              </a:rPr>
              <a:t>(0,0,0,0);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return bmp</a:t>
            </a:r>
            <a:r>
              <a:rPr lang="en-US" sz="12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06500" y="4889500"/>
            <a:ext cx="557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latin typeface="Consolas" panose="020B0609020204030204" pitchFamily="49" charset="0"/>
              </a:rPr>
              <a:t>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 smtClean="0">
                <a:latin typeface="Consolas" panose="020B0609020204030204" pitchFamily="49" charset="0"/>
              </a:rPr>
              <a:t>MakeClearBitmap</a:t>
            </a:r>
            <a:r>
              <a:rPr lang="en-US" sz="1200" dirty="0" smtClean="0">
                <a:latin typeface="Consolas" panose="020B0609020204030204" pitchFamily="49" charset="0"/>
              </a:rPr>
              <a:t>(bmp,100,100</a:t>
            </a:r>
            <a:r>
              <a:rPr lang="en-US" sz="1200" dirty="0">
                <a:latin typeface="Consolas" panose="020B0609020204030204" pitchFamily="49" charset="0"/>
              </a:rPr>
              <a:t>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736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Rare but potential problem of RVO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are expecting that the copy constructor or move constructor is called, that will not happen.</a:t>
            </a:r>
          </a:p>
          <a:p>
            <a:r>
              <a:rPr lang="en-US" dirty="0" smtClean="0"/>
              <a:t>Actually, when I was testing my move assignment operator, I was caught by surprise because I didn’t see console output that I was supposed to see.</a:t>
            </a:r>
          </a:p>
          <a:p>
            <a:r>
              <a:rPr lang="en-US" dirty="0" smtClean="0"/>
              <a:t>If you want to force copy assignment operator or move assignment operator, you must write: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84350" y="4057650"/>
            <a:ext cx="5575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i="1" dirty="0" smtClean="0">
                <a:solidFill>
                  <a:srgbClr val="00B050"/>
                </a:solidFill>
                <a:latin typeface="Consolas" panose="020B0609020204030204" pitchFamily="49" charset="0"/>
              </a:rPr>
              <a:t>(Somewhere in another function)</a:t>
            </a:r>
            <a:endParaRPr lang="en-US" sz="1200" i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	</a:t>
            </a:r>
            <a:r>
              <a:rPr lang="en-US" sz="1200" dirty="0" err="1">
                <a:latin typeface="Consolas" panose="020B0609020204030204" pitchFamily="49" charset="0"/>
              </a:rPr>
              <a:t>SimpleBitmap</a:t>
            </a:r>
            <a:r>
              <a:rPr lang="en-US" sz="1200" dirty="0">
                <a:latin typeface="Consolas" panose="020B0609020204030204" pitchFamily="49" charset="0"/>
              </a:rPr>
              <a:t> bmp;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	bmp=</a:t>
            </a:r>
            <a:r>
              <a:rPr lang="en-US" sz="1200" dirty="0" err="1">
                <a:latin typeface="Consolas" panose="020B0609020204030204" pitchFamily="49" charset="0"/>
              </a:rPr>
              <a:t>MakeClearBitmap</a:t>
            </a:r>
            <a:r>
              <a:rPr lang="en-US" sz="1200" dirty="0">
                <a:latin typeface="Consolas" panose="020B0609020204030204" pitchFamily="49" charset="0"/>
              </a:rPr>
              <a:t>(100,100);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34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Or, you can implement and explicitly use </a:t>
            </a:r>
            <a:r>
              <a:rPr lang="en-US" dirty="0" err="1" smtClean="0"/>
              <a:t>MoveFrom</a:t>
            </a:r>
            <a:r>
              <a:rPr lang="en-US" dirty="0" smtClean="0"/>
              <a:t>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implement </a:t>
            </a:r>
            <a:r>
              <a:rPr lang="en-US" dirty="0" err="1" smtClean="0"/>
              <a:t>MoveFrom</a:t>
            </a:r>
            <a:r>
              <a:rPr lang="en-US" dirty="0" smtClean="0"/>
              <a:t> function now.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17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R-value Reference and Move Assignment Operator and Move Constructor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C++11 introduced a new way to take more advantages of the moving.</a:t>
            </a:r>
          </a:p>
          <a:p>
            <a:r>
              <a:rPr lang="en-US" dirty="0" smtClean="0"/>
              <a:t>Concept of L-value and R-value:</a:t>
            </a:r>
          </a:p>
          <a:p>
            <a:pPr lvl="1"/>
            <a:r>
              <a:rPr lang="en-US" dirty="0" smtClean="0"/>
              <a:t>L-value:  The value on the left of = sign, or the copy destination.  The variable that receives a value.</a:t>
            </a:r>
          </a:p>
          <a:p>
            <a:pPr lvl="1"/>
            <a:r>
              <a:rPr lang="en-US" dirty="0" smtClean="0"/>
              <a:t>R-value:  The value that CANNOT be an L-value.  A variable that is thrown away as soon as the value is consumed.  Return-by-value from a function is always an R-value.</a:t>
            </a:r>
          </a:p>
          <a:p>
            <a:r>
              <a:rPr lang="en-US" dirty="0" smtClean="0"/>
              <a:t>You can identify the situation of R-value and use </a:t>
            </a:r>
            <a:r>
              <a:rPr lang="en-US" dirty="0" err="1" smtClean="0"/>
              <a:t>MoveFrom</a:t>
            </a:r>
            <a:r>
              <a:rPr lang="en-US" dirty="0" smtClean="0"/>
              <a:t> function, or</a:t>
            </a:r>
          </a:p>
          <a:p>
            <a:r>
              <a:rPr lang="en-US" dirty="0" smtClean="0"/>
              <a:t>You can let C++ compiler identify R-value and use Move Assignment Operator or Move Constructor.</a:t>
            </a:r>
          </a:p>
        </p:txBody>
      </p:sp>
    </p:spTree>
    <p:extLst>
      <p:ext uri="{BB962C8B-B14F-4D97-AF65-F5344CB8AC3E}">
        <p14:creationId xmlns:p14="http://schemas.microsoft.com/office/powerpoint/2010/main" val="1267192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Move Constructor and Move Assignment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constructor or an assignment operator that takes an R-value reference:</a:t>
            </a:r>
            <a:br>
              <a:rPr lang="en-US" dirty="0" smtClean="0"/>
            </a:br>
            <a:r>
              <a:rPr lang="en-US" dirty="0" smtClean="0"/>
              <a:t>		</a:t>
            </a:r>
            <a:r>
              <a:rPr lang="en-US" dirty="0" err="1" smtClean="0">
                <a:latin typeface="Consolas" panose="020B0609020204030204" pitchFamily="49" charset="0"/>
              </a:rPr>
              <a:t>SimpleBitmap</a:t>
            </a:r>
            <a:r>
              <a:rPr lang="en-US" dirty="0" smtClean="0">
                <a:latin typeface="Consolas" panose="020B0609020204030204" pitchFamily="49" charset="0"/>
              </a:rPr>
              <a:t> &amp;&amp;incoming</a:t>
            </a:r>
          </a:p>
          <a:p>
            <a:r>
              <a:rPr lang="en-US" dirty="0" smtClean="0"/>
              <a:t>Use two &amp; signs to make it an R-value reference.</a:t>
            </a:r>
          </a:p>
          <a:p>
            <a:r>
              <a:rPr lang="en-US" dirty="0" smtClean="0"/>
              <a:t>Whenever C++ compiler identifies that an R-value is substituted, the compiler will use move assignment operator or move constructor, instead of copy assignment operator or copy constructor.</a:t>
            </a:r>
          </a:p>
          <a:p>
            <a:r>
              <a:rPr lang="en-US" dirty="0" smtClean="0"/>
              <a:t>Can save substantial computational time for copying.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39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 and 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Typical implementation of </a:t>
            </a:r>
            <a:r>
              <a:rPr lang="en-US" dirty="0" err="1" smtClean="0"/>
              <a:t>std</a:t>
            </a:r>
            <a:r>
              <a:rPr lang="en-US" dirty="0" smtClean="0"/>
              <a:t>::</a:t>
            </a:r>
            <a:r>
              <a:rPr lang="en-US" dirty="0" err="1" smtClean="0"/>
              <a:t>unordered_set</a:t>
            </a:r>
            <a:r>
              <a:rPr lang="en-US" dirty="0" smtClean="0"/>
              <a:t>.</a:t>
            </a:r>
          </a:p>
          <a:p>
            <a:r>
              <a:rPr lang="en-US" dirty="0" smtClean="0"/>
              <a:t>Motivating example: Non-Repeating Random Numbers without Shuffling.</a:t>
            </a:r>
          </a:p>
          <a:p>
            <a:r>
              <a:rPr lang="en-US" dirty="0" smtClean="0"/>
              <a:t>Shuffling method is O(N), which is good.</a:t>
            </a:r>
          </a:p>
          <a:p>
            <a:r>
              <a:rPr lang="en-US" dirty="0" smtClean="0"/>
              <a:t>When you need like 1000 random numbers in which no number appears more than once, Shuffling is good.</a:t>
            </a:r>
          </a:p>
          <a:p>
            <a:r>
              <a:rPr lang="en-US" dirty="0" smtClean="0"/>
              <a:t>What if you need 1000 random numbers, absolutely guaranteed not to have any number appearing more than once, but the range of the number can be between 0 and 2 billion?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688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may not want to prepare 2 billion sequence of numbers and shuffle them.</a:t>
            </a:r>
          </a:p>
          <a:p>
            <a:r>
              <a:rPr lang="en-US" dirty="0" smtClean="0"/>
              <a:t>Rather, you want to create one, and check if the number is already taken. Re-create a number until it is not used yet.</a:t>
            </a:r>
          </a:p>
          <a:p>
            <a:r>
              <a:rPr lang="en-US" dirty="0" smtClean="0"/>
              <a:t>If you check a new random number against all existing numbers every time, it goes O(N</a:t>
            </a:r>
            <a:r>
              <a:rPr lang="en-US" baseline="30000" dirty="0" smtClean="0"/>
              <a:t>2</a:t>
            </a:r>
            <a:r>
              <a:rPr lang="en-US" dirty="0" smtClean="0"/>
              <a:t>)</a:t>
            </a:r>
          </a:p>
          <a:p>
            <a:r>
              <a:rPr lang="en-US" dirty="0" smtClean="0"/>
              <a:t>You need a quick way of checking if the number is already used or not.</a:t>
            </a:r>
          </a:p>
          <a:p>
            <a:r>
              <a:rPr lang="en-US" dirty="0" smtClean="0"/>
              <a:t>Solution is a simple hash set.  (I call it simple, because it is not general.)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860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order-insensitive group of elements.</a:t>
            </a:r>
          </a:p>
          <a:p>
            <a:r>
              <a:rPr lang="en-US" dirty="0" smtClean="0"/>
              <a:t>Example: a group of integer numbers.  You want to know whether the number is in the group or not, </a:t>
            </a:r>
            <a:r>
              <a:rPr lang="en-US" u="sng" dirty="0" smtClean="0"/>
              <a:t>quickly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With a binary-tree, you can do it with O(</a:t>
            </a:r>
            <a:r>
              <a:rPr lang="en-US" dirty="0" err="1" smtClean="0"/>
              <a:t>logN</a:t>
            </a:r>
            <a:r>
              <a:rPr lang="en-US" dirty="0" smtClean="0"/>
              <a:t>) time and O(N) storage space.</a:t>
            </a:r>
          </a:p>
          <a:p>
            <a:r>
              <a:rPr lang="en-US" dirty="0" smtClean="0"/>
              <a:t>Hash Set can do it with O(1) time and O(N) storage space.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326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exactly is 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Hash Set / Hash Table is nothing more than a table, which is a 2-dimensional array.</a:t>
            </a:r>
          </a:p>
          <a:p>
            <a:endParaRPr lang="en-US" dirty="0" smtClean="0"/>
          </a:p>
          <a:p>
            <a:r>
              <a:rPr lang="en-US" dirty="0" smtClean="0"/>
              <a:t>Don't make it difficult in yourself!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A slight twist is that each row can have different length from other rows.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81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set of unsigned integers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Imagine you need to store an order-insensitive set of unsigned integers.</a:t>
            </a:r>
          </a:p>
          <a:p>
            <a:r>
              <a:rPr lang="en-US" dirty="0" smtClean="0"/>
              <a:t>If you use a </a:t>
            </a:r>
            <a:r>
              <a:rPr lang="en-US" dirty="0" err="1" smtClean="0"/>
              <a:t>std</a:t>
            </a:r>
            <a:r>
              <a:rPr lang="en-US" dirty="0" smtClean="0"/>
              <a:t>::vector, what’s the order of computation to check if a number is included in the set?</a:t>
            </a:r>
          </a:p>
          <a:p>
            <a:r>
              <a:rPr lang="en-US" dirty="0" smtClean="0"/>
              <a:t>How about a binary-tree?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948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set of numbers – what if you have an infinitely long table?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have an infinitely long table of 1/0, what is the order of computation for checking if a number is included?</a:t>
            </a:r>
          </a:p>
          <a:p>
            <a:endParaRPr lang="en-US" dirty="0"/>
          </a:p>
          <a:p>
            <a:r>
              <a:rPr lang="en-US" dirty="0" smtClean="0"/>
              <a:t>Bad news:  Looking-up is fast, but it takes infinity to initialize such a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597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Hash Set:  2D table of elements organized based on the hash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314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Example: A hash set that can check if an unsigned integer is already included in the set.</a:t>
            </a:r>
          </a:p>
          <a:p>
            <a:r>
              <a:rPr lang="en-US" dirty="0" smtClean="0"/>
              <a:t>Need a table, or an array of variable-length arrays.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9237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/>
              <a:t>After adding 41, 67, 34, 0, 69, 24, 78, 58, 62, 64, 5, 45, 81, 27, 61, 91, 95, 42, 27, 36, </a:t>
            </a:r>
            <a:r>
              <a:rPr lang="en-US" dirty="0" smtClean="0"/>
              <a:t>the table looks like:</a:t>
            </a:r>
            <a:br>
              <a:rPr lang="en-US" dirty="0" smtClean="0"/>
            </a:br>
            <a:r>
              <a:rPr lang="en-US" dirty="0" smtClean="0"/>
              <a:t>(* 27 is added twice, but the number can appear only once in the table.)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2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To check if 23 is included in the set, you can only check elements included in the row of 23%7=2.</a:t>
            </a:r>
          </a:p>
          <a:p>
            <a:r>
              <a:rPr lang="en-US" dirty="0" smtClean="0"/>
              <a:t>In this case, 23 is not included in the set.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65355" y="4075611"/>
            <a:ext cx="6277456" cy="505098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68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Set: Simple case – Hash Code==Hash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655135"/>
          </a:xfrm>
        </p:spPr>
        <p:txBody>
          <a:bodyPr/>
          <a:lstStyle/>
          <a:p>
            <a:r>
              <a:rPr lang="en-US" dirty="0" smtClean="0"/>
              <a:t>To check if 69 is included in the set, you can only check elements included in the row of 69%7=6.</a:t>
            </a:r>
          </a:p>
          <a:p>
            <a:r>
              <a:rPr lang="en-US" dirty="0" smtClean="0"/>
              <a:t>In this case, 69 is found after checking against three integers.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2161953" y="3029098"/>
          <a:ext cx="6096003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  <a:gridCol w="51554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Hash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Code%7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Left Brace 4"/>
          <p:cNvSpPr/>
          <p:nvPr/>
        </p:nvSpPr>
        <p:spPr>
          <a:xfrm>
            <a:off x="1985611" y="3391786"/>
            <a:ext cx="79744" cy="263155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9978" y="4508202"/>
            <a:ext cx="1547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size=7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2065355" y="5556067"/>
            <a:ext cx="6277456" cy="505098"/>
          </a:xfrm>
          <a:prstGeom prst="round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160538" y="5556065"/>
            <a:ext cx="500031" cy="513809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have N elements to look up, make a table with N/C rows (C is a small number compared to N).</a:t>
            </a:r>
          </a:p>
          <a:p>
            <a:r>
              <a:rPr lang="en-US" dirty="0" smtClean="0"/>
              <a:t>You can find an element in C steps on average.</a:t>
            </a:r>
          </a:p>
          <a:p>
            <a:r>
              <a:rPr lang="en-US" dirty="0" smtClean="0"/>
              <a:t>Hash Set uses O(N) storage space and reduces the look-up time to O(1).</a:t>
            </a:r>
          </a:p>
          <a:p>
            <a:r>
              <a:rPr lang="en-US" dirty="0" smtClean="0"/>
              <a:t>By doing this, O(N</a:t>
            </a:r>
            <a:r>
              <a:rPr lang="en-US" baseline="30000" dirty="0" smtClean="0"/>
              <a:t>2</a:t>
            </a:r>
            <a:r>
              <a:rPr lang="en-US" dirty="0" smtClean="0"/>
              <a:t>) computation can be reduced to O(N).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699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540" y="79745"/>
            <a:ext cx="3801041" cy="670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ifndef</a:t>
            </a:r>
            <a:r>
              <a:rPr lang="en-US" sz="1000" dirty="0">
                <a:latin typeface="Lucida Console" panose="020B0609040504020204" pitchFamily="49" charset="0"/>
              </a:rPr>
              <a:t> HASHSET_IS_INCLUDED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#define HASHSET_IS_INCLUDED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&lt;vector&gt;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class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enum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MINIMUM_TABLE_SIZE=7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 &gt; table;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public</a:t>
            </a:r>
            <a:r>
              <a:rPr lang="en-US" sz="10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~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Add(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bool 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&gt;::~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(MINIMUM_HASH_SIZE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}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59489"/>
            <a:ext cx="4647426" cy="5170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&gt;::Add(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key%table.size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if(e==key)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return;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push_back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++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bool </a:t>
            </a:r>
            <a:r>
              <a:rPr lang="en-US" sz="1000" dirty="0" err="1">
                <a:latin typeface="Lucida Console" panose="020B0609040504020204" pitchFamily="49" charset="0"/>
              </a:rPr>
              <a:t>SimpleHashSet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key%table.size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if(e==key)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return true;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return false;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#</a:t>
            </a:r>
            <a:r>
              <a:rPr lang="en-US" sz="1000" dirty="0" err="1">
                <a:latin typeface="Lucida Console" panose="020B0609040504020204" pitchFamily="49" charset="0"/>
              </a:rPr>
              <a:t>endif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0808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Deleting is just a matter of finding a number and deleting from </a:t>
            </a:r>
            <a:r>
              <a:rPr lang="en-US" dirty="0" err="1" smtClean="0"/>
              <a:t>std</a:t>
            </a:r>
            <a:r>
              <a:rPr lang="en-US" dirty="0" smtClean="0"/>
              <a:t>::vector.</a:t>
            </a:r>
          </a:p>
          <a:p>
            <a:r>
              <a:rPr lang="en-US" dirty="0" smtClean="0"/>
              <a:t>The question can be how can I delete an element from </a:t>
            </a:r>
            <a:r>
              <a:rPr lang="en-US" dirty="0" err="1" smtClean="0"/>
              <a:t>std</a:t>
            </a:r>
            <a:r>
              <a:rPr lang="en-US" dirty="0" smtClean="0"/>
              <a:t>::vector quickly?</a:t>
            </a:r>
          </a:p>
          <a:p>
            <a:r>
              <a:rPr lang="en-US" dirty="0" smtClean="0"/>
              <a:t>Would you do this?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65960" y="331927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1272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948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0624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65960" y="4166616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1272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5948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0624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2" name="Explosion 1 11"/>
          <p:cNvSpPr/>
          <p:nvPr/>
        </p:nvSpPr>
        <p:spPr>
          <a:xfrm>
            <a:off x="2642616" y="4158575"/>
            <a:ext cx="594360" cy="377373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965960" y="5013960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459480" y="5005919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206240" y="5005919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8" name="Right Arrow 17"/>
          <p:cNvSpPr/>
          <p:nvPr/>
        </p:nvSpPr>
        <p:spPr>
          <a:xfrm rot="10800000">
            <a:off x="2821331" y="5094461"/>
            <a:ext cx="236930" cy="150904"/>
          </a:xfrm>
          <a:prstGeom prst="rightArrow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939645" y="585544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712720" y="585142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459480" y="585142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3" name="Down Arrow 22"/>
          <p:cNvSpPr/>
          <p:nvPr/>
        </p:nvSpPr>
        <p:spPr>
          <a:xfrm>
            <a:off x="3153866" y="3832963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3153866" y="4660532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3153866" y="5499835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440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(Faster method)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 advantage of the order insensitivity.</a:t>
            </a:r>
          </a:p>
          <a:p>
            <a:r>
              <a:rPr lang="en-US" dirty="0" smtClean="0"/>
              <a:t>Moving the last element of the array to the element which is deleted.</a:t>
            </a:r>
          </a:p>
          <a:p>
            <a:r>
              <a:rPr lang="en-US" dirty="0" smtClean="0"/>
              <a:t>Shorten the length of the array by one.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65960" y="331927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1272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34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5948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06240" y="3311231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965960" y="4166616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1272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45948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206240" y="415857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>
            <a:off x="3153866" y="3832963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3153866" y="4660532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2"/>
          <p:cNvSpPr/>
          <p:nvPr/>
        </p:nvSpPr>
        <p:spPr>
          <a:xfrm>
            <a:off x="3017520" y="3090672"/>
            <a:ext cx="1371600" cy="219456"/>
          </a:xfrm>
          <a:custGeom>
            <a:avLst/>
            <a:gdLst>
              <a:gd name="connsiteX0" fmla="*/ 1371600 w 1371600"/>
              <a:gd name="connsiteY0" fmla="*/ 219456 h 219456"/>
              <a:gd name="connsiteX1" fmla="*/ 731520 w 1371600"/>
              <a:gd name="connsiteY1" fmla="*/ 0 h 219456"/>
              <a:gd name="connsiteX2" fmla="*/ 0 w 1371600"/>
              <a:gd name="connsiteY2" fmla="*/ 219456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219456">
                <a:moveTo>
                  <a:pt x="1371600" y="219456"/>
                </a:moveTo>
                <a:cubicBezTo>
                  <a:pt x="1165860" y="109728"/>
                  <a:pt x="960120" y="0"/>
                  <a:pt x="731520" y="0"/>
                </a:cubicBezTo>
                <a:cubicBezTo>
                  <a:pt x="502920" y="0"/>
                  <a:pt x="251460" y="109728"/>
                  <a:pt x="0" y="219456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965960" y="5000805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71272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45948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206240" y="4992764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28" name="Explosion 1 27"/>
          <p:cNvSpPr/>
          <p:nvPr/>
        </p:nvSpPr>
        <p:spPr>
          <a:xfrm>
            <a:off x="4129633" y="4984723"/>
            <a:ext cx="594360" cy="377373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>
            <a:off x="3153866" y="5496460"/>
            <a:ext cx="305614" cy="2270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1965960" y="5836733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41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712720" y="582869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62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3459480" y="5828692"/>
            <a:ext cx="44114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smtClean="0"/>
              <a:t>69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039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1"/>
            <a:ext cx="8229600" cy="210701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 this case, the order in which the keys are stored in the table doesn’t matter.  You can delete an element &amp;e in the </a:t>
            </a:r>
            <a:r>
              <a:rPr lang="en-US" dirty="0" err="1" smtClean="0"/>
              <a:t>std</a:t>
            </a:r>
            <a:r>
              <a:rPr lang="en-US" dirty="0" smtClean="0"/>
              <a:t>::vector by: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Overwrite e with the last element in the </a:t>
            </a:r>
            <a:r>
              <a:rPr lang="en-US" dirty="0" err="1" smtClean="0"/>
              <a:t>std</a:t>
            </a:r>
            <a:r>
              <a:rPr lang="en-US" dirty="0" smtClean="0"/>
              <a:t>::vector.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Shrink the size of the array by one.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45577" y="2844210"/>
            <a:ext cx="5339923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template &lt;class 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void </a:t>
            </a:r>
            <a:r>
              <a:rPr lang="en-US" sz="1400" dirty="0" err="1">
                <a:latin typeface="Lucida Console" panose="020B0609040504020204" pitchFamily="49" charset="0"/>
              </a:rPr>
              <a:t>SimpleHashSet</a:t>
            </a:r>
            <a:r>
              <a:rPr lang="en-US" sz="1400" dirty="0">
                <a:latin typeface="Lucida Console" panose="020B0609040504020204" pitchFamily="49" charset="0"/>
              </a:rPr>
              <a:t>&lt;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&gt;::Delete(</a:t>
            </a:r>
            <a:r>
              <a:rPr lang="en-US" sz="1400" dirty="0" err="1">
                <a:latin typeface="Lucida Console" panose="020B0609040504020204" pitchFamily="49" charset="0"/>
              </a:rPr>
              <a:t>KeyType</a:t>
            </a:r>
            <a:r>
              <a:rPr lang="en-US" sz="1400" dirty="0">
                <a:latin typeface="Lucida Console" panose="020B0609040504020204" pitchFamily="49" charset="0"/>
              </a:rPr>
              <a:t> key)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auto </a:t>
            </a:r>
            <a:r>
              <a:rPr lang="en-US" sz="1400" dirty="0" err="1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=</a:t>
            </a:r>
            <a:r>
              <a:rPr lang="en-US" sz="1400" dirty="0" err="1">
                <a:latin typeface="Lucida Console" panose="020B0609040504020204" pitchFamily="49" charset="0"/>
              </a:rPr>
              <a:t>key%table.size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for(auto </a:t>
            </a:r>
            <a:r>
              <a:rPr lang="en-US" sz="1400" dirty="0">
                <a:latin typeface="Lucida Console" panose="020B0609040504020204" pitchFamily="49" charset="0"/>
              </a:rPr>
              <a:t>&amp;e : table[</a:t>
            </a:r>
            <a:r>
              <a:rPr lang="en-US" sz="1400" dirty="0" err="1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{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if(e</a:t>
            </a:r>
            <a:r>
              <a:rPr lang="en-US" sz="14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{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e=table[</a:t>
            </a:r>
            <a:r>
              <a:rPr lang="en-US" sz="1400" dirty="0" err="1" smtClean="0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table[</a:t>
            </a:r>
            <a:r>
              <a:rPr lang="en-US" sz="1400" dirty="0" err="1" smtClean="0">
                <a:latin typeface="Lucida Console" panose="020B0609040504020204" pitchFamily="49" charset="0"/>
              </a:rPr>
              <a:t>idx</a:t>
            </a:r>
            <a:r>
              <a:rPr lang="en-US" sz="1400" dirty="0">
                <a:latin typeface="Lucida Console" panose="020B0609040504020204" pitchFamily="49" charset="0"/>
              </a:rPr>
              <a:t>].</a:t>
            </a:r>
            <a:r>
              <a:rPr lang="en-US" sz="1400" dirty="0" err="1">
                <a:latin typeface="Lucida Console" panose="020B0609040504020204" pitchFamily="49" charset="0"/>
              </a:rPr>
              <a:t>pop_back</a:t>
            </a:r>
            <a:r>
              <a:rPr lang="en-US" sz="14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14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    }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 smtClean="0">
                <a:latin typeface="Lucida Console" panose="020B0609040504020204" pitchFamily="49" charset="0"/>
              </a:rPr>
              <a:t>    }</a:t>
            </a:r>
            <a:endParaRPr lang="en-US" sz="1400" dirty="0">
              <a:latin typeface="Lucida Console" panose="020B0609040504020204" pitchFamily="49" charset="0"/>
            </a:endParaRPr>
          </a:p>
          <a:p>
            <a:r>
              <a:rPr lang="en-US" sz="1400" dirty="0">
                <a:latin typeface="Lucida Console" panose="020B0609040504020204" pitchFamily="49" charset="0"/>
              </a:rPr>
              <a:t>}</a:t>
            </a:r>
          </a:p>
          <a:p>
            <a:endParaRPr lang="en-US" sz="1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218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Re-sizing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the number of elements in the table exceeds certain count, the table may need to grow to stay efficient.</a:t>
            </a:r>
          </a:p>
          <a:p>
            <a:r>
              <a:rPr lang="en-US" dirty="0" smtClean="0"/>
              <a:t>For example, if you want to keep the average element count per row to four, grow the table size when the total element count exceeds four times the table size.</a:t>
            </a:r>
          </a:p>
          <a:p>
            <a:r>
              <a:rPr lang="en-US" dirty="0" smtClean="0"/>
              <a:t>An easy option is to move all elements to a separate array, resize the table, and then put them back.</a:t>
            </a:r>
          </a:p>
        </p:txBody>
      </p:sp>
    </p:spTree>
    <p:extLst>
      <p:ext uri="{BB962C8B-B14F-4D97-AF65-F5344CB8AC3E}">
        <p14:creationId xmlns:p14="http://schemas.microsoft.com/office/powerpoint/2010/main" val="2465252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288" y="185400"/>
            <a:ext cx="5763116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template &lt;class 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SimpleHashSet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&gt;::Print(void) </a:t>
            </a:r>
            <a:r>
              <a:rPr lang="en-US" sz="1200" dirty="0" err="1">
                <a:latin typeface="Lucida Console" panose="020B0609040504020204" pitchFamily="49" charset="0"/>
              </a:rPr>
              <a:t>const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int</a:t>
            </a:r>
            <a:r>
              <a:rPr lang="en-US" sz="1200" dirty="0" smtClean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=0;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("[%3d]",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2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 %d",(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)e);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printf</a:t>
            </a:r>
            <a:r>
              <a:rPr lang="en-US" sz="1200" dirty="0">
                <a:latin typeface="Lucida Console" panose="020B0609040504020204" pitchFamily="49" charset="0"/>
              </a:rPr>
              <a:t>("\n");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++</a:t>
            </a:r>
            <a:r>
              <a:rPr lang="en-US" sz="1200" dirty="0" err="1">
                <a:latin typeface="Lucida Console" panose="020B0609040504020204" pitchFamily="49" charset="0"/>
              </a:rPr>
              <a:t>idx</a:t>
            </a:r>
            <a:r>
              <a:rPr lang="en-US" sz="12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template &lt;class 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void </a:t>
            </a:r>
            <a:r>
              <a:rPr lang="en-US" sz="1200" dirty="0" err="1">
                <a:latin typeface="Lucida Console" panose="020B0609040504020204" pitchFamily="49" charset="0"/>
              </a:rPr>
              <a:t>SimpleHashSet</a:t>
            </a:r>
            <a:r>
              <a:rPr lang="en-US" sz="1200" dirty="0">
                <a:latin typeface="Lucida Console" panose="020B0609040504020204" pitchFamily="49" charset="0"/>
              </a:rPr>
              <a:t>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&gt;::Resize(long </a:t>
            </a:r>
            <a:r>
              <a:rPr lang="en-US" sz="1200" dirty="0" err="1">
                <a:latin typeface="Lucida Console" panose="020B0609040504020204" pitchFamily="49" charset="0"/>
              </a:rPr>
              <a:t>long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int</a:t>
            </a:r>
            <a:r>
              <a:rPr lang="en-US" sz="1200" dirty="0"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latin typeface="Lucida Console" panose="020B0609040504020204" pitchFamily="49" charset="0"/>
              </a:rPr>
              <a:t>tableSize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std</a:t>
            </a:r>
            <a:r>
              <a:rPr lang="en-US" sz="1200" dirty="0">
                <a:latin typeface="Lucida Console" panose="020B0609040504020204" pitchFamily="49" charset="0"/>
              </a:rPr>
              <a:t>::vector &lt;</a:t>
            </a:r>
            <a:r>
              <a:rPr lang="en-US" sz="1200" dirty="0" err="1">
                <a:latin typeface="Lucida Console" panose="020B0609040504020204" pitchFamily="49" charset="0"/>
              </a:rPr>
              <a:t>KeyType</a:t>
            </a:r>
            <a:r>
              <a:rPr lang="en-US" sz="1200" dirty="0">
                <a:latin typeface="Lucida Console" panose="020B0609040504020204" pitchFamily="49" charset="0"/>
              </a:rPr>
              <a:t>&gt; buffer;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2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buffer.push_back</a:t>
            </a:r>
            <a:r>
              <a:rPr lang="en-US" sz="1200" dirty="0" smtClean="0">
                <a:latin typeface="Lucida Console" panose="020B0609040504020204" pitchFamily="49" charset="0"/>
              </a:rPr>
              <a:t>(e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</a:t>
            </a:r>
            <a:r>
              <a:rPr lang="en-US" sz="12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2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</a:t>
            </a:r>
            <a:r>
              <a:rPr lang="en-US" sz="12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200" dirty="0" smtClean="0">
                <a:latin typeface="Lucida Console" panose="020B0609040504020204" pitchFamily="49" charset="0"/>
              </a:rPr>
              <a:t>(</a:t>
            </a:r>
            <a:r>
              <a:rPr lang="en-US" sz="1200" dirty="0" err="1" smtClean="0">
                <a:latin typeface="Lucida Console" panose="020B0609040504020204" pitchFamily="49" charset="0"/>
              </a:rPr>
              <a:t>tableSize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for(auto </a:t>
            </a:r>
            <a:r>
              <a:rPr lang="en-US" sz="1200" dirty="0"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{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    Add(b</a:t>
            </a:r>
            <a:r>
              <a:rPr lang="en-US" sz="12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 smtClean="0">
                <a:latin typeface="Lucida Console" panose="020B0609040504020204" pitchFamily="49" charset="0"/>
              </a:rPr>
              <a:t>    }</a:t>
            </a:r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}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345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the hash table size.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grow your table, you may think it’s a good idea to double it.</a:t>
            </a:r>
          </a:p>
          <a:p>
            <a:r>
              <a:rPr lang="en-US" dirty="0" smtClean="0"/>
              <a:t>Theoretically, using a prime number as the hash table size gives the best efficiency.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414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an array of binary-trees instead of an array of a variable-length arrays.</a:t>
            </a:r>
          </a:p>
          <a:p>
            <a:pPr lvl="1"/>
            <a:r>
              <a:rPr lang="en-US" dirty="0" smtClean="0"/>
              <a:t>Faster inquiry</a:t>
            </a:r>
          </a:p>
          <a:p>
            <a:pPr lvl="1"/>
            <a:r>
              <a:rPr lang="en-US" dirty="0" smtClean="0"/>
              <a:t>Slower construction</a:t>
            </a:r>
          </a:p>
          <a:p>
            <a:pPr lvl="1"/>
            <a:r>
              <a:rPr lang="en-US" dirty="0" smtClean="0"/>
              <a:t>More storage space</a:t>
            </a:r>
          </a:p>
          <a:p>
            <a:r>
              <a:rPr lang="en-US" dirty="0" smtClean="0"/>
              <a:t>Or, you can keep each row sorted by the hash code.  You will get faster look up but slower insertion/deletion.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443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case : Hash Code==A function of Hash Key</a:t>
            </a:r>
          </a:p>
          <a:p>
            <a:r>
              <a:rPr lang="en-US" dirty="0" smtClean="0"/>
              <a:t>A hash key can be anything, as long as a hash code can be calculated from a hash key, and also hash key is comparable.</a:t>
            </a:r>
          </a:p>
          <a:p>
            <a:endParaRPr lang="en-US" dirty="0" smtClean="0"/>
          </a:p>
          <a:p>
            <a:r>
              <a:rPr lang="en-US" dirty="0" smtClean="0"/>
              <a:t>Hash-code collision problem:  A hash code from two different hash key may be equal.  </a:t>
            </a:r>
          </a:p>
          <a:p>
            <a:r>
              <a:rPr lang="en-US" dirty="0" smtClean="0"/>
              <a:t>Location of the hash key needs to be found in two steps: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Find a hash code that is same as the code for the key.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Compare if the key is really the same as what is being searched.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595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13660"/>
            <a:ext cx="4955203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class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typedef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unsigned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CodeType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class </a:t>
            </a:r>
            <a:r>
              <a:rPr lang="en-US" sz="10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public</a:t>
            </a:r>
            <a:r>
              <a:rPr lang="en-US" sz="10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KeyType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hashKey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enum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MINIMUM_TABLE_SIZE=7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unsigned </a:t>
            </a:r>
            <a:r>
              <a:rPr lang="en-US" sz="1000" dirty="0">
                <a:latin typeface="Lucida Console" panose="020B0609040504020204" pitchFamily="49" charset="0"/>
              </a:rPr>
              <a:t>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~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Add(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bool 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Resize(long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void </a:t>
            </a:r>
            <a:r>
              <a:rPr lang="en-US" sz="1000" dirty="0">
                <a:latin typeface="Lucida Console" panose="020B0609040504020204" pitchFamily="49" charset="0"/>
              </a:rPr>
              <a:t>Delete(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};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12127" y="313660"/>
            <a:ext cx="4031873" cy="60939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&gt;::~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CleanUp</a:t>
            </a:r>
            <a:r>
              <a:rPr lang="en-US" sz="10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(MINIMUM_HASH_SIZE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=0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&gt;::Add(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</a:t>
            </a:r>
            <a:r>
              <a:rPr lang="en-US" sz="10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return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Entry </a:t>
            </a:r>
            <a:r>
              <a:rPr lang="en-US" sz="1000" dirty="0" err="1">
                <a:latin typeface="Lucida Console" panose="020B0609040504020204" pitchFamily="49" charset="0"/>
              </a:rPr>
              <a:t>entry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entry.hashKey</a:t>
            </a:r>
            <a:r>
              <a:rPr lang="en-US" sz="1000" dirty="0" smtClean="0">
                <a:latin typeface="Lucida Console" panose="020B0609040504020204" pitchFamily="49" charset="0"/>
              </a:rPr>
              <a:t>=key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entry.hashCode</a:t>
            </a:r>
            <a:r>
              <a:rPr lang="en-US" sz="1000" dirty="0" smtClean="0">
                <a:latin typeface="Lucida Console" panose="020B0609040504020204" pitchFamily="49" charset="0"/>
              </a:rPr>
              <a:t>=</a:t>
            </a:r>
            <a:r>
              <a:rPr lang="en-US" sz="1000" dirty="0" err="1" smtClean="0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table[</a:t>
            </a:r>
            <a:r>
              <a:rPr lang="en-US" sz="1000" dirty="0" err="1" smtClean="0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push_back</a:t>
            </a:r>
            <a:r>
              <a:rPr lang="en-US" sz="1000" dirty="0">
                <a:latin typeface="Lucida Console" panose="020B0609040504020204" pitchFamily="49" charset="0"/>
              </a:rPr>
              <a:t>(entry);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++</a:t>
            </a:r>
            <a:r>
              <a:rPr lang="en-US" sz="1000" dirty="0" err="1">
                <a:latin typeface="Lucida Console" panose="020B0609040504020204" pitchFamily="49" charset="0"/>
              </a:rPr>
              <a:t>nElem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647507" y="3955312"/>
            <a:ext cx="2812312" cy="1887279"/>
          </a:xfrm>
          <a:custGeom>
            <a:avLst/>
            <a:gdLst>
              <a:gd name="connsiteX0" fmla="*/ 0 w 2812312"/>
              <a:gd name="connsiteY0" fmla="*/ 1887279 h 1887279"/>
              <a:gd name="connsiteX1" fmla="*/ 1063256 w 2812312"/>
              <a:gd name="connsiteY1" fmla="*/ 1600200 h 1887279"/>
              <a:gd name="connsiteX2" fmla="*/ 1908544 w 2812312"/>
              <a:gd name="connsiteY2" fmla="*/ 515679 h 1887279"/>
              <a:gd name="connsiteX3" fmla="*/ 2812312 w 2812312"/>
              <a:gd name="connsiteY3" fmla="*/ 0 h 188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2312" h="1887279">
                <a:moveTo>
                  <a:pt x="0" y="1887279"/>
                </a:moveTo>
                <a:cubicBezTo>
                  <a:pt x="372582" y="1858039"/>
                  <a:pt x="745165" y="1828800"/>
                  <a:pt x="1063256" y="1600200"/>
                </a:cubicBezTo>
                <a:cubicBezTo>
                  <a:pt x="1381347" y="1371600"/>
                  <a:pt x="1617035" y="782379"/>
                  <a:pt x="1908544" y="515679"/>
                </a:cubicBezTo>
                <a:cubicBezTo>
                  <a:pt x="2200053" y="248979"/>
                  <a:pt x="2812312" y="0"/>
                  <a:pt x="2812312" y="0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7591" y="5507916"/>
            <a:ext cx="2812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Hash code is calculated from a key.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6759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08344"/>
            <a:ext cx="4724370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bool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</a:t>
            </a:r>
            <a:r>
              <a:rPr lang="en-US" sz="1000" dirty="0" err="1">
                <a:latin typeface="Lucida Console" panose="020B0609040504020204" pitchFamily="49" charset="0"/>
              </a:rPr>
              <a:t>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 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==key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10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&gt;::Resize(long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::vector 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 buffer;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for(auto </a:t>
            </a:r>
            <a:r>
              <a:rPr lang="en-US" sz="1000" dirty="0">
                <a:latin typeface="Lucida Console" panose="020B0609040504020204" pitchFamily="49" charset="0"/>
              </a:rPr>
              <a:t>e : t)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buffer.push_back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t.clear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1000" dirty="0" smtClean="0"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latin typeface="Lucida Console" panose="020B0609040504020204" pitchFamily="49" charset="0"/>
              </a:rPr>
              <a:t>tableSize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Add(b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}</a:t>
            </a:r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53763" y="3514060"/>
            <a:ext cx="4031873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template &lt;class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void </a:t>
            </a:r>
            <a:r>
              <a:rPr lang="en-US" sz="1000" dirty="0" err="1"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&gt;::Delete(</a:t>
            </a:r>
            <a:r>
              <a:rPr lang="en-US" sz="1000" dirty="0" err="1">
                <a:latin typeface="Lucida Console" panose="020B0609040504020204" pitchFamily="49" charset="0"/>
              </a:rPr>
              <a:t>const</a:t>
            </a:r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KeyType</a:t>
            </a:r>
            <a:r>
              <a:rPr lang="en-US" sz="10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auto 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hashCode%table.size</a:t>
            </a:r>
            <a:r>
              <a:rPr lang="en-US" sz="10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for(auto &amp;e :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if(</a:t>
            </a:r>
            <a:r>
              <a:rPr lang="en-US" sz="1000" dirty="0" err="1">
                <a:latin typeface="Lucida Console" panose="020B0609040504020204" pitchFamily="49" charset="0"/>
              </a:rPr>
              <a:t>e.hashCode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hashCode</a:t>
            </a:r>
            <a:r>
              <a:rPr lang="en-US" sz="1000" dirty="0">
                <a:latin typeface="Lucida Console" panose="020B0609040504020204" pitchFamily="49" charset="0"/>
              </a:rPr>
              <a:t> &amp;&amp; </a:t>
            </a:r>
            <a:r>
              <a:rPr lang="en-US" sz="1000" dirty="0" err="1">
                <a:latin typeface="Lucida Console" panose="020B0609040504020204" pitchFamily="49" charset="0"/>
              </a:rPr>
              <a:t>e.hashKey</a:t>
            </a:r>
            <a:r>
              <a:rPr lang="en-US" sz="10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{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e=table[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    table[</a:t>
            </a:r>
            <a:r>
              <a:rPr lang="en-US" sz="1000" dirty="0" err="1">
                <a:latin typeface="Lucida Console" panose="020B0609040504020204" pitchFamily="49" charset="0"/>
              </a:rPr>
              <a:t>idx</a:t>
            </a:r>
            <a:r>
              <a:rPr lang="en-US" sz="1000" dirty="0">
                <a:latin typeface="Lucida Console" panose="020B0609040504020204" pitchFamily="49" charset="0"/>
              </a:rPr>
              <a:t>].</a:t>
            </a:r>
            <a:r>
              <a:rPr lang="en-US" sz="1000" dirty="0" err="1">
                <a:latin typeface="Lucida Console" panose="020B0609040504020204" pitchFamily="49" charset="0"/>
              </a:rPr>
              <a:t>pop_back</a:t>
            </a:r>
            <a:r>
              <a:rPr lang="en-US" sz="1000" dirty="0" smtClean="0">
                <a:latin typeface="Lucida Console" panose="020B0609040504020204" pitchFamily="49" charset="0"/>
              </a:rPr>
              <a:t>();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</a:t>
            </a:r>
            <a:r>
              <a:rPr lang="en-US" sz="1000" dirty="0" smtClean="0">
                <a:latin typeface="Lucida Console" panose="020B0609040504020204" pitchFamily="49" charset="0"/>
              </a:rPr>
              <a:t>           --</a:t>
            </a:r>
            <a:r>
              <a:rPr lang="en-US" sz="1000" dirty="0" err="1" smtClean="0">
                <a:latin typeface="Lucida Console" panose="020B0609040504020204" pitchFamily="49" charset="0"/>
              </a:rPr>
              <a:t>nElem</a:t>
            </a:r>
            <a:r>
              <a:rPr lang="en-US" sz="1000" dirty="0" smtClean="0">
                <a:latin typeface="Lucida Console" panose="020B0609040504020204" pitchFamily="49" charset="0"/>
              </a:rPr>
              <a:t>;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            break;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    }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094614" y="813391"/>
            <a:ext cx="1945758" cy="627321"/>
          </a:xfrm>
          <a:custGeom>
            <a:avLst/>
            <a:gdLst>
              <a:gd name="connsiteX0" fmla="*/ 1945758 w 1945758"/>
              <a:gd name="connsiteY0" fmla="*/ 0 h 627321"/>
              <a:gd name="connsiteX1" fmla="*/ 409353 w 1945758"/>
              <a:gd name="connsiteY1" fmla="*/ 366823 h 627321"/>
              <a:gd name="connsiteX2" fmla="*/ 0 w 1945758"/>
              <a:gd name="connsiteY2" fmla="*/ 627321 h 627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5758" h="627321">
                <a:moveTo>
                  <a:pt x="1945758" y="0"/>
                </a:moveTo>
                <a:cubicBezTo>
                  <a:pt x="1339702" y="131135"/>
                  <a:pt x="733646" y="262270"/>
                  <a:pt x="409353" y="366823"/>
                </a:cubicBezTo>
                <a:cubicBezTo>
                  <a:pt x="85060" y="471376"/>
                  <a:pt x="42530" y="549348"/>
                  <a:pt x="0" y="627321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040372" y="643520"/>
            <a:ext cx="5185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First compare </a:t>
            </a:r>
            <a:r>
              <a:rPr lang="en-US" dirty="0" err="1" smtClean="0">
                <a:solidFill>
                  <a:srgbClr val="FF0000"/>
                </a:solidFill>
              </a:rPr>
              <a:t>hashCode</a:t>
            </a:r>
            <a:r>
              <a:rPr lang="en-US" dirty="0" smtClean="0">
                <a:solidFill>
                  <a:srgbClr val="FF0000"/>
                </a:solidFill>
              </a:rPr>
              <a:t>, which probably is faster than comparing a hash key.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3157369" y="1592132"/>
            <a:ext cx="1403873" cy="613186"/>
          </a:xfrm>
          <a:custGeom>
            <a:avLst/>
            <a:gdLst>
              <a:gd name="connsiteX0" fmla="*/ 1403873 w 1403873"/>
              <a:gd name="connsiteY0" fmla="*/ 613186 h 613186"/>
              <a:gd name="connsiteX1" fmla="*/ 242047 w 1403873"/>
              <a:gd name="connsiteY1" fmla="*/ 290456 h 613186"/>
              <a:gd name="connsiteX2" fmla="*/ 0 w 1403873"/>
              <a:gd name="connsiteY2" fmla="*/ 0 h 613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3873" h="613186">
                <a:moveTo>
                  <a:pt x="1403873" y="613186"/>
                </a:moveTo>
                <a:cubicBezTo>
                  <a:pt x="939949" y="502920"/>
                  <a:pt x="476026" y="392654"/>
                  <a:pt x="242047" y="290456"/>
                </a:cubicBezTo>
                <a:cubicBezTo>
                  <a:pt x="8068" y="188258"/>
                  <a:pt x="4034" y="94129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61242" y="2020652"/>
            <a:ext cx="337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Then compare the hash key.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015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usage.  Need template specialization.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1001233"/>
          </a:xfrm>
        </p:spPr>
        <p:txBody>
          <a:bodyPr/>
          <a:lstStyle/>
          <a:p>
            <a:r>
              <a:rPr lang="en-US" dirty="0" smtClean="0"/>
              <a:t>Template Specialization:  Describing a specific behavior of the template function.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67833" y="2259419"/>
            <a:ext cx="657103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Lucida Console" panose="020B0609040504020204" pitchFamily="49" charset="0"/>
              </a:rPr>
              <a:t>#include &lt;string&gt;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stdio.h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stdlib.h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#include &lt;</a:t>
            </a:r>
            <a:r>
              <a:rPr lang="en-US" sz="1000" dirty="0" err="1">
                <a:latin typeface="Lucida Console" panose="020B0609040504020204" pitchFamily="49" charset="0"/>
              </a:rPr>
              <a:t>time.h</a:t>
            </a:r>
            <a:r>
              <a:rPr lang="en-US" sz="1000" dirty="0">
                <a:latin typeface="Lucida Console" panose="020B0609040504020204" pitchFamily="49" charset="0"/>
              </a:rPr>
              <a:t>&gt;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#include "</a:t>
            </a:r>
            <a:r>
              <a:rPr lang="en-US" sz="1000" dirty="0" err="1">
                <a:latin typeface="Lucida Console" panose="020B0609040504020204" pitchFamily="49" charset="0"/>
              </a:rPr>
              <a:t>hashset.h</a:t>
            </a:r>
            <a:r>
              <a:rPr lang="en-US" sz="1000" dirty="0">
                <a:latin typeface="Lucida Console" panose="020B0609040504020204" pitchFamily="49" charset="0"/>
              </a:rPr>
              <a:t>"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&lt;&gt;</a:t>
            </a:r>
          </a:p>
          <a:p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unsigned long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HashSet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::string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&gt;::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10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10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1000" dirty="0">
                <a:solidFill>
                  <a:srgbClr val="FF0000"/>
                </a:solidFill>
                <a:latin typeface="Lucida Console" panose="020B0609040504020204" pitchFamily="49" charset="0"/>
              </a:rPr>
              <a:t>::string &amp;key) </a:t>
            </a:r>
            <a:r>
              <a:rPr lang="en-US" sz="10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endParaRPr lang="en-US" sz="10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unsigned </a:t>
            </a:r>
            <a:r>
              <a:rPr lang="en-US" sz="1000" dirty="0">
                <a:latin typeface="Lucida Console" panose="020B0609040504020204" pitchFamily="49" charset="0"/>
              </a:rPr>
              <a:t>long </a:t>
            </a:r>
            <a:r>
              <a:rPr lang="en-US" sz="1000" dirty="0" err="1">
                <a:latin typeface="Lucida Console" panose="020B0609040504020204" pitchFamily="49" charset="0"/>
              </a:rPr>
              <a:t>long</a:t>
            </a:r>
            <a:r>
              <a:rPr lang="en-US" sz="1000" dirty="0">
                <a:latin typeface="Lucida Console" panose="020B0609040504020204" pitchFamily="49" charset="0"/>
              </a:rPr>
              <a:t> sum=0;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for(auto </a:t>
            </a:r>
            <a:r>
              <a:rPr lang="en-US" sz="1000" dirty="0">
                <a:latin typeface="Lucida Console" panose="020B0609040504020204" pitchFamily="49" charset="0"/>
              </a:rPr>
              <a:t>c : key)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sum</a:t>
            </a:r>
            <a:r>
              <a:rPr lang="en-US" sz="1000" dirty="0">
                <a:latin typeface="Lucida Console" panose="020B0609040504020204" pitchFamily="49" charset="0"/>
              </a:rPr>
              <a:t>+=c;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sum;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46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4670" y="202018"/>
            <a:ext cx="3031599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Lucida Console" panose="020B0609040504020204" pitchFamily="49" charset="0"/>
              </a:rPr>
              <a:t>int</a:t>
            </a:r>
            <a:r>
              <a:rPr lang="en-US" sz="1000" dirty="0">
                <a:latin typeface="Lucida Console" panose="020B0609040504020204" pitchFamily="49" charset="0"/>
              </a:rPr>
              <a:t> main(void)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HashSet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>
                <a:latin typeface="Lucida Console" panose="020B0609040504020204" pitchFamily="49" charset="0"/>
              </a:rPr>
              <a:t>&lt;</a:t>
            </a:r>
            <a:r>
              <a:rPr lang="en-US" sz="1000" dirty="0" err="1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::string&gt; set;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("Phantom");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("Tiger");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("Crusader");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("Tomcat");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("Eagle");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("Falcon");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("Hornet");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</a:t>
            </a:r>
            <a:r>
              <a:rPr lang="en-US" sz="1000" dirty="0" err="1" smtClean="0">
                <a:latin typeface="Lucida Console" panose="020B0609040504020204" pitchFamily="49" charset="0"/>
              </a:rPr>
              <a:t>set.Add</a:t>
            </a:r>
            <a:r>
              <a:rPr lang="en-US" sz="1000" dirty="0">
                <a:latin typeface="Lucida Console" panose="020B0609040504020204" pitchFamily="49" charset="0"/>
              </a:rPr>
              <a:t>("Raptor");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for</a:t>
            </a:r>
            <a:r>
              <a:rPr lang="en-US" sz="1000" dirty="0">
                <a:latin typeface="Lucida Console" panose="020B0609040504020204" pitchFamily="49" charset="0"/>
              </a:rPr>
              <a:t>(;;)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("Enter String&gt;");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char 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[256];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fgets</a:t>
            </a:r>
            <a:r>
              <a:rPr lang="en-US" sz="1000" dirty="0" smtClean="0">
                <a:latin typeface="Lucida Console" panose="020B0609040504020204" pitchFamily="49" charset="0"/>
              </a:rPr>
              <a:t>(str,255,stdin</a:t>
            </a:r>
            <a:r>
              <a:rPr lang="en-US" sz="10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for(</a:t>
            </a:r>
            <a:r>
              <a:rPr lang="en-US" sz="1000" dirty="0" err="1" smtClean="0">
                <a:latin typeface="Lucida Console" panose="020B0609040504020204" pitchFamily="49" charset="0"/>
              </a:rPr>
              <a:t>int</a:t>
            </a:r>
            <a:r>
              <a:rPr lang="en-US" sz="1000" dirty="0" smtClean="0">
                <a:latin typeface="Lucida Console" panose="020B0609040504020204" pitchFamily="49" charset="0"/>
              </a:rPr>
              <a:t> 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=0; 0!=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]; ++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if</a:t>
            </a:r>
            <a:r>
              <a:rPr lang="en-US" sz="1000" dirty="0">
                <a:latin typeface="Lucida Console" panose="020B0609040504020204" pitchFamily="49" charset="0"/>
              </a:rPr>
              <a:t>(' '&gt;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[</a:t>
            </a:r>
            <a:r>
              <a:rPr lang="en-US" sz="1000" dirty="0" err="1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str</a:t>
            </a:r>
            <a:r>
              <a:rPr lang="en-US" sz="1000" dirty="0" smtClean="0">
                <a:latin typeface="Lucida Console" panose="020B0609040504020204" pitchFamily="49" charset="0"/>
              </a:rPr>
              <a:t>[</a:t>
            </a:r>
            <a:r>
              <a:rPr lang="en-US" sz="1000" dirty="0" err="1" smtClean="0">
                <a:latin typeface="Lucida Console" panose="020B0609040504020204" pitchFamily="49" charset="0"/>
              </a:rPr>
              <a:t>i</a:t>
            </a:r>
            <a:r>
              <a:rPr lang="en-US" sz="1000" dirty="0">
                <a:latin typeface="Lucida Console" panose="020B0609040504020204" pitchFamily="49" charset="0"/>
              </a:rPr>
              <a:t>]=0;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    break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std</a:t>
            </a:r>
            <a:r>
              <a:rPr lang="en-US" sz="1000" dirty="0">
                <a:latin typeface="Lucida Console" panose="020B0609040504020204" pitchFamily="49" charset="0"/>
              </a:rPr>
              <a:t>::string </a:t>
            </a:r>
            <a:r>
              <a:rPr lang="en-US" sz="1000" dirty="0" err="1">
                <a:latin typeface="Lucida Console" panose="020B0609040504020204" pitchFamily="49" charset="0"/>
              </a:rPr>
              <a:t>tst</a:t>
            </a:r>
            <a:r>
              <a:rPr lang="en-US" sz="1000" dirty="0">
                <a:latin typeface="Lucida Console" panose="020B0609040504020204" pitchFamily="49" charset="0"/>
              </a:rPr>
              <a:t>=</a:t>
            </a:r>
            <a:r>
              <a:rPr lang="en-US" sz="1000" dirty="0" err="1">
                <a:latin typeface="Lucida Console" panose="020B0609040504020204" pitchFamily="49" charset="0"/>
              </a:rPr>
              <a:t>str</a:t>
            </a:r>
            <a:r>
              <a:rPr lang="en-US" sz="10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if(true</a:t>
            </a:r>
            <a:r>
              <a:rPr lang="en-US" sz="1000" dirty="0">
                <a:latin typeface="Lucida Console" panose="020B0609040504020204" pitchFamily="49" charset="0"/>
              </a:rPr>
              <a:t>==</a:t>
            </a:r>
            <a:r>
              <a:rPr lang="en-US" sz="1000" dirty="0" err="1">
                <a:latin typeface="Lucida Console" panose="020B0609040504020204" pitchFamily="49" charset="0"/>
              </a:rPr>
              <a:t>set.IsIncluded</a:t>
            </a:r>
            <a:r>
              <a:rPr lang="en-US" sz="1000" dirty="0">
                <a:latin typeface="Lucida Console" panose="020B0609040504020204" pitchFamily="49" charset="0"/>
              </a:rPr>
              <a:t>(</a:t>
            </a:r>
            <a:r>
              <a:rPr lang="en-US" sz="1000" dirty="0" err="1">
                <a:latin typeface="Lucida Console" panose="020B0609040504020204" pitchFamily="49" charset="0"/>
              </a:rPr>
              <a:t>tst</a:t>
            </a:r>
            <a:r>
              <a:rPr lang="en-US" sz="10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("Included\n");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else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{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    </a:t>
            </a:r>
            <a:r>
              <a:rPr lang="en-US" sz="1000" dirty="0" err="1" smtClean="0">
                <a:latin typeface="Lucida Console" panose="020B0609040504020204" pitchFamily="49" charset="0"/>
              </a:rPr>
              <a:t>printf</a:t>
            </a:r>
            <a:r>
              <a:rPr lang="en-US" sz="1000" dirty="0">
                <a:latin typeface="Lucida Console" panose="020B0609040504020204" pitchFamily="49" charset="0"/>
              </a:rPr>
              <a:t>("Not Included\n");</a:t>
            </a: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    }</a:t>
            </a:r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}</a:t>
            </a:r>
            <a:endParaRPr lang="en-US" sz="1000" dirty="0">
              <a:latin typeface="Lucida Console" panose="020B0609040504020204" pitchFamily="49" charset="0"/>
            </a:endParaRPr>
          </a:p>
          <a:p>
            <a:endParaRPr lang="en-US" sz="1000" dirty="0">
              <a:latin typeface="Lucida Console" panose="020B0609040504020204" pitchFamily="49" charset="0"/>
            </a:endParaRPr>
          </a:p>
          <a:p>
            <a:r>
              <a:rPr lang="en-US" sz="1000" dirty="0" smtClean="0">
                <a:latin typeface="Lucida Console" panose="020B0609040504020204" pitchFamily="49" charset="0"/>
              </a:rPr>
              <a:t>    return </a:t>
            </a:r>
            <a:r>
              <a:rPr lang="en-US" sz="1000" dirty="0">
                <a:latin typeface="Lucida Console" panose="020B0609040504020204" pitchFamily="49" charset="0"/>
              </a:rPr>
              <a:t>0;</a:t>
            </a:r>
          </a:p>
          <a:p>
            <a:r>
              <a:rPr lang="en-US" sz="1000" dirty="0">
                <a:latin typeface="Lucida Console" panose="020B0609040504020204" pitchFamily="49" charset="0"/>
              </a:rPr>
              <a:t>}</a:t>
            </a:r>
          </a:p>
          <a:p>
            <a:endParaRPr lang="en-US" sz="10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087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Automatic Re-sizing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Keep track of the number of elements in the table.  (The number must be updated in which functions?)</a:t>
            </a:r>
          </a:p>
          <a:p>
            <a:r>
              <a:rPr lang="en-US" dirty="0" smtClean="0"/>
              <a:t>If the number of elements exceeds k times the length of the table (number of rows), grow the table.</a:t>
            </a:r>
          </a:p>
          <a:p>
            <a:r>
              <a:rPr lang="en-US" dirty="0" smtClean="0"/>
              <a:t>If the number of elements is reduced to k times the length of the table, shrink the table.</a:t>
            </a:r>
          </a:p>
          <a:p>
            <a:endParaRPr lang="en-US" dirty="0"/>
          </a:p>
          <a:p>
            <a:r>
              <a:rPr lang="en-US" dirty="0" smtClean="0"/>
              <a:t>Part of </a:t>
            </a:r>
            <a:r>
              <a:rPr lang="en-US" smtClean="0"/>
              <a:t>the next assignment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082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have a hash set, you can make a hash table by adding a value that corresponds to a key.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8140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5064" y="249859"/>
            <a:ext cx="4458272" cy="6047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ifndef</a:t>
            </a:r>
            <a:r>
              <a:rPr lang="en-US" sz="900" dirty="0">
                <a:latin typeface="Lucida Console" panose="020B0609040504020204" pitchFamily="49" charset="0"/>
              </a:rPr>
              <a:t> HASHSET_IS_INCLUDED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#define HASHSET_IS_INCLUDED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#include &lt;vector&gt;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#include &lt;</a:t>
            </a:r>
            <a:r>
              <a:rPr lang="en-US" sz="900" dirty="0" err="1">
                <a:latin typeface="Lucida Console" panose="020B0609040504020204" pitchFamily="49" charset="0"/>
              </a:rPr>
              <a:t>stdio.h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typedef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private: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class </a:t>
            </a:r>
            <a:r>
              <a:rPr lang="en-US" sz="9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KeyType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value;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MINIMUM_TABLE_SIZE=7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unsigned </a:t>
            </a:r>
            <a:r>
              <a:rPr lang="en-US" sz="900" dirty="0">
                <a:latin typeface="Lucida Console" panose="020B0609040504020204" pitchFamily="49" charset="0"/>
              </a:rPr>
              <a:t>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Update(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};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7181" y="70613"/>
            <a:ext cx="363112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latin typeface="Lucida Console" panose="020B0609040504020204" pitchFamily="49" charset="0"/>
              </a:rPr>
              <a:t>(MINIMUM_TABLE_SIZE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&gt;::Update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b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&amp;value)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Entry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entry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entry.hashKey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entry.hashCode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entry.value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=value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table[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push_back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(entry);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nElem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461437" y="6060559"/>
            <a:ext cx="648586" cy="335886"/>
          </a:xfrm>
          <a:custGeom>
            <a:avLst/>
            <a:gdLst>
              <a:gd name="connsiteX0" fmla="*/ 648586 w 648586"/>
              <a:gd name="connsiteY0" fmla="*/ 313660 h 335886"/>
              <a:gd name="connsiteX1" fmla="*/ 260498 w 648586"/>
              <a:gd name="connsiteY1" fmla="*/ 303028 h 335886"/>
              <a:gd name="connsiteX2" fmla="*/ 0 w 648586"/>
              <a:gd name="connsiteY2" fmla="*/ 0 h 33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8586" h="335886">
                <a:moveTo>
                  <a:pt x="648586" y="313660"/>
                </a:moveTo>
                <a:cubicBezTo>
                  <a:pt x="508591" y="334482"/>
                  <a:pt x="368596" y="355305"/>
                  <a:pt x="260498" y="303028"/>
                </a:cubicBezTo>
                <a:cubicBezTo>
                  <a:pt x="152400" y="250751"/>
                  <a:pt x="76200" y="125375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31780" y="6178880"/>
            <a:ext cx="5802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Returns a pointer, not a reference.  If no value is set for the key, it can return a </a:t>
            </a:r>
            <a:r>
              <a:rPr lang="en-US" dirty="0" err="1" smtClean="0">
                <a:solidFill>
                  <a:srgbClr val="FF0000"/>
                </a:solidFill>
              </a:rPr>
              <a:t>nullptr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4742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0378" y="85064"/>
            <a:ext cx="5078634" cy="68788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::vector &lt;Entry&gt; buffer;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&amp;t : table)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e : t)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buffer.push_back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t.clear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table.resize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b : buffer)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Update(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b.hashKey,b.value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 smtClean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void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e=table[</a:t>
            </a:r>
            <a:r>
              <a:rPr lang="en-US" sz="900" dirty="0" err="1" smtClean="0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].back();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table[</a:t>
            </a:r>
            <a:r>
              <a:rPr lang="en-US" sz="900" dirty="0" err="1" smtClean="0">
                <a:latin typeface="Lucida Console" panose="020B0609040504020204" pitchFamily="49" charset="0"/>
              </a:rPr>
              <a:t>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pop_back</a:t>
            </a:r>
            <a:r>
              <a:rPr lang="en-US" sz="900" dirty="0" smtClean="0">
                <a:latin typeface="Lucida Console" panose="020B0609040504020204" pitchFamily="49" charset="0"/>
              </a:rPr>
              <a:t>();</a:t>
            </a:r>
            <a:br>
              <a:rPr lang="en-US" sz="900" dirty="0" smtClean="0">
                <a:latin typeface="Lucida Console" panose="020B0609040504020204" pitchFamily="49" charset="0"/>
              </a:rPr>
            </a:br>
            <a:r>
              <a:rPr lang="en-US" sz="900" dirty="0" smtClean="0">
                <a:latin typeface="Lucida Console" panose="020B0609040504020204" pitchFamily="49" charset="0"/>
              </a:rPr>
              <a:t>            --</a:t>
            </a:r>
            <a:r>
              <a:rPr lang="en-US" sz="900" dirty="0" err="1" smtClean="0">
                <a:latin typeface="Lucida Console" panose="020B0609040504020204" pitchFamily="49" charset="0"/>
              </a:rPr>
              <a:t>nElem</a:t>
            </a:r>
            <a:r>
              <a:rPr lang="en-US" sz="900" dirty="0" smtClean="0">
                <a:latin typeface="Lucida Console" panose="020B0609040504020204" pitchFamily="49" charset="0"/>
              </a:rPr>
              <a:t>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break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15561" y="1277470"/>
            <a:ext cx="4182555" cy="49398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&gt;::operator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[](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(key);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auto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hashCode%table.size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for(auto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&amp;e : table[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])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if(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e.hashCode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e.hashKey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==key)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    return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e.value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nullptr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#</a:t>
            </a:r>
            <a:r>
              <a:rPr lang="en-US" sz="900" dirty="0" err="1">
                <a:latin typeface="Lucida Console" panose="020B0609040504020204" pitchFamily="49" charset="0"/>
              </a:rPr>
              <a:t>endif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1360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Enumerating keys and values in the hash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can I visit keys and values stored in the hash table?</a:t>
            </a:r>
          </a:p>
          <a:p>
            <a:r>
              <a:rPr lang="en-US" dirty="0" smtClean="0"/>
              <a:t>Same problem for a hash set.</a:t>
            </a:r>
          </a:p>
          <a:p>
            <a:r>
              <a:rPr lang="en-US" dirty="0" smtClean="0"/>
              <a:t>So far, hash key and hash set are useful for checking if a key is in the set.</a:t>
            </a:r>
          </a:p>
          <a:p>
            <a:r>
              <a:rPr lang="en-US" dirty="0" smtClean="0"/>
              <a:t>But, not as useful as a storage unless I can enumerate key and values in the hash table and hash 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3216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element-enumerating handle.</a:t>
            </a:r>
          </a:p>
          <a:p>
            <a:endParaRPr lang="en-US" dirty="0" smtClean="0"/>
          </a:p>
          <a:p>
            <a:r>
              <a:rPr lang="en-US" dirty="0" smtClean="0"/>
              <a:t>A handle remembers the location in the table, row and column.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463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4172" y="313660"/>
            <a:ext cx="4458272" cy="66018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class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public: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typedef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unsigned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CodeType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class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{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hashIdx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 long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long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arrayIdx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};</a:t>
            </a:r>
            <a:endParaRPr lang="en-US" sz="9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private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class </a:t>
            </a:r>
            <a:r>
              <a:rPr lang="en-US" sz="900" dirty="0">
                <a:latin typeface="Lucida Console" panose="020B0609040504020204" pitchFamily="49" charset="0"/>
              </a:rPr>
              <a:t>Entry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KeyType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CodeType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</a:t>
            </a:r>
            <a:r>
              <a:rPr lang="en-US" sz="900" dirty="0" err="1" smtClean="0"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value;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MINIMUM_TABLE_SIZE=7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};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</a:t>
            </a:r>
            <a:r>
              <a:rPr lang="en-US" sz="900" dirty="0" err="1">
                <a:latin typeface="Lucida Console" panose="020B0609040504020204" pitchFamily="49" charset="0"/>
              </a:rPr>
              <a:t>std</a:t>
            </a:r>
            <a:r>
              <a:rPr lang="en-US" sz="900" dirty="0">
                <a:latin typeface="Lucida Console" panose="020B0609040504020204" pitchFamily="49" charset="0"/>
              </a:rPr>
              <a:t>::vector &lt;Entry&gt; &gt; table;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nElem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public</a:t>
            </a:r>
            <a:r>
              <a:rPr lang="en-US" sz="900" dirty="0">
                <a:latin typeface="Lucida Console" panose="020B0609040504020204" pitchFamily="49" charset="0"/>
              </a:rPr>
              <a:t>: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unsigned </a:t>
            </a:r>
            <a:r>
              <a:rPr lang="en-US" sz="900" dirty="0">
                <a:latin typeface="Lucida Console" panose="020B0609040504020204" pitchFamily="49" charset="0"/>
              </a:rPr>
              <a:t>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HashCode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~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 err="1">
                <a:latin typeface="Lucida Console" panose="020B0609040504020204" pitchFamily="49" charset="0"/>
              </a:rPr>
              <a:t>CleanUp</a:t>
            </a:r>
            <a:r>
              <a:rPr lang="en-US" sz="900" dirty="0">
                <a:latin typeface="Lucida Console" panose="020B0609040504020204" pitchFamily="49" charset="0"/>
              </a:rPr>
              <a:t>(void);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Update(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key,const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&amp;value);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latin typeface="Lucida Console" panose="020B0609040504020204" pitchFamily="49" charset="0"/>
              </a:rPr>
              <a:t>IsIncluded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Resize(long </a:t>
            </a:r>
            <a:r>
              <a:rPr lang="en-US" sz="900" dirty="0" err="1">
                <a:latin typeface="Lucida Console" panose="020B0609040504020204" pitchFamily="49" charset="0"/>
              </a:rPr>
              <a:t>long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int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tableSize</a:t>
            </a:r>
            <a:r>
              <a:rPr lang="en-US" sz="900" dirty="0"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void </a:t>
            </a:r>
            <a:r>
              <a:rPr lang="en-US" sz="900" dirty="0">
                <a:latin typeface="Lucida Console" panose="020B0609040504020204" pitchFamily="49" charset="0"/>
              </a:rPr>
              <a:t>Delete(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&amp;key);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key)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First(void)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bool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Next(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*operator[](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GetKey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hd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en-US" sz="900" dirty="0">
                <a:solidFill>
                  <a:srgbClr val="FF0000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};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74778" y="1886367"/>
            <a:ext cx="23689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Can be made private, and make </a:t>
            </a:r>
            <a:r>
              <a:rPr lang="en-US" sz="1100" dirty="0" err="1" smtClean="0">
                <a:solidFill>
                  <a:srgbClr val="FF0000"/>
                </a:solidFill>
              </a:rPr>
              <a:t>HashTable</a:t>
            </a:r>
            <a:r>
              <a:rPr lang="en-US" sz="1100" dirty="0" smtClean="0">
                <a:solidFill>
                  <a:srgbClr val="FF0000"/>
                </a:solidFill>
              </a:rPr>
              <a:t> class as a friend.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382819" y="1592132"/>
            <a:ext cx="288101" cy="365760"/>
          </a:xfrm>
          <a:custGeom>
            <a:avLst/>
            <a:gdLst>
              <a:gd name="connsiteX0" fmla="*/ 285077 w 288101"/>
              <a:gd name="connsiteY0" fmla="*/ 365760 h 365760"/>
              <a:gd name="connsiteX1" fmla="*/ 247426 w 288101"/>
              <a:gd name="connsiteY1" fmla="*/ 107576 h 365760"/>
              <a:gd name="connsiteX2" fmla="*/ 0 w 288101"/>
              <a:gd name="connsiteY2" fmla="*/ 0 h 365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101" h="365760">
                <a:moveTo>
                  <a:pt x="285077" y="365760"/>
                </a:moveTo>
                <a:cubicBezTo>
                  <a:pt x="290008" y="267148"/>
                  <a:pt x="294939" y="168536"/>
                  <a:pt x="247426" y="107576"/>
                </a:cubicBezTo>
                <a:cubicBezTo>
                  <a:pt x="199913" y="46616"/>
                  <a:pt x="99956" y="23308"/>
                  <a:pt x="0" y="0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0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687079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&gt;::First(void)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EnumHandle</a:t>
            </a:r>
            <a:r>
              <a:rPr lang="en-US" sz="900" dirty="0" smtClean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while(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</a:t>
            </a:r>
            <a:r>
              <a:rPr lang="en-US" sz="900" dirty="0" err="1" smtClean="0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bool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&lt;0 </a:t>
            </a:r>
            <a:r>
              <a:rPr lang="en-US" sz="900" dirty="0">
                <a:latin typeface="Lucida Console" panose="020B0609040504020204" pitchFamily="49" charset="0"/>
              </a:rPr>
              <a:t>|| </a:t>
            </a:r>
            <a:r>
              <a:rPr lang="en-US" sz="900" dirty="0" err="1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()&lt;=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>
                <a:latin typeface="Lucida Console" panose="020B0609040504020204" pitchFamily="49" charset="0"/>
              </a:rPr>
              <a:t>false;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true;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}</a:t>
            </a:r>
            <a:endParaRPr lang="en-US" sz="900" dirty="0">
              <a:latin typeface="Lucida Console" panose="020B060904050402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31297" y="1245511"/>
            <a:ext cx="3173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Increment table index until the first key is found.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926080" y="1370095"/>
            <a:ext cx="473336" cy="76809"/>
          </a:xfrm>
          <a:custGeom>
            <a:avLst/>
            <a:gdLst>
              <a:gd name="connsiteX0" fmla="*/ 473336 w 473336"/>
              <a:gd name="connsiteY0" fmla="*/ 76809 h 76809"/>
              <a:gd name="connsiteX1" fmla="*/ 268941 w 473336"/>
              <a:gd name="connsiteY1" fmla="*/ 1505 h 76809"/>
              <a:gd name="connsiteX2" fmla="*/ 0 w 473336"/>
              <a:gd name="connsiteY2" fmla="*/ 33778 h 7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3336" h="76809">
                <a:moveTo>
                  <a:pt x="473336" y="76809"/>
                </a:moveTo>
                <a:cubicBezTo>
                  <a:pt x="410583" y="42743"/>
                  <a:pt x="347830" y="8677"/>
                  <a:pt x="268941" y="1505"/>
                </a:cubicBezTo>
                <a:cubicBezTo>
                  <a:pt x="190052" y="-5667"/>
                  <a:pt x="95026" y="14055"/>
                  <a:pt x="0" y="33778"/>
                </a:cubicBezTo>
              </a:path>
            </a:pathLst>
          </a:custGeom>
          <a:noFill/>
          <a:ln>
            <a:solidFill>
              <a:srgbClr val="FF33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98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07335" y="207335"/>
            <a:ext cx="7422225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typename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&gt;::Next(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if(true</a:t>
            </a:r>
            <a:r>
              <a:rPr lang="en-US" sz="900" dirty="0">
                <a:latin typeface="Lucida Console" panose="020B0609040504020204" pitchFamily="49" charset="0"/>
              </a:rPr>
              <a:t>!=</a:t>
            </a:r>
            <a:r>
              <a:rPr lang="en-US" sz="900" dirty="0" err="1">
                <a:latin typeface="Lucida Console" panose="020B0609040504020204" pitchFamily="49" charset="0"/>
              </a:rPr>
              <a:t>IsNotNull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>
                <a:latin typeface="Lucida Console" panose="020B0609040504020204" pitchFamily="49" charset="0"/>
              </a:rPr>
              <a:t>First();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if(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 smtClean="0">
                <a:latin typeface="Lucida Console" panose="020B0609040504020204" pitchFamily="49" charset="0"/>
              </a:rPr>
              <a:t>=0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while(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 smtClean="0">
                <a:latin typeface="Lucida Console" panose="020B0609040504020204" pitchFamily="49" charset="0"/>
              </a:rPr>
              <a:t>&lt;</a:t>
            </a:r>
            <a:r>
              <a:rPr lang="en-US" sz="900" dirty="0" err="1" smtClean="0">
                <a:latin typeface="Lucida Console" panose="020B0609040504020204" pitchFamily="49" charset="0"/>
              </a:rPr>
              <a:t>table.size</a:t>
            </a:r>
            <a:r>
              <a:rPr lang="en-US" sz="900" dirty="0">
                <a:latin typeface="Lucida Console" panose="020B0609040504020204" pitchFamily="49" charset="0"/>
              </a:rPr>
              <a:t>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if(0&lt;table[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].size())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{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}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    ++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}</a:t>
            </a:r>
            <a:endParaRPr lang="en-US" sz="900" dirty="0">
              <a:latin typeface="Lucida Console" panose="020B0609040504020204" pitchFamily="49" charset="0"/>
            </a:endParaRP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</a:t>
            </a:r>
            <a:r>
              <a:rPr lang="en-US" sz="900" dirty="0" err="1" smtClean="0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=-1;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template </a:t>
            </a:r>
            <a:r>
              <a:rPr lang="en-US" sz="900" dirty="0">
                <a:latin typeface="Lucida Console" panose="020B0609040504020204" pitchFamily="49" charset="0"/>
              </a:rPr>
              <a:t>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 *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&gt;::operator[](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&amp;table[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].value;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template &lt;class </a:t>
            </a:r>
            <a:r>
              <a:rPr lang="en-US" sz="900" dirty="0" err="1">
                <a:latin typeface="Lucida Console" panose="020B0609040504020204" pitchFamily="49" charset="0"/>
              </a:rPr>
              <a:t>KeyType,class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ValueType</a:t>
            </a:r>
            <a:r>
              <a:rPr lang="en-US" sz="900" dirty="0">
                <a:latin typeface="Lucida Console" panose="020B0609040504020204" pitchFamily="49" charset="0"/>
              </a:rPr>
              <a:t>&gt;</a:t>
            </a:r>
          </a:p>
          <a:p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KeyType</a:t>
            </a:r>
            <a:r>
              <a:rPr lang="en-US" sz="900" dirty="0">
                <a:latin typeface="Lucida Console" panose="020B0609040504020204" pitchFamily="49" charset="0"/>
              </a:rPr>
              <a:t> &amp;</a:t>
            </a:r>
            <a:r>
              <a:rPr lang="en-US" sz="900" dirty="0" err="1">
                <a:latin typeface="Lucida Console" panose="020B0609040504020204" pitchFamily="49" charset="0"/>
              </a:rPr>
              <a:t>HashTable</a:t>
            </a:r>
            <a:r>
              <a:rPr lang="en-US" sz="900" dirty="0">
                <a:latin typeface="Lucida Console" panose="020B0609040504020204" pitchFamily="49" charset="0"/>
              </a:rPr>
              <a:t>&lt;</a:t>
            </a:r>
            <a:r>
              <a:rPr lang="en-US" sz="900" dirty="0" err="1">
                <a:latin typeface="Lucida Console" panose="020B0609040504020204" pitchFamily="49" charset="0"/>
              </a:rPr>
              <a:t>KeyType,ValueType</a:t>
            </a:r>
            <a:r>
              <a:rPr lang="en-US" sz="900" dirty="0">
                <a:latin typeface="Lucida Console" panose="020B0609040504020204" pitchFamily="49" charset="0"/>
              </a:rPr>
              <a:t>&gt;::</a:t>
            </a:r>
            <a:r>
              <a:rPr lang="en-US" sz="900" dirty="0" err="1">
                <a:latin typeface="Lucida Console" panose="020B0609040504020204" pitchFamily="49" charset="0"/>
              </a:rPr>
              <a:t>GetKey</a:t>
            </a:r>
            <a:r>
              <a:rPr lang="en-US" sz="900" dirty="0"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latin typeface="Lucida Console" panose="020B0609040504020204" pitchFamily="49" charset="0"/>
              </a:rPr>
              <a:t>EnumHandle</a:t>
            </a:r>
            <a:r>
              <a:rPr lang="en-US" sz="900" dirty="0"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latin typeface="Lucida Console" panose="020B0609040504020204" pitchFamily="49" charset="0"/>
              </a:rPr>
              <a:t>hd</a:t>
            </a:r>
            <a:r>
              <a:rPr lang="en-US" sz="900" dirty="0">
                <a:latin typeface="Lucida Console" panose="020B0609040504020204" pitchFamily="49" charset="0"/>
              </a:rPr>
              <a:t>) </a:t>
            </a:r>
            <a:r>
              <a:rPr lang="en-US" sz="900" dirty="0" err="1">
                <a:latin typeface="Lucida Console" panose="020B0609040504020204" pitchFamily="49" charset="0"/>
              </a:rPr>
              <a:t>const</a:t>
            </a:r>
            <a:endParaRPr lang="en-US" sz="900" dirty="0">
              <a:latin typeface="Lucida Console" panose="020B0609040504020204" pitchFamily="49" charset="0"/>
            </a:endParaRPr>
          </a:p>
          <a:p>
            <a:r>
              <a:rPr lang="en-US" sz="900" dirty="0">
                <a:latin typeface="Lucida Console" panose="020B0609040504020204" pitchFamily="49" charset="0"/>
              </a:rPr>
              <a:t>{</a:t>
            </a:r>
          </a:p>
          <a:p>
            <a:r>
              <a:rPr lang="en-US" sz="900" dirty="0" smtClean="0">
                <a:latin typeface="Lucida Console" panose="020B0609040504020204" pitchFamily="49" charset="0"/>
              </a:rPr>
              <a:t>    return </a:t>
            </a:r>
            <a:r>
              <a:rPr lang="en-US" sz="900" dirty="0">
                <a:latin typeface="Lucida Console" panose="020B0609040504020204" pitchFamily="49" charset="0"/>
              </a:rPr>
              <a:t>table[</a:t>
            </a:r>
            <a:r>
              <a:rPr lang="en-US" sz="900" dirty="0" err="1">
                <a:latin typeface="Lucida Console" panose="020B0609040504020204" pitchFamily="49" charset="0"/>
              </a:rPr>
              <a:t>hd.hashIdx</a:t>
            </a:r>
            <a:r>
              <a:rPr lang="en-US" sz="900" dirty="0">
                <a:latin typeface="Lucida Console" panose="020B0609040504020204" pitchFamily="49" charset="0"/>
              </a:rPr>
              <a:t>][</a:t>
            </a:r>
            <a:r>
              <a:rPr lang="en-US" sz="900" dirty="0" err="1">
                <a:latin typeface="Lucida Console" panose="020B0609040504020204" pitchFamily="49" charset="0"/>
              </a:rPr>
              <a:t>hd.arrayIdx</a:t>
            </a:r>
            <a:r>
              <a:rPr lang="en-US" sz="900" dirty="0">
                <a:latin typeface="Lucida Console" panose="020B0609040504020204" pitchFamily="49" charset="0"/>
              </a:rPr>
              <a:t>].</a:t>
            </a:r>
            <a:r>
              <a:rPr lang="en-US" sz="900" dirty="0" err="1">
                <a:latin typeface="Lucida Console" panose="020B0609040504020204" pitchFamily="49" charset="0"/>
              </a:rPr>
              <a:t>hashKey</a:t>
            </a:r>
            <a:r>
              <a:rPr lang="en-US" sz="900" dirty="0"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latin typeface="Lucida Console" panose="020B0609040504020204" pitchFamily="49" charset="0"/>
              </a:rPr>
              <a:t>}</a:t>
            </a:r>
          </a:p>
          <a:p>
            <a:endParaRPr lang="en-US" sz="9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911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Re-designing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with a Common Base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works, but….</a:t>
            </a:r>
          </a:p>
          <a:p>
            <a:r>
              <a:rPr lang="en-US" dirty="0" smtClean="0"/>
              <a:t>There are some common features.</a:t>
            </a:r>
          </a:p>
          <a:p>
            <a:pPr lvl="1"/>
            <a:r>
              <a:rPr lang="en-US" dirty="0" err="1" smtClean="0"/>
              <a:t>HashCode</a:t>
            </a:r>
            <a:r>
              <a:rPr lang="en-US" dirty="0" smtClean="0"/>
              <a:t> function.  It is currently not very convenient.  You need to specialize a function for all combinations of the template parameters for both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even when </a:t>
            </a:r>
            <a:r>
              <a:rPr lang="en-US" dirty="0" err="1" smtClean="0"/>
              <a:t>KeyType</a:t>
            </a:r>
            <a:r>
              <a:rPr lang="en-US" dirty="0" smtClean="0"/>
              <a:t> is the same.</a:t>
            </a:r>
          </a:p>
          <a:p>
            <a:pPr lvl="1"/>
            <a:r>
              <a:rPr lang="en-US" dirty="0" smtClean="0"/>
              <a:t>It is minor, but </a:t>
            </a:r>
            <a:r>
              <a:rPr lang="en-US" dirty="0" err="1" smtClean="0"/>
              <a:t>nElem</a:t>
            </a:r>
            <a:r>
              <a:rPr lang="en-US" dirty="0" smtClean="0"/>
              <a:t> is in common.</a:t>
            </a:r>
          </a:p>
          <a:p>
            <a:pPr lvl="1"/>
            <a:r>
              <a:rPr lang="en-US" smtClean="0"/>
              <a:t>MINIMUM_TABLE_SIZE</a:t>
            </a:r>
            <a:endParaRPr lang="en-US" dirty="0"/>
          </a:p>
          <a:p>
            <a:pPr lvl="1"/>
            <a:r>
              <a:rPr lang="en-US" dirty="0" smtClean="0"/>
              <a:t>Handle, too.  Since Entry differs between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, cannot make all enumeration functions in common, but,</a:t>
            </a:r>
          </a:p>
          <a:p>
            <a:pPr lvl="2"/>
            <a:r>
              <a:rPr lang="en-US" dirty="0" smtClean="0"/>
              <a:t>First -&gt; Return a null handle when </a:t>
            </a:r>
            <a:r>
              <a:rPr lang="en-US" dirty="0" err="1" smtClean="0"/>
              <a:t>nElem</a:t>
            </a:r>
            <a:r>
              <a:rPr lang="en-US" dirty="0" smtClean="0"/>
              <a:t>==0, or row=0,column=0 otherwise.</a:t>
            </a:r>
          </a:p>
          <a:p>
            <a:pPr lvl="2"/>
            <a:r>
              <a:rPr lang="en-US" dirty="0" err="1" smtClean="0"/>
              <a:t>IsNull</a:t>
            </a:r>
            <a:r>
              <a:rPr lang="en-US" dirty="0" smtClean="0"/>
              <a:t> -&gt; Returns true if row&lt;0 otherwise false.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818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production software development, duplicate code is evil.</a:t>
            </a:r>
          </a:p>
          <a:p>
            <a:r>
              <a:rPr lang="en-US" dirty="0" smtClean="0"/>
              <a:t>Whenever you notice that you are typing the same thing twice, think if there is a way to make it one, and use the same code in the next time.</a:t>
            </a:r>
          </a:p>
          <a:p>
            <a:r>
              <a:rPr lang="en-US" dirty="0" smtClean="0"/>
              <a:t>Since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 smtClean="0"/>
              <a:t> classes have something in common, you can make </a:t>
            </a:r>
            <a:r>
              <a:rPr lang="en-US" dirty="0" err="1" smtClean="0"/>
              <a:t>HashBase</a:t>
            </a:r>
            <a:r>
              <a:rPr lang="en-US" dirty="0" smtClean="0"/>
              <a:t> class, and then sub-class </a:t>
            </a:r>
            <a:r>
              <a:rPr lang="en-US" dirty="0" err="1" smtClean="0"/>
              <a:t>HashSet</a:t>
            </a:r>
            <a:r>
              <a:rPr lang="en-US" dirty="0" smtClean="0"/>
              <a:t> and </a:t>
            </a:r>
            <a:r>
              <a:rPr lang="en-US" dirty="0" err="1" smtClean="0"/>
              <a:t>HashTable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55885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hashbase.h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495064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HASHBASE_IS_INCLUDED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typedef</a:t>
            </a:r>
            <a:r>
              <a:rPr lang="en-US" sz="1100" dirty="0">
                <a:latin typeface="Consolas" panose="020B0609020204030204" pitchFamily="49" charset="0"/>
              </a:rPr>
              <a:t>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class Handle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row,column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enum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MINIMUM_TABLE_SIZE=7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protected: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// This function must be specialized for </a:t>
            </a:r>
            <a:r>
              <a:rPr lang="en-US" sz="1100" dirty="0" smtClean="0">
                <a:latin typeface="Consolas" panose="020B0609020204030204" pitchFamily="49" charset="0"/>
              </a:rPr>
              <a:t>each </a:t>
            </a:r>
            <a:r>
              <a:rPr lang="en-US" sz="1100" dirty="0">
                <a:latin typeface="Consolas" panose="020B0609020204030204" pitchFamily="49" charset="0"/>
              </a:rPr>
              <a:t>key type.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unsigned 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26454" y="914400"/>
            <a:ext cx="3223846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()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Handle First(void)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Handle 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</a:t>
            </a:r>
            <a:r>
              <a:rPr lang="en-US" sz="1100" dirty="0" err="1">
                <a:latin typeface="Consolas" panose="020B0609020204030204" pitchFamily="49" charset="0"/>
              </a:rPr>
              <a:t>nElem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h.row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h.column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else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h.row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</a:t>
            </a:r>
            <a:r>
              <a:rPr lang="en-US" sz="1100" dirty="0" err="1">
                <a:latin typeface="Consolas" panose="020B0609020204030204" pitchFamily="49" charset="0"/>
              </a:rPr>
              <a:t>h.column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h;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if(0&lt;=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 &amp;&amp; 0&lt;=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true;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false;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/* } */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endif</a:t>
            </a:r>
            <a:endParaRPr lang="en-US" sz="1100" dirty="0">
              <a:latin typeface="Consolas" panose="020B0609020204030204" pitchFamily="49" charset="0"/>
            </a:endParaRP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2711450" y="2683470"/>
            <a:ext cx="285750" cy="92333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997200" y="2683470"/>
            <a:ext cx="29370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One catch is you need to open access to row and column from sub-classes.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4473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889000"/>
            <a:ext cx="4950647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HASHSET_IS_INCLUDED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/* { */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smtClean="0">
                <a:latin typeface="Consolas" panose="020B0609020204030204" pitchFamily="49" charset="0"/>
              </a:rPr>
              <a:t>   ~</a:t>
            </a:r>
            <a:r>
              <a:rPr lang="en-US" sz="1100" dirty="0" err="1" smtClean="0">
                <a:latin typeface="Consolas" panose="020B0609020204030204" pitchFamily="49" charset="0"/>
              </a:rPr>
              <a:t>HashSet</a:t>
            </a:r>
            <a:r>
              <a:rPr lang="en-US" sz="1100" dirty="0" smtClean="0">
                <a:latin typeface="Consolas" panose="020B0609020204030204" pitchFamily="49" charset="0"/>
              </a:rPr>
              <a:t>();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void Add(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    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};</a:t>
            </a:r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879850" y="5518150"/>
            <a:ext cx="1803400" cy="533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721350" y="5257799"/>
            <a:ext cx="3301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Enumeration feature can also be added by these two functions.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3429000" y="1920874"/>
            <a:ext cx="1866900" cy="628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34000" y="1476373"/>
            <a:ext cx="33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Inheriting from the base class.</a:t>
            </a:r>
          </a:p>
          <a:p>
            <a:r>
              <a:rPr lang="en-US" dirty="0" err="1" smtClean="0"/>
              <a:t>Enums</a:t>
            </a:r>
            <a:r>
              <a:rPr lang="en-US" dirty="0" smtClean="0"/>
              <a:t>, variables, functions written in the base class are removed.</a:t>
            </a:r>
            <a:endParaRPr lang="en-US" dirty="0"/>
          </a:p>
        </p:txBody>
      </p:sp>
      <p:sp>
        <p:nvSpPr>
          <p:cNvPr id="13" name="Rounded Rectangle 12"/>
          <p:cNvSpPr/>
          <p:nvPr/>
        </p:nvSpPr>
        <p:spPr>
          <a:xfrm>
            <a:off x="1358900" y="2399703"/>
            <a:ext cx="20129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539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hashset.h</a:t>
            </a:r>
            <a:r>
              <a:rPr lang="en-US" dirty="0" smtClean="0"/>
              <a:t> (continued)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7000" y="914400"/>
            <a:ext cx="80327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(No changes to the member functions.)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template </a:t>
            </a:r>
            <a:r>
              <a:rPr lang="en-US" sz="1100" dirty="0">
                <a:latin typeface="Consolas" panose="020B0609020204030204" pitchFamily="49" charset="0"/>
              </a:rPr>
              <a:t>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typename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&gt;::Handle 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if(true!=</a:t>
            </a:r>
            <a:r>
              <a:rPr lang="en-US" sz="1100" dirty="0" err="1">
                <a:latin typeface="Consolas" panose="020B0609020204030204" pitchFamily="49" charset="0"/>
              </a:rPr>
              <a:t>IsNotNull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First();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++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if(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=0;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while(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table.size</a:t>
            </a:r>
            <a:r>
              <a:rPr lang="en-US" sz="1100" dirty="0">
                <a:latin typeface="Consolas" panose="020B0609020204030204" pitchFamily="49" charset="0"/>
              </a:rPr>
              <a:t>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if(0&lt;table[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].size())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++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=-1;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template </a:t>
            </a:r>
            <a:r>
              <a:rPr lang="en-US" sz="1100" dirty="0">
                <a:latin typeface="Consolas" panose="020B0609020204030204" pitchFamily="49" charset="0"/>
              </a:rPr>
              <a:t>&lt;class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*</a:t>
            </a:r>
            <a:r>
              <a:rPr lang="en-US" sz="1100" dirty="0" err="1">
                <a:latin typeface="Consolas" panose="020B0609020204030204" pitchFamily="49" charset="0"/>
              </a:rPr>
              <a:t>HashSet</a:t>
            </a:r>
            <a:r>
              <a:rPr lang="en-US" sz="1100" dirty="0">
                <a:latin typeface="Consolas" panose="020B0609020204030204" pitchFamily="49" charset="0"/>
              </a:rPr>
              <a:t>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&gt;::operator[](Handle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return &amp;table[</a:t>
            </a:r>
            <a:r>
              <a:rPr lang="en-US" sz="1100" dirty="0" err="1">
                <a:latin typeface="Consolas" panose="020B0609020204030204" pitchFamily="49" charset="0"/>
              </a:rPr>
              <a:t>hd.row</a:t>
            </a:r>
            <a:r>
              <a:rPr lang="en-US" sz="1100" dirty="0">
                <a:latin typeface="Consolas" panose="020B0609020204030204" pitchFamily="49" charset="0"/>
              </a:rPr>
              <a:t>][</a:t>
            </a:r>
            <a:r>
              <a:rPr lang="en-US" sz="1100" dirty="0" err="1">
                <a:latin typeface="Consolas" panose="020B0609020204030204" pitchFamily="49" charset="0"/>
              </a:rPr>
              <a:t>hd.column</a:t>
            </a:r>
            <a:r>
              <a:rPr lang="en-US" sz="1100" dirty="0">
                <a:latin typeface="Consolas" panose="020B0609020204030204" pitchFamily="49" charset="0"/>
              </a:rPr>
              <a:t>].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}</a:t>
            </a:r>
            <a:endParaRPr lang="en-US" sz="1100" dirty="0">
              <a:latin typeface="Consolas" panose="020B0609020204030204" pitchFamily="49" charset="0"/>
            </a:endParaRPr>
          </a:p>
        </p:txBody>
      </p:sp>
      <p:sp>
        <p:nvSpPr>
          <p:cNvPr id="3" name="Right Brace 2"/>
          <p:cNvSpPr/>
          <p:nvPr/>
        </p:nvSpPr>
        <p:spPr>
          <a:xfrm>
            <a:off x="3543300" y="1733550"/>
            <a:ext cx="361950" cy="38989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930650" y="3321050"/>
            <a:ext cx="4506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Same as Next function of </a:t>
            </a:r>
            <a:r>
              <a:rPr lang="en-US" dirty="0" err="1" smtClean="0"/>
              <a:t>HashTable</a:t>
            </a:r>
            <a:r>
              <a:rPr lang="en-US" dirty="0" smtClean="0"/>
              <a:t> class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338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hashtable.h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844550"/>
            <a:ext cx="85725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#</a:t>
            </a:r>
            <a:r>
              <a:rPr lang="en-US" sz="1100" dirty="0" err="1">
                <a:latin typeface="Consolas" panose="020B0609020204030204" pitchFamily="49" charset="0"/>
              </a:rPr>
              <a:t>ifndef</a:t>
            </a:r>
            <a:r>
              <a:rPr lang="en-US" sz="1100" dirty="0">
                <a:latin typeface="Consolas" panose="020B0609020204030204" pitchFamily="49" charset="0"/>
              </a:rPr>
              <a:t> HASHTABLE_IS_INCLUDED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#define HASHTABLE_IS_INCLUDED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#include &lt;</a:t>
            </a:r>
            <a:r>
              <a:rPr lang="en-US" sz="1100" dirty="0" err="1">
                <a:latin typeface="Consolas" panose="020B0609020204030204" pitchFamily="49" charset="0"/>
              </a:rPr>
              <a:t>stdio.h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#</a:t>
            </a:r>
            <a:r>
              <a:rPr lang="en-US" sz="1100" dirty="0">
                <a:latin typeface="Consolas" panose="020B0609020204030204" pitchFamily="49" charset="0"/>
              </a:rPr>
              <a:t>include "</a:t>
            </a:r>
            <a:r>
              <a:rPr lang="en-US" sz="1100" dirty="0" err="1">
                <a:latin typeface="Consolas" panose="020B0609020204030204" pitchFamily="49" charset="0"/>
              </a:rPr>
              <a:t>hashbase.h</a:t>
            </a:r>
            <a:r>
              <a:rPr lang="en-US" sz="1100" dirty="0">
                <a:latin typeface="Consolas" panose="020B0609020204030204" pitchFamily="49" charset="0"/>
              </a:rPr>
              <a:t>"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>
                <a:latin typeface="Consolas" panose="020B0609020204030204" pitchFamily="49" charset="0"/>
              </a:rPr>
              <a:t>template &lt;class </a:t>
            </a:r>
            <a:r>
              <a:rPr lang="en-US" sz="1100" dirty="0" err="1">
                <a:latin typeface="Consolas" panose="020B0609020204030204" pitchFamily="49" charset="0"/>
              </a:rPr>
              <a:t>KeyType,class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class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 : public </a:t>
            </a:r>
            <a:r>
              <a:rPr lang="en-US" sz="1100" dirty="0" err="1">
                <a:latin typeface="Consolas" panose="020B0609020204030204" pitchFamily="49" charset="0"/>
              </a:rPr>
              <a:t>HashBase</a:t>
            </a:r>
            <a:r>
              <a:rPr lang="en-US" sz="1100" dirty="0">
                <a:latin typeface="Consolas" panose="020B0609020204030204" pitchFamily="49" charset="0"/>
              </a:rPr>
              <a:t> &lt;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&gt;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private: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class Entry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{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public: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hashKey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CodeType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hashCode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value;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};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</a:t>
            </a:r>
            <a:r>
              <a:rPr lang="en-US" sz="1100" dirty="0" err="1">
                <a:latin typeface="Consolas" panose="020B0609020204030204" pitchFamily="49" charset="0"/>
              </a:rPr>
              <a:t>std</a:t>
            </a:r>
            <a:r>
              <a:rPr lang="en-US" sz="1100" dirty="0">
                <a:latin typeface="Consolas" panose="020B0609020204030204" pitchFamily="49" charset="0"/>
              </a:rPr>
              <a:t>::vector &lt;Entry&gt; &gt; table;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public</a:t>
            </a:r>
            <a:r>
              <a:rPr lang="en-US" sz="1100" dirty="0">
                <a:latin typeface="Consolas" panose="020B0609020204030204" pitchFamily="49" charset="0"/>
              </a:rPr>
              <a:t>: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~</a:t>
            </a:r>
            <a:r>
              <a:rPr lang="en-US" sz="1100" dirty="0" err="1">
                <a:latin typeface="Consolas" panose="020B0609020204030204" pitchFamily="49" charset="0"/>
              </a:rPr>
              <a:t>HashTable</a:t>
            </a:r>
            <a:r>
              <a:rPr lang="en-US" sz="11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</a:t>
            </a:r>
            <a:r>
              <a:rPr lang="en-US" sz="1100" dirty="0" err="1">
                <a:latin typeface="Consolas" panose="020B0609020204030204" pitchFamily="49" charset="0"/>
              </a:rPr>
              <a:t>CleanUp</a:t>
            </a:r>
            <a:r>
              <a:rPr lang="en-US" sz="1100" dirty="0">
                <a:latin typeface="Consolas" panose="020B0609020204030204" pitchFamily="49" charset="0"/>
              </a:rPr>
              <a:t>(void);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void Update(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key,const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&amp;value);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bool </a:t>
            </a:r>
            <a:r>
              <a:rPr lang="en-US" sz="1100" dirty="0" err="1">
                <a:latin typeface="Consolas" panose="020B0609020204030204" pitchFamily="49" charset="0"/>
              </a:rPr>
              <a:t>IsIncluded</a:t>
            </a:r>
            <a:r>
              <a:rPr lang="en-US" sz="1100" dirty="0">
                <a:latin typeface="Consolas" panose="020B0609020204030204" pitchFamily="49" charset="0"/>
              </a:rPr>
              <a:t>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Resize(long </a:t>
            </a:r>
            <a:r>
              <a:rPr lang="en-US" sz="1100" dirty="0" err="1">
                <a:latin typeface="Consolas" panose="020B0609020204030204" pitchFamily="49" charset="0"/>
              </a:rPr>
              <a:t>long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int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tableSize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void Delete(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&amp;key);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key)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    </a:t>
            </a:r>
            <a:r>
              <a:rPr lang="en-US" sz="1100" dirty="0">
                <a:latin typeface="Consolas" panose="020B0609020204030204" pitchFamily="49" charset="0"/>
              </a:rPr>
              <a:t>Handle Next(Handle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ValueType</a:t>
            </a:r>
            <a:r>
              <a:rPr lang="en-US" sz="1100" dirty="0">
                <a:latin typeface="Consolas" panose="020B0609020204030204" pitchFamily="49" charset="0"/>
              </a:rPr>
              <a:t> *operator[](Handle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 </a:t>
            </a:r>
            <a:r>
              <a:rPr lang="en-US" sz="1100" dirty="0" err="1">
                <a:latin typeface="Consolas" panose="020B0609020204030204" pitchFamily="49" charset="0"/>
              </a:rPr>
              <a:t>KeyType</a:t>
            </a:r>
            <a:r>
              <a:rPr lang="en-US" sz="1100" dirty="0">
                <a:latin typeface="Consolas" panose="020B0609020204030204" pitchFamily="49" charset="0"/>
              </a:rPr>
              <a:t> &amp;</a:t>
            </a:r>
            <a:r>
              <a:rPr lang="en-US" sz="1100" dirty="0" err="1">
                <a:latin typeface="Consolas" panose="020B0609020204030204" pitchFamily="49" charset="0"/>
              </a:rPr>
              <a:t>GetKey</a:t>
            </a:r>
            <a:r>
              <a:rPr lang="en-US" sz="1100" dirty="0">
                <a:latin typeface="Consolas" panose="020B0609020204030204" pitchFamily="49" charset="0"/>
              </a:rPr>
              <a:t>(Handle </a:t>
            </a:r>
            <a:r>
              <a:rPr lang="en-US" sz="1100" dirty="0" err="1">
                <a:latin typeface="Consolas" panose="020B0609020204030204" pitchFamily="49" charset="0"/>
              </a:rPr>
              <a:t>hd</a:t>
            </a:r>
            <a:r>
              <a:rPr lang="en-US" sz="1100" dirty="0">
                <a:latin typeface="Consolas" panose="020B0609020204030204" pitchFamily="49" charset="0"/>
              </a:rPr>
              <a:t>) </a:t>
            </a:r>
            <a:r>
              <a:rPr lang="en-US" sz="1100" dirty="0" err="1">
                <a:latin typeface="Consolas" panose="020B0609020204030204" pitchFamily="49" charset="0"/>
              </a:rPr>
              <a:t>const</a:t>
            </a:r>
            <a:r>
              <a:rPr lang="en-US" sz="1100" dirty="0"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};</a:t>
            </a:r>
          </a:p>
          <a:p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3790950" y="1717674"/>
            <a:ext cx="1866900" cy="628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695950" y="1273173"/>
            <a:ext cx="33011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Inheriting from the base class.</a:t>
            </a:r>
          </a:p>
          <a:p>
            <a:r>
              <a:rPr lang="en-US" dirty="0" err="1" smtClean="0"/>
              <a:t>Enums</a:t>
            </a:r>
            <a:r>
              <a:rPr lang="en-US" dirty="0" smtClean="0"/>
              <a:t>, variables, functions written in the base class are removed.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720850" y="2196503"/>
            <a:ext cx="2012950" cy="26729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36047" y="3372465"/>
            <a:ext cx="330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Remaining member functions are unchanged.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662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possible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move-assignment operators in Resize function.</a:t>
            </a:r>
          </a:p>
          <a:p>
            <a:r>
              <a:rPr lang="en-US" dirty="0" smtClean="0"/>
              <a:t>Further reduce the duplicate code.  Next and </a:t>
            </a:r>
            <a:r>
              <a:rPr lang="en-US" dirty="0" err="1" smtClean="0"/>
              <a:t>GetKey</a:t>
            </a:r>
            <a:r>
              <a:rPr lang="en-US" dirty="0" smtClean="0"/>
              <a:t> functions can be made a function of the base class.  One solution is make Entry class a template parameter.</a:t>
            </a:r>
          </a:p>
          <a:p>
            <a:r>
              <a:rPr lang="en-US" dirty="0" smtClean="0"/>
              <a:t>Make move-assignment operator version of Update function.  When possible, a key can be moved rather </a:t>
            </a:r>
            <a:r>
              <a:rPr lang="en-US" smtClean="0"/>
              <a:t>than copied.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8029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2981</TotalTime>
  <Words>5369</Words>
  <Application>Microsoft Office PowerPoint</Application>
  <PresentationFormat>On-screen Show (4:3)</PresentationFormat>
  <Paragraphs>1179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굴림</vt:lpstr>
      <vt:lpstr>Arial</vt:lpstr>
      <vt:lpstr>Consolas</vt:lpstr>
      <vt:lpstr>Lucida Console</vt:lpstr>
      <vt:lpstr>Default Design</vt:lpstr>
      <vt:lpstr>24-783 Lecture 06</vt:lpstr>
      <vt:lpstr>Office-Hour Change (Confirmed)</vt:lpstr>
      <vt:lpstr>Problem Set 3</vt:lpstr>
      <vt:lpstr>PowerPoint Presentation</vt:lpstr>
      <vt:lpstr>Introducing the Concept of Moving</vt:lpstr>
      <vt:lpstr>Member functions</vt:lpstr>
      <vt:lpstr>Test with Command-Line Arguments</vt:lpstr>
      <vt:lpstr>Command argument to use your program from Python</vt:lpstr>
      <vt:lpstr>Writing a Bitmap viewer to test the class.</vt:lpstr>
      <vt:lpstr>PowerPoint Presentation</vt:lpstr>
      <vt:lpstr>Move Assignment Operator and Move Constructor</vt:lpstr>
      <vt:lpstr>Problem of Copy</vt:lpstr>
      <vt:lpstr>In most of the recent compilers, you can avoid copy by taking advantage of Return Value Optimization</vt:lpstr>
      <vt:lpstr>Return Value Optimization (RVO)</vt:lpstr>
      <vt:lpstr>Rare but potential problem of RVO</vt:lpstr>
      <vt:lpstr>Or, you can implement and explicitly use MoveFrom function</vt:lpstr>
      <vt:lpstr>R-value Reference and Move Assignment Operator and Move Constructor </vt:lpstr>
      <vt:lpstr>Move Constructor and Move Assignment Operator</vt:lpstr>
      <vt:lpstr>Hash Set and Hash Table</vt:lpstr>
      <vt:lpstr>PowerPoint Presentation</vt:lpstr>
      <vt:lpstr>Hash Set</vt:lpstr>
      <vt:lpstr>What exactly is it?</vt:lpstr>
      <vt:lpstr>A set of unsigned integers</vt:lpstr>
      <vt:lpstr>A set of numbers – what if you have an infinitely long table?</vt:lpstr>
      <vt:lpstr>Solution</vt:lpstr>
      <vt:lpstr>Hash Set: Simple case – Hash Code==Hash Key</vt:lpstr>
      <vt:lpstr>Hash Set: Simple case – Hash Code==Hash Key</vt:lpstr>
      <vt:lpstr>Hash Set: Simple case – Hash Code==Hash Key</vt:lpstr>
      <vt:lpstr>Hash Set: Simple case – Hash Code==Hash Key</vt:lpstr>
      <vt:lpstr>Hash Set</vt:lpstr>
      <vt:lpstr>PowerPoint Presentation</vt:lpstr>
      <vt:lpstr>Deleting</vt:lpstr>
      <vt:lpstr>Deleting (Faster method)</vt:lpstr>
      <vt:lpstr>PowerPoint Presentation</vt:lpstr>
      <vt:lpstr>Re-sizing</vt:lpstr>
      <vt:lpstr>PowerPoint Presentation</vt:lpstr>
      <vt:lpstr>About the hash table size.</vt:lpstr>
      <vt:lpstr>Variation</vt:lpstr>
      <vt:lpstr>Hash Set</vt:lpstr>
      <vt:lpstr>PowerPoint Presentation</vt:lpstr>
      <vt:lpstr>PowerPoint Presentation</vt:lpstr>
      <vt:lpstr>Example of usage.  Need template specialization.</vt:lpstr>
      <vt:lpstr>PowerPoint Presentation</vt:lpstr>
      <vt:lpstr>Automatic Re-sizing</vt:lpstr>
      <vt:lpstr>Hash Table</vt:lpstr>
      <vt:lpstr>PowerPoint Presentation</vt:lpstr>
      <vt:lpstr>PowerPoint Presentation</vt:lpstr>
      <vt:lpstr>Enumerating keys and values in the hash table</vt:lpstr>
      <vt:lpstr>PowerPoint Presentation</vt:lpstr>
      <vt:lpstr>PowerPoint Presentation</vt:lpstr>
      <vt:lpstr>PowerPoint Presentation</vt:lpstr>
      <vt:lpstr>PowerPoint Presentation</vt:lpstr>
      <vt:lpstr>Re-designing HashSet and HashTable with a Common Base Class</vt:lpstr>
      <vt:lpstr>PowerPoint Presentation</vt:lpstr>
      <vt:lpstr>hashbase.h</vt:lpstr>
      <vt:lpstr>hashset.h</vt:lpstr>
      <vt:lpstr>hashset.h (continued)</vt:lpstr>
      <vt:lpstr>hashtable.h</vt:lpstr>
      <vt:lpstr>More possible improvements</vt:lpstr>
    </vt:vector>
  </TitlesOfParts>
  <Company>CMU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soji</dc:creator>
  <cp:lastModifiedBy>Soji Yamakawa</cp:lastModifiedBy>
  <cp:revision>510</cp:revision>
  <dcterms:created xsi:type="dcterms:W3CDTF">2009-08-19T14:18:47Z</dcterms:created>
  <dcterms:modified xsi:type="dcterms:W3CDTF">2017-02-06T16:18:59Z</dcterms:modified>
</cp:coreProperties>
</file>